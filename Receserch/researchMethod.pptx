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Gill San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wqV0Y9astu1wnTCiSIHq29UGB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AE8A7D-673B-4830-89E7-22DE595A8166}">
  <a:tblStyle styleId="{CCAE8A7D-673B-4830-89E7-22DE595A8166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E7E8"/>
          </a:solidFill>
        </a:fill>
      </a:tcStyle>
    </a:wholeTbl>
    <a:band1H>
      <a:tcTxStyle b="off" i="off"/>
      <a:tcStyle>
        <a:fill>
          <a:solidFill>
            <a:srgbClr val="E5CBC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5CBCD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3E7E8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fill>
          <a:solidFill>
            <a:srgbClr val="F3E7E8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Gill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3" name="Google Shape;18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4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" name="Google Shape;20;p24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25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26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2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8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8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28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8" name="Google Shape;58;p29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1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31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32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32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2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32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32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2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32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3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4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34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23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23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1199405" y="1916562"/>
            <a:ext cx="10350659" cy="1294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b="1" lang="en-US" sz="3600"/>
              <a:t>Research Methodology Concepts &amp; System Design</a:t>
            </a:r>
            <a:endParaRPr b="1" sz="3600"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818690" y="3667838"/>
            <a:ext cx="9458910" cy="17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MST. UMME AYMAN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LECTURER (SENIOR SCALE), DEPT OF CSE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DAFFODIL INTERNATIONAL UNIVERSITY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3253740" y="3502025"/>
            <a:ext cx="40640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b="1" lang="en-US"/>
              <a:t>What Is Research Methodology??</a:t>
            </a:r>
            <a:endParaRPr b="1"/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2302917" y="3197910"/>
            <a:ext cx="9889083" cy="2259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300"/>
              <a:t>Plan: Define the scope and hypothesis.</a:t>
            </a:r>
            <a:endParaRPr sz="23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300"/>
              <a:t>Collect: Gather necessary data or requirements.</a:t>
            </a:r>
            <a:endParaRPr sz="23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300"/>
              <a:t>Analyze: Process data using specific algorithms.</a:t>
            </a:r>
            <a:endParaRPr sz="23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300"/>
              <a:t>Validate: Prove that the solution works using logic or statistics</a:t>
            </a:r>
            <a:endParaRPr sz="2300"/>
          </a:p>
        </p:txBody>
      </p:sp>
      <p:sp>
        <p:nvSpPr>
          <p:cNvPr id="109" name="Google Shape;109;p2"/>
          <p:cNvSpPr txBox="1"/>
          <p:nvPr/>
        </p:nvSpPr>
        <p:spPr>
          <a:xfrm>
            <a:off x="1451579" y="1975973"/>
            <a:ext cx="9473924" cy="1382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Definition: The systematic "blueprint" used to solve a research problem. It is not just writing code; it is the structured process to: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703705" y="5229225"/>
            <a:ext cx="9382760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"How will the research be conducted scientifically?"</a:t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040525" y="804519"/>
            <a:ext cx="10014330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b="1" lang="en-US"/>
              <a:t>Why Is Methodology Important?</a:t>
            </a:r>
            <a:endParaRPr b="1"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2064049" y="2806812"/>
            <a:ext cx="9603275" cy="3002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 lnSpcReduction="10000"/>
          </a:bodyPr>
          <a:lstStyle/>
          <a:p>
            <a:pPr indent="-215265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Scientific Validity: Proves the results aren't accidental.</a:t>
            </a:r>
            <a:endParaRPr sz="2800"/>
          </a:p>
          <a:p>
            <a:pPr indent="-21526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Reproducibility: Allows other researchers to run your experiment and get the same results</a:t>
            </a:r>
            <a:endParaRPr sz="2800"/>
          </a:p>
          <a:p>
            <a:pPr indent="-21526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Bias Reduction: Prevents "cherry-picking" only the good results.</a:t>
            </a:r>
            <a:endParaRPr sz="2800"/>
          </a:p>
          <a:p>
            <a:pPr indent="-21526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Acceptance: Journals and conferences require a rigorous methodology section</a:t>
            </a:r>
            <a:endParaRPr sz="2800"/>
          </a:p>
          <a:p>
            <a:pPr indent="-508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800"/>
          </a:p>
          <a:p>
            <a:pPr indent="-1524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200"/>
          </a:p>
        </p:txBody>
      </p:sp>
      <p:sp>
        <p:nvSpPr>
          <p:cNvPr id="117" name="Google Shape;117;p3"/>
          <p:cNvSpPr txBox="1"/>
          <p:nvPr/>
        </p:nvSpPr>
        <p:spPr>
          <a:xfrm>
            <a:off x="1404620" y="1853565"/>
            <a:ext cx="9382760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Research without methodology is just "tinkering." Methodology ensures:</a:t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Core Components of Research Methodology?</a:t>
            </a:r>
            <a:br>
              <a:rPr b="1" lang="en-US"/>
            </a:br>
            <a:endParaRPr b="1"/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1215200" y="2060825"/>
            <a:ext cx="102990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Literature Review &amp; Gap Analysis: What is missing in current technology?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Problem Definition: A clear, concise statement of what you are solving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Objectives: Bullet points of what you will achieve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Data Strategy: Where the data comes from (Sensors? Kaggle? User logs?)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Experimental Design: How you will test your hypothesis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Tools &amp; Technologies: The software/hardware stack</a:t>
            </a:r>
            <a:endParaRPr sz="24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  <a:p>
            <a:pPr indent="-87629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Data Collection Methods:</a:t>
            </a:r>
            <a:endParaRPr b="1"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1046750" y="2133200"/>
            <a:ext cx="106962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Public Repositories: Kaggle, UCI Machine Learning Repository, GitHub, Gov Data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Primary Data: Collecting your own data via IoT sensors, web scraping, or user surveys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Synthetic Data: Using simulators (e.g., NS-3 for networks) to generate traffic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System Logs: Server logs, access traces, or firewall logs for security research.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US" sz="2400"/>
              <a:t>New - Ethical Considerations: ensuring data privacy (GDPR) and removing bias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451579" y="90865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1" lang="en-US"/>
              <a:t>Experimental Design:</a:t>
            </a:r>
            <a:br>
              <a:rPr b="1" lang="en-US"/>
            </a:br>
            <a:endParaRPr b="1"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2213800" y="2341725"/>
            <a:ext cx="82779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Data Splitting: 70% Training / 15% Validation / 15% Testing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Baselines: You must compare your work against an existing standard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Controlled Variables: Changing one parameter at a time</a:t>
            </a:r>
            <a:endParaRPr sz="2400"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Gill Sans"/>
              <a:buChar char="●"/>
            </a:pPr>
            <a:r>
              <a:rPr lang="en-US" sz="2400"/>
              <a:t>Cross-Validation: Using K-Fold verification to ensure stability</a:t>
            </a:r>
            <a:endParaRPr sz="24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667"/>
              <a:buFont typeface="Gill Sans"/>
              <a:buNone/>
            </a:pPr>
            <a:r>
              <a:t/>
            </a:r>
            <a:endParaRPr sz="2400"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</p:txBody>
      </p:sp>
      <p:sp>
        <p:nvSpPr>
          <p:cNvPr id="136" name="Google Shape;136;p6"/>
          <p:cNvSpPr txBox="1"/>
          <p:nvPr/>
        </p:nvSpPr>
        <p:spPr>
          <a:xfrm>
            <a:off x="1535320" y="1880013"/>
            <a:ext cx="50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How do we set up the "Test"?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1451579" y="96707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b="1" lang="en-US" sz="3600"/>
              <a:t>Evaluation Metrics</a:t>
            </a:r>
            <a:endParaRPr b="1" sz="3600"/>
          </a:p>
        </p:txBody>
      </p:sp>
      <p:graphicFrame>
        <p:nvGraphicFramePr>
          <p:cNvPr id="142" name="Google Shape;142;p7"/>
          <p:cNvGraphicFramePr/>
          <p:nvPr/>
        </p:nvGraphicFramePr>
        <p:xfrm>
          <a:off x="1451570" y="20161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{CCAE8A7D-673B-4830-89E7-22DE595A8166}</a:tableStyleId>
              </a:tblPr>
              <a:tblGrid>
                <a:gridCol w="4015775"/>
                <a:gridCol w="5987725"/>
              </a:tblGrid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Domain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Metrics</a:t>
                      </a:r>
                      <a:endParaRPr b="1" sz="2400" u="none" cap="none" strike="noStrike"/>
                    </a:p>
                  </a:txBody>
                  <a:tcPr marT="45725" marB="45725" marR="91450" marL="91450"/>
                </a:tc>
              </a:tr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2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Classification (AI)</a:t>
                      </a:r>
                      <a:endParaRPr sz="2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2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Accuracy, Precision, Recall, F1-Score, ROC-AUC</a:t>
                      </a:r>
                      <a:endParaRPr sz="2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 anchor="ctr"/>
                </a:tc>
              </a:tr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2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Regression (Prediction)</a:t>
                      </a:r>
                      <a:endParaRPr sz="2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2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MSE (Mean Squared Error), RMSE, R^2 Score</a:t>
                      </a:r>
                      <a:endParaRPr sz="2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 anchor="ctr"/>
                </a:tc>
              </a:tr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2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Systems/Networking</a:t>
                      </a:r>
                      <a:endParaRPr sz="2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2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Latency (ms), Throughput (Mbps), Packet Loss, Jitter</a:t>
                      </a:r>
                      <a:endParaRPr sz="2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 anchor="ctr"/>
                </a:tc>
              </a:tr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2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Algorithm performance</a:t>
                      </a:r>
                      <a:endParaRPr sz="2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US" sz="2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Execution Time (CPU time), Memory Usage (RAM)</a:t>
                      </a:r>
                      <a:endParaRPr sz="2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b="1" lang="en-US" sz="3600"/>
              <a:t>What Is System Design?</a:t>
            </a:r>
            <a:endParaRPr b="1" sz="3600"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2669262" y="2769350"/>
            <a:ext cx="71679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It describes the architecture, modules, and interfaces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It answers: "How does the proposed system work internally?"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It transforms the abstract "Idea" into a concrete "Implementation Plan."</a:t>
            </a:r>
            <a:endParaRPr sz="2400"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</p:txBody>
      </p:sp>
      <p:sp>
        <p:nvSpPr>
          <p:cNvPr id="149" name="Google Shape;149;p8"/>
          <p:cNvSpPr txBox="1"/>
          <p:nvPr/>
        </p:nvSpPr>
        <p:spPr>
          <a:xfrm>
            <a:off x="1415415" y="1853565"/>
            <a:ext cx="8717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While Methodology is the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process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System Design is the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blueprint of the solution. </a:t>
            </a:r>
            <a:endParaRPr b="1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b="1" lang="en-US" sz="3600"/>
              <a:t>Purpose of System Design in Research?</a:t>
            </a:r>
            <a:endParaRPr b="1" sz="3600"/>
          </a:p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2069425" y="2227900"/>
            <a:ext cx="83499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Visualization: Helps reviewers visualize the flow of data.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Modularity: Shows that your system is organized (not 'spaghetti code').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Reproducibility: Helps others understand how to rebuild your system.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Bridging: Connects the mathematical theory to the software engineering practice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b="1" lang="en-US" sz="3600"/>
              <a:t>Components of a Research System</a:t>
            </a:r>
            <a:endParaRPr b="1" sz="3600"/>
          </a:p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2300998" y="2011300"/>
            <a:ext cx="77934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Input Module: (Camera feed, CSV file, User Query).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Preprocessing Engine: (Noise removal, resizing, tokenization).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Core Contribution: This is your novel algorithm or model.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Post-Processing: (Formatting results, thresholding).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Evaluation/Feedback Loop: comparing output to ground truth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b="1" lang="en-US" sz="3600"/>
              <a:t>System Design Diagram</a:t>
            </a:r>
            <a:endParaRPr b="1" sz="3600"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hatGPT Image Feb 1, 2026, 09_42_01 PM" id="168" name="Google Shape;1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615" y="1988820"/>
            <a:ext cx="10287000" cy="3931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b="1" lang="en-US" sz="3600"/>
              <a:t>System Design Diagram</a:t>
            </a:r>
            <a:endParaRPr b="1" sz="3600"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2057400" y="2143750"/>
            <a:ext cx="8939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Input: Raw Dataset.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Preprocessing: Data Cleaning &amp; Normalization.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Model: The Neural Network / Heuristic Algorithm (Highlight this!).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Evaluation: Comparator (Predicted vs. Actual).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Output: Final Metrics &amp; Visualization.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b="1" lang="en-US" sz="3600"/>
              <a:t>Tools for System Design &amp; Implementation</a:t>
            </a:r>
            <a:endParaRPr b="1" sz="3600"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451575" y="2143750"/>
            <a:ext cx="100746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Programming: Python (AI/Data), C/C++ (Systems/Embedded), Java/JavaScript (Web/App).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Libraries: TensorFlow, PyTorch, Scikit-learn, OpenCV.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Databases: MySQL (Structured), MongoDB(Unstructured/Logs).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Diagramming Tools: Draw.io, Microsoft Visio, LucidChart (Use these for your paper!).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Documentation: $\LaTeX$ (Overleaf) - The standard for writing research papers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1588214" y="2904382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</a:pPr>
            <a:r>
              <a:rPr lang="en-US" sz="6600"/>
              <a:t>THANK YOU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2026-02-01T17:17:20Z</dcterms:created>
  <dc:creator>Md Mizanur Rahman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16F38A7EA45E4BA9BFC9E457C17C2E23_13</vt:lpwstr>
  </property>
  <property fmtid="{D5CDD505-2E9C-101B-9397-08002B2CF9AE}" pid="3" name="KSOProductBuildVer">
    <vt:lpwstr>2057-12.2.0.23196</vt:lpwstr>
  </property>
</Properties>
</file>