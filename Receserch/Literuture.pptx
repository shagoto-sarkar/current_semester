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ZHwp0okjJkyivxQ4Q4INyGSjF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AED255-E770-4435-99AD-58200DBA13E0}">
  <a:tblStyle styleId="{1DAED255-E770-4435-99AD-58200DBA13E0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E7E8"/>
          </a:solidFill>
        </a:fill>
      </a:tcStyle>
    </a:wholeTbl>
    <a:band1H>
      <a:tcTxStyle/>
      <a:tcStyle>
        <a:fill>
          <a:solidFill>
            <a:srgbClr val="E5CBCD"/>
          </a:solidFill>
        </a:fill>
      </a:tcStyle>
    </a:band1H>
    <a:band2H>
      <a:tcTxStyle/>
    </a:band2H>
    <a:band1V>
      <a:tcTxStyle/>
      <a:tcStyle>
        <a:fill>
          <a:solidFill>
            <a:srgbClr val="E5CBC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3E7E8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3E7E8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a9551e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2a9551e6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18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20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2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2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2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2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25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6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26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6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26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6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26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28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7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7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7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082565" y="1413642"/>
            <a:ext cx="10350659" cy="129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LITERATURE REVIEW, BACKGROUND STUDY , AND GAP ANALYSIS</a:t>
            </a:r>
            <a:endParaRPr b="1" sz="3600"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818690" y="3667838"/>
            <a:ext cx="9458910" cy="1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MST. UMME AYMAN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LECTURER (SENIOR SCALE), DEPT OF CSE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DAFFODIL INTERNATIONAL UNIVERSITY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 sz="2800"/>
              <a:t>WHAT IS A LITERATURE REVIEW?</a:t>
            </a:r>
            <a:endParaRPr b="1" sz="2800"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2302917" y="3197910"/>
            <a:ext cx="9889083" cy="2259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Understand what has already been done</a:t>
            </a:r>
            <a:endParaRPr sz="2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 Avoid duplication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Identify research gaps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451579" y="1975973"/>
            <a:ext cx="94739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literature review is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critical analysis of existing research works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related to a specific topic. It helps to 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040525" y="804519"/>
            <a:ext cx="10014330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 sz="2800"/>
              <a:t>WHY LITERATURE REVIEW IS IMPORTANT?</a:t>
            </a:r>
            <a:br>
              <a:rPr b="1" lang="en-US" sz="2800"/>
            </a:br>
            <a:endParaRPr b="1" sz="2800"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2318684" y="2278492"/>
            <a:ext cx="9603275" cy="3002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Refine the research problem</a:t>
            </a:r>
            <a:endParaRPr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Choose appropriate methods</a:t>
            </a:r>
            <a:endParaRPr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Identify limitations of existing approaches</a:t>
            </a:r>
            <a:endParaRPr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Justify the novelty of your research</a:t>
            </a:r>
            <a:endParaRPr/>
          </a:p>
          <a:p>
            <a:pPr indent="-508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800"/>
          </a:p>
          <a:p>
            <a:pPr indent="-1524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WHAT IS BACKGROUND STUDY?</a:t>
            </a:r>
            <a:br>
              <a:rPr b="1" lang="en-US"/>
            </a:br>
            <a:endParaRPr b="1"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2418531" y="2036752"/>
            <a:ext cx="751374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400"/>
              <a:t>Basic concepts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400"/>
              <a:t>Terminologies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400"/>
              <a:t>Technologies involved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400"/>
              <a:t>Theoretical foundations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400"/>
              <a:t>Examples: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200"/>
              <a:t>What is Machine learning?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Gill Sans"/>
              <a:buAutoNum type="arabicPeriod"/>
            </a:pPr>
            <a:r>
              <a:rPr lang="en-US" sz="2200"/>
              <a:t>What is NLP?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-87629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SOURCES FOR BACKGROUND STUDY</a:t>
            </a:r>
            <a:br>
              <a:rPr b="1" lang="en-US"/>
            </a:b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4005593" y="2173387"/>
            <a:ext cx="507534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Textbooks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Review Articles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Online Sources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Technical Blogs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Course Materials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SOURCES FOR LITERATURE REVIEW</a:t>
            </a:r>
            <a:br>
              <a:rPr b="1" lang="en-US"/>
            </a:br>
            <a:endParaRPr b="1"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28231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IEEE Xplore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Springer Link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ACM Digital Library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Elsevier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Google Scholar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 sz="2800"/>
              <a:t>LITERATURE REVIEW VS BACKGROUND STUDY</a:t>
            </a:r>
            <a:endParaRPr/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1797270" y="2016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{1DAED255-E770-4435-99AD-58200DBA13E0}</a:tableStyleId>
              </a:tblPr>
              <a:tblGrid>
                <a:gridCol w="3900000"/>
                <a:gridCol w="4013225"/>
              </a:tblGrid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Background Study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Literature Review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General knowledge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Research-focused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Textbooks, surveys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Research papers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Broad overview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Critical analysis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Explains concepts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Compares methods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1" lang="en-US"/>
              <a:t>HOW TO READ A RESEARCH PAPER EFFICIENTLY</a:t>
            </a:r>
            <a:br>
              <a:rPr b="1" lang="en-US"/>
            </a:br>
            <a:endParaRPr b="1"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3480077" y="2194408"/>
            <a:ext cx="5758518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Abstract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Introduction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Methodology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Results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Limitations/Future Work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WHAT IS  RESEARCH GAP?</a:t>
            </a:r>
            <a:br>
              <a:rPr b="1" lang="en-US"/>
            </a:br>
            <a:endParaRPr b="1"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1072055" y="1996966"/>
            <a:ext cx="9982799" cy="346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/>
              <a:t>A research gap is a </a:t>
            </a:r>
            <a:r>
              <a:rPr b="1" lang="en-US" sz="2400"/>
              <a:t>missing, unexplored, or weakly addressed area</a:t>
            </a:r>
            <a:r>
              <a:rPr lang="en-US" sz="2400"/>
              <a:t> in existing research. It answers “what is still  not solved “.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-US" sz="2400"/>
              <a:t>Additional key points:</a:t>
            </a:r>
            <a:endParaRPr b="1" sz="2400"/>
          </a:p>
          <a:p>
            <a:pPr indent="-3581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/>
              <a:t>It highlights </a:t>
            </a:r>
            <a:r>
              <a:rPr b="1" lang="en-US" sz="2400"/>
              <a:t>limitations</a:t>
            </a:r>
            <a:r>
              <a:rPr lang="en-US" sz="2400"/>
              <a:t> in current studies</a:t>
            </a:r>
            <a:br>
              <a:rPr lang="en-US" sz="2400"/>
            </a:br>
            <a:endParaRPr sz="2400"/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/>
              <a:t>It identifies areas where </a:t>
            </a:r>
            <a:r>
              <a:rPr b="1" lang="en-US" sz="2400"/>
              <a:t>existing methods perform poorly</a:t>
            </a:r>
            <a:br>
              <a:rPr b="1" lang="en-US" sz="2400"/>
            </a:br>
            <a:endParaRPr b="1" sz="2400"/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/>
              <a:t>It shows problems that are </a:t>
            </a:r>
            <a:r>
              <a:rPr b="1" lang="en-US" sz="2400"/>
              <a:t>under-studied or ignored</a:t>
            </a:r>
            <a:endParaRPr b="1" sz="2400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a9551e65_0_1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WHY DOES</a:t>
            </a:r>
            <a:r>
              <a:rPr b="1" lang="en-US"/>
              <a:t>  RESEARCH GAP HAPPENS?</a:t>
            </a:r>
            <a:br>
              <a:rPr b="1" lang="en-US"/>
            </a:br>
            <a:endParaRPr b="1"/>
          </a:p>
        </p:txBody>
      </p:sp>
      <p:sp>
        <p:nvSpPr>
          <p:cNvPr id="156" name="Google Shape;156;g3c2a9551e65_0_1"/>
          <p:cNvSpPr txBox="1"/>
          <p:nvPr>
            <p:ph idx="1" type="body"/>
          </p:nvPr>
        </p:nvSpPr>
        <p:spPr>
          <a:xfrm>
            <a:off x="2720380" y="2009016"/>
            <a:ext cx="99828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Limited Dataset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Outdated techniques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Narrow application domains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Lack of real world dataset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Lack of explainability</a:t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TYPES OF RESEARCH GAPS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3263462" y="2012732"/>
            <a:ext cx="9982799" cy="346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Methodological Research Gap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 sz="2200"/>
              <a:t>- Old or inefficient techniques used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Data Gap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 sz="2200"/>
              <a:t>- Small, biased, or outdated datasets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Context Gap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 sz="2200"/>
              <a:t>- Problem not studied in a specific domain or region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Evaluation Gap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 sz="2200"/>
              <a:t>- Lack of proper metrics or validation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HOW TO FIND THE RESEARCH GAP?</a:t>
            </a:r>
            <a:br>
              <a:rPr b="1" lang="en-US"/>
            </a:b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2033751" y="2028497"/>
            <a:ext cx="9982799" cy="346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How to find the Gap: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Read 5-10 recent papers (2023-2025).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Identify "Limitations":</a:t>
            </a:r>
            <a:r>
              <a:rPr lang="en-US"/>
              <a:t> What did they fail to do?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Identify "Scope":</a:t>
            </a:r>
            <a:r>
              <a:rPr lang="en-US"/>
              <a:t> Did they only test it in one country/language/environment?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Example:</a:t>
            </a:r>
            <a:r>
              <a:rPr lang="en-US"/>
              <a:t> Fake news detection using traditional ML with English dataset.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Identified Gaps: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Traditional method is applied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Lack of Explainability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English Dataset Only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FROM GAP TO RESEARCH PROBLEM</a:t>
            </a:r>
            <a:br>
              <a:rPr b="1" lang="en-US"/>
            </a:b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451579" y="2015732"/>
            <a:ext cx="9603275" cy="374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Gap:</a:t>
            </a:r>
            <a:br>
              <a:rPr lang="en-US"/>
            </a:br>
            <a:r>
              <a:rPr lang="en-US"/>
              <a:t>Low performance of models for Bangla text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Research Problem:</a:t>
            </a:r>
            <a:br>
              <a:rPr lang="en-US"/>
            </a:br>
            <a:r>
              <a:rPr lang="en-US"/>
              <a:t>Improving classification performance for Bangla fake news detection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Possible Topic:</a:t>
            </a:r>
            <a:br>
              <a:rPr lang="en-US"/>
            </a:br>
            <a:r>
              <a:rPr lang="en-US"/>
              <a:t>Explainable Fake News Detection for Bangla News Articles Using Transformers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COMMON STUDENT MISTAKES</a:t>
            </a:r>
            <a:br>
              <a:rPr b="1" lang="en-US"/>
            </a:br>
            <a:endParaRPr b="1"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2271385" y="2309544"/>
            <a:ext cx="9603275" cy="374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Copying literature review from others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Listing papers without comparison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Ignoring limitations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Choosing gaps without feasibility check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Using outdated papers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 sz="2800"/>
              <a:t>LITERATURE REVIEW WORKFLOW</a:t>
            </a:r>
            <a:endParaRPr/>
          </a:p>
        </p:txBody>
      </p:sp>
      <p:pic>
        <p:nvPicPr>
          <p:cNvPr id="186" name="Google Shape;18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607" y="1418897"/>
            <a:ext cx="7930055" cy="35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SUMMARY</a:t>
            </a:r>
            <a:br>
              <a:rPr b="1" lang="en-US"/>
            </a:br>
            <a:endParaRPr b="1"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2460572" y="2157621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Background study builds understanding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Literature review analyzes existing research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Gap analysis identifies opportunities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Strong research starts with strong gaps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1588214" y="2904382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 sz="66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2026-01-30T15:24:41Z</dcterms:created>
  <dc:creator>Md Mizanur Rahman</dc:creator>
</cp:coreProperties>
</file>