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
  </p:notesMasterIdLst>
  <p:sldIdLst>
    <p:sldId id="273" r:id="rId2"/>
    <p:sldId id="259" r:id="rId3"/>
    <p:sldId id="260" r:id="rId4"/>
    <p:sldId id="261" r:id="rId5"/>
    <p:sldId id="262" r:id="rId6"/>
    <p:sldId id="263" r:id="rId7"/>
    <p:sldId id="264" r:id="rId8"/>
    <p:sldId id="265" r:id="rId9"/>
    <p:sldId id="266" r:id="rId10"/>
    <p:sldId id="271" r:id="rId11"/>
    <p:sldId id="267" r:id="rId12"/>
    <p:sldId id="272"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9" d="100"/>
          <a:sy n="149" d="100"/>
        </p:scale>
        <p:origin x="4662"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0A0D88-BBFA-4E7E-902D-83FA3EF0D90C}" type="datetimeFigureOut">
              <a:rPr lang="en-US" smtClean="0"/>
              <a:t>6/6/2026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C2C499-A383-4FC9-8A2A-4419B4306DC7}" type="slidenum">
              <a:rPr lang="en-US" smtClean="0"/>
              <a:t>‹#›</a:t>
            </a:fld>
            <a:endParaRPr lang="en-US"/>
          </a:p>
        </p:txBody>
      </p:sp>
    </p:spTree>
    <p:extLst>
      <p:ext uri="{BB962C8B-B14F-4D97-AF65-F5344CB8AC3E}">
        <p14:creationId xmlns:p14="http://schemas.microsoft.com/office/powerpoint/2010/main" val="117223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2C2C499-A383-4FC9-8A2A-4419B4306DC7}" type="slidenum">
              <a:rPr lang="en-US" smtClean="0"/>
              <a:t>4</a:t>
            </a:fld>
            <a:endParaRPr lang="en-US"/>
          </a:p>
        </p:txBody>
      </p:sp>
    </p:spTree>
    <p:extLst>
      <p:ext uri="{BB962C8B-B14F-4D97-AF65-F5344CB8AC3E}">
        <p14:creationId xmlns:p14="http://schemas.microsoft.com/office/powerpoint/2010/main" val="3055218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6/6/2026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6/6/2026</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1D8BD707-D9CF-40AE-B4C6-C98DA3205C09}" type="datetimeFigureOut">
              <a:rPr lang="en-US" smtClean="0"/>
              <a:pPr/>
              <a:t>6/6/2026</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6/6/2026</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6/6/2026</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6/6/2026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Thesis writing guidelines</a:t>
            </a:r>
          </a:p>
        </p:txBody>
      </p:sp>
      <p:sp>
        <p:nvSpPr>
          <p:cNvPr id="3" name="Subtitle 2"/>
          <p:cNvSpPr>
            <a:spLocks noGrp="1"/>
          </p:cNvSpPr>
          <p:nvPr>
            <p:ph type="subTitle" idx="1"/>
          </p:nvPr>
        </p:nvSpPr>
        <p:spPr>
          <a:xfrm>
            <a:off x="2286000" y="5003322"/>
            <a:ext cx="6629400" cy="1371600"/>
          </a:xfrm>
        </p:spPr>
        <p:txBody>
          <a:bodyPr>
            <a:normAutofit/>
          </a:bodyPr>
          <a:lstStyle/>
          <a:p>
            <a:r>
              <a:rPr lang="en-US" dirty="0"/>
              <a:t>Dr. </a:t>
            </a:r>
            <a:r>
              <a:rPr lang="en-US" dirty="0" err="1"/>
              <a:t>Arif</a:t>
            </a:r>
            <a:r>
              <a:rPr lang="en-US" dirty="0"/>
              <a:t> Mahmud</a:t>
            </a:r>
          </a:p>
          <a:p>
            <a:r>
              <a:rPr lang="en-US" dirty="0"/>
              <a:t>Associate Professor &amp; Associate Head</a:t>
            </a:r>
          </a:p>
          <a:p>
            <a:r>
              <a:rPr lang="en-US" dirty="0"/>
              <a:t>Department of CSE, Daffodil International University</a:t>
            </a:r>
          </a:p>
        </p:txBody>
      </p:sp>
    </p:spTree>
    <p:extLst>
      <p:ext uri="{BB962C8B-B14F-4D97-AF65-F5344CB8AC3E}">
        <p14:creationId xmlns:p14="http://schemas.microsoft.com/office/powerpoint/2010/main" val="224005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a:t>
            </a:r>
          </a:p>
        </p:txBody>
      </p:sp>
      <p:sp>
        <p:nvSpPr>
          <p:cNvPr id="3" name="Content Placeholder 2"/>
          <p:cNvSpPr>
            <a:spLocks noGrp="1"/>
          </p:cNvSpPr>
          <p:nvPr>
            <p:ph sz="quarter" idx="1"/>
          </p:nvPr>
        </p:nvSpPr>
        <p:spPr/>
        <p:txBody>
          <a:bodyPr>
            <a:normAutofit/>
          </a:bodyPr>
          <a:lstStyle/>
          <a:p>
            <a:r>
              <a:rPr lang="en-US" dirty="0"/>
              <a:t>Abstract</a:t>
            </a:r>
          </a:p>
          <a:p>
            <a:r>
              <a:rPr lang="en-US" dirty="0"/>
              <a:t>Introduction</a:t>
            </a:r>
          </a:p>
          <a:p>
            <a:r>
              <a:rPr lang="en-US" dirty="0"/>
              <a:t>Background and Literature review</a:t>
            </a:r>
          </a:p>
          <a:p>
            <a:r>
              <a:rPr lang="en-US" dirty="0"/>
              <a:t>Methodology/model</a:t>
            </a:r>
          </a:p>
          <a:p>
            <a:r>
              <a:rPr lang="en-US" dirty="0"/>
              <a:t>Implementation (Optional)</a:t>
            </a:r>
          </a:p>
          <a:p>
            <a:r>
              <a:rPr lang="en-US" dirty="0"/>
              <a:t>Results (can be merged with Implementation too)</a:t>
            </a:r>
          </a:p>
          <a:p>
            <a:r>
              <a:rPr lang="en-US" dirty="0"/>
              <a:t>Discussion and Conclusion ( include Implications, Limitations and Future Work)</a:t>
            </a:r>
          </a:p>
          <a:p>
            <a:r>
              <a:rPr lang="en-US" dirty="0"/>
              <a:t>References</a:t>
            </a:r>
          </a:p>
          <a:p>
            <a:r>
              <a:rPr lang="en-US" dirty="0"/>
              <a:t>N.B: All the chapters have to be interlinked and dependent on each other</a:t>
            </a:r>
          </a:p>
        </p:txBody>
      </p:sp>
    </p:spTree>
    <p:extLst>
      <p:ext uri="{BB962C8B-B14F-4D97-AF65-F5344CB8AC3E}">
        <p14:creationId xmlns:p14="http://schemas.microsoft.com/office/powerpoint/2010/main" val="302540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a:t>
            </a:r>
            <a:br>
              <a:rPr lang="en-US" dirty="0"/>
            </a:br>
            <a:endParaRPr lang="en-US" dirty="0"/>
          </a:p>
        </p:txBody>
      </p:sp>
      <p:sp>
        <p:nvSpPr>
          <p:cNvPr id="3" name="Content Placeholder 2"/>
          <p:cNvSpPr>
            <a:spLocks noGrp="1"/>
          </p:cNvSpPr>
          <p:nvPr>
            <p:ph sz="quarter" idx="1"/>
          </p:nvPr>
        </p:nvSpPr>
        <p:spPr/>
        <p:txBody>
          <a:bodyPr>
            <a:normAutofit/>
          </a:bodyPr>
          <a:lstStyle/>
          <a:p>
            <a:pPr marL="0" indent="0" algn="just">
              <a:buNone/>
            </a:pPr>
            <a:r>
              <a:rPr lang="en-US" dirty="0"/>
              <a:t>Think of the introduction as a mental road map that must answer for the reader these four questions:</a:t>
            </a:r>
          </a:p>
          <a:p>
            <a:pPr algn="just"/>
            <a:endParaRPr lang="en-US" dirty="0"/>
          </a:p>
          <a:p>
            <a:pPr algn="just"/>
            <a:r>
              <a:rPr lang="en-US" dirty="0"/>
              <a:t>What was I studying?</a:t>
            </a:r>
          </a:p>
          <a:p>
            <a:pPr algn="just"/>
            <a:r>
              <a:rPr lang="en-US" dirty="0"/>
              <a:t>Why was this topic important to investigate?</a:t>
            </a:r>
          </a:p>
          <a:p>
            <a:pPr algn="just"/>
            <a:r>
              <a:rPr lang="en-US" dirty="0"/>
              <a:t>What did we know about this topic before I did this study?</a:t>
            </a:r>
          </a:p>
          <a:p>
            <a:pPr algn="just"/>
            <a:r>
              <a:rPr lang="en-US" dirty="0"/>
              <a:t>How will this study advance our knowledge?</a:t>
            </a:r>
          </a:p>
          <a:p>
            <a:pPr algn="just"/>
            <a:r>
              <a:rPr lang="en-US" dirty="0"/>
              <a:t>Suggestions: 5-7 pages at BSc level (1500+ words)</a:t>
            </a:r>
          </a:p>
        </p:txBody>
      </p:sp>
    </p:spTree>
    <p:extLst>
      <p:ext uri="{BB962C8B-B14F-4D97-AF65-F5344CB8AC3E}">
        <p14:creationId xmlns:p14="http://schemas.microsoft.com/office/powerpoint/2010/main" val="2194286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Background</a:t>
            </a:r>
            <a:br>
              <a:rPr lang="en-US" dirty="0"/>
            </a:br>
            <a:endParaRPr lang="en-US" dirty="0"/>
          </a:p>
        </p:txBody>
      </p:sp>
      <p:sp>
        <p:nvSpPr>
          <p:cNvPr id="3" name="Content Placeholder 2"/>
          <p:cNvSpPr>
            <a:spLocks noGrp="1"/>
          </p:cNvSpPr>
          <p:nvPr>
            <p:ph sz="quarter" idx="1"/>
          </p:nvPr>
        </p:nvSpPr>
        <p:spPr/>
        <p:txBody>
          <a:bodyPr>
            <a:normAutofit/>
          </a:bodyPr>
          <a:lstStyle/>
          <a:p>
            <a:pPr algn="just"/>
            <a:r>
              <a:rPr lang="en-US" dirty="0"/>
              <a:t>The background of the study establishes the context of the research. This section explains why this particular research topic is important and essential to understanding the main aspects of the study. Usually, the background forms the first section of a research article/thesis and justifies the need for conducting the study and summarizes what the study aims to achieve.</a:t>
            </a:r>
          </a:p>
          <a:p>
            <a:pPr algn="just"/>
            <a:r>
              <a:rPr lang="en-US" dirty="0"/>
              <a:t>Suggestions: 3-5 pages at BSc level (1500+ words)</a:t>
            </a:r>
          </a:p>
          <a:p>
            <a:endParaRPr lang="en-US" dirty="0"/>
          </a:p>
        </p:txBody>
      </p:sp>
    </p:spTree>
    <p:extLst>
      <p:ext uri="{BB962C8B-B14F-4D97-AF65-F5344CB8AC3E}">
        <p14:creationId xmlns:p14="http://schemas.microsoft.com/office/powerpoint/2010/main" val="411366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review</a:t>
            </a:r>
            <a:br>
              <a:rPr lang="en-US" dirty="0"/>
            </a:br>
            <a:endParaRPr lang="en-US" dirty="0"/>
          </a:p>
        </p:txBody>
      </p:sp>
      <p:sp>
        <p:nvSpPr>
          <p:cNvPr id="3" name="Content Placeholder 2"/>
          <p:cNvSpPr>
            <a:spLocks noGrp="1"/>
          </p:cNvSpPr>
          <p:nvPr>
            <p:ph sz="quarter" idx="1"/>
          </p:nvPr>
        </p:nvSpPr>
        <p:spPr/>
        <p:txBody>
          <a:bodyPr/>
          <a:lstStyle/>
          <a:p>
            <a:pPr algn="just"/>
            <a:r>
              <a:rPr lang="en-US" dirty="0"/>
              <a:t>A literature review is a comprehensive summary of previous research on a topic. The literature review surveys scholarly articles, books, and other sources relevant to a particular area of research. The review should enumerate, describe, summarize, objectively evaluate and clarify this previous research.</a:t>
            </a:r>
          </a:p>
          <a:p>
            <a:pPr algn="just"/>
            <a:r>
              <a:rPr lang="en-US" dirty="0"/>
              <a:t>Suggestions: 8-12 pages at BSc level (2500+ words)</a:t>
            </a:r>
          </a:p>
          <a:p>
            <a:endParaRPr lang="en-US" dirty="0"/>
          </a:p>
        </p:txBody>
      </p:sp>
    </p:spTree>
    <p:extLst>
      <p:ext uri="{BB962C8B-B14F-4D97-AF65-F5344CB8AC3E}">
        <p14:creationId xmlns:p14="http://schemas.microsoft.com/office/powerpoint/2010/main" val="2355994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Methodology/model</a:t>
            </a:r>
            <a:br>
              <a:rPr lang="en-US" dirty="0"/>
            </a:br>
            <a:endParaRPr lang="en-US" dirty="0"/>
          </a:p>
        </p:txBody>
      </p:sp>
      <p:sp>
        <p:nvSpPr>
          <p:cNvPr id="3" name="Content Placeholder 2"/>
          <p:cNvSpPr>
            <a:spLocks noGrp="1"/>
          </p:cNvSpPr>
          <p:nvPr>
            <p:ph sz="quarter" idx="1"/>
          </p:nvPr>
        </p:nvSpPr>
        <p:spPr/>
        <p:txBody>
          <a:bodyPr/>
          <a:lstStyle/>
          <a:p>
            <a:pPr algn="just"/>
            <a:r>
              <a:rPr lang="en-US" dirty="0"/>
              <a:t>Methodology in research is defined as the systematic method to resolve a research problem through data gathering using various techniques, providing an interpretation of data gathered and drawing conclusions about the research data.</a:t>
            </a:r>
          </a:p>
          <a:p>
            <a:pPr algn="just"/>
            <a:r>
              <a:rPr lang="en-US" dirty="0"/>
              <a:t>Suggestions: 8-10 pages at BSc level (2500+ words)</a:t>
            </a:r>
          </a:p>
          <a:p>
            <a:endParaRPr lang="en-US" dirty="0"/>
          </a:p>
        </p:txBody>
      </p:sp>
    </p:spTree>
    <p:extLst>
      <p:ext uri="{BB962C8B-B14F-4D97-AF65-F5344CB8AC3E}">
        <p14:creationId xmlns:p14="http://schemas.microsoft.com/office/powerpoint/2010/main" val="1142103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br>
              <a:rPr lang="en-US" dirty="0"/>
            </a:br>
            <a:endParaRPr lang="en-US" dirty="0"/>
          </a:p>
        </p:txBody>
      </p:sp>
      <p:sp>
        <p:nvSpPr>
          <p:cNvPr id="3" name="Content Placeholder 2"/>
          <p:cNvSpPr>
            <a:spLocks noGrp="1"/>
          </p:cNvSpPr>
          <p:nvPr>
            <p:ph sz="quarter" idx="1"/>
          </p:nvPr>
        </p:nvSpPr>
        <p:spPr/>
        <p:txBody>
          <a:bodyPr/>
          <a:lstStyle/>
          <a:p>
            <a:pPr algn="just"/>
            <a:r>
              <a:rPr lang="en-US" dirty="0"/>
              <a:t>Implementation research is an integrated concept that links research and practice to accelerate the development and delivery of methods/approaches. Implementation involves the creation and application of knowledge to improve the implementation of policies, programs, and practices</a:t>
            </a:r>
          </a:p>
          <a:p>
            <a:pPr algn="just"/>
            <a:r>
              <a:rPr lang="en-US" dirty="0"/>
              <a:t>Suggestions: 8-10 pages at BSc level (2500+ words)</a:t>
            </a:r>
          </a:p>
          <a:p>
            <a:endParaRPr lang="en-US" dirty="0"/>
          </a:p>
        </p:txBody>
      </p:sp>
    </p:spTree>
    <p:extLst>
      <p:ext uri="{BB962C8B-B14F-4D97-AF65-F5344CB8AC3E}">
        <p14:creationId xmlns:p14="http://schemas.microsoft.com/office/powerpoint/2010/main" val="1548528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Results</a:t>
            </a:r>
            <a:br>
              <a:rPr lang="en-US" dirty="0"/>
            </a:br>
            <a:endParaRPr lang="en-US" dirty="0"/>
          </a:p>
        </p:txBody>
      </p:sp>
      <p:sp>
        <p:nvSpPr>
          <p:cNvPr id="3" name="Content Placeholder 2"/>
          <p:cNvSpPr>
            <a:spLocks noGrp="1"/>
          </p:cNvSpPr>
          <p:nvPr>
            <p:ph sz="quarter" idx="1"/>
          </p:nvPr>
        </p:nvSpPr>
        <p:spPr/>
        <p:txBody>
          <a:bodyPr/>
          <a:lstStyle/>
          <a:p>
            <a:pPr marL="0" indent="0" algn="just">
              <a:buNone/>
            </a:pPr>
            <a:r>
              <a:rPr lang="en-US" dirty="0"/>
              <a:t>The results section is where you report the findings of your study based upon the methodology you applied to gather information. The results section should state the findings of the research arranged in a logical sequence without bias or interpretation.</a:t>
            </a:r>
          </a:p>
          <a:p>
            <a:pPr marL="0" indent="0" algn="just">
              <a:buNone/>
            </a:pPr>
            <a:r>
              <a:rPr lang="en-US" dirty="0"/>
              <a:t>Suggestions: 5-10 pages at BSc level (1500+ words)</a:t>
            </a:r>
          </a:p>
          <a:p>
            <a:pPr marL="0" indent="0">
              <a:buNone/>
            </a:pPr>
            <a:endParaRPr lang="en-US" dirty="0"/>
          </a:p>
        </p:txBody>
      </p:sp>
    </p:spTree>
    <p:extLst>
      <p:ext uri="{BB962C8B-B14F-4D97-AF65-F5344CB8AC3E}">
        <p14:creationId xmlns:p14="http://schemas.microsoft.com/office/powerpoint/2010/main" val="124989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Discussion</a:t>
            </a:r>
            <a:br>
              <a:rPr lang="en-US" dirty="0"/>
            </a:br>
            <a:endParaRPr lang="en-US" dirty="0"/>
          </a:p>
        </p:txBody>
      </p:sp>
      <p:sp>
        <p:nvSpPr>
          <p:cNvPr id="3" name="Content Placeholder 2"/>
          <p:cNvSpPr>
            <a:spLocks noGrp="1"/>
          </p:cNvSpPr>
          <p:nvPr>
            <p:ph sz="quarter" idx="1"/>
          </p:nvPr>
        </p:nvSpPr>
        <p:spPr/>
        <p:txBody>
          <a:bodyPr/>
          <a:lstStyle/>
          <a:p>
            <a:pPr algn="just"/>
            <a:r>
              <a:rPr lang="en-US" dirty="0"/>
              <a:t>The purpose of the discussion is to interpret and describe the significance of your findings in light of what was already known about the research problem being investigated and to explain any new understanding or insights that emerged as a result of your study of the problem.</a:t>
            </a:r>
          </a:p>
          <a:p>
            <a:pPr algn="just"/>
            <a:r>
              <a:rPr lang="en-US" dirty="0"/>
              <a:t>Suggestions: 5-10 pages at BSc level (1500+ words)</a:t>
            </a:r>
          </a:p>
          <a:p>
            <a:endParaRPr lang="en-US" dirty="0"/>
          </a:p>
        </p:txBody>
      </p:sp>
    </p:spTree>
    <p:extLst>
      <p:ext uri="{BB962C8B-B14F-4D97-AF65-F5344CB8AC3E}">
        <p14:creationId xmlns:p14="http://schemas.microsoft.com/office/powerpoint/2010/main" val="417630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and Implications</a:t>
            </a:r>
          </a:p>
        </p:txBody>
      </p:sp>
      <p:sp>
        <p:nvSpPr>
          <p:cNvPr id="3" name="Content Placeholder 2"/>
          <p:cNvSpPr>
            <a:spLocks noGrp="1"/>
          </p:cNvSpPr>
          <p:nvPr>
            <p:ph sz="quarter" idx="1"/>
          </p:nvPr>
        </p:nvSpPr>
        <p:spPr/>
        <p:txBody>
          <a:bodyPr/>
          <a:lstStyle/>
          <a:p>
            <a:r>
              <a:rPr lang="en-US" dirty="0"/>
              <a:t>In conclusion, answer the research questions that you proposed in 1</a:t>
            </a:r>
            <a:r>
              <a:rPr lang="en-US" baseline="30000" dirty="0"/>
              <a:t>st</a:t>
            </a:r>
            <a:r>
              <a:rPr lang="en-US" dirty="0"/>
              <a:t> chapter</a:t>
            </a:r>
          </a:p>
          <a:p>
            <a:r>
              <a:rPr lang="en-US" dirty="0"/>
              <a:t>Example:</a:t>
            </a:r>
          </a:p>
          <a:p>
            <a:r>
              <a:rPr lang="en-US" dirty="0"/>
              <a:t>As per answer of RQ1… according to RQ2 ..</a:t>
            </a:r>
          </a:p>
          <a:p>
            <a:r>
              <a:rPr lang="en-US" dirty="0"/>
              <a:t>In implications, highlight theoretical and practical (or methodological contribution). I mean what are new factors/modifications you have included in your theory (algorithms), practically or methodologically.</a:t>
            </a:r>
          </a:p>
          <a:p>
            <a:r>
              <a:rPr lang="en-US" dirty="0"/>
              <a:t>In limitations and future works, highlight 2-3 issues that can be solved within 3-6 months of time.</a:t>
            </a:r>
          </a:p>
        </p:txBody>
      </p:sp>
    </p:spTree>
    <p:extLst>
      <p:ext uri="{BB962C8B-B14F-4D97-AF65-F5344CB8AC3E}">
        <p14:creationId xmlns:p14="http://schemas.microsoft.com/office/powerpoint/2010/main" val="536126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br>
              <a:rPr lang="en-US" dirty="0"/>
            </a:br>
            <a:endParaRPr lang="en-US" dirty="0"/>
          </a:p>
        </p:txBody>
      </p:sp>
      <p:sp>
        <p:nvSpPr>
          <p:cNvPr id="3" name="Content Placeholder 2"/>
          <p:cNvSpPr>
            <a:spLocks noGrp="1"/>
          </p:cNvSpPr>
          <p:nvPr>
            <p:ph sz="quarter" idx="1"/>
          </p:nvPr>
        </p:nvSpPr>
        <p:spPr/>
        <p:txBody>
          <a:bodyPr>
            <a:normAutofit/>
          </a:bodyPr>
          <a:lstStyle/>
          <a:p>
            <a:pPr algn="just"/>
            <a:r>
              <a:rPr lang="en-US" dirty="0"/>
              <a:t>Referencing can be described as giving credit, with citation, to the source of information used in one’s work. Research is a buildup on what other people have previously done thus referencing helps to relate your own work to previous work. Unacknowledged use and presenting someone else’s ideas as if they were your own can be used to describe plagiarism.</a:t>
            </a:r>
          </a:p>
          <a:p>
            <a:pPr algn="just"/>
            <a:r>
              <a:rPr lang="en-US" dirty="0"/>
              <a:t>Suggestions: 30+ references at BSc level</a:t>
            </a:r>
          </a:p>
          <a:p>
            <a:endParaRPr lang="en-US" dirty="0"/>
          </a:p>
        </p:txBody>
      </p:sp>
    </p:spTree>
    <p:extLst>
      <p:ext uri="{BB962C8B-B14F-4D97-AF65-F5344CB8AC3E}">
        <p14:creationId xmlns:p14="http://schemas.microsoft.com/office/powerpoint/2010/main" val="3438347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Resources</a:t>
            </a:r>
          </a:p>
        </p:txBody>
      </p:sp>
      <p:sp>
        <p:nvSpPr>
          <p:cNvPr id="3" name="Content Placeholder 2"/>
          <p:cNvSpPr>
            <a:spLocks noGrp="1"/>
          </p:cNvSpPr>
          <p:nvPr>
            <p:ph sz="quarter" idx="1"/>
          </p:nvPr>
        </p:nvSpPr>
        <p:spPr/>
        <p:txBody>
          <a:bodyPr>
            <a:normAutofit lnSpcReduction="10000"/>
          </a:bodyPr>
          <a:lstStyle/>
          <a:p>
            <a:pPr algn="just"/>
            <a:r>
              <a:rPr lang="en-US" dirty="0"/>
              <a:t>Creswell, J. W. (2014). Research Design: Qualitative, Quantitative and Mixed Methods Approaches (4th ed.). Thousand Oaks, California: Sage.</a:t>
            </a:r>
          </a:p>
          <a:p>
            <a:pPr algn="just"/>
            <a:r>
              <a:rPr lang="en-US" dirty="0"/>
              <a:t>Kothari, C.R. (2004). Research Methodology: Methods and Techniques (2nd ed.). Delhi: New Age International Publishers.</a:t>
            </a:r>
          </a:p>
          <a:p>
            <a:pPr algn="just"/>
            <a:r>
              <a:rPr lang="en-US" dirty="0" err="1"/>
              <a:t>Bryman</a:t>
            </a:r>
            <a:r>
              <a:rPr lang="en-US" dirty="0"/>
              <a:t>, A., &amp; Bell, E. (2007). Business research methods (2nd ed.). New York: Oxford University Press.</a:t>
            </a:r>
          </a:p>
          <a:p>
            <a:pPr algn="just"/>
            <a:r>
              <a:rPr lang="en-US" dirty="0" err="1"/>
              <a:t>Sekaran</a:t>
            </a:r>
            <a:r>
              <a:rPr lang="en-US" dirty="0"/>
              <a:t>, U. (2003). Research methods for business: A skill-building approach (4th ed.). New York: John Wiley &amp; Sons.</a:t>
            </a:r>
          </a:p>
        </p:txBody>
      </p:sp>
    </p:spTree>
    <p:extLst>
      <p:ext uri="{BB962C8B-B14F-4D97-AF65-F5344CB8AC3E}">
        <p14:creationId xmlns:p14="http://schemas.microsoft.com/office/powerpoint/2010/main" val="916625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End</a:t>
            </a:r>
          </a:p>
        </p:txBody>
      </p:sp>
      <p:sp>
        <p:nvSpPr>
          <p:cNvPr id="3" name="Content Placeholder 2"/>
          <p:cNvSpPr>
            <a:spLocks noGrp="1"/>
          </p:cNvSpPr>
          <p:nvPr>
            <p:ph sz="quarter" idx="1"/>
          </p:nvPr>
        </p:nvSpPr>
        <p:spPr/>
        <p:txBody>
          <a:bodyPr/>
          <a:lstStyle/>
          <a:p>
            <a:pPr marL="0" indent="0" algn="ctr">
              <a:buNone/>
            </a:pPr>
            <a:r>
              <a:rPr lang="en-US" sz="6000" b="1" dirty="0"/>
              <a:t>Thank You</a:t>
            </a:r>
          </a:p>
          <a:p>
            <a:endParaRPr lang="en-US" dirty="0"/>
          </a:p>
          <a:p>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743200"/>
            <a:ext cx="3810000" cy="387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3659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193</TotalTime>
  <Words>776</Words>
  <Application>Microsoft Office PowerPoint</Application>
  <PresentationFormat>On-screen Show (4:3)</PresentationFormat>
  <Paragraphs>57</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Century Schoolbook</vt:lpstr>
      <vt:lpstr>Wingdings</vt:lpstr>
      <vt:lpstr>Wingdings 2</vt:lpstr>
      <vt:lpstr>Oriel</vt:lpstr>
      <vt:lpstr>Thesis writing guidelines</vt:lpstr>
      <vt:lpstr>Elements</vt:lpstr>
      <vt:lpstr>Introduction </vt:lpstr>
      <vt:lpstr>Background </vt:lpstr>
      <vt:lpstr>Literature review </vt:lpstr>
      <vt:lpstr>Methodology/model </vt:lpstr>
      <vt:lpstr>Implementation </vt:lpstr>
      <vt:lpstr>Results </vt:lpstr>
      <vt:lpstr>Discussion </vt:lpstr>
      <vt:lpstr>Conclusion and Implications</vt:lpstr>
      <vt:lpstr>References </vt:lpstr>
      <vt:lpstr>Further Resources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Arif Mahmud</dc:title>
  <dc:creator>Arif Mahmud</dc:creator>
  <cp:lastModifiedBy>USER</cp:lastModifiedBy>
  <cp:revision>35</cp:revision>
  <dcterms:created xsi:type="dcterms:W3CDTF">2006-08-16T00:00:00Z</dcterms:created>
  <dcterms:modified xsi:type="dcterms:W3CDTF">2026-06-06T06:11:57Z</dcterms:modified>
</cp:coreProperties>
</file>