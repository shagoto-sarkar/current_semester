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embeddedFontLst>
    <p:embeddedFont>
      <p:font typeface="Quattrocento Sans"/>
      <p:regular r:id="rId18"/>
      <p:bold r:id="rId19"/>
      <p:italic r:id="rId20"/>
      <p:boldItalic r:id="rId21"/>
    </p:embeddedFont>
    <p:embeddedFont>
      <p:font typeface="Gill Sans"/>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gys4/obmX5npUhpnkFzrd/UC8A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B787235-615A-458A-BFD4-C0EA860DFF8E}">
  <a:tblStyle styleId="{2B787235-615A-458A-BFD4-C0EA860DFF8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QuattrocentoSans-italic.fntdata"/><Relationship Id="rId11" Type="http://schemas.openxmlformats.org/officeDocument/2006/relationships/slide" Target="slides/slide6.xml"/><Relationship Id="rId22" Type="http://schemas.openxmlformats.org/officeDocument/2006/relationships/font" Target="fonts/GillSans-regular.fntdata"/><Relationship Id="rId10" Type="http://schemas.openxmlformats.org/officeDocument/2006/relationships/slide" Target="slides/slide5.xml"/><Relationship Id="rId21" Type="http://schemas.openxmlformats.org/officeDocument/2006/relationships/font" Target="fonts/QuattrocentoSans-boldItalic.fntdata"/><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font" Target="fonts/GillSans-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QuattrocentoSans-bold.fntdata"/><Relationship Id="rId6" Type="http://schemas.openxmlformats.org/officeDocument/2006/relationships/slide" Target="slides/slide1.xml"/><Relationship Id="rId18" Type="http://schemas.openxmlformats.org/officeDocument/2006/relationships/font" Target="fonts/QuattrocentoSans-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14"/>
          <p:cNvSpPr txBox="1"/>
          <p:nvPr>
            <p:ph type="ctrTitle"/>
          </p:nvPr>
        </p:nvSpPr>
        <p:spPr>
          <a:xfrm>
            <a:off x="2417779" y="802298"/>
            <a:ext cx="8637073" cy="2541431"/>
          </a:xfrm>
          <a:prstGeom prst="rect">
            <a:avLst/>
          </a:prstGeom>
          <a:noFill/>
          <a:ln>
            <a:noFill/>
          </a:ln>
        </p:spPr>
        <p:txBody>
          <a:bodyPr anchorCtr="0" anchor="b" bIns="0" lIns="91425" spcFirstLastPara="1" rIns="91425" wrap="square" tIns="45700">
            <a:normAutofit/>
          </a:bodyPr>
          <a:lstStyle>
            <a:lvl1pPr lvl="0" algn="l">
              <a:lnSpc>
                <a:spcPct val="90000"/>
              </a:lnSpc>
              <a:spcBef>
                <a:spcPts val="0"/>
              </a:spcBef>
              <a:spcAft>
                <a:spcPts val="0"/>
              </a:spcAft>
              <a:buClr>
                <a:schemeClr val="dk1"/>
              </a:buClr>
              <a:buSzPts val="6600"/>
              <a:buFont typeface="Gill Sans"/>
              <a:buNone/>
              <a:defRPr sz="6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14"/>
          <p:cNvSpPr txBox="1"/>
          <p:nvPr>
            <p:ph idx="1" type="subTitle"/>
          </p:nvPr>
        </p:nvSpPr>
        <p:spPr>
          <a:xfrm>
            <a:off x="2417780" y="3531204"/>
            <a:ext cx="8637072" cy="977621"/>
          </a:xfrm>
          <a:prstGeom prst="rect">
            <a:avLst/>
          </a:prstGeom>
          <a:noFill/>
          <a:ln>
            <a:noFill/>
          </a:ln>
        </p:spPr>
        <p:txBody>
          <a:bodyPr anchorCtr="0" anchor="t" bIns="91425" lIns="91425" spcFirstLastPara="1" rIns="91425" wrap="square" tIns="91425">
            <a:normAutofit/>
          </a:bodyPr>
          <a:lstStyle>
            <a:lvl1pPr lvl="0" algn="l">
              <a:lnSpc>
                <a:spcPct val="120000"/>
              </a:lnSpc>
              <a:spcBef>
                <a:spcPts val="1000"/>
              </a:spcBef>
              <a:spcAft>
                <a:spcPts val="0"/>
              </a:spcAft>
              <a:buSzPts val="1800"/>
              <a:buNone/>
              <a:defRPr b="0" sz="1800" cap="none">
                <a:solidFill>
                  <a:schemeClr val="dk1"/>
                </a:solidFill>
              </a:defRPr>
            </a:lvl1pPr>
            <a:lvl2pPr lvl="1" algn="ctr">
              <a:lnSpc>
                <a:spcPct val="120000"/>
              </a:lnSpc>
              <a:spcBef>
                <a:spcPts val="500"/>
              </a:spcBef>
              <a:spcAft>
                <a:spcPts val="0"/>
              </a:spcAft>
              <a:buSzPts val="1800"/>
              <a:buNone/>
              <a:defRPr sz="1800"/>
            </a:lvl2pPr>
            <a:lvl3pPr lvl="2" algn="ctr">
              <a:lnSpc>
                <a:spcPct val="120000"/>
              </a:lnSpc>
              <a:spcBef>
                <a:spcPts val="500"/>
              </a:spcBef>
              <a:spcAft>
                <a:spcPts val="0"/>
              </a:spcAft>
              <a:buSzPts val="1800"/>
              <a:buNone/>
              <a:defRPr sz="1800"/>
            </a:lvl3pPr>
            <a:lvl4pPr lvl="3" algn="ctr">
              <a:lnSpc>
                <a:spcPct val="120000"/>
              </a:lnSpc>
              <a:spcBef>
                <a:spcPts val="500"/>
              </a:spcBef>
              <a:spcAft>
                <a:spcPts val="0"/>
              </a:spcAft>
              <a:buSzPts val="1600"/>
              <a:buNone/>
              <a:defRPr sz="1600"/>
            </a:lvl4pPr>
            <a:lvl5pPr lvl="4" algn="ctr">
              <a:lnSpc>
                <a:spcPct val="120000"/>
              </a:lnSpc>
              <a:spcBef>
                <a:spcPts val="500"/>
              </a:spcBef>
              <a:spcAft>
                <a:spcPts val="0"/>
              </a:spcAft>
              <a:buSzPts val="1600"/>
              <a:buNone/>
              <a:defRPr sz="1600"/>
            </a:lvl5pPr>
            <a:lvl6pPr lvl="5" algn="ctr">
              <a:lnSpc>
                <a:spcPct val="120000"/>
              </a:lnSpc>
              <a:spcBef>
                <a:spcPts val="500"/>
              </a:spcBef>
              <a:spcAft>
                <a:spcPts val="0"/>
              </a:spcAft>
              <a:buSzPts val="1600"/>
              <a:buNone/>
              <a:defRPr sz="1600"/>
            </a:lvl6pPr>
            <a:lvl7pPr lvl="6" algn="ctr">
              <a:lnSpc>
                <a:spcPct val="120000"/>
              </a:lnSpc>
              <a:spcBef>
                <a:spcPts val="500"/>
              </a:spcBef>
              <a:spcAft>
                <a:spcPts val="0"/>
              </a:spcAft>
              <a:buSzPts val="1600"/>
              <a:buNone/>
              <a:defRPr sz="1600"/>
            </a:lvl7pPr>
            <a:lvl8pPr lvl="7" algn="ctr">
              <a:lnSpc>
                <a:spcPct val="120000"/>
              </a:lnSpc>
              <a:spcBef>
                <a:spcPts val="500"/>
              </a:spcBef>
              <a:spcAft>
                <a:spcPts val="0"/>
              </a:spcAft>
              <a:buSzPts val="1600"/>
              <a:buNone/>
              <a:defRPr sz="1600"/>
            </a:lvl8pPr>
            <a:lvl9pPr lvl="8" algn="ctr">
              <a:lnSpc>
                <a:spcPct val="120000"/>
              </a:lnSpc>
              <a:spcBef>
                <a:spcPts val="500"/>
              </a:spcBef>
              <a:spcAft>
                <a:spcPts val="0"/>
              </a:spcAft>
              <a:buSzPts val="1600"/>
              <a:buNone/>
              <a:defRPr sz="1600"/>
            </a:lvl9pPr>
          </a:lstStyle>
          <a:p/>
        </p:txBody>
      </p:sp>
      <p:sp>
        <p:nvSpPr>
          <p:cNvPr id="17" name="Google Shape;17;p14"/>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14"/>
          <p:cNvSpPr txBox="1"/>
          <p:nvPr>
            <p:ph idx="11" type="ftr"/>
          </p:nvPr>
        </p:nvSpPr>
        <p:spPr>
          <a:xfrm>
            <a:off x="2416500" y="329307"/>
            <a:ext cx="4973915"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4"/>
          <p:cNvSpPr txBox="1"/>
          <p:nvPr>
            <p:ph idx="12" type="sldNum"/>
          </p:nvPr>
        </p:nvSpPr>
        <p:spPr>
          <a:xfrm>
            <a:off x="1437664"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cxnSp>
        <p:nvCxnSpPr>
          <p:cNvPr id="20" name="Google Shape;20;p14"/>
          <p:cNvCxnSpPr/>
          <p:nvPr/>
        </p:nvCxnSpPr>
        <p:spPr>
          <a:xfrm>
            <a:off x="2417780" y="3528542"/>
            <a:ext cx="863707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5"/>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5"/>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24" name="Google Shape;24;p15"/>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5"/>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5"/>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cxnSp>
        <p:nvCxnSpPr>
          <p:cNvPr id="27" name="Google Shape;27;p15"/>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8" name="Shape 28"/>
        <p:cNvGrpSpPr/>
        <p:nvPr/>
      </p:nvGrpSpPr>
      <p:grpSpPr>
        <a:xfrm>
          <a:off x="0" y="0"/>
          <a:ext cx="0" cy="0"/>
          <a:chOff x="0" y="0"/>
          <a:chExt cx="0" cy="0"/>
        </a:xfrm>
      </p:grpSpPr>
      <p:sp>
        <p:nvSpPr>
          <p:cNvPr id="29" name="Google Shape;29;p16"/>
          <p:cNvSpPr txBox="1"/>
          <p:nvPr>
            <p:ph type="title"/>
          </p:nvPr>
        </p:nvSpPr>
        <p:spPr>
          <a:xfrm>
            <a:off x="1449217" y="804889"/>
            <a:ext cx="9605635" cy="105930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6"/>
          <p:cNvSpPr txBox="1"/>
          <p:nvPr>
            <p:ph idx="1" type="body"/>
          </p:nvPr>
        </p:nvSpPr>
        <p:spPr>
          <a:xfrm>
            <a:off x="1447331" y="2010878"/>
            <a:ext cx="4645152" cy="344859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31" name="Google Shape;31;p16"/>
          <p:cNvSpPr txBox="1"/>
          <p:nvPr>
            <p:ph idx="2" type="body"/>
          </p:nvPr>
        </p:nvSpPr>
        <p:spPr>
          <a:xfrm>
            <a:off x="6413771" y="2017343"/>
            <a:ext cx="4645152" cy="344152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32" name="Google Shape;32;p16"/>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6"/>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6"/>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cxnSp>
        <p:nvCxnSpPr>
          <p:cNvPr id="35" name="Google Shape;35;p16"/>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17"/>
          <p:cNvSpPr txBox="1"/>
          <p:nvPr>
            <p:ph type="title"/>
          </p:nvPr>
        </p:nvSpPr>
        <p:spPr>
          <a:xfrm>
            <a:off x="1454239" y="1756130"/>
            <a:ext cx="8643154" cy="18879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7"/>
          <p:cNvSpPr txBox="1"/>
          <p:nvPr>
            <p:ph idx="1" type="body"/>
          </p:nvPr>
        </p:nvSpPr>
        <p:spPr>
          <a:xfrm>
            <a:off x="1454239" y="3806195"/>
            <a:ext cx="8630446" cy="1012929"/>
          </a:xfrm>
          <a:prstGeom prst="rect">
            <a:avLst/>
          </a:prstGeom>
          <a:noFill/>
          <a:ln>
            <a:noFill/>
          </a:ln>
        </p:spPr>
        <p:txBody>
          <a:bodyPr anchorCtr="0" anchor="t" bIns="45700" lIns="91425" spcFirstLastPara="1" rIns="91425" wrap="square" tIns="91425">
            <a:normAutofit/>
          </a:bodyPr>
          <a:lstStyle>
            <a:lvl1pPr indent="-228600" lvl="0" marL="457200" algn="l">
              <a:lnSpc>
                <a:spcPct val="120000"/>
              </a:lnSpc>
              <a:spcBef>
                <a:spcPts val="1000"/>
              </a:spcBef>
              <a:spcAft>
                <a:spcPts val="0"/>
              </a:spcAft>
              <a:buSzPts val="1800"/>
              <a:buNone/>
              <a:defRPr sz="1800">
                <a:solidFill>
                  <a:schemeClr val="dk1"/>
                </a:solidFill>
              </a:defRPr>
            </a:lvl1pPr>
            <a:lvl2pPr indent="-228600" lvl="1" marL="914400" algn="l">
              <a:lnSpc>
                <a:spcPct val="120000"/>
              </a:lnSpc>
              <a:spcBef>
                <a:spcPts val="500"/>
              </a:spcBef>
              <a:spcAft>
                <a:spcPts val="0"/>
              </a:spcAft>
              <a:buSzPts val="1800"/>
              <a:buNone/>
              <a:defRPr sz="1800">
                <a:solidFill>
                  <a:srgbClr val="888888"/>
                </a:solidFill>
              </a:defRPr>
            </a:lvl2pPr>
            <a:lvl3pPr indent="-228600" lvl="2" marL="1371600" algn="l">
              <a:lnSpc>
                <a:spcPct val="120000"/>
              </a:lnSpc>
              <a:spcBef>
                <a:spcPts val="500"/>
              </a:spcBef>
              <a:spcAft>
                <a:spcPts val="0"/>
              </a:spcAft>
              <a:buSzPts val="1800"/>
              <a:buNone/>
              <a:defRPr sz="1800">
                <a:solidFill>
                  <a:srgbClr val="888888"/>
                </a:solidFill>
              </a:defRPr>
            </a:lvl3pPr>
            <a:lvl4pPr indent="-228600" lvl="3" marL="1828800" algn="l">
              <a:lnSpc>
                <a:spcPct val="120000"/>
              </a:lnSpc>
              <a:spcBef>
                <a:spcPts val="500"/>
              </a:spcBef>
              <a:spcAft>
                <a:spcPts val="0"/>
              </a:spcAft>
              <a:buSzPts val="1600"/>
              <a:buNone/>
              <a:defRPr sz="1600">
                <a:solidFill>
                  <a:srgbClr val="888888"/>
                </a:solidFill>
              </a:defRPr>
            </a:lvl4pPr>
            <a:lvl5pPr indent="-228600" lvl="4" marL="2286000" algn="l">
              <a:lnSpc>
                <a:spcPct val="120000"/>
              </a:lnSpc>
              <a:spcBef>
                <a:spcPts val="500"/>
              </a:spcBef>
              <a:spcAft>
                <a:spcPts val="0"/>
              </a:spcAft>
              <a:buSzPts val="1600"/>
              <a:buNone/>
              <a:defRPr sz="1600">
                <a:solidFill>
                  <a:srgbClr val="888888"/>
                </a:solidFill>
              </a:defRPr>
            </a:lvl5pPr>
            <a:lvl6pPr indent="-228600" lvl="5" marL="2743200" algn="l">
              <a:lnSpc>
                <a:spcPct val="120000"/>
              </a:lnSpc>
              <a:spcBef>
                <a:spcPts val="500"/>
              </a:spcBef>
              <a:spcAft>
                <a:spcPts val="0"/>
              </a:spcAft>
              <a:buSzPts val="1600"/>
              <a:buNone/>
              <a:defRPr sz="1600">
                <a:solidFill>
                  <a:srgbClr val="888888"/>
                </a:solidFill>
              </a:defRPr>
            </a:lvl6pPr>
            <a:lvl7pPr indent="-228600" lvl="6" marL="3200400" algn="l">
              <a:lnSpc>
                <a:spcPct val="120000"/>
              </a:lnSpc>
              <a:spcBef>
                <a:spcPts val="500"/>
              </a:spcBef>
              <a:spcAft>
                <a:spcPts val="0"/>
              </a:spcAft>
              <a:buSzPts val="1600"/>
              <a:buNone/>
              <a:defRPr sz="1600">
                <a:solidFill>
                  <a:srgbClr val="888888"/>
                </a:solidFill>
              </a:defRPr>
            </a:lvl7pPr>
            <a:lvl8pPr indent="-228600" lvl="7" marL="3657600" algn="l">
              <a:lnSpc>
                <a:spcPct val="120000"/>
              </a:lnSpc>
              <a:spcBef>
                <a:spcPts val="500"/>
              </a:spcBef>
              <a:spcAft>
                <a:spcPts val="0"/>
              </a:spcAft>
              <a:buSzPts val="1600"/>
              <a:buNone/>
              <a:defRPr sz="1600">
                <a:solidFill>
                  <a:srgbClr val="888888"/>
                </a:solidFill>
              </a:defRPr>
            </a:lvl8pPr>
            <a:lvl9pPr indent="-228600" lvl="8" marL="4114800" algn="l">
              <a:lnSpc>
                <a:spcPct val="120000"/>
              </a:lnSpc>
              <a:spcBef>
                <a:spcPts val="500"/>
              </a:spcBef>
              <a:spcAft>
                <a:spcPts val="0"/>
              </a:spcAft>
              <a:buSzPts val="1600"/>
              <a:buNone/>
              <a:defRPr sz="1600">
                <a:solidFill>
                  <a:srgbClr val="888888"/>
                </a:solidFill>
              </a:defRPr>
            </a:lvl9pPr>
          </a:lstStyle>
          <a:p/>
        </p:txBody>
      </p:sp>
      <p:sp>
        <p:nvSpPr>
          <p:cNvPr id="39" name="Google Shape;39;p17"/>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7"/>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7"/>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cxnSp>
        <p:nvCxnSpPr>
          <p:cNvPr id="42" name="Google Shape;42;p17"/>
          <p:cNvCxnSpPr/>
          <p:nvPr/>
        </p:nvCxnSpPr>
        <p:spPr>
          <a:xfrm>
            <a:off x="1454239" y="3804985"/>
            <a:ext cx="8630446"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18"/>
          <p:cNvSpPr txBox="1"/>
          <p:nvPr>
            <p:ph type="title"/>
          </p:nvPr>
        </p:nvSpPr>
        <p:spPr>
          <a:xfrm>
            <a:off x="1447191" y="804163"/>
            <a:ext cx="9607661" cy="1056319"/>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18"/>
          <p:cNvSpPr txBox="1"/>
          <p:nvPr>
            <p:ph idx="1" type="body"/>
          </p:nvPr>
        </p:nvSpPr>
        <p:spPr>
          <a:xfrm>
            <a:off x="1447191" y="2019549"/>
            <a:ext cx="4645152" cy="801943"/>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SzPts val="2200"/>
              <a:buNone/>
              <a:defRPr b="0" sz="2200" cap="none">
                <a:solidFill>
                  <a:schemeClr val="accent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46" name="Google Shape;46;p18"/>
          <p:cNvSpPr txBox="1"/>
          <p:nvPr>
            <p:ph idx="2" type="body"/>
          </p:nvPr>
        </p:nvSpPr>
        <p:spPr>
          <a:xfrm>
            <a:off x="1447191" y="2824269"/>
            <a:ext cx="4645152" cy="264445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7" name="Google Shape;47;p18"/>
          <p:cNvSpPr txBox="1"/>
          <p:nvPr>
            <p:ph idx="3" type="body"/>
          </p:nvPr>
        </p:nvSpPr>
        <p:spPr>
          <a:xfrm>
            <a:off x="6412362" y="2023003"/>
            <a:ext cx="4645152" cy="80223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SzPts val="2200"/>
              <a:buNone/>
              <a:defRPr b="0" sz="2200" cap="none">
                <a:solidFill>
                  <a:schemeClr val="accent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48" name="Google Shape;48;p18"/>
          <p:cNvSpPr txBox="1"/>
          <p:nvPr>
            <p:ph idx="4" type="body"/>
          </p:nvPr>
        </p:nvSpPr>
        <p:spPr>
          <a:xfrm>
            <a:off x="6412362" y="2821491"/>
            <a:ext cx="4645152" cy="2637371"/>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9" name="Google Shape;49;p18"/>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8"/>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8"/>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cxnSp>
        <p:nvCxnSpPr>
          <p:cNvPr id="52" name="Google Shape;52;p18"/>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19"/>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9"/>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9"/>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9"/>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cxnSp>
        <p:nvCxnSpPr>
          <p:cNvPr id="58" name="Google Shape;58;p19"/>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p20"/>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0"/>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0"/>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3" name="Shape 63"/>
        <p:cNvGrpSpPr/>
        <p:nvPr/>
      </p:nvGrpSpPr>
      <p:grpSpPr>
        <a:xfrm>
          <a:off x="0" y="0"/>
          <a:ext cx="0" cy="0"/>
          <a:chOff x="0" y="0"/>
          <a:chExt cx="0" cy="0"/>
        </a:xfrm>
      </p:grpSpPr>
      <p:sp>
        <p:nvSpPr>
          <p:cNvPr id="64" name="Google Shape;64;p21"/>
          <p:cNvSpPr txBox="1"/>
          <p:nvPr>
            <p:ph type="title"/>
          </p:nvPr>
        </p:nvSpPr>
        <p:spPr>
          <a:xfrm>
            <a:off x="1444671" y="798973"/>
            <a:ext cx="3273099" cy="224711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Gill Sans"/>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21"/>
          <p:cNvSpPr txBox="1"/>
          <p:nvPr>
            <p:ph idx="1" type="body"/>
          </p:nvPr>
        </p:nvSpPr>
        <p:spPr>
          <a:xfrm>
            <a:off x="5043714" y="798974"/>
            <a:ext cx="6012470" cy="4658826"/>
          </a:xfrm>
          <a:prstGeom prst="rect">
            <a:avLst/>
          </a:prstGeom>
          <a:noFill/>
          <a:ln>
            <a:noFill/>
          </a:ln>
        </p:spPr>
        <p:txBody>
          <a:bodyPr anchorCtr="0" anchor="ctr"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66" name="Google Shape;66;p21"/>
          <p:cNvSpPr txBox="1"/>
          <p:nvPr>
            <p:ph idx="2" type="body"/>
          </p:nvPr>
        </p:nvSpPr>
        <p:spPr>
          <a:xfrm>
            <a:off x="1444671" y="3205491"/>
            <a:ext cx="3275013" cy="2248181"/>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67" name="Google Shape;67;p21"/>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1"/>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1"/>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cxnSp>
        <p:nvCxnSpPr>
          <p:cNvPr id="70" name="Google Shape;70;p21"/>
          <p:cNvCxnSpPr/>
          <p:nvPr/>
        </p:nvCxnSpPr>
        <p:spPr>
          <a:xfrm>
            <a:off x="1448280" y="3205491"/>
            <a:ext cx="3269490"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grpSp>
        <p:nvGrpSpPr>
          <p:cNvPr id="72" name="Google Shape;72;p22"/>
          <p:cNvGrpSpPr/>
          <p:nvPr/>
        </p:nvGrpSpPr>
        <p:grpSpPr>
          <a:xfrm>
            <a:off x="7477387" y="482170"/>
            <a:ext cx="4074533" cy="5149101"/>
            <a:chOff x="7477387" y="482170"/>
            <a:chExt cx="4074533" cy="5149101"/>
          </a:xfrm>
        </p:grpSpPr>
        <p:sp>
          <p:nvSpPr>
            <p:cNvPr id="73" name="Google Shape;73;p22"/>
            <p:cNvSpPr/>
            <p:nvPr/>
          </p:nvSpPr>
          <p:spPr>
            <a:xfrm>
              <a:off x="7477387" y="482170"/>
              <a:ext cx="4074533" cy="5149101"/>
            </a:xfrm>
            <a:prstGeom prst="rect">
              <a:avLst/>
            </a:prstGeom>
            <a:gradFill>
              <a:gsLst>
                <a:gs pos="0">
                  <a:srgbClr val="000001"/>
                </a:gs>
                <a:gs pos="100000">
                  <a:srgbClr val="191919"/>
                </a:gs>
              </a:gsLst>
              <a:lin ang="5400000" scaled="0"/>
            </a:gradFill>
            <a:ln>
              <a:noFill/>
            </a:ln>
            <a:effectLst>
              <a:outerShdw blurRad="127000" sx="98000" rotWithShape="0" algn="tl" dir="4740000" dist="228600" sy="98000">
                <a:srgbClr val="000000">
                  <a:alpha val="3372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2"/>
            <p:cNvSpPr/>
            <p:nvPr/>
          </p:nvSpPr>
          <p:spPr>
            <a:xfrm>
              <a:off x="7790446" y="812506"/>
              <a:ext cx="3450289" cy="4466452"/>
            </a:xfrm>
            <a:prstGeom prst="rect">
              <a:avLst/>
            </a:prstGeom>
            <a:gradFill>
              <a:gsLst>
                <a:gs pos="0">
                  <a:srgbClr val="DADADA"/>
                </a:gs>
                <a:gs pos="100000">
                  <a:srgbClr val="FFFFFE"/>
                </a:gs>
              </a:gsLst>
              <a:lin ang="16200000" scaled="0"/>
            </a:gradFill>
            <a:ln cap="flat" cmpd="sng" w="50800">
              <a:solidFill>
                <a:srgbClr val="191919"/>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 name="Google Shape;75;p22"/>
          <p:cNvSpPr txBox="1"/>
          <p:nvPr>
            <p:ph type="title"/>
          </p:nvPr>
        </p:nvSpPr>
        <p:spPr>
          <a:xfrm>
            <a:off x="1451206" y="1129513"/>
            <a:ext cx="5532328" cy="18305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Gill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2"/>
          <p:cNvSpPr/>
          <p:nvPr>
            <p:ph idx="2" type="pic"/>
          </p:nvPr>
        </p:nvSpPr>
        <p:spPr>
          <a:xfrm>
            <a:off x="8124389" y="1122542"/>
            <a:ext cx="2791171" cy="3866327"/>
          </a:xfrm>
          <a:prstGeom prst="rect">
            <a:avLst/>
          </a:prstGeom>
          <a:solidFill>
            <a:srgbClr val="D8D8D8"/>
          </a:solidFill>
          <a:ln>
            <a:noFill/>
          </a:ln>
        </p:spPr>
      </p:sp>
      <p:sp>
        <p:nvSpPr>
          <p:cNvPr id="77" name="Google Shape;77;p22"/>
          <p:cNvSpPr txBox="1"/>
          <p:nvPr>
            <p:ph idx="1" type="body"/>
          </p:nvPr>
        </p:nvSpPr>
        <p:spPr>
          <a:xfrm>
            <a:off x="1450329" y="3145992"/>
            <a:ext cx="5524404" cy="200374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800"/>
              <a:buNone/>
              <a:defRPr sz="18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78" name="Google Shape;78;p22"/>
          <p:cNvSpPr txBox="1"/>
          <p:nvPr>
            <p:ph idx="10" type="dt"/>
          </p:nvPr>
        </p:nvSpPr>
        <p:spPr>
          <a:xfrm>
            <a:off x="1447382" y="5469856"/>
            <a:ext cx="5527351" cy="32012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p:nvPr>
            <p:ph idx="11" type="ftr"/>
          </p:nvPr>
        </p:nvSpPr>
        <p:spPr>
          <a:xfrm>
            <a:off x="1447382" y="318640"/>
            <a:ext cx="5541004" cy="32093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2"/>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cxnSp>
        <p:nvCxnSpPr>
          <p:cNvPr id="81" name="Google Shape;81;p22"/>
          <p:cNvCxnSpPr/>
          <p:nvPr/>
        </p:nvCxnSpPr>
        <p:spPr>
          <a:xfrm>
            <a:off x="1447382" y="3143605"/>
            <a:ext cx="5527351"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2" name="Shape 82"/>
        <p:cNvGrpSpPr/>
        <p:nvPr/>
      </p:nvGrpSpPr>
      <p:grpSpPr>
        <a:xfrm>
          <a:off x="0" y="0"/>
          <a:ext cx="0" cy="0"/>
          <a:chOff x="0" y="0"/>
          <a:chExt cx="0" cy="0"/>
        </a:xfrm>
      </p:grpSpPr>
      <p:sp>
        <p:nvSpPr>
          <p:cNvPr id="83" name="Google Shape;83;p23"/>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23"/>
          <p:cNvSpPr txBox="1"/>
          <p:nvPr>
            <p:ph idx="1" type="body"/>
          </p:nvPr>
        </p:nvSpPr>
        <p:spPr>
          <a:xfrm rot="5400000">
            <a:off x="4527910" y="-1060599"/>
            <a:ext cx="3450613" cy="960327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85" name="Google Shape;85;p23"/>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3"/>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3"/>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cxnSp>
        <p:nvCxnSpPr>
          <p:cNvPr id="88" name="Google Shape;88;p23"/>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9" name="Shape 89"/>
        <p:cNvGrpSpPr/>
        <p:nvPr/>
      </p:nvGrpSpPr>
      <p:grpSpPr>
        <a:xfrm>
          <a:off x="0" y="0"/>
          <a:ext cx="0" cy="0"/>
          <a:chOff x="0" y="0"/>
          <a:chExt cx="0" cy="0"/>
        </a:xfrm>
      </p:grpSpPr>
      <p:sp>
        <p:nvSpPr>
          <p:cNvPr id="90" name="Google Shape;90;p24"/>
          <p:cNvSpPr txBox="1"/>
          <p:nvPr>
            <p:ph type="title"/>
          </p:nvPr>
        </p:nvSpPr>
        <p:spPr>
          <a:xfrm rot="5400000">
            <a:off x="7917038" y="2321047"/>
            <a:ext cx="4659889" cy="1615742"/>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20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24"/>
          <p:cNvSpPr txBox="1"/>
          <p:nvPr>
            <p:ph idx="1" type="body"/>
          </p:nvPr>
        </p:nvSpPr>
        <p:spPr>
          <a:xfrm rot="5400000">
            <a:off x="3029143" y="-785498"/>
            <a:ext cx="4659889" cy="782883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92" name="Google Shape;92;p24"/>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4"/>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4"/>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cxnSp>
        <p:nvCxnSpPr>
          <p:cNvPr id="95" name="Google Shape;95;p24"/>
          <p:cNvCxnSpPr/>
          <p:nvPr/>
        </p:nvCxnSpPr>
        <p:spPr>
          <a:xfrm>
            <a:off x="9439111" y="798973"/>
            <a:ext cx="0" cy="4659889"/>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BE9E6"/>
            </a:gs>
            <a:gs pos="100000">
              <a:srgbClr val="C9C5C0"/>
            </a:gs>
          </a:gsLst>
          <a:path path="circle">
            <a:fillToRect b="50%" l="50%" r="50%" t="50%"/>
          </a:path>
          <a:tileRect/>
        </a:gradFill>
      </p:bgPr>
    </p:bg>
    <p:spTree>
      <p:nvGrpSpPr>
        <p:cNvPr id="5" name="Shape 5"/>
        <p:cNvGrpSpPr/>
        <p:nvPr/>
      </p:nvGrpSpPr>
      <p:grpSpPr>
        <a:xfrm>
          <a:off x="0" y="0"/>
          <a:ext cx="0" cy="0"/>
          <a:chOff x="0" y="0"/>
          <a:chExt cx="0" cy="0"/>
        </a:xfrm>
      </p:grpSpPr>
      <p:sp>
        <p:nvSpPr>
          <p:cNvPr id="6" name="Google Shape;6;p13"/>
          <p:cNvSpPr/>
          <p:nvPr/>
        </p:nvSpPr>
        <p:spPr>
          <a:xfrm>
            <a:off x="0" y="2019476"/>
            <a:ext cx="12192000" cy="4105941"/>
          </a:xfrm>
          <a:prstGeom prst="rect">
            <a:avLst/>
          </a:prstGeom>
          <a:gradFill>
            <a:gsLst>
              <a:gs pos="0">
                <a:srgbClr val="DFDBD5">
                  <a:alpha val="0"/>
                </a:srgbClr>
              </a:gs>
              <a:gs pos="100000">
                <a:schemeClr val="lt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 name="Google Shape;7;p13"/>
          <p:cNvPicPr preferRelativeResize="0"/>
          <p:nvPr/>
        </p:nvPicPr>
        <p:blipFill rotWithShape="1">
          <a:blip r:embed="rId1">
            <a:alphaModFix/>
          </a:blip>
          <a:srcRect b="-1538" l="0" r="0" t="1538"/>
          <a:stretch/>
        </p:blipFill>
        <p:spPr>
          <a:xfrm>
            <a:off x="0" y="6126480"/>
            <a:ext cx="12192000" cy="742950"/>
          </a:xfrm>
          <a:prstGeom prst="rect">
            <a:avLst/>
          </a:prstGeom>
          <a:noFill/>
          <a:ln>
            <a:noFill/>
          </a:ln>
        </p:spPr>
      </p:pic>
      <p:sp>
        <p:nvSpPr>
          <p:cNvPr id="8" name="Google Shape;8;p13"/>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1"/>
              </a:buClr>
              <a:buSzPts val="3200"/>
              <a:buFont typeface="Gill Sans"/>
              <a:buNone/>
              <a:defRPr b="0" i="0" sz="3200" u="none" cap="none" strike="noStrike">
                <a:solidFill>
                  <a:schemeClr val="dk1"/>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3"/>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20000"/>
              </a:lnSpc>
              <a:spcBef>
                <a:spcPts val="1000"/>
              </a:spcBef>
              <a:spcAft>
                <a:spcPts val="0"/>
              </a:spcAft>
              <a:buClr>
                <a:schemeClr val="accent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20000"/>
              </a:lnSpc>
              <a:spcBef>
                <a:spcPts val="500"/>
              </a:spcBef>
              <a:spcAft>
                <a:spcPts val="0"/>
              </a:spcAft>
              <a:buClr>
                <a:schemeClr val="accent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20000"/>
              </a:lnSpc>
              <a:spcBef>
                <a:spcPts val="500"/>
              </a:spcBef>
              <a:spcAft>
                <a:spcPts val="0"/>
              </a:spcAft>
              <a:buClr>
                <a:schemeClr val="accent1"/>
              </a:buClr>
              <a:buSzPts val="1600"/>
              <a:buFont typeface="Arial"/>
              <a:buChar char="•"/>
              <a:defRPr b="0" i="0" sz="1600" u="none" cap="none" strike="noStrike">
                <a:solidFill>
                  <a:schemeClr val="dk1"/>
                </a:solidFill>
                <a:latin typeface="Gill Sans"/>
                <a:ea typeface="Gill Sans"/>
                <a:cs typeface="Gill Sans"/>
                <a:sym typeface="Gill Sans"/>
              </a:defRPr>
            </a:lvl3pPr>
            <a:lvl4pPr indent="-317500" lvl="3" marL="1828800" marR="0" rtl="0" algn="l">
              <a:lnSpc>
                <a:spcPct val="120000"/>
              </a:lnSpc>
              <a:spcBef>
                <a:spcPts val="500"/>
              </a:spcBef>
              <a:spcAft>
                <a:spcPts val="0"/>
              </a:spcAft>
              <a:buClr>
                <a:schemeClr val="accent1"/>
              </a:buClr>
              <a:buSzPts val="1400"/>
              <a:buFont typeface="Arial"/>
              <a:buChar char="•"/>
              <a:defRPr b="0" i="0" sz="1400" u="none" cap="none" strike="noStrike">
                <a:solidFill>
                  <a:schemeClr val="dk1"/>
                </a:solidFill>
                <a:latin typeface="Gill Sans"/>
                <a:ea typeface="Gill Sans"/>
                <a:cs typeface="Gill Sans"/>
                <a:sym typeface="Gill Sans"/>
              </a:defRPr>
            </a:lvl4pPr>
            <a:lvl5pPr indent="-304800" lvl="4" marL="22860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5pPr>
            <a:lvl6pPr indent="-304800" lvl="5" marL="27432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6pPr>
            <a:lvl7pPr indent="-304800" lvl="6" marL="32004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7pPr>
            <a:lvl8pPr indent="-304800" lvl="7" marL="36576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8pPr>
            <a:lvl9pPr indent="-304800" lvl="8" marL="41148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9pPr>
          </a:lstStyle>
          <a:p/>
        </p:txBody>
      </p:sp>
      <p:sp>
        <p:nvSpPr>
          <p:cNvPr id="10" name="Google Shape;10;p13"/>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888888"/>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1" name="Google Shape;11;p13"/>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888888"/>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2" name="Google Shape;12;p13"/>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2800" u="none" cap="none" strike="noStrike">
                <a:solidFill>
                  <a:schemeClr val="accent1"/>
                </a:solidFill>
                <a:latin typeface="Gill Sans"/>
                <a:ea typeface="Gill Sans"/>
                <a:cs typeface="Gill Sans"/>
                <a:sym typeface="Gill Sans"/>
              </a:defRPr>
            </a:lvl1pPr>
            <a:lvl2pPr indent="0" lvl="1" marL="0" marR="0" rtl="0" algn="r">
              <a:spcBef>
                <a:spcPts val="0"/>
              </a:spcBef>
              <a:buNone/>
              <a:defRPr b="0" i="0" sz="2800" u="none" cap="none" strike="noStrike">
                <a:solidFill>
                  <a:schemeClr val="accent1"/>
                </a:solidFill>
                <a:latin typeface="Gill Sans"/>
                <a:ea typeface="Gill Sans"/>
                <a:cs typeface="Gill Sans"/>
                <a:sym typeface="Gill Sans"/>
              </a:defRPr>
            </a:lvl2pPr>
            <a:lvl3pPr indent="0" lvl="2" marL="0" marR="0" rtl="0" algn="r">
              <a:spcBef>
                <a:spcPts val="0"/>
              </a:spcBef>
              <a:buNone/>
              <a:defRPr b="0" i="0" sz="2800" u="none" cap="none" strike="noStrike">
                <a:solidFill>
                  <a:schemeClr val="accent1"/>
                </a:solidFill>
                <a:latin typeface="Gill Sans"/>
                <a:ea typeface="Gill Sans"/>
                <a:cs typeface="Gill Sans"/>
                <a:sym typeface="Gill Sans"/>
              </a:defRPr>
            </a:lvl3pPr>
            <a:lvl4pPr indent="0" lvl="3" marL="0" marR="0" rtl="0" algn="r">
              <a:spcBef>
                <a:spcPts val="0"/>
              </a:spcBef>
              <a:buNone/>
              <a:defRPr b="0" i="0" sz="2800" u="none" cap="none" strike="noStrike">
                <a:solidFill>
                  <a:schemeClr val="accent1"/>
                </a:solidFill>
                <a:latin typeface="Gill Sans"/>
                <a:ea typeface="Gill Sans"/>
                <a:cs typeface="Gill Sans"/>
                <a:sym typeface="Gill Sans"/>
              </a:defRPr>
            </a:lvl4pPr>
            <a:lvl5pPr indent="0" lvl="4" marL="0" marR="0" rtl="0" algn="r">
              <a:spcBef>
                <a:spcPts val="0"/>
              </a:spcBef>
              <a:buNone/>
              <a:defRPr b="0" i="0" sz="2800" u="none" cap="none" strike="noStrike">
                <a:solidFill>
                  <a:schemeClr val="accent1"/>
                </a:solidFill>
                <a:latin typeface="Gill Sans"/>
                <a:ea typeface="Gill Sans"/>
                <a:cs typeface="Gill Sans"/>
                <a:sym typeface="Gill Sans"/>
              </a:defRPr>
            </a:lvl5pPr>
            <a:lvl6pPr indent="0" lvl="5" marL="0" marR="0" rtl="0" algn="r">
              <a:spcBef>
                <a:spcPts val="0"/>
              </a:spcBef>
              <a:buNone/>
              <a:defRPr b="0" i="0" sz="2800" u="none" cap="none" strike="noStrike">
                <a:solidFill>
                  <a:schemeClr val="accent1"/>
                </a:solidFill>
                <a:latin typeface="Gill Sans"/>
                <a:ea typeface="Gill Sans"/>
                <a:cs typeface="Gill Sans"/>
                <a:sym typeface="Gill Sans"/>
              </a:defRPr>
            </a:lvl6pPr>
            <a:lvl7pPr indent="0" lvl="6" marL="0" marR="0" rtl="0" algn="r">
              <a:spcBef>
                <a:spcPts val="0"/>
              </a:spcBef>
              <a:buNone/>
              <a:defRPr b="0" i="0" sz="2800" u="none" cap="none" strike="noStrike">
                <a:solidFill>
                  <a:schemeClr val="accent1"/>
                </a:solidFill>
                <a:latin typeface="Gill Sans"/>
                <a:ea typeface="Gill Sans"/>
                <a:cs typeface="Gill Sans"/>
                <a:sym typeface="Gill Sans"/>
              </a:defRPr>
            </a:lvl7pPr>
            <a:lvl8pPr indent="0" lvl="7" marL="0" marR="0" rtl="0" algn="r">
              <a:spcBef>
                <a:spcPts val="0"/>
              </a:spcBef>
              <a:buNone/>
              <a:defRPr b="0" i="0" sz="2800" u="none" cap="none" strike="noStrike">
                <a:solidFill>
                  <a:schemeClr val="accent1"/>
                </a:solidFill>
                <a:latin typeface="Gill Sans"/>
                <a:ea typeface="Gill Sans"/>
                <a:cs typeface="Gill Sans"/>
                <a:sym typeface="Gill Sans"/>
              </a:defRPr>
            </a:lvl8pPr>
            <a:lvl9pPr indent="0" lvl="8" marL="0" marR="0" rtl="0" algn="r">
              <a:spcBef>
                <a:spcPts val="0"/>
              </a:spcBef>
              <a:buNone/>
              <a:defRPr b="0" i="0" sz="2800" u="none" cap="none" strike="noStrike">
                <a:solidFill>
                  <a:schemeClr val="accen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GB"/>
              <a:t>‹#›</a:t>
            </a:fld>
            <a:endParaRPr/>
          </a:p>
        </p:txBody>
      </p:sp>
      <p:cxnSp>
        <p:nvCxnSpPr>
          <p:cNvPr id="13" name="Google Shape;13;p13"/>
          <p:cNvCxnSpPr/>
          <p:nvPr/>
        </p:nvCxnSpPr>
        <p:spPr>
          <a:xfrm>
            <a:off x="0" y="6128413"/>
            <a:ext cx="12192000" cy="0"/>
          </a:xfrm>
          <a:prstGeom prst="straightConnector1">
            <a:avLst/>
          </a:prstGeom>
          <a:noFill/>
          <a:ln cap="flat" cmpd="sng" w="12700">
            <a:solidFill>
              <a:srgbClr val="000001">
                <a:alpha val="20000"/>
              </a:srgbClr>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
          <p:cNvSpPr txBox="1"/>
          <p:nvPr>
            <p:ph type="ctrTitle"/>
          </p:nvPr>
        </p:nvSpPr>
        <p:spPr>
          <a:xfrm>
            <a:off x="2091759" y="908424"/>
            <a:ext cx="9289114" cy="1430847"/>
          </a:xfrm>
          <a:prstGeom prst="rect">
            <a:avLst/>
          </a:prstGeom>
          <a:noFill/>
          <a:ln>
            <a:noFill/>
          </a:ln>
        </p:spPr>
        <p:txBody>
          <a:bodyPr anchorCtr="0" anchor="b" bIns="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Gill Sans"/>
              <a:buNone/>
            </a:pPr>
            <a:r>
              <a:rPr lang="en-GB" sz="3200"/>
              <a:t>TYPES OF RESEARCH &amp; MODELS</a:t>
            </a:r>
            <a:br>
              <a:rPr lang="en-GB" sz="3200"/>
            </a:br>
            <a:endParaRPr sz="3200"/>
          </a:p>
        </p:txBody>
      </p:sp>
      <p:sp>
        <p:nvSpPr>
          <p:cNvPr id="101" name="Google Shape;101;p1"/>
          <p:cNvSpPr txBox="1"/>
          <p:nvPr>
            <p:ph idx="1" type="subTitle"/>
          </p:nvPr>
        </p:nvSpPr>
        <p:spPr>
          <a:xfrm>
            <a:off x="2417780" y="3531204"/>
            <a:ext cx="8637072" cy="1702948"/>
          </a:xfrm>
          <a:prstGeom prst="rect">
            <a:avLst/>
          </a:prstGeom>
          <a:noFill/>
          <a:ln>
            <a:noFill/>
          </a:ln>
        </p:spPr>
        <p:txBody>
          <a:bodyPr anchorCtr="0" anchor="t" bIns="91425" lIns="91425" spcFirstLastPara="1" rIns="91425" wrap="square" tIns="91425">
            <a:normAutofit/>
          </a:bodyPr>
          <a:lstStyle/>
          <a:p>
            <a:pPr indent="0" lvl="0" marL="0" rtl="0" algn="l">
              <a:lnSpc>
                <a:spcPct val="120000"/>
              </a:lnSpc>
              <a:spcBef>
                <a:spcPts val="0"/>
              </a:spcBef>
              <a:spcAft>
                <a:spcPts val="0"/>
              </a:spcAft>
              <a:buSzPts val="1800"/>
              <a:buNone/>
            </a:pPr>
            <a:r>
              <a:rPr lang="en-GB"/>
              <a:t>MD MIZANUR RAHMAN</a:t>
            </a:r>
            <a:endParaRPr/>
          </a:p>
          <a:p>
            <a:pPr indent="0" lvl="0" marL="0" rtl="0" algn="l">
              <a:lnSpc>
                <a:spcPct val="120000"/>
              </a:lnSpc>
              <a:spcBef>
                <a:spcPts val="1000"/>
              </a:spcBef>
              <a:spcAft>
                <a:spcPts val="0"/>
              </a:spcAft>
              <a:buSzPts val="1800"/>
              <a:buNone/>
            </a:pPr>
            <a:r>
              <a:rPr lang="en-GB"/>
              <a:t>LECTURER (SENIOR SCALE), DEPT OF CSE</a:t>
            </a:r>
            <a:endParaRPr/>
          </a:p>
          <a:p>
            <a:pPr indent="0" lvl="0" marL="0" rtl="0" algn="l">
              <a:lnSpc>
                <a:spcPct val="120000"/>
              </a:lnSpc>
              <a:spcBef>
                <a:spcPts val="1000"/>
              </a:spcBef>
              <a:spcAft>
                <a:spcPts val="0"/>
              </a:spcAft>
              <a:buSzPts val="1800"/>
              <a:buNone/>
            </a:pPr>
            <a:r>
              <a:rPr lang="en-GB"/>
              <a:t>DAFFODIL INTERNATIONAL UNIVERSITY</a:t>
            </a:r>
            <a:endParaRPr/>
          </a:p>
          <a:p>
            <a:pPr indent="0" lvl="0" marL="0" rtl="0" algn="l">
              <a:lnSpc>
                <a:spcPct val="120000"/>
              </a:lnSpc>
              <a:spcBef>
                <a:spcPts val="1000"/>
              </a:spcBef>
              <a:spcAft>
                <a:spcPts val="0"/>
              </a:spcAft>
              <a:buSzPts val="18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
          <p:cNvSpPr txBox="1"/>
          <p:nvPr>
            <p:ph type="title"/>
          </p:nvPr>
        </p:nvSpPr>
        <p:spPr>
          <a:xfrm>
            <a:off x="1294362" y="563203"/>
            <a:ext cx="9603275" cy="104923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Gill Sans"/>
              <a:buNone/>
            </a:pPr>
            <a:r>
              <a:rPr lang="en-GB"/>
              <a:t>WHAT IS RESEARCH?</a:t>
            </a:r>
            <a:endParaRPr/>
          </a:p>
        </p:txBody>
      </p:sp>
      <p:sp>
        <p:nvSpPr>
          <p:cNvPr id="107" name="Google Shape;107;p2"/>
          <p:cNvSpPr txBox="1"/>
          <p:nvPr>
            <p:ph idx="1" type="body"/>
          </p:nvPr>
        </p:nvSpPr>
        <p:spPr>
          <a:xfrm>
            <a:off x="367863" y="1853754"/>
            <a:ext cx="11172496" cy="3916425"/>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120000"/>
              </a:lnSpc>
              <a:spcBef>
                <a:spcPts val="0"/>
              </a:spcBef>
              <a:spcAft>
                <a:spcPts val="0"/>
              </a:spcAft>
              <a:buSzPct val="100000"/>
              <a:buChar char="•"/>
            </a:pPr>
            <a:r>
              <a:rPr b="1" lang="en-GB">
                <a:solidFill>
                  <a:srgbClr val="3F3F3F"/>
                </a:solidFill>
                <a:latin typeface="Quattrocento Sans"/>
                <a:ea typeface="Quattrocento Sans"/>
                <a:cs typeface="Quattrocento Sans"/>
                <a:sym typeface="Quattrocento Sans"/>
              </a:rPr>
              <a:t>University of Oxford, Research Services</a:t>
            </a:r>
            <a:br>
              <a:rPr lang="en-GB">
                <a:solidFill>
                  <a:srgbClr val="3F3F3F"/>
                </a:solidFill>
                <a:latin typeface="Quattrocento Sans"/>
                <a:ea typeface="Quattrocento Sans"/>
                <a:cs typeface="Quattrocento Sans"/>
                <a:sym typeface="Quattrocento Sans"/>
              </a:rPr>
            </a:br>
            <a:r>
              <a:rPr lang="en-GB">
                <a:solidFill>
                  <a:srgbClr val="3F3F3F"/>
                </a:solidFill>
                <a:latin typeface="Quattrocento Sans"/>
                <a:ea typeface="Quattrocento Sans"/>
                <a:cs typeface="Quattrocento Sans"/>
                <a:sym typeface="Quattrocento Sans"/>
              </a:rPr>
              <a:t>	 Research is defined as a process of </a:t>
            </a:r>
            <a:r>
              <a:rPr lang="en-GB">
                <a:solidFill>
                  <a:srgbClr val="FF0000"/>
                </a:solidFill>
                <a:latin typeface="Quattrocento Sans"/>
                <a:ea typeface="Quattrocento Sans"/>
                <a:cs typeface="Quattrocento Sans"/>
                <a:sym typeface="Quattrocento Sans"/>
              </a:rPr>
              <a:t>investigation leading </a:t>
            </a:r>
            <a:r>
              <a:rPr lang="en-GB">
                <a:solidFill>
                  <a:srgbClr val="3F3F3F"/>
                </a:solidFill>
                <a:latin typeface="Quattrocento Sans"/>
                <a:ea typeface="Quattrocento Sans"/>
                <a:cs typeface="Quattrocento Sans"/>
                <a:sym typeface="Quattrocento Sans"/>
              </a:rPr>
              <a:t>to new insights, effectively shared. </a:t>
            </a:r>
            <a:endParaRPr/>
          </a:p>
          <a:p>
            <a:pPr indent="-228600" lvl="0" marL="228600" rtl="0" algn="l">
              <a:lnSpc>
                <a:spcPct val="120000"/>
              </a:lnSpc>
              <a:spcBef>
                <a:spcPts val="1000"/>
              </a:spcBef>
              <a:spcAft>
                <a:spcPts val="0"/>
              </a:spcAft>
              <a:buSzPct val="100000"/>
              <a:buChar char="•"/>
            </a:pPr>
            <a:r>
              <a:rPr b="1" lang="en-GB">
                <a:solidFill>
                  <a:srgbClr val="3F3F3F"/>
                </a:solidFill>
                <a:latin typeface="Quattrocento Sans"/>
                <a:ea typeface="Quattrocento Sans"/>
                <a:cs typeface="Quattrocento Sans"/>
                <a:sym typeface="Quattrocento Sans"/>
              </a:rPr>
              <a:t>University of Cambridge, Research Policy Framework</a:t>
            </a:r>
            <a:endParaRPr/>
          </a:p>
          <a:p>
            <a:pPr indent="0" lvl="0" marL="0" rtl="0" algn="l">
              <a:lnSpc>
                <a:spcPct val="120000"/>
              </a:lnSpc>
              <a:spcBef>
                <a:spcPts val="1000"/>
              </a:spcBef>
              <a:spcAft>
                <a:spcPts val="0"/>
              </a:spcAft>
              <a:buSzPct val="100000"/>
              <a:buNone/>
            </a:pPr>
            <a:r>
              <a:rPr lang="en-GB">
                <a:solidFill>
                  <a:srgbClr val="3F3F3F"/>
                </a:solidFill>
                <a:latin typeface="Quattrocento Sans"/>
                <a:ea typeface="Quattrocento Sans"/>
                <a:cs typeface="Quattrocento Sans"/>
                <a:sym typeface="Quattrocento Sans"/>
              </a:rPr>
              <a:t>	Research is </a:t>
            </a:r>
            <a:r>
              <a:rPr lang="en-GB">
                <a:solidFill>
                  <a:srgbClr val="FF0000"/>
                </a:solidFill>
                <a:latin typeface="Quattrocento Sans"/>
                <a:ea typeface="Quattrocento Sans"/>
                <a:cs typeface="Quattrocento Sans"/>
                <a:sym typeface="Quattrocento Sans"/>
              </a:rPr>
              <a:t>original investigation </a:t>
            </a:r>
            <a:r>
              <a:rPr lang="en-GB">
                <a:solidFill>
                  <a:srgbClr val="3F3F3F"/>
                </a:solidFill>
                <a:latin typeface="Quattrocento Sans"/>
                <a:ea typeface="Quattrocento Sans"/>
                <a:cs typeface="Quattrocento Sans"/>
                <a:sym typeface="Quattrocento Sans"/>
              </a:rPr>
              <a:t>undertaken in order to </a:t>
            </a:r>
            <a:r>
              <a:rPr lang="en-GB">
                <a:solidFill>
                  <a:srgbClr val="FF0000"/>
                </a:solidFill>
                <a:latin typeface="Quattrocento Sans"/>
                <a:ea typeface="Quattrocento Sans"/>
                <a:cs typeface="Quattrocento Sans"/>
                <a:sym typeface="Quattrocento Sans"/>
              </a:rPr>
              <a:t>gain knowledge and understanding</a:t>
            </a:r>
            <a:r>
              <a:rPr lang="en-GB">
                <a:solidFill>
                  <a:srgbClr val="3F3F3F"/>
                </a:solidFill>
                <a:latin typeface="Quattrocento Sans"/>
                <a:ea typeface="Quattrocento Sans"/>
                <a:cs typeface="Quattrocento Sans"/>
                <a:sym typeface="Quattrocento Sans"/>
              </a:rPr>
              <a:t>. </a:t>
            </a:r>
            <a:endParaRPr/>
          </a:p>
          <a:p>
            <a:pPr indent="0" lvl="0" marL="0" rtl="0" algn="l">
              <a:lnSpc>
                <a:spcPct val="120000"/>
              </a:lnSpc>
              <a:spcBef>
                <a:spcPts val="1000"/>
              </a:spcBef>
              <a:spcAft>
                <a:spcPts val="0"/>
              </a:spcAft>
              <a:buSzPct val="100000"/>
              <a:buNone/>
            </a:pPr>
            <a:r>
              <a:t/>
            </a:r>
            <a:endParaRPr b="1">
              <a:solidFill>
                <a:srgbClr val="00B050"/>
              </a:solidFill>
              <a:latin typeface="Quattrocento Sans"/>
              <a:ea typeface="Quattrocento Sans"/>
              <a:cs typeface="Quattrocento Sans"/>
              <a:sym typeface="Quattrocento Sans"/>
            </a:endParaRPr>
          </a:p>
          <a:p>
            <a:pPr indent="0" lvl="0" marL="0" rtl="0" algn="ctr">
              <a:lnSpc>
                <a:spcPct val="120000"/>
              </a:lnSpc>
              <a:spcBef>
                <a:spcPts val="1000"/>
              </a:spcBef>
              <a:spcAft>
                <a:spcPts val="0"/>
              </a:spcAft>
              <a:buSzPct val="100000"/>
              <a:buNone/>
            </a:pPr>
            <a:r>
              <a:rPr b="1" lang="en-GB">
                <a:latin typeface="Quattrocento Sans"/>
                <a:ea typeface="Quattrocento Sans"/>
                <a:cs typeface="Quattrocento Sans"/>
                <a:sym typeface="Quattrocento Sans"/>
              </a:rPr>
              <a:t>Research is a systematic, creative, and original process of investigation undertaken with the goal of discovering new knowledge, gaining deeper understanding, or developing new applications. It involves critical inquiry, analysis, and experimentation, aimed at increasing the stock of knowledge about the natural world, human behavior, society, or technology.</a:t>
            </a:r>
            <a:endParaRPr/>
          </a:p>
          <a:p>
            <a:pPr indent="-111125" lvl="0" marL="228600" rtl="0" algn="l">
              <a:lnSpc>
                <a:spcPct val="120000"/>
              </a:lnSpc>
              <a:spcBef>
                <a:spcPts val="1000"/>
              </a:spcBef>
              <a:spcAft>
                <a:spcPts val="0"/>
              </a:spcAft>
              <a:buSzPct val="100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Gill Sans"/>
              <a:buNone/>
            </a:pPr>
            <a:r>
              <a:rPr lang="en-GB"/>
              <a:t>TYPES OF RESEARCH </a:t>
            </a:r>
            <a:endParaRPr/>
          </a:p>
        </p:txBody>
      </p:sp>
      <p:pic>
        <p:nvPicPr>
          <p:cNvPr descr="Types of Research. Retrieved from (Kumar, 2011) | Download Scientific  Diagram" id="113" name="Google Shape;113;p3"/>
          <p:cNvPicPr preferRelativeResize="0"/>
          <p:nvPr>
            <p:ph idx="1" type="body"/>
          </p:nvPr>
        </p:nvPicPr>
        <p:blipFill rotWithShape="1">
          <a:blip r:embed="rId3">
            <a:alphaModFix/>
          </a:blip>
          <a:srcRect b="0" l="0" r="0" t="0"/>
          <a:stretch/>
        </p:blipFill>
        <p:spPr>
          <a:xfrm>
            <a:off x="2165131" y="1910798"/>
            <a:ext cx="7454491" cy="414268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1000"/>
                                        <p:tgtEl>
                                          <p:spTgt spid="1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4"/>
          <p:cNvSpPr txBox="1"/>
          <p:nvPr>
            <p:ph type="title"/>
          </p:nvPr>
        </p:nvSpPr>
        <p:spPr>
          <a:xfrm>
            <a:off x="1298164" y="709926"/>
            <a:ext cx="9910104" cy="104923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Gill Sans"/>
              <a:buNone/>
            </a:pPr>
            <a:r>
              <a:rPr lang="en-GB"/>
              <a:t>BASIC (FUNDAMENTAL/PURE) VS APPLIED RESEARCH</a:t>
            </a:r>
            <a:br>
              <a:rPr lang="en-GB"/>
            </a:br>
            <a:r>
              <a:rPr lang="en-GB"/>
              <a:t>(APPLICATION VIEW)</a:t>
            </a:r>
            <a:endParaRPr/>
          </a:p>
        </p:txBody>
      </p:sp>
      <p:graphicFrame>
        <p:nvGraphicFramePr>
          <p:cNvPr id="119" name="Google Shape;119;p4"/>
          <p:cNvGraphicFramePr/>
          <p:nvPr/>
        </p:nvGraphicFramePr>
        <p:xfrm>
          <a:off x="1298164" y="1979878"/>
          <a:ext cx="3000000" cy="3000000"/>
        </p:xfrm>
        <a:graphic>
          <a:graphicData uri="http://schemas.openxmlformats.org/drawingml/2006/table">
            <a:tbl>
              <a:tblPr>
                <a:noFill/>
                <a:tableStyleId>{2B787235-615A-458A-BFD4-C0EA860DFF8E}</a:tableStyleId>
              </a:tblPr>
              <a:tblGrid>
                <a:gridCol w="1886475"/>
                <a:gridCol w="4445875"/>
                <a:gridCol w="3577750"/>
              </a:tblGrid>
              <a:tr h="417650">
                <a:tc>
                  <a:txBody>
                    <a:bodyPr/>
                    <a:lstStyle/>
                    <a:p>
                      <a:pPr indent="0" lvl="0" marL="0" marR="0" rtl="0" algn="l">
                        <a:spcBef>
                          <a:spcPts val="0"/>
                        </a:spcBef>
                        <a:spcAft>
                          <a:spcPts val="0"/>
                        </a:spcAft>
                        <a:buClr>
                          <a:srgbClr val="1F1F1F"/>
                        </a:buClr>
                        <a:buSzPts val="1400"/>
                        <a:buFont typeface="Arial"/>
                        <a:buNone/>
                      </a:pPr>
                      <a:r>
                        <a:rPr b="1" lang="en-GB" sz="1400" u="none" cap="none" strike="noStrike">
                          <a:solidFill>
                            <a:srgbClr val="1F1F1F"/>
                          </a:solidFill>
                          <a:latin typeface="Arial"/>
                          <a:ea typeface="Arial"/>
                          <a:cs typeface="Arial"/>
                          <a:sym typeface="Arial"/>
                        </a:rPr>
                        <a:t>Feature</a:t>
                      </a:r>
                      <a:endParaRPr sz="1400" u="none" cap="none" strike="noStrike">
                        <a:solidFill>
                          <a:srgbClr val="1F1F1F"/>
                        </a:solidFill>
                        <a:latin typeface="Arial"/>
                        <a:ea typeface="Arial"/>
                        <a:cs typeface="Arial"/>
                        <a:sym typeface="Arial"/>
                      </a:endParaRPr>
                    </a:p>
                  </a:txBody>
                  <a:tcPr marT="38500" marB="38500" marR="57750" marL="577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b="1" lang="en-GB" sz="1400" u="none" cap="none" strike="noStrike">
                          <a:solidFill>
                            <a:srgbClr val="1F1F1F"/>
                          </a:solidFill>
                          <a:latin typeface="Arial"/>
                          <a:ea typeface="Arial"/>
                          <a:cs typeface="Arial"/>
                          <a:sym typeface="Arial"/>
                        </a:rPr>
                        <a:t>Basic Research (Fundamental/Pure)</a:t>
                      </a:r>
                      <a:endParaRPr sz="1400" u="none" cap="none" strike="noStrike">
                        <a:solidFill>
                          <a:srgbClr val="1F1F1F"/>
                        </a:solidFill>
                        <a:latin typeface="Arial"/>
                        <a:ea typeface="Arial"/>
                        <a:cs typeface="Arial"/>
                        <a:sym typeface="Arial"/>
                      </a:endParaRPr>
                    </a:p>
                  </a:txBody>
                  <a:tcPr marT="38500" marB="38500" marR="57750" marL="577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b="1" lang="en-GB" sz="1400" u="none" cap="none" strike="noStrike">
                          <a:solidFill>
                            <a:srgbClr val="1F1F1F"/>
                          </a:solidFill>
                          <a:latin typeface="Arial"/>
                          <a:ea typeface="Arial"/>
                          <a:cs typeface="Arial"/>
                          <a:sym typeface="Arial"/>
                        </a:rPr>
                        <a:t>Applied Research (Action-Oriented)</a:t>
                      </a:r>
                      <a:endParaRPr sz="1400" u="none" cap="none" strike="noStrike">
                        <a:solidFill>
                          <a:srgbClr val="1F1F1F"/>
                        </a:solidFill>
                        <a:latin typeface="Arial"/>
                        <a:ea typeface="Arial"/>
                        <a:cs typeface="Arial"/>
                        <a:sym typeface="Arial"/>
                      </a:endParaRPr>
                    </a:p>
                  </a:txBody>
                  <a:tcPr marT="38500" marB="38500" marR="57750" marL="577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744500">
                <a:tc>
                  <a:txBody>
                    <a:bodyPr/>
                    <a:lstStyle/>
                    <a:p>
                      <a:pPr indent="0" lvl="0" marL="0" marR="0" rtl="0" algn="l">
                        <a:spcBef>
                          <a:spcPts val="0"/>
                        </a:spcBef>
                        <a:spcAft>
                          <a:spcPts val="0"/>
                        </a:spcAft>
                        <a:buClr>
                          <a:srgbClr val="1F1F1F"/>
                        </a:buClr>
                        <a:buSzPts val="1400"/>
                        <a:buFont typeface="Arial"/>
                        <a:buNone/>
                      </a:pPr>
                      <a:r>
                        <a:rPr b="1" lang="en-GB" sz="1400" u="none" cap="none" strike="noStrike">
                          <a:solidFill>
                            <a:srgbClr val="1F1F1F"/>
                          </a:solidFill>
                          <a:latin typeface="Arial"/>
                          <a:ea typeface="Arial"/>
                          <a:cs typeface="Arial"/>
                          <a:sym typeface="Arial"/>
                        </a:rPr>
                        <a:t>Primary Intent</a:t>
                      </a:r>
                      <a:endParaRPr sz="1400" u="none" cap="none" strike="noStrike">
                        <a:solidFill>
                          <a:srgbClr val="1F1F1F"/>
                        </a:solidFill>
                        <a:latin typeface="Arial"/>
                        <a:ea typeface="Arial"/>
                        <a:cs typeface="Arial"/>
                        <a:sym typeface="Arial"/>
                      </a:endParaRPr>
                    </a:p>
                  </a:txBody>
                  <a:tcPr marT="38500" marB="38500" marR="57750" marL="577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lang="en-GB" sz="1400" u="none" cap="none" strike="noStrike">
                          <a:solidFill>
                            <a:srgbClr val="1F1F1F"/>
                          </a:solidFill>
                          <a:latin typeface="Arial"/>
                          <a:ea typeface="Arial"/>
                          <a:cs typeface="Arial"/>
                          <a:sym typeface="Arial"/>
                        </a:rPr>
                        <a:t>To expand the boundaries of human knowledge and understand "how nature works."</a:t>
                      </a:r>
                      <a:endParaRPr/>
                    </a:p>
                  </a:txBody>
                  <a:tcPr marT="38500" marB="38500" marR="57750" marL="577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lang="en-GB" sz="1400" u="none" cap="none" strike="noStrike">
                          <a:solidFill>
                            <a:srgbClr val="1F1F1F"/>
                          </a:solidFill>
                          <a:latin typeface="Arial"/>
                          <a:ea typeface="Arial"/>
                          <a:cs typeface="Arial"/>
                          <a:sym typeface="Arial"/>
                        </a:rPr>
                        <a:t>To solve a specific, practical problem or develop a commercial product.</a:t>
                      </a:r>
                      <a:endParaRPr/>
                    </a:p>
                  </a:txBody>
                  <a:tcPr marT="38500" marB="38500" marR="57750" marL="577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81075">
                <a:tc>
                  <a:txBody>
                    <a:bodyPr/>
                    <a:lstStyle/>
                    <a:p>
                      <a:pPr indent="0" lvl="0" marL="0" marR="0" rtl="0" algn="l">
                        <a:spcBef>
                          <a:spcPts val="0"/>
                        </a:spcBef>
                        <a:spcAft>
                          <a:spcPts val="0"/>
                        </a:spcAft>
                        <a:buClr>
                          <a:srgbClr val="1F1F1F"/>
                        </a:buClr>
                        <a:buSzPts val="1400"/>
                        <a:buFont typeface="Arial"/>
                        <a:buNone/>
                      </a:pPr>
                      <a:r>
                        <a:rPr b="1" lang="en-GB" sz="1400" u="none" cap="none" strike="noStrike">
                          <a:solidFill>
                            <a:srgbClr val="1F1F1F"/>
                          </a:solidFill>
                          <a:latin typeface="Arial"/>
                          <a:ea typeface="Arial"/>
                          <a:cs typeface="Arial"/>
                          <a:sym typeface="Arial"/>
                        </a:rPr>
                        <a:t>Motivation</a:t>
                      </a:r>
                      <a:endParaRPr sz="1400" u="none" cap="none" strike="noStrike">
                        <a:solidFill>
                          <a:srgbClr val="1F1F1F"/>
                        </a:solidFill>
                        <a:latin typeface="Arial"/>
                        <a:ea typeface="Arial"/>
                        <a:cs typeface="Arial"/>
                        <a:sym typeface="Arial"/>
                      </a:endParaRPr>
                    </a:p>
                  </a:txBody>
                  <a:tcPr marT="38500" marB="38500" marR="57750" marL="577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b="1" lang="en-GB" sz="1400" u="none" cap="none" strike="noStrike">
                          <a:solidFill>
                            <a:srgbClr val="1F1F1F"/>
                          </a:solidFill>
                          <a:latin typeface="Arial"/>
                          <a:ea typeface="Arial"/>
                          <a:cs typeface="Arial"/>
                          <a:sym typeface="Arial"/>
                        </a:rPr>
                        <a:t>Curiosity-driven:</a:t>
                      </a:r>
                      <a:r>
                        <a:rPr lang="en-GB" sz="1400" u="none" cap="none" strike="noStrike">
                          <a:solidFill>
                            <a:srgbClr val="1F1F1F"/>
                          </a:solidFill>
                          <a:latin typeface="Arial"/>
                          <a:ea typeface="Arial"/>
                          <a:cs typeface="Arial"/>
                          <a:sym typeface="Arial"/>
                        </a:rPr>
                        <a:t> Understanding the "Why" and "What."</a:t>
                      </a:r>
                      <a:endParaRPr/>
                    </a:p>
                  </a:txBody>
                  <a:tcPr marT="38500" marB="38500" marR="57750" marL="577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b="1" lang="en-GB" sz="1400" u="none" cap="none" strike="noStrike">
                          <a:solidFill>
                            <a:srgbClr val="1F1F1F"/>
                          </a:solidFill>
                          <a:latin typeface="Arial"/>
                          <a:ea typeface="Arial"/>
                          <a:cs typeface="Arial"/>
                          <a:sym typeface="Arial"/>
                        </a:rPr>
                        <a:t>Need-driven:</a:t>
                      </a:r>
                      <a:r>
                        <a:rPr lang="en-GB" sz="1400" u="none" cap="none" strike="noStrike">
                          <a:solidFill>
                            <a:srgbClr val="1F1F1F"/>
                          </a:solidFill>
                          <a:latin typeface="Arial"/>
                          <a:ea typeface="Arial"/>
                          <a:cs typeface="Arial"/>
                          <a:sym typeface="Arial"/>
                        </a:rPr>
                        <a:t> Understanding the "How can we fix it?"</a:t>
                      </a:r>
                      <a:endParaRPr/>
                    </a:p>
                  </a:txBody>
                  <a:tcPr marT="38500" marB="38500" marR="57750" marL="577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81075">
                <a:tc>
                  <a:txBody>
                    <a:bodyPr/>
                    <a:lstStyle/>
                    <a:p>
                      <a:pPr indent="0" lvl="0" marL="0" marR="0" rtl="0" algn="l">
                        <a:spcBef>
                          <a:spcPts val="0"/>
                        </a:spcBef>
                        <a:spcAft>
                          <a:spcPts val="0"/>
                        </a:spcAft>
                        <a:buClr>
                          <a:srgbClr val="1F1F1F"/>
                        </a:buClr>
                        <a:buSzPts val="1400"/>
                        <a:buFont typeface="Arial"/>
                        <a:buNone/>
                      </a:pPr>
                      <a:r>
                        <a:rPr b="1" lang="en-GB" sz="1400" u="none" cap="none" strike="noStrike">
                          <a:solidFill>
                            <a:srgbClr val="1F1F1F"/>
                          </a:solidFill>
                          <a:latin typeface="Arial"/>
                          <a:ea typeface="Arial"/>
                          <a:cs typeface="Arial"/>
                          <a:sym typeface="Arial"/>
                        </a:rPr>
                        <a:t>Scope</a:t>
                      </a:r>
                      <a:endParaRPr sz="1400" u="none" cap="none" strike="noStrike">
                        <a:solidFill>
                          <a:srgbClr val="1F1F1F"/>
                        </a:solidFill>
                        <a:latin typeface="Arial"/>
                        <a:ea typeface="Arial"/>
                        <a:cs typeface="Arial"/>
                        <a:sym typeface="Arial"/>
                      </a:endParaRPr>
                    </a:p>
                  </a:txBody>
                  <a:tcPr marT="38500" marB="38500" marR="57750" marL="577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lang="en-GB" sz="1400" u="none" cap="none" strike="noStrike">
                          <a:solidFill>
                            <a:srgbClr val="1F1F1F"/>
                          </a:solidFill>
                          <a:latin typeface="Arial"/>
                          <a:ea typeface="Arial"/>
                          <a:cs typeface="Arial"/>
                          <a:sym typeface="Arial"/>
                        </a:rPr>
                        <a:t>Broad and universal. Findings are often generalized across many fields.</a:t>
                      </a:r>
                      <a:endParaRPr/>
                    </a:p>
                  </a:txBody>
                  <a:tcPr marT="38500" marB="38500" marR="57750" marL="577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lang="en-GB" sz="1400" u="none" cap="none" strike="noStrike">
                          <a:solidFill>
                            <a:srgbClr val="1F1F1F"/>
                          </a:solidFill>
                          <a:latin typeface="Arial"/>
                          <a:ea typeface="Arial"/>
                          <a:cs typeface="Arial"/>
                          <a:sym typeface="Arial"/>
                        </a:rPr>
                        <a:t>Narrow and specific. Findings are applicable to a particular context or industry.</a:t>
                      </a:r>
                      <a:endParaRPr/>
                    </a:p>
                  </a:txBody>
                  <a:tcPr marT="38500" marB="38500" marR="57750" marL="577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81075">
                <a:tc>
                  <a:txBody>
                    <a:bodyPr/>
                    <a:lstStyle/>
                    <a:p>
                      <a:pPr indent="0" lvl="0" marL="0" marR="0" rtl="0" algn="l">
                        <a:spcBef>
                          <a:spcPts val="0"/>
                        </a:spcBef>
                        <a:spcAft>
                          <a:spcPts val="0"/>
                        </a:spcAft>
                        <a:buClr>
                          <a:srgbClr val="1F1F1F"/>
                        </a:buClr>
                        <a:buSzPts val="1400"/>
                        <a:buFont typeface="Arial"/>
                        <a:buNone/>
                      </a:pPr>
                      <a:r>
                        <a:rPr b="1" lang="en-GB" sz="1400" u="none" cap="none" strike="noStrike">
                          <a:solidFill>
                            <a:srgbClr val="1F1F1F"/>
                          </a:solidFill>
                          <a:latin typeface="Arial"/>
                          <a:ea typeface="Arial"/>
                          <a:cs typeface="Arial"/>
                          <a:sym typeface="Arial"/>
                        </a:rPr>
                        <a:t>Time Horizon</a:t>
                      </a:r>
                      <a:endParaRPr sz="1400" u="none" cap="none" strike="noStrike">
                        <a:solidFill>
                          <a:srgbClr val="1F1F1F"/>
                        </a:solidFill>
                        <a:latin typeface="Arial"/>
                        <a:ea typeface="Arial"/>
                        <a:cs typeface="Arial"/>
                        <a:sym typeface="Arial"/>
                      </a:endParaRPr>
                    </a:p>
                  </a:txBody>
                  <a:tcPr marT="38500" marB="38500" marR="57750" marL="577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lang="en-GB" sz="1400" u="none" cap="none" strike="noStrike">
                          <a:solidFill>
                            <a:srgbClr val="1F1F1F"/>
                          </a:solidFill>
                          <a:latin typeface="Arial"/>
                          <a:ea typeface="Arial"/>
                          <a:cs typeface="Arial"/>
                          <a:sym typeface="Arial"/>
                        </a:rPr>
                        <a:t>Long-term. Benefits may not be realized for decades.</a:t>
                      </a:r>
                      <a:endParaRPr/>
                    </a:p>
                  </a:txBody>
                  <a:tcPr marT="38500" marB="38500" marR="57750" marL="577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lang="en-GB" sz="1400" u="none" cap="none" strike="noStrike">
                          <a:solidFill>
                            <a:srgbClr val="1F1F1F"/>
                          </a:solidFill>
                          <a:latin typeface="Arial"/>
                          <a:ea typeface="Arial"/>
                          <a:cs typeface="Arial"/>
                          <a:sym typeface="Arial"/>
                        </a:rPr>
                        <a:t>Short to Medium-term. Focused on immediate or near-future utility.</a:t>
                      </a:r>
                      <a:endParaRPr/>
                    </a:p>
                  </a:txBody>
                  <a:tcPr marT="38500" marB="38500" marR="57750" marL="577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81075">
                <a:tc>
                  <a:txBody>
                    <a:bodyPr/>
                    <a:lstStyle/>
                    <a:p>
                      <a:pPr indent="0" lvl="0" marL="0" marR="0" rtl="0" algn="l">
                        <a:spcBef>
                          <a:spcPts val="0"/>
                        </a:spcBef>
                        <a:spcAft>
                          <a:spcPts val="0"/>
                        </a:spcAft>
                        <a:buClr>
                          <a:srgbClr val="1F1F1F"/>
                        </a:buClr>
                        <a:buSzPts val="1400"/>
                        <a:buFont typeface="Arial"/>
                        <a:buNone/>
                      </a:pPr>
                      <a:r>
                        <a:rPr b="1" lang="en-GB" sz="1400" u="none" cap="none" strike="noStrike">
                          <a:solidFill>
                            <a:srgbClr val="1F1F1F"/>
                          </a:solidFill>
                          <a:latin typeface="Arial"/>
                          <a:ea typeface="Arial"/>
                          <a:cs typeface="Arial"/>
                          <a:sym typeface="Arial"/>
                        </a:rPr>
                        <a:t>Success Metric</a:t>
                      </a:r>
                      <a:endParaRPr sz="1400" u="none" cap="none" strike="noStrike">
                        <a:solidFill>
                          <a:srgbClr val="1F1F1F"/>
                        </a:solidFill>
                        <a:latin typeface="Arial"/>
                        <a:ea typeface="Arial"/>
                        <a:cs typeface="Arial"/>
                        <a:sym typeface="Arial"/>
                      </a:endParaRPr>
                    </a:p>
                  </a:txBody>
                  <a:tcPr marT="38500" marB="38500" marR="57750" marL="577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lang="en-GB" sz="1400" u="none" cap="none" strike="noStrike">
                          <a:solidFill>
                            <a:srgbClr val="1F1F1F"/>
                          </a:solidFill>
                          <a:latin typeface="Arial"/>
                          <a:ea typeface="Arial"/>
                          <a:cs typeface="Arial"/>
                          <a:sym typeface="Arial"/>
                        </a:rPr>
                        <a:t>Number of citations, peer recognition, and theoretical breakthroughs.</a:t>
                      </a:r>
                      <a:endParaRPr/>
                    </a:p>
                  </a:txBody>
                  <a:tcPr marT="38500" marB="38500" marR="57750" marL="577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lang="en-GB" sz="1400" u="none" cap="none" strike="noStrike">
                          <a:solidFill>
                            <a:srgbClr val="1F1F1F"/>
                          </a:solidFill>
                          <a:latin typeface="Arial"/>
                          <a:ea typeface="Arial"/>
                          <a:cs typeface="Arial"/>
                          <a:sym typeface="Arial"/>
                        </a:rPr>
                        <a:t>Successful implementation, patent filing, or cost-saving for a business.</a:t>
                      </a:r>
                      <a:endParaRPr/>
                    </a:p>
                  </a:txBody>
                  <a:tcPr marT="38500" marB="38500" marR="57750" marL="577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81075">
                <a:tc>
                  <a:txBody>
                    <a:bodyPr/>
                    <a:lstStyle/>
                    <a:p>
                      <a:pPr indent="0" lvl="0" marL="0" marR="0" rtl="0" algn="l">
                        <a:spcBef>
                          <a:spcPts val="0"/>
                        </a:spcBef>
                        <a:spcAft>
                          <a:spcPts val="0"/>
                        </a:spcAft>
                        <a:buClr>
                          <a:srgbClr val="1F1F1F"/>
                        </a:buClr>
                        <a:buSzPts val="1400"/>
                        <a:buFont typeface="Arial"/>
                        <a:buNone/>
                      </a:pPr>
                      <a:r>
                        <a:rPr b="1" lang="en-GB" sz="1400" u="none" cap="none" strike="noStrike">
                          <a:solidFill>
                            <a:srgbClr val="1F1F1F"/>
                          </a:solidFill>
                          <a:latin typeface="Arial"/>
                          <a:ea typeface="Arial"/>
                          <a:cs typeface="Arial"/>
                          <a:sym typeface="Arial"/>
                        </a:rPr>
                        <a:t>Analytic Focus</a:t>
                      </a:r>
                      <a:endParaRPr sz="1400" u="none" cap="none" strike="noStrike">
                        <a:solidFill>
                          <a:srgbClr val="1F1F1F"/>
                        </a:solidFill>
                        <a:latin typeface="Arial"/>
                        <a:ea typeface="Arial"/>
                        <a:cs typeface="Arial"/>
                        <a:sym typeface="Arial"/>
                      </a:endParaRPr>
                    </a:p>
                  </a:txBody>
                  <a:tcPr marT="38500" marB="38500" marR="57750" marL="577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lang="en-GB" sz="1400" u="none" cap="none" strike="noStrike">
                          <a:solidFill>
                            <a:srgbClr val="1F1F1F"/>
                          </a:solidFill>
                          <a:latin typeface="Arial"/>
                          <a:ea typeface="Arial"/>
                          <a:cs typeface="Arial"/>
                          <a:sym typeface="Arial"/>
                        </a:rPr>
                        <a:t>High abstraction; focuses on variables and laws of nature.</a:t>
                      </a:r>
                      <a:endParaRPr/>
                    </a:p>
                  </a:txBody>
                  <a:tcPr marT="38500" marB="38500" marR="57750" marL="577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lang="en-GB" sz="1400" u="none" cap="none" strike="noStrike">
                          <a:solidFill>
                            <a:srgbClr val="1F1F1F"/>
                          </a:solidFill>
                          <a:latin typeface="Arial"/>
                          <a:ea typeface="Arial"/>
                          <a:cs typeface="Arial"/>
                          <a:sym typeface="Arial"/>
                        </a:rPr>
                        <a:t>High pragmatism; focuses on variables that can be </a:t>
                      </a:r>
                      <a:r>
                        <a:rPr i="1" lang="en-GB" sz="1400" u="none" cap="none" strike="noStrike">
                          <a:solidFill>
                            <a:srgbClr val="1F1F1F"/>
                          </a:solidFill>
                          <a:latin typeface="Arial"/>
                          <a:ea typeface="Arial"/>
                          <a:cs typeface="Arial"/>
                          <a:sym typeface="Arial"/>
                        </a:rPr>
                        <a:t>controlled</a:t>
                      </a:r>
                      <a:r>
                        <a:rPr lang="en-GB" sz="1400" u="none" cap="none" strike="noStrike">
                          <a:solidFill>
                            <a:srgbClr val="1F1F1F"/>
                          </a:solidFill>
                          <a:latin typeface="Arial"/>
                          <a:ea typeface="Arial"/>
                          <a:cs typeface="Arial"/>
                          <a:sym typeface="Arial"/>
                        </a:rPr>
                        <a:t> to change an outcome.</a:t>
                      </a:r>
                      <a:endParaRPr/>
                    </a:p>
                  </a:txBody>
                  <a:tcPr marT="38500" marB="38500" marR="57750" marL="577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5"/>
          <p:cNvSpPr txBox="1"/>
          <p:nvPr>
            <p:ph type="title"/>
          </p:nvPr>
        </p:nvSpPr>
        <p:spPr>
          <a:xfrm>
            <a:off x="1449217" y="804889"/>
            <a:ext cx="9605635" cy="105930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Gill Sans"/>
              <a:buNone/>
            </a:pPr>
            <a:r>
              <a:rPr lang="en-GB"/>
              <a:t>CLASSIFICATION OF RESEARCH</a:t>
            </a:r>
            <a:br>
              <a:rPr lang="en-GB"/>
            </a:br>
            <a:r>
              <a:rPr lang="en-GB"/>
              <a:t>(OBJECTIVE VIEW)</a:t>
            </a:r>
            <a:endParaRPr/>
          </a:p>
        </p:txBody>
      </p:sp>
      <p:sp>
        <p:nvSpPr>
          <p:cNvPr id="125" name="Google Shape;125;p5"/>
          <p:cNvSpPr txBox="1"/>
          <p:nvPr>
            <p:ph idx="1" type="body"/>
          </p:nvPr>
        </p:nvSpPr>
        <p:spPr>
          <a:xfrm>
            <a:off x="273269" y="2017343"/>
            <a:ext cx="5118538" cy="3752836"/>
          </a:xfrm>
          <a:prstGeom prst="rect">
            <a:avLst/>
          </a:prstGeom>
          <a:noFill/>
          <a:ln>
            <a:noFill/>
          </a:ln>
        </p:spPr>
        <p:txBody>
          <a:bodyPr anchorCtr="0" anchor="t" bIns="45700" lIns="91425" spcFirstLastPara="1" rIns="91425" wrap="square" tIns="45700">
            <a:normAutofit fontScale="92500" lnSpcReduction="20000"/>
          </a:bodyPr>
          <a:lstStyle/>
          <a:p>
            <a:pPr indent="0" lvl="0" marL="0" rtl="0" algn="ctr">
              <a:lnSpc>
                <a:spcPct val="120000"/>
              </a:lnSpc>
              <a:spcBef>
                <a:spcPts val="0"/>
              </a:spcBef>
              <a:spcAft>
                <a:spcPts val="0"/>
              </a:spcAft>
              <a:buSzPct val="100000"/>
              <a:buNone/>
            </a:pPr>
            <a:r>
              <a:rPr b="1" lang="en-GB">
                <a:highlight>
                  <a:srgbClr val="FFFF00"/>
                </a:highlight>
              </a:rPr>
              <a:t>Descriptive Research</a:t>
            </a:r>
            <a:endParaRPr/>
          </a:p>
          <a:p>
            <a:pPr indent="0" lvl="0" marL="0" rtl="0" algn="ctr">
              <a:lnSpc>
                <a:spcPct val="120000"/>
              </a:lnSpc>
              <a:spcBef>
                <a:spcPts val="1000"/>
              </a:spcBef>
              <a:spcAft>
                <a:spcPts val="0"/>
              </a:spcAft>
              <a:buSzPct val="100000"/>
              <a:buNone/>
            </a:pPr>
            <a:br>
              <a:rPr lang="en-GB"/>
            </a:br>
            <a:r>
              <a:rPr lang="en-GB"/>
              <a:t>Descriptive research describes </a:t>
            </a:r>
            <a:r>
              <a:rPr b="1" lang="en-GB"/>
              <a:t>what is happening</a:t>
            </a:r>
            <a:r>
              <a:rPr lang="en-GB"/>
              <a:t> or </a:t>
            </a:r>
            <a:r>
              <a:rPr b="1" lang="en-GB"/>
              <a:t>what exists</a:t>
            </a:r>
            <a:r>
              <a:rPr lang="en-GB"/>
              <a:t> without explaining why.</a:t>
            </a:r>
            <a:endParaRPr/>
          </a:p>
          <a:p>
            <a:pPr indent="0" lvl="0" marL="0" rtl="0" algn="l">
              <a:lnSpc>
                <a:spcPct val="120000"/>
              </a:lnSpc>
              <a:spcBef>
                <a:spcPts val="1000"/>
              </a:spcBef>
              <a:spcAft>
                <a:spcPts val="0"/>
              </a:spcAft>
              <a:buSzPct val="100000"/>
              <a:buNone/>
            </a:pPr>
            <a:r>
              <a:rPr b="1" lang="en-GB"/>
              <a:t>Example:</a:t>
            </a:r>
            <a:endParaRPr/>
          </a:p>
          <a:p>
            <a:pPr indent="-228600" lvl="0" marL="228600" rtl="0" algn="l">
              <a:lnSpc>
                <a:spcPct val="120000"/>
              </a:lnSpc>
              <a:spcBef>
                <a:spcPts val="1000"/>
              </a:spcBef>
              <a:spcAft>
                <a:spcPts val="0"/>
              </a:spcAft>
              <a:buSzPct val="100000"/>
              <a:buChar char="•"/>
            </a:pPr>
            <a:r>
              <a:rPr lang="en-GB"/>
              <a:t>Studying </a:t>
            </a:r>
            <a:r>
              <a:rPr b="1" lang="en-GB"/>
              <a:t>how many students use AI tools in a university</a:t>
            </a:r>
            <a:endParaRPr/>
          </a:p>
          <a:p>
            <a:pPr indent="-228600" lvl="0" marL="228600" rtl="0" algn="l">
              <a:lnSpc>
                <a:spcPct val="120000"/>
              </a:lnSpc>
              <a:spcBef>
                <a:spcPts val="1000"/>
              </a:spcBef>
              <a:spcAft>
                <a:spcPts val="0"/>
              </a:spcAft>
              <a:buSzPct val="100000"/>
              <a:buChar char="•"/>
            </a:pPr>
            <a:r>
              <a:rPr lang="en-GB"/>
              <a:t>Survey on </a:t>
            </a:r>
            <a:r>
              <a:rPr b="1" lang="en-GB"/>
              <a:t>internet usage patterns among Bangladeshi students</a:t>
            </a:r>
            <a:endParaRPr/>
          </a:p>
          <a:p>
            <a:pPr indent="-111125" lvl="0" marL="228600" rtl="0" algn="l">
              <a:lnSpc>
                <a:spcPct val="120000"/>
              </a:lnSpc>
              <a:spcBef>
                <a:spcPts val="1000"/>
              </a:spcBef>
              <a:spcAft>
                <a:spcPts val="0"/>
              </a:spcAft>
              <a:buSzPct val="100000"/>
              <a:buNone/>
            </a:pPr>
            <a:r>
              <a:t/>
            </a:r>
            <a:endParaRPr/>
          </a:p>
        </p:txBody>
      </p:sp>
      <p:sp>
        <p:nvSpPr>
          <p:cNvPr id="126" name="Google Shape;126;p5"/>
          <p:cNvSpPr txBox="1"/>
          <p:nvPr>
            <p:ph idx="2" type="body"/>
          </p:nvPr>
        </p:nvSpPr>
        <p:spPr>
          <a:xfrm>
            <a:off x="6096000" y="2017343"/>
            <a:ext cx="5456909" cy="3752836"/>
          </a:xfrm>
          <a:prstGeom prst="rect">
            <a:avLst/>
          </a:prstGeom>
          <a:noFill/>
          <a:ln>
            <a:noFill/>
          </a:ln>
        </p:spPr>
        <p:txBody>
          <a:bodyPr anchorCtr="0" anchor="t" bIns="45700" lIns="91425" spcFirstLastPara="1" rIns="91425" wrap="square" tIns="45700">
            <a:normAutofit fontScale="92500" lnSpcReduction="20000"/>
          </a:bodyPr>
          <a:lstStyle/>
          <a:p>
            <a:pPr indent="0" lvl="0" marL="0" rtl="0" algn="ctr">
              <a:lnSpc>
                <a:spcPct val="120000"/>
              </a:lnSpc>
              <a:spcBef>
                <a:spcPts val="0"/>
              </a:spcBef>
              <a:spcAft>
                <a:spcPts val="0"/>
              </a:spcAft>
              <a:buSzPct val="100000"/>
              <a:buNone/>
            </a:pPr>
            <a:r>
              <a:rPr b="1" lang="en-GB">
                <a:highlight>
                  <a:srgbClr val="FFFF00"/>
                </a:highlight>
              </a:rPr>
              <a:t>Exploratory Research</a:t>
            </a:r>
            <a:endParaRPr/>
          </a:p>
          <a:p>
            <a:pPr indent="0" lvl="0" marL="0" rtl="0" algn="ctr">
              <a:lnSpc>
                <a:spcPct val="120000"/>
              </a:lnSpc>
              <a:spcBef>
                <a:spcPts val="1000"/>
              </a:spcBef>
              <a:spcAft>
                <a:spcPts val="0"/>
              </a:spcAft>
              <a:buSzPct val="100000"/>
              <a:buNone/>
            </a:pPr>
            <a:br>
              <a:rPr lang="en-GB"/>
            </a:br>
            <a:r>
              <a:rPr lang="en-GB"/>
              <a:t>Exploratory research is conducted when the problem is </a:t>
            </a:r>
            <a:r>
              <a:rPr b="1" lang="en-GB"/>
              <a:t>not clearly defined</a:t>
            </a:r>
            <a:r>
              <a:rPr lang="en-GB"/>
              <a:t> and the researcher wants to explore new ideas.</a:t>
            </a:r>
            <a:endParaRPr/>
          </a:p>
          <a:p>
            <a:pPr indent="0" lvl="0" marL="0" rtl="0" algn="l">
              <a:lnSpc>
                <a:spcPct val="120000"/>
              </a:lnSpc>
              <a:spcBef>
                <a:spcPts val="1000"/>
              </a:spcBef>
              <a:spcAft>
                <a:spcPts val="0"/>
              </a:spcAft>
              <a:buSzPct val="100000"/>
              <a:buNone/>
            </a:pPr>
            <a:r>
              <a:rPr b="1" lang="en-GB"/>
              <a:t>Example:</a:t>
            </a:r>
            <a:endParaRPr/>
          </a:p>
          <a:p>
            <a:pPr indent="-228600" lvl="0" marL="228600" rtl="0" algn="l">
              <a:lnSpc>
                <a:spcPct val="120000"/>
              </a:lnSpc>
              <a:spcBef>
                <a:spcPts val="1000"/>
              </a:spcBef>
              <a:spcAft>
                <a:spcPts val="0"/>
              </a:spcAft>
              <a:buSzPct val="100000"/>
              <a:buChar char="•"/>
            </a:pPr>
            <a:r>
              <a:rPr lang="en-GB"/>
              <a:t>Exploring </a:t>
            </a:r>
            <a:r>
              <a:rPr b="1" lang="en-GB"/>
              <a:t>how AI can help deaf students communicate</a:t>
            </a:r>
            <a:endParaRPr/>
          </a:p>
          <a:p>
            <a:pPr indent="-228600" lvl="0" marL="228600" rtl="0" algn="l">
              <a:lnSpc>
                <a:spcPct val="120000"/>
              </a:lnSpc>
              <a:spcBef>
                <a:spcPts val="1000"/>
              </a:spcBef>
              <a:spcAft>
                <a:spcPts val="0"/>
              </a:spcAft>
              <a:buSzPct val="100000"/>
              <a:buChar char="•"/>
            </a:pPr>
            <a:r>
              <a:rPr lang="en-GB"/>
              <a:t>Interviewing farmers to understand </a:t>
            </a:r>
            <a:r>
              <a:rPr b="1" lang="en-GB"/>
              <a:t>unknown causes of crop disease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6"/>
          <p:cNvSpPr txBox="1"/>
          <p:nvPr>
            <p:ph type="title"/>
          </p:nvPr>
        </p:nvSpPr>
        <p:spPr>
          <a:xfrm>
            <a:off x="1449217" y="804889"/>
            <a:ext cx="9605635" cy="105930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Gill Sans"/>
              <a:buNone/>
            </a:pPr>
            <a:r>
              <a:rPr lang="en-GB"/>
              <a:t>CLASSIFICATION OF RESEARCH</a:t>
            </a:r>
            <a:br>
              <a:rPr lang="en-GB"/>
            </a:br>
            <a:r>
              <a:rPr lang="en-GB"/>
              <a:t>(OBJECTIVE VIEW)</a:t>
            </a:r>
            <a:endParaRPr/>
          </a:p>
        </p:txBody>
      </p:sp>
      <p:sp>
        <p:nvSpPr>
          <p:cNvPr id="132" name="Google Shape;132;p6"/>
          <p:cNvSpPr txBox="1"/>
          <p:nvPr>
            <p:ph idx="1" type="body"/>
          </p:nvPr>
        </p:nvSpPr>
        <p:spPr>
          <a:xfrm>
            <a:off x="462456" y="2017953"/>
            <a:ext cx="4698123" cy="3647090"/>
          </a:xfrm>
          <a:prstGeom prst="rect">
            <a:avLst/>
          </a:prstGeom>
          <a:noFill/>
          <a:ln>
            <a:noFill/>
          </a:ln>
        </p:spPr>
        <p:txBody>
          <a:bodyPr anchorCtr="0" anchor="t" bIns="45700" lIns="91425" spcFirstLastPara="1" rIns="91425" wrap="square" tIns="45700">
            <a:normAutofit fontScale="62500" lnSpcReduction="20000"/>
          </a:bodyPr>
          <a:lstStyle/>
          <a:p>
            <a:pPr indent="0" lvl="0" marL="0" rtl="0" algn="ctr">
              <a:lnSpc>
                <a:spcPct val="120000"/>
              </a:lnSpc>
              <a:spcBef>
                <a:spcPts val="0"/>
              </a:spcBef>
              <a:spcAft>
                <a:spcPts val="0"/>
              </a:spcAft>
              <a:buSzPct val="100000"/>
              <a:buNone/>
            </a:pPr>
            <a:r>
              <a:rPr b="1" lang="en-GB" sz="2500">
                <a:highlight>
                  <a:srgbClr val="FFFF00"/>
                </a:highlight>
              </a:rPr>
              <a:t>Correlational Research</a:t>
            </a:r>
            <a:endParaRPr/>
          </a:p>
          <a:p>
            <a:pPr indent="0" lvl="0" marL="0" rtl="0" algn="ctr">
              <a:lnSpc>
                <a:spcPct val="120000"/>
              </a:lnSpc>
              <a:spcBef>
                <a:spcPts val="1000"/>
              </a:spcBef>
              <a:spcAft>
                <a:spcPts val="0"/>
              </a:spcAft>
              <a:buSzPct val="100000"/>
              <a:buNone/>
            </a:pPr>
            <a:br>
              <a:rPr lang="en-GB" sz="2500"/>
            </a:br>
            <a:r>
              <a:rPr lang="en-GB" sz="2500"/>
              <a:t>Correlational research studies the </a:t>
            </a:r>
            <a:r>
              <a:rPr b="1" lang="en-GB" sz="2500"/>
              <a:t>relationship between two or more variables</a:t>
            </a:r>
            <a:r>
              <a:rPr lang="en-GB" sz="2500"/>
              <a:t> without manipulating them.</a:t>
            </a:r>
            <a:endParaRPr/>
          </a:p>
          <a:p>
            <a:pPr indent="0" lvl="0" marL="0" rtl="0" algn="l">
              <a:lnSpc>
                <a:spcPct val="120000"/>
              </a:lnSpc>
              <a:spcBef>
                <a:spcPts val="1000"/>
              </a:spcBef>
              <a:spcAft>
                <a:spcPts val="0"/>
              </a:spcAft>
              <a:buSzPct val="100000"/>
              <a:buNone/>
            </a:pPr>
            <a:r>
              <a:rPr b="1" lang="en-GB" sz="2500"/>
              <a:t>Example:</a:t>
            </a:r>
            <a:endParaRPr sz="2500"/>
          </a:p>
          <a:p>
            <a:pPr indent="-228631" lvl="0" marL="228600" rtl="0" algn="l">
              <a:lnSpc>
                <a:spcPct val="120000"/>
              </a:lnSpc>
              <a:spcBef>
                <a:spcPts val="1000"/>
              </a:spcBef>
              <a:spcAft>
                <a:spcPts val="0"/>
              </a:spcAft>
              <a:buSzPct val="100000"/>
              <a:buChar char="•"/>
            </a:pPr>
            <a:r>
              <a:rPr lang="en-GB" sz="2500"/>
              <a:t>Studying the relationship between </a:t>
            </a:r>
            <a:r>
              <a:rPr b="1" lang="en-GB" sz="2500"/>
              <a:t>study time and exam results</a:t>
            </a:r>
            <a:endParaRPr sz="2500"/>
          </a:p>
          <a:p>
            <a:pPr indent="-228631" lvl="0" marL="228600" rtl="0" algn="l">
              <a:lnSpc>
                <a:spcPct val="120000"/>
              </a:lnSpc>
              <a:spcBef>
                <a:spcPts val="1000"/>
              </a:spcBef>
              <a:spcAft>
                <a:spcPts val="0"/>
              </a:spcAft>
              <a:buSzPct val="100000"/>
              <a:buChar char="•"/>
            </a:pPr>
            <a:r>
              <a:rPr lang="en-GB" sz="2500"/>
              <a:t>Relationship between </a:t>
            </a:r>
            <a:r>
              <a:rPr b="1" lang="en-GB" sz="2500"/>
              <a:t>air pollution and respiratory diseases</a:t>
            </a:r>
            <a:endParaRPr sz="2500"/>
          </a:p>
          <a:p>
            <a:pPr indent="-149225" lvl="0" marL="228600" rtl="0" algn="l">
              <a:lnSpc>
                <a:spcPct val="120000"/>
              </a:lnSpc>
              <a:spcBef>
                <a:spcPts val="1000"/>
              </a:spcBef>
              <a:spcAft>
                <a:spcPts val="0"/>
              </a:spcAft>
              <a:buSzPct val="100000"/>
              <a:buNone/>
            </a:pPr>
            <a:r>
              <a:t/>
            </a:r>
            <a:endParaRPr/>
          </a:p>
        </p:txBody>
      </p:sp>
      <p:sp>
        <p:nvSpPr>
          <p:cNvPr id="133" name="Google Shape;133;p6"/>
          <p:cNvSpPr txBox="1"/>
          <p:nvPr>
            <p:ph idx="2" type="body"/>
          </p:nvPr>
        </p:nvSpPr>
        <p:spPr>
          <a:xfrm>
            <a:off x="6768663" y="2017953"/>
            <a:ext cx="4698123" cy="3441520"/>
          </a:xfrm>
          <a:prstGeom prst="rect">
            <a:avLst/>
          </a:prstGeom>
          <a:noFill/>
          <a:ln>
            <a:noFill/>
          </a:ln>
        </p:spPr>
        <p:txBody>
          <a:bodyPr anchorCtr="0" anchor="t" bIns="45700" lIns="91425" spcFirstLastPara="1" rIns="91425" wrap="square" tIns="45700">
            <a:normAutofit fontScale="62500" lnSpcReduction="20000"/>
          </a:bodyPr>
          <a:lstStyle/>
          <a:p>
            <a:pPr indent="0" lvl="0" marL="0" rtl="0" algn="ctr">
              <a:lnSpc>
                <a:spcPct val="120000"/>
              </a:lnSpc>
              <a:spcBef>
                <a:spcPts val="0"/>
              </a:spcBef>
              <a:spcAft>
                <a:spcPts val="0"/>
              </a:spcAft>
              <a:buSzPct val="100000"/>
              <a:buNone/>
            </a:pPr>
            <a:r>
              <a:rPr b="1" lang="en-GB" sz="2500">
                <a:highlight>
                  <a:srgbClr val="FFFF00"/>
                </a:highlight>
              </a:rPr>
              <a:t>Explanatory Research (Causal Research)</a:t>
            </a:r>
            <a:endParaRPr/>
          </a:p>
          <a:p>
            <a:pPr indent="0" lvl="0" marL="0" rtl="0" algn="ctr">
              <a:lnSpc>
                <a:spcPct val="120000"/>
              </a:lnSpc>
              <a:spcBef>
                <a:spcPts val="1000"/>
              </a:spcBef>
              <a:spcAft>
                <a:spcPts val="0"/>
              </a:spcAft>
              <a:buSzPct val="100000"/>
              <a:buNone/>
            </a:pPr>
            <a:br>
              <a:rPr lang="en-GB" sz="2500"/>
            </a:br>
            <a:r>
              <a:rPr lang="en-GB" sz="2500"/>
              <a:t>Explanatory research explains </a:t>
            </a:r>
            <a:r>
              <a:rPr b="1" lang="en-GB" sz="2500"/>
              <a:t>why and how something happens</a:t>
            </a:r>
            <a:r>
              <a:rPr lang="en-GB" sz="2500"/>
              <a:t> by identifying cause-and-effect relationships.</a:t>
            </a:r>
            <a:endParaRPr/>
          </a:p>
          <a:p>
            <a:pPr indent="0" lvl="0" marL="0" rtl="0" algn="l">
              <a:lnSpc>
                <a:spcPct val="120000"/>
              </a:lnSpc>
              <a:spcBef>
                <a:spcPts val="1000"/>
              </a:spcBef>
              <a:spcAft>
                <a:spcPts val="0"/>
              </a:spcAft>
              <a:buSzPct val="100000"/>
              <a:buNone/>
            </a:pPr>
            <a:r>
              <a:rPr b="1" lang="en-GB" sz="2500"/>
              <a:t>Example:</a:t>
            </a:r>
            <a:endParaRPr sz="2500"/>
          </a:p>
          <a:p>
            <a:pPr indent="-228631" lvl="0" marL="228600" rtl="0" algn="l">
              <a:lnSpc>
                <a:spcPct val="120000"/>
              </a:lnSpc>
              <a:spcBef>
                <a:spcPts val="1000"/>
              </a:spcBef>
              <a:spcAft>
                <a:spcPts val="0"/>
              </a:spcAft>
              <a:buSzPct val="100000"/>
              <a:buChar char="•"/>
            </a:pPr>
            <a:r>
              <a:rPr lang="en-GB" sz="2500"/>
              <a:t>Investigating </a:t>
            </a:r>
            <a:r>
              <a:rPr b="1" lang="en-GB" sz="2500"/>
              <a:t>why deep learning models outperform traditional ML in cancer detection</a:t>
            </a:r>
            <a:endParaRPr sz="2500"/>
          </a:p>
          <a:p>
            <a:pPr indent="-228631" lvl="0" marL="228600" rtl="0" algn="l">
              <a:lnSpc>
                <a:spcPct val="120000"/>
              </a:lnSpc>
              <a:spcBef>
                <a:spcPts val="1000"/>
              </a:spcBef>
              <a:spcAft>
                <a:spcPts val="0"/>
              </a:spcAft>
              <a:buSzPct val="100000"/>
              <a:buChar char="•"/>
            </a:pPr>
            <a:r>
              <a:rPr lang="en-GB" sz="2500"/>
              <a:t>Studying </a:t>
            </a:r>
            <a:r>
              <a:rPr b="1" lang="en-GB" sz="2500"/>
              <a:t>why students perform better in blended learning systems</a:t>
            </a:r>
            <a:endParaRPr sz="2500"/>
          </a:p>
          <a:p>
            <a:pPr indent="-149225" lvl="0" marL="228600" rtl="0" algn="l">
              <a:lnSpc>
                <a:spcPct val="120000"/>
              </a:lnSpc>
              <a:spcBef>
                <a:spcPts val="1000"/>
              </a:spcBef>
              <a:spcAft>
                <a:spcPts val="0"/>
              </a:spcAft>
              <a:buSzPct val="1000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7"/>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Gill Sans"/>
              <a:buNone/>
            </a:pPr>
            <a:r>
              <a:rPr lang="en-GB"/>
              <a:t>QUALITATIVE VS. QUANTITATIVE RESEARCH</a:t>
            </a:r>
            <a:br>
              <a:rPr lang="en-GB"/>
            </a:br>
            <a:r>
              <a:rPr lang="en-GB"/>
              <a:t>(ENQUIRY VIEW)</a:t>
            </a:r>
            <a:endParaRPr/>
          </a:p>
        </p:txBody>
      </p:sp>
      <p:graphicFrame>
        <p:nvGraphicFramePr>
          <p:cNvPr id="139" name="Google Shape;139;p7"/>
          <p:cNvGraphicFramePr/>
          <p:nvPr/>
        </p:nvGraphicFramePr>
        <p:xfrm>
          <a:off x="1345324" y="1975945"/>
          <a:ext cx="3000000" cy="3000000"/>
        </p:xfrm>
        <a:graphic>
          <a:graphicData uri="http://schemas.openxmlformats.org/drawingml/2006/table">
            <a:tbl>
              <a:tblPr>
                <a:noFill/>
                <a:tableStyleId>{2B787235-615A-458A-BFD4-C0EA860DFF8E}</a:tableStyleId>
              </a:tblPr>
              <a:tblGrid>
                <a:gridCol w="1849825"/>
                <a:gridCol w="3783725"/>
                <a:gridCol w="4075975"/>
              </a:tblGrid>
              <a:tr h="337300">
                <a:tc>
                  <a:txBody>
                    <a:bodyPr/>
                    <a:lstStyle/>
                    <a:p>
                      <a:pPr indent="0" lvl="0" marL="0" marR="0" rtl="0" algn="l">
                        <a:spcBef>
                          <a:spcPts val="0"/>
                        </a:spcBef>
                        <a:spcAft>
                          <a:spcPts val="0"/>
                        </a:spcAft>
                        <a:buClr>
                          <a:srgbClr val="1F1F1F"/>
                        </a:buClr>
                        <a:buSzPts val="1400"/>
                        <a:buFont typeface="Arial"/>
                        <a:buNone/>
                      </a:pPr>
                      <a:r>
                        <a:rPr b="1" lang="en-GB" sz="1400" u="none" cap="none" strike="noStrike">
                          <a:solidFill>
                            <a:srgbClr val="1F1F1F"/>
                          </a:solidFill>
                          <a:latin typeface="Arial"/>
                          <a:ea typeface="Arial"/>
                          <a:cs typeface="Arial"/>
                          <a:sym typeface="Arial"/>
                        </a:rPr>
                        <a:t>Feature</a:t>
                      </a:r>
                      <a:endParaRPr sz="1400" u="none" cap="none" strike="noStrike">
                        <a:solidFill>
                          <a:srgbClr val="1F1F1F"/>
                        </a:solidFill>
                        <a:latin typeface="Arial"/>
                        <a:ea typeface="Arial"/>
                        <a:cs typeface="Arial"/>
                        <a:sym typeface="Arial"/>
                      </a:endParaRPr>
                    </a:p>
                  </a:txBody>
                  <a:tcPr marT="36225" marB="36225" marR="54350" marL="543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b="1" lang="en-GB" sz="1400" u="none" cap="none" strike="noStrike">
                          <a:solidFill>
                            <a:srgbClr val="1F1F1F"/>
                          </a:solidFill>
                          <a:latin typeface="Arial"/>
                          <a:ea typeface="Arial"/>
                          <a:cs typeface="Arial"/>
                          <a:sym typeface="Arial"/>
                        </a:rPr>
                        <a:t>Qualitative Research (The "Meaning")</a:t>
                      </a:r>
                      <a:endParaRPr sz="1400" u="none" cap="none" strike="noStrike">
                        <a:solidFill>
                          <a:srgbClr val="1F1F1F"/>
                        </a:solidFill>
                        <a:latin typeface="Arial"/>
                        <a:ea typeface="Arial"/>
                        <a:cs typeface="Arial"/>
                        <a:sym typeface="Arial"/>
                      </a:endParaRPr>
                    </a:p>
                  </a:txBody>
                  <a:tcPr marT="36225" marB="36225" marR="54350" marL="543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b="1" lang="en-GB" sz="1400" u="none" cap="none" strike="noStrike">
                          <a:solidFill>
                            <a:srgbClr val="1F1F1F"/>
                          </a:solidFill>
                          <a:latin typeface="Arial"/>
                          <a:ea typeface="Arial"/>
                          <a:cs typeface="Arial"/>
                          <a:sym typeface="Arial"/>
                        </a:rPr>
                        <a:t>Quantitative Research (The "Measurement")</a:t>
                      </a:r>
                      <a:endParaRPr sz="1400" u="none" cap="none" strike="noStrike">
                        <a:solidFill>
                          <a:srgbClr val="1F1F1F"/>
                        </a:solidFill>
                        <a:latin typeface="Arial"/>
                        <a:ea typeface="Arial"/>
                        <a:cs typeface="Arial"/>
                        <a:sym typeface="Arial"/>
                      </a:endParaRPr>
                    </a:p>
                  </a:txBody>
                  <a:tcPr marT="36225" marB="36225" marR="54350" marL="543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04100">
                <a:tc>
                  <a:txBody>
                    <a:bodyPr/>
                    <a:lstStyle/>
                    <a:p>
                      <a:pPr indent="0" lvl="0" marL="0" marR="0" rtl="0" algn="l">
                        <a:spcBef>
                          <a:spcPts val="0"/>
                        </a:spcBef>
                        <a:spcAft>
                          <a:spcPts val="0"/>
                        </a:spcAft>
                        <a:buClr>
                          <a:srgbClr val="1F1F1F"/>
                        </a:buClr>
                        <a:buSzPts val="1400"/>
                        <a:buFont typeface="Arial"/>
                        <a:buNone/>
                      </a:pPr>
                      <a:r>
                        <a:rPr b="1" lang="en-GB" sz="1400" u="none" cap="none" strike="noStrike">
                          <a:solidFill>
                            <a:srgbClr val="1F1F1F"/>
                          </a:solidFill>
                          <a:latin typeface="Arial"/>
                          <a:ea typeface="Arial"/>
                          <a:cs typeface="Arial"/>
                          <a:sym typeface="Arial"/>
                        </a:rPr>
                        <a:t>Goal</a:t>
                      </a:r>
                      <a:endParaRPr sz="1400" u="none" cap="none" strike="noStrike">
                        <a:solidFill>
                          <a:srgbClr val="1F1F1F"/>
                        </a:solidFill>
                        <a:latin typeface="Arial"/>
                        <a:ea typeface="Arial"/>
                        <a:cs typeface="Arial"/>
                        <a:sym typeface="Arial"/>
                      </a:endParaRPr>
                    </a:p>
                  </a:txBody>
                  <a:tcPr marT="36225" marB="36225" marR="54350" marL="543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lang="en-GB" sz="1400" u="none" cap="none" strike="noStrike">
                          <a:solidFill>
                            <a:srgbClr val="1F1F1F"/>
                          </a:solidFill>
                          <a:latin typeface="Arial"/>
                          <a:ea typeface="Arial"/>
                          <a:cs typeface="Arial"/>
                          <a:sym typeface="Arial"/>
                        </a:rPr>
                        <a:t>To understand concepts, thoughts, or experiences. To explore "Why?" or "How?".</a:t>
                      </a:r>
                      <a:endParaRPr/>
                    </a:p>
                  </a:txBody>
                  <a:tcPr marT="36225" marB="36225" marR="54350" marL="543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lang="en-GB" sz="1400" u="none" cap="none" strike="noStrike">
                          <a:solidFill>
                            <a:srgbClr val="1F1F1F"/>
                          </a:solidFill>
                          <a:latin typeface="Arial"/>
                          <a:ea typeface="Arial"/>
                          <a:cs typeface="Arial"/>
                          <a:sym typeface="Arial"/>
                        </a:rPr>
                        <a:t>To test hypotheses, look at cause/effect, and make predictions. To answer "How many?" or "To what extent?".</a:t>
                      </a:r>
                      <a:endParaRPr/>
                    </a:p>
                  </a:txBody>
                  <a:tcPr marT="36225" marB="36225" marR="54350" marL="543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70700">
                <a:tc>
                  <a:txBody>
                    <a:bodyPr/>
                    <a:lstStyle/>
                    <a:p>
                      <a:pPr indent="0" lvl="0" marL="0" marR="0" rtl="0" algn="l">
                        <a:spcBef>
                          <a:spcPts val="0"/>
                        </a:spcBef>
                        <a:spcAft>
                          <a:spcPts val="0"/>
                        </a:spcAft>
                        <a:buClr>
                          <a:srgbClr val="1F1F1F"/>
                        </a:buClr>
                        <a:buSzPts val="1400"/>
                        <a:buFont typeface="Arial"/>
                        <a:buNone/>
                      </a:pPr>
                      <a:r>
                        <a:rPr b="1" lang="en-GB" sz="1400" u="none" cap="none" strike="noStrike">
                          <a:solidFill>
                            <a:srgbClr val="1F1F1F"/>
                          </a:solidFill>
                          <a:latin typeface="Arial"/>
                          <a:ea typeface="Arial"/>
                          <a:cs typeface="Arial"/>
                          <a:sym typeface="Arial"/>
                        </a:rPr>
                        <a:t>Approach</a:t>
                      </a:r>
                      <a:endParaRPr sz="1400" u="none" cap="none" strike="noStrike">
                        <a:solidFill>
                          <a:srgbClr val="1F1F1F"/>
                        </a:solidFill>
                        <a:latin typeface="Arial"/>
                        <a:ea typeface="Arial"/>
                        <a:cs typeface="Arial"/>
                        <a:sym typeface="Arial"/>
                      </a:endParaRPr>
                    </a:p>
                  </a:txBody>
                  <a:tcPr marT="36225" marB="36225" marR="54350" marL="543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b="1" lang="en-GB" sz="1400" u="none" cap="none" strike="noStrike">
                          <a:solidFill>
                            <a:srgbClr val="1F1F1F"/>
                          </a:solidFill>
                          <a:latin typeface="Arial"/>
                          <a:ea typeface="Arial"/>
                          <a:cs typeface="Arial"/>
                          <a:sym typeface="Arial"/>
                        </a:rPr>
                        <a:t>Inductive:</a:t>
                      </a:r>
                      <a:r>
                        <a:rPr lang="en-GB" sz="1400" u="none" cap="none" strike="noStrike">
                          <a:solidFill>
                            <a:srgbClr val="1F1F1F"/>
                          </a:solidFill>
                          <a:latin typeface="Arial"/>
                          <a:ea typeface="Arial"/>
                          <a:cs typeface="Arial"/>
                          <a:sym typeface="Arial"/>
                        </a:rPr>
                        <a:t> You observe first, then develop a theory or pattern.</a:t>
                      </a:r>
                      <a:endParaRPr/>
                    </a:p>
                  </a:txBody>
                  <a:tcPr marT="36225" marB="36225" marR="54350" marL="543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b="1" lang="en-GB" sz="1400" u="none" cap="none" strike="noStrike">
                          <a:solidFill>
                            <a:srgbClr val="1F1F1F"/>
                          </a:solidFill>
                          <a:latin typeface="Arial"/>
                          <a:ea typeface="Arial"/>
                          <a:cs typeface="Arial"/>
                          <a:sym typeface="Arial"/>
                        </a:rPr>
                        <a:t>Deductive:</a:t>
                      </a:r>
                      <a:r>
                        <a:rPr lang="en-GB" sz="1400" u="none" cap="none" strike="noStrike">
                          <a:solidFill>
                            <a:srgbClr val="1F1F1F"/>
                          </a:solidFill>
                          <a:latin typeface="Arial"/>
                          <a:ea typeface="Arial"/>
                          <a:cs typeface="Arial"/>
                          <a:sym typeface="Arial"/>
                        </a:rPr>
                        <a:t> You start with a theory/hypothesis and test it.</a:t>
                      </a:r>
                      <a:endParaRPr/>
                    </a:p>
                  </a:txBody>
                  <a:tcPr marT="36225" marB="36225" marR="54350" marL="543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70700">
                <a:tc>
                  <a:txBody>
                    <a:bodyPr/>
                    <a:lstStyle/>
                    <a:p>
                      <a:pPr indent="0" lvl="0" marL="0" marR="0" rtl="0" algn="l">
                        <a:spcBef>
                          <a:spcPts val="0"/>
                        </a:spcBef>
                        <a:spcAft>
                          <a:spcPts val="0"/>
                        </a:spcAft>
                        <a:buClr>
                          <a:srgbClr val="1F1F1F"/>
                        </a:buClr>
                        <a:buSzPts val="1400"/>
                        <a:buFont typeface="Arial"/>
                        <a:buNone/>
                      </a:pPr>
                      <a:r>
                        <a:rPr b="1" lang="en-GB" sz="1400" u="none" cap="none" strike="noStrike">
                          <a:solidFill>
                            <a:srgbClr val="1F1F1F"/>
                          </a:solidFill>
                          <a:latin typeface="Arial"/>
                          <a:ea typeface="Arial"/>
                          <a:cs typeface="Arial"/>
                          <a:sym typeface="Arial"/>
                        </a:rPr>
                        <a:t>Data Format</a:t>
                      </a:r>
                      <a:endParaRPr sz="1400" u="none" cap="none" strike="noStrike">
                        <a:solidFill>
                          <a:srgbClr val="1F1F1F"/>
                        </a:solidFill>
                        <a:latin typeface="Arial"/>
                        <a:ea typeface="Arial"/>
                        <a:cs typeface="Arial"/>
                        <a:sym typeface="Arial"/>
                      </a:endParaRPr>
                    </a:p>
                  </a:txBody>
                  <a:tcPr marT="36225" marB="36225" marR="54350" marL="543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lang="en-GB" sz="1400" u="none" cap="none" strike="noStrike">
                          <a:solidFill>
                            <a:srgbClr val="1F1F1F"/>
                          </a:solidFill>
                          <a:latin typeface="Arial"/>
                          <a:ea typeface="Arial"/>
                          <a:cs typeface="Arial"/>
                          <a:sym typeface="Arial"/>
                        </a:rPr>
                        <a:t>Text, video, audio, images, and open-ended observations.</a:t>
                      </a:r>
                      <a:endParaRPr/>
                    </a:p>
                  </a:txBody>
                  <a:tcPr marT="36225" marB="36225" marR="54350" marL="543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lang="en-GB" sz="1400" u="none" cap="none" strike="noStrike">
                          <a:solidFill>
                            <a:srgbClr val="1F1F1F"/>
                          </a:solidFill>
                          <a:latin typeface="Arial"/>
                          <a:ea typeface="Arial"/>
                          <a:cs typeface="Arial"/>
                          <a:sym typeface="Arial"/>
                        </a:rPr>
                        <a:t>Numbers, statistics, and measurable variables.</a:t>
                      </a:r>
                      <a:endParaRPr/>
                    </a:p>
                  </a:txBody>
                  <a:tcPr marT="36225" marB="36225" marR="54350" marL="543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70700">
                <a:tc>
                  <a:txBody>
                    <a:bodyPr/>
                    <a:lstStyle/>
                    <a:p>
                      <a:pPr indent="0" lvl="0" marL="0" marR="0" rtl="0" algn="l">
                        <a:spcBef>
                          <a:spcPts val="0"/>
                        </a:spcBef>
                        <a:spcAft>
                          <a:spcPts val="0"/>
                        </a:spcAft>
                        <a:buClr>
                          <a:srgbClr val="1F1F1F"/>
                        </a:buClr>
                        <a:buSzPts val="1400"/>
                        <a:buFont typeface="Arial"/>
                        <a:buNone/>
                      </a:pPr>
                      <a:r>
                        <a:rPr b="1" lang="en-GB" sz="1400" u="none" cap="none" strike="noStrike">
                          <a:solidFill>
                            <a:srgbClr val="1F1F1F"/>
                          </a:solidFill>
                          <a:latin typeface="Arial"/>
                          <a:ea typeface="Arial"/>
                          <a:cs typeface="Arial"/>
                          <a:sym typeface="Arial"/>
                        </a:rPr>
                        <a:t>Sample Size</a:t>
                      </a:r>
                      <a:endParaRPr sz="1400" u="none" cap="none" strike="noStrike">
                        <a:solidFill>
                          <a:srgbClr val="1F1F1F"/>
                        </a:solidFill>
                        <a:latin typeface="Arial"/>
                        <a:ea typeface="Arial"/>
                        <a:cs typeface="Arial"/>
                        <a:sym typeface="Arial"/>
                      </a:endParaRPr>
                    </a:p>
                  </a:txBody>
                  <a:tcPr marT="36225" marB="36225" marR="54350" marL="543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lang="en-GB" sz="1400" u="none" cap="none" strike="noStrike">
                          <a:solidFill>
                            <a:srgbClr val="1F1F1F"/>
                          </a:solidFill>
                          <a:latin typeface="Arial"/>
                          <a:ea typeface="Arial"/>
                          <a:cs typeface="Arial"/>
                          <a:sym typeface="Arial"/>
                        </a:rPr>
                        <a:t>Small and non-representative (Deep-dive into a few cases).</a:t>
                      </a:r>
                      <a:endParaRPr/>
                    </a:p>
                  </a:txBody>
                  <a:tcPr marT="36225" marB="36225" marR="54350" marL="543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lang="en-GB" sz="1400" u="none" cap="none" strike="noStrike">
                          <a:solidFill>
                            <a:srgbClr val="1F1F1F"/>
                          </a:solidFill>
                          <a:latin typeface="Arial"/>
                          <a:ea typeface="Arial"/>
                          <a:cs typeface="Arial"/>
                          <a:sym typeface="Arial"/>
                        </a:rPr>
                        <a:t>Large and representative (Broad scan across a population).</a:t>
                      </a:r>
                      <a:endParaRPr/>
                    </a:p>
                  </a:txBody>
                  <a:tcPr marT="36225" marB="36225" marR="54350" marL="543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70700">
                <a:tc>
                  <a:txBody>
                    <a:bodyPr/>
                    <a:lstStyle/>
                    <a:p>
                      <a:pPr indent="0" lvl="0" marL="0" marR="0" rtl="0" algn="l">
                        <a:spcBef>
                          <a:spcPts val="0"/>
                        </a:spcBef>
                        <a:spcAft>
                          <a:spcPts val="0"/>
                        </a:spcAft>
                        <a:buClr>
                          <a:srgbClr val="1F1F1F"/>
                        </a:buClr>
                        <a:buSzPts val="1400"/>
                        <a:buFont typeface="Arial"/>
                        <a:buNone/>
                      </a:pPr>
                      <a:r>
                        <a:rPr b="1" lang="en-GB" sz="1400" u="none" cap="none" strike="noStrike">
                          <a:solidFill>
                            <a:srgbClr val="1F1F1F"/>
                          </a:solidFill>
                          <a:latin typeface="Arial"/>
                          <a:ea typeface="Arial"/>
                          <a:cs typeface="Arial"/>
                          <a:sym typeface="Arial"/>
                        </a:rPr>
                        <a:t>Methodology</a:t>
                      </a:r>
                      <a:endParaRPr sz="1400" u="none" cap="none" strike="noStrike">
                        <a:solidFill>
                          <a:srgbClr val="1F1F1F"/>
                        </a:solidFill>
                        <a:latin typeface="Arial"/>
                        <a:ea typeface="Arial"/>
                        <a:cs typeface="Arial"/>
                        <a:sym typeface="Arial"/>
                      </a:endParaRPr>
                    </a:p>
                  </a:txBody>
                  <a:tcPr marT="36225" marB="36225" marR="54350" marL="543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lang="en-GB" sz="1400" u="none" cap="none" strike="noStrike">
                          <a:solidFill>
                            <a:srgbClr val="1F1F1F"/>
                          </a:solidFill>
                          <a:latin typeface="Arial"/>
                          <a:ea typeface="Arial"/>
                          <a:cs typeface="Arial"/>
                          <a:sym typeface="Arial"/>
                        </a:rPr>
                        <a:t>Interviews, focus groups, case studies, ethnography.</a:t>
                      </a:r>
                      <a:endParaRPr/>
                    </a:p>
                  </a:txBody>
                  <a:tcPr marT="36225" marB="36225" marR="54350" marL="543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lang="en-GB" sz="1400" u="none" cap="none" strike="noStrike">
                          <a:solidFill>
                            <a:srgbClr val="1F1F1F"/>
                          </a:solidFill>
                          <a:latin typeface="Arial"/>
                          <a:ea typeface="Arial"/>
                          <a:cs typeface="Arial"/>
                          <a:sym typeface="Arial"/>
                        </a:rPr>
                        <a:t>Surveys, controlled experiments, longitudinal studies, sensor data.</a:t>
                      </a:r>
                      <a:endParaRPr/>
                    </a:p>
                  </a:txBody>
                  <a:tcPr marT="36225" marB="36225" marR="54350" marL="543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470700">
                <a:tc>
                  <a:txBody>
                    <a:bodyPr/>
                    <a:lstStyle/>
                    <a:p>
                      <a:pPr indent="0" lvl="0" marL="0" marR="0" rtl="0" algn="l">
                        <a:spcBef>
                          <a:spcPts val="0"/>
                        </a:spcBef>
                        <a:spcAft>
                          <a:spcPts val="0"/>
                        </a:spcAft>
                        <a:buClr>
                          <a:srgbClr val="1F1F1F"/>
                        </a:buClr>
                        <a:buSzPts val="1400"/>
                        <a:buFont typeface="Arial"/>
                        <a:buNone/>
                      </a:pPr>
                      <a:r>
                        <a:rPr b="1" lang="en-GB" sz="1400" u="none" cap="none" strike="noStrike">
                          <a:solidFill>
                            <a:srgbClr val="1F1F1F"/>
                          </a:solidFill>
                          <a:latin typeface="Arial"/>
                          <a:ea typeface="Arial"/>
                          <a:cs typeface="Arial"/>
                          <a:sym typeface="Arial"/>
                        </a:rPr>
                        <a:t>Data Analysis</a:t>
                      </a:r>
                      <a:endParaRPr sz="1400" u="none" cap="none" strike="noStrike">
                        <a:solidFill>
                          <a:srgbClr val="1F1F1F"/>
                        </a:solidFill>
                        <a:latin typeface="Arial"/>
                        <a:ea typeface="Arial"/>
                        <a:cs typeface="Arial"/>
                        <a:sym typeface="Arial"/>
                      </a:endParaRPr>
                    </a:p>
                  </a:txBody>
                  <a:tcPr marT="36225" marB="36225" marR="54350" marL="543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lang="en-GB" sz="1400" u="none" cap="none" strike="noStrike">
                          <a:solidFill>
                            <a:srgbClr val="1F1F1F"/>
                          </a:solidFill>
                          <a:latin typeface="Arial"/>
                          <a:ea typeface="Arial"/>
                          <a:cs typeface="Arial"/>
                          <a:sym typeface="Arial"/>
                        </a:rPr>
                        <a:t>Content or Thematic analysis (categorizing themes and patterns).</a:t>
                      </a:r>
                      <a:endParaRPr/>
                    </a:p>
                  </a:txBody>
                  <a:tcPr marT="36225" marB="36225" marR="54350" marL="543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lang="en-GB" sz="1400" u="none" cap="none" strike="noStrike">
                          <a:solidFill>
                            <a:srgbClr val="1F1F1F"/>
                          </a:solidFill>
                          <a:latin typeface="Arial"/>
                          <a:ea typeface="Arial"/>
                          <a:cs typeface="Arial"/>
                          <a:sym typeface="Arial"/>
                        </a:rPr>
                        <a:t>Statistical analysis (Mean, Median, Correlation, Regression).</a:t>
                      </a:r>
                      <a:endParaRPr/>
                    </a:p>
                  </a:txBody>
                  <a:tcPr marT="36225" marB="36225" marR="54350" marL="543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37300">
                <a:tc>
                  <a:txBody>
                    <a:bodyPr/>
                    <a:lstStyle/>
                    <a:p>
                      <a:pPr indent="0" lvl="0" marL="0" marR="0" rtl="0" algn="l">
                        <a:spcBef>
                          <a:spcPts val="0"/>
                        </a:spcBef>
                        <a:spcAft>
                          <a:spcPts val="0"/>
                        </a:spcAft>
                        <a:buClr>
                          <a:srgbClr val="1F1F1F"/>
                        </a:buClr>
                        <a:buSzPts val="1400"/>
                        <a:buFont typeface="Arial"/>
                        <a:buNone/>
                      </a:pPr>
                      <a:r>
                        <a:rPr b="1" lang="en-GB" sz="1400" u="none" cap="none" strike="noStrike">
                          <a:solidFill>
                            <a:srgbClr val="1F1F1F"/>
                          </a:solidFill>
                          <a:latin typeface="Arial"/>
                          <a:ea typeface="Arial"/>
                          <a:cs typeface="Arial"/>
                          <a:sym typeface="Arial"/>
                        </a:rPr>
                        <a:t>Result Nature</a:t>
                      </a:r>
                      <a:endParaRPr sz="1400" u="none" cap="none" strike="noStrike">
                        <a:solidFill>
                          <a:srgbClr val="1F1F1F"/>
                        </a:solidFill>
                        <a:latin typeface="Arial"/>
                        <a:ea typeface="Arial"/>
                        <a:cs typeface="Arial"/>
                        <a:sym typeface="Arial"/>
                      </a:endParaRPr>
                    </a:p>
                  </a:txBody>
                  <a:tcPr marT="36225" marB="36225" marR="54350" marL="543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lang="en-GB" sz="1400" u="none" cap="none" strike="noStrike">
                          <a:solidFill>
                            <a:srgbClr val="1F1F1F"/>
                          </a:solidFill>
                          <a:latin typeface="Arial"/>
                          <a:ea typeface="Arial"/>
                          <a:cs typeface="Arial"/>
                          <a:sym typeface="Arial"/>
                        </a:rPr>
                        <a:t>Subjective, descriptive, and context-dependent.</a:t>
                      </a:r>
                      <a:endParaRPr/>
                    </a:p>
                  </a:txBody>
                  <a:tcPr marT="36225" marB="36225" marR="54350" marL="543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marR="0" rtl="0" algn="l">
                        <a:spcBef>
                          <a:spcPts val="0"/>
                        </a:spcBef>
                        <a:spcAft>
                          <a:spcPts val="0"/>
                        </a:spcAft>
                        <a:buClr>
                          <a:srgbClr val="1F1F1F"/>
                        </a:buClr>
                        <a:buSzPts val="1400"/>
                        <a:buFont typeface="Arial"/>
                        <a:buNone/>
                      </a:pPr>
                      <a:r>
                        <a:rPr lang="en-GB" sz="1400" u="none" cap="none" strike="noStrike">
                          <a:solidFill>
                            <a:srgbClr val="1F1F1F"/>
                          </a:solidFill>
                          <a:latin typeface="Arial"/>
                          <a:ea typeface="Arial"/>
                          <a:cs typeface="Arial"/>
                          <a:sym typeface="Arial"/>
                        </a:rPr>
                        <a:t>Objective, numerical, and generalizable.</a:t>
                      </a:r>
                      <a:endParaRPr/>
                    </a:p>
                  </a:txBody>
                  <a:tcPr marT="36225" marB="36225" marR="54350" marL="543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140" name="Google Shape;140;p7"/>
          <p:cNvSpPr txBox="1"/>
          <p:nvPr/>
        </p:nvSpPr>
        <p:spPr>
          <a:xfrm>
            <a:off x="11403724" y="5864772"/>
            <a:ext cx="18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8"/>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Gill Sans"/>
              <a:buNone/>
            </a:pPr>
            <a:r>
              <a:rPr lang="en-GB"/>
              <a:t>RESEARCH MODELS IN ENGINEERING &amp; COMPUTING</a:t>
            </a:r>
            <a:endParaRPr/>
          </a:p>
        </p:txBody>
      </p:sp>
      <p:sp>
        <p:nvSpPr>
          <p:cNvPr id="146" name="Google Shape;146;p8"/>
          <p:cNvSpPr txBox="1"/>
          <p:nvPr>
            <p:ph idx="1" type="body"/>
          </p:nvPr>
        </p:nvSpPr>
        <p:spPr>
          <a:xfrm>
            <a:off x="493986" y="1933903"/>
            <a:ext cx="5276193" cy="4119577"/>
          </a:xfrm>
          <a:prstGeom prst="rect">
            <a:avLst/>
          </a:prstGeom>
          <a:noFill/>
          <a:ln>
            <a:noFill/>
          </a:ln>
        </p:spPr>
        <p:txBody>
          <a:bodyPr anchorCtr="0" anchor="t" bIns="45700" lIns="91425" spcFirstLastPara="1" rIns="91425" wrap="square" tIns="45700">
            <a:normAutofit fontScale="85000" lnSpcReduction="10000"/>
          </a:bodyPr>
          <a:lstStyle/>
          <a:p>
            <a:pPr indent="0" lvl="0" marL="0" rtl="0" algn="l">
              <a:lnSpc>
                <a:spcPct val="120000"/>
              </a:lnSpc>
              <a:spcBef>
                <a:spcPts val="0"/>
              </a:spcBef>
              <a:spcAft>
                <a:spcPts val="0"/>
              </a:spcAft>
              <a:buSzPct val="100000"/>
              <a:buNone/>
            </a:pPr>
            <a:r>
              <a:rPr b="1" lang="en-GB"/>
              <a:t>1️⃣ Empirical Model (Data-Driven): </a:t>
            </a:r>
            <a:r>
              <a:rPr lang="en-GB"/>
              <a:t>Based on real data and experiments.</a:t>
            </a:r>
            <a:endParaRPr/>
          </a:p>
          <a:p>
            <a:pPr indent="0" lvl="0" marL="0" rtl="0" algn="l">
              <a:lnSpc>
                <a:spcPct val="120000"/>
              </a:lnSpc>
              <a:spcBef>
                <a:spcPts val="1000"/>
              </a:spcBef>
              <a:spcAft>
                <a:spcPts val="0"/>
              </a:spcAft>
              <a:buSzPct val="100000"/>
              <a:buNone/>
            </a:pPr>
            <a:r>
              <a:rPr b="1" lang="en-GB"/>
              <a:t>Example:</a:t>
            </a:r>
            <a:r>
              <a:rPr lang="en-GB"/>
              <a:t> Training a deep learning model using MRI images.</a:t>
            </a:r>
            <a:endParaRPr/>
          </a:p>
          <a:p>
            <a:pPr indent="0" lvl="0" marL="0" rtl="0" algn="l">
              <a:lnSpc>
                <a:spcPct val="120000"/>
              </a:lnSpc>
              <a:spcBef>
                <a:spcPts val="1000"/>
              </a:spcBef>
              <a:spcAft>
                <a:spcPts val="0"/>
              </a:spcAft>
              <a:buSzPct val="100000"/>
              <a:buNone/>
            </a:pPr>
            <a:r>
              <a:rPr b="1" lang="en-GB"/>
              <a:t>2️⃣ Theoretical Model: </a:t>
            </a:r>
            <a:r>
              <a:rPr lang="en-GB"/>
              <a:t>Based on mathematical formulas or conceptual frameworks.</a:t>
            </a:r>
            <a:endParaRPr/>
          </a:p>
          <a:p>
            <a:pPr indent="0" lvl="0" marL="0" rtl="0" algn="l">
              <a:lnSpc>
                <a:spcPct val="120000"/>
              </a:lnSpc>
              <a:spcBef>
                <a:spcPts val="1000"/>
              </a:spcBef>
              <a:spcAft>
                <a:spcPts val="0"/>
              </a:spcAft>
              <a:buSzPct val="100000"/>
              <a:buNone/>
            </a:pPr>
            <a:r>
              <a:rPr b="1" lang="en-GB"/>
              <a:t>Example:</a:t>
            </a:r>
            <a:r>
              <a:rPr lang="en-GB"/>
              <a:t> Developing a mathematical algorithm for optimization.</a:t>
            </a:r>
            <a:endParaRPr/>
          </a:p>
          <a:p>
            <a:pPr indent="0" lvl="0" marL="0" rtl="0" algn="l">
              <a:lnSpc>
                <a:spcPct val="120000"/>
              </a:lnSpc>
              <a:spcBef>
                <a:spcPts val="1000"/>
              </a:spcBef>
              <a:spcAft>
                <a:spcPts val="0"/>
              </a:spcAft>
              <a:buSzPct val="100000"/>
              <a:buNone/>
            </a:pPr>
            <a:r>
              <a:rPr b="1" lang="en-GB"/>
              <a:t>3️⃣ Simulation Model: </a:t>
            </a:r>
            <a:r>
              <a:rPr lang="en-GB"/>
              <a:t>Uses computer simulations to study systems.</a:t>
            </a:r>
            <a:endParaRPr/>
          </a:p>
          <a:p>
            <a:pPr indent="0" lvl="0" marL="0" rtl="0" algn="l">
              <a:lnSpc>
                <a:spcPct val="120000"/>
              </a:lnSpc>
              <a:spcBef>
                <a:spcPts val="1000"/>
              </a:spcBef>
              <a:spcAft>
                <a:spcPts val="0"/>
              </a:spcAft>
              <a:buSzPct val="100000"/>
              <a:buNone/>
            </a:pPr>
            <a:r>
              <a:rPr b="1" lang="en-GB"/>
              <a:t>Example:</a:t>
            </a:r>
            <a:r>
              <a:rPr lang="en-GB"/>
              <a:t> Simulating traffic flow in a smart city system.</a:t>
            </a:r>
            <a:endParaRPr/>
          </a:p>
          <a:p>
            <a:pPr indent="-120650" lvl="0" marL="228600" rtl="0" algn="l">
              <a:lnSpc>
                <a:spcPct val="120000"/>
              </a:lnSpc>
              <a:spcBef>
                <a:spcPts val="1000"/>
              </a:spcBef>
              <a:spcAft>
                <a:spcPts val="0"/>
              </a:spcAft>
              <a:buSzPct val="100000"/>
              <a:buNone/>
            </a:pPr>
            <a:r>
              <a:t/>
            </a:r>
            <a:endParaRPr/>
          </a:p>
        </p:txBody>
      </p:sp>
      <p:sp>
        <p:nvSpPr>
          <p:cNvPr id="147" name="Google Shape;147;p8"/>
          <p:cNvSpPr txBox="1"/>
          <p:nvPr/>
        </p:nvSpPr>
        <p:spPr>
          <a:xfrm>
            <a:off x="6978869" y="1933903"/>
            <a:ext cx="4635062" cy="3394842"/>
          </a:xfrm>
          <a:prstGeom prst="rect">
            <a:avLst/>
          </a:prstGeom>
          <a:noFill/>
          <a:ln>
            <a:noFill/>
          </a:ln>
        </p:spPr>
        <p:txBody>
          <a:bodyPr anchorCtr="0" anchor="t" bIns="45700" lIns="91425" spcFirstLastPara="1" rIns="91425" wrap="square" tIns="45700">
            <a:normAutofit fontScale="92500"/>
          </a:bodyPr>
          <a:lstStyle/>
          <a:p>
            <a:pPr indent="0" lvl="0" marL="0" marR="0" rtl="0" algn="l">
              <a:lnSpc>
                <a:spcPct val="120000"/>
              </a:lnSpc>
              <a:spcBef>
                <a:spcPts val="0"/>
              </a:spcBef>
              <a:spcAft>
                <a:spcPts val="0"/>
              </a:spcAft>
              <a:buClr>
                <a:schemeClr val="accent1"/>
              </a:buClr>
              <a:buSzPct val="100000"/>
              <a:buFont typeface="Arial"/>
              <a:buNone/>
            </a:pPr>
            <a:r>
              <a:rPr b="1" lang="en-GB" sz="2000">
                <a:solidFill>
                  <a:schemeClr val="dk1"/>
                </a:solidFill>
                <a:latin typeface="Gill Sans"/>
                <a:ea typeface="Gill Sans"/>
                <a:cs typeface="Gill Sans"/>
                <a:sym typeface="Gill Sans"/>
              </a:rPr>
              <a:t>4️⃣ Machine Learning / AI Model: </a:t>
            </a:r>
            <a:r>
              <a:rPr lang="en-GB" sz="2000">
                <a:solidFill>
                  <a:schemeClr val="dk1"/>
                </a:solidFill>
                <a:latin typeface="Gill Sans"/>
                <a:ea typeface="Gill Sans"/>
                <a:cs typeface="Gill Sans"/>
                <a:sym typeface="Gill Sans"/>
              </a:rPr>
              <a:t>Uses algorithms that learn from data automatically.</a:t>
            </a:r>
            <a:endParaRPr/>
          </a:p>
          <a:p>
            <a:pPr indent="0" lvl="0" marL="0" marR="0" rtl="0" algn="l">
              <a:lnSpc>
                <a:spcPct val="120000"/>
              </a:lnSpc>
              <a:spcBef>
                <a:spcPts val="1000"/>
              </a:spcBef>
              <a:spcAft>
                <a:spcPts val="0"/>
              </a:spcAft>
              <a:buClr>
                <a:schemeClr val="accent1"/>
              </a:buClr>
              <a:buSzPct val="100000"/>
              <a:buFont typeface="Arial"/>
              <a:buNone/>
            </a:pPr>
            <a:r>
              <a:rPr b="1" lang="en-GB" sz="2000">
                <a:solidFill>
                  <a:schemeClr val="dk1"/>
                </a:solidFill>
                <a:latin typeface="Gill Sans"/>
                <a:ea typeface="Gill Sans"/>
                <a:cs typeface="Gill Sans"/>
                <a:sym typeface="Gill Sans"/>
              </a:rPr>
              <a:t>Example:</a:t>
            </a:r>
            <a:r>
              <a:rPr lang="en-GB" sz="2000">
                <a:solidFill>
                  <a:schemeClr val="dk1"/>
                </a:solidFill>
                <a:latin typeface="Gill Sans"/>
                <a:ea typeface="Gill Sans"/>
                <a:cs typeface="Gill Sans"/>
                <a:sym typeface="Gill Sans"/>
              </a:rPr>
              <a:t> CNN model for disease detection.</a:t>
            </a:r>
            <a:endParaRPr/>
          </a:p>
          <a:p>
            <a:pPr indent="0" lvl="0" marL="0" marR="0" rtl="0" algn="l">
              <a:lnSpc>
                <a:spcPct val="120000"/>
              </a:lnSpc>
              <a:spcBef>
                <a:spcPts val="1000"/>
              </a:spcBef>
              <a:spcAft>
                <a:spcPts val="0"/>
              </a:spcAft>
              <a:buClr>
                <a:schemeClr val="accent1"/>
              </a:buClr>
              <a:buSzPct val="100000"/>
              <a:buFont typeface="Arial"/>
              <a:buNone/>
            </a:pPr>
            <a:r>
              <a:rPr b="1" lang="en-GB" sz="2000">
                <a:solidFill>
                  <a:schemeClr val="dk1"/>
                </a:solidFill>
                <a:latin typeface="Gill Sans"/>
                <a:ea typeface="Gill Sans"/>
                <a:cs typeface="Gill Sans"/>
                <a:sym typeface="Gill Sans"/>
              </a:rPr>
              <a:t>5️⃣ Hybrid Model: </a:t>
            </a:r>
            <a:r>
              <a:rPr lang="en-GB" sz="2000">
                <a:solidFill>
                  <a:schemeClr val="dk1"/>
                </a:solidFill>
                <a:latin typeface="Gill Sans"/>
                <a:ea typeface="Gill Sans"/>
                <a:cs typeface="Gill Sans"/>
                <a:sym typeface="Gill Sans"/>
              </a:rPr>
              <a:t>Combines multiple techniques (e.g., ML + statistical models).</a:t>
            </a:r>
            <a:endParaRPr/>
          </a:p>
          <a:p>
            <a:pPr indent="0" lvl="0" marL="0" marR="0" rtl="0" algn="l">
              <a:lnSpc>
                <a:spcPct val="120000"/>
              </a:lnSpc>
              <a:spcBef>
                <a:spcPts val="1000"/>
              </a:spcBef>
              <a:spcAft>
                <a:spcPts val="0"/>
              </a:spcAft>
              <a:buClr>
                <a:schemeClr val="accent1"/>
              </a:buClr>
              <a:buSzPct val="100000"/>
              <a:buFont typeface="Arial"/>
              <a:buNone/>
            </a:pPr>
            <a:r>
              <a:rPr b="1" lang="en-GB" sz="2000">
                <a:solidFill>
                  <a:schemeClr val="dk1"/>
                </a:solidFill>
                <a:latin typeface="Gill Sans"/>
                <a:ea typeface="Gill Sans"/>
                <a:cs typeface="Gill Sans"/>
                <a:sym typeface="Gill Sans"/>
              </a:rPr>
              <a:t>Example:</a:t>
            </a:r>
            <a:r>
              <a:rPr lang="en-GB" sz="2000">
                <a:solidFill>
                  <a:schemeClr val="dk1"/>
                </a:solidFill>
                <a:latin typeface="Gill Sans"/>
                <a:ea typeface="Gill Sans"/>
                <a:cs typeface="Gill Sans"/>
                <a:sym typeface="Gill Sans"/>
              </a:rPr>
              <a:t> Deep learning + rule-based system for medical diagnosis.</a:t>
            </a:r>
            <a:endParaRPr/>
          </a:p>
          <a:p>
            <a:pPr indent="-111125" lvl="0" marL="228600" marR="0" rtl="0" algn="l">
              <a:lnSpc>
                <a:spcPct val="120000"/>
              </a:lnSpc>
              <a:spcBef>
                <a:spcPts val="1000"/>
              </a:spcBef>
              <a:spcAft>
                <a:spcPts val="0"/>
              </a:spcAft>
              <a:buClr>
                <a:schemeClr val="accent1"/>
              </a:buClr>
              <a:buSzPct val="100000"/>
              <a:buFont typeface="Arial"/>
              <a:buNone/>
            </a:pPr>
            <a:r>
              <a:t/>
            </a:r>
            <a:endParaRPr sz="2000">
              <a:solidFill>
                <a:schemeClr val="dk1"/>
              </a:solidFill>
              <a:latin typeface="Gill Sans"/>
              <a:ea typeface="Gill Sans"/>
              <a:cs typeface="Gill Sans"/>
              <a:sym typeface="Gill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9"/>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Gill Sans"/>
              <a:buNone/>
            </a:pPr>
            <a:r>
              <a:rPr b="1" lang="en-GB"/>
              <a:t>RESEARCH PROCESS MODEL (GENERIC)</a:t>
            </a:r>
            <a:br>
              <a:rPr b="1" lang="en-GB"/>
            </a:br>
            <a:endParaRPr/>
          </a:p>
        </p:txBody>
      </p:sp>
      <p:sp>
        <p:nvSpPr>
          <p:cNvPr id="153" name="Google Shape;153;p9"/>
          <p:cNvSpPr txBox="1"/>
          <p:nvPr>
            <p:ph idx="1" type="body"/>
          </p:nvPr>
        </p:nvSpPr>
        <p:spPr>
          <a:xfrm>
            <a:off x="3847938" y="1973690"/>
            <a:ext cx="5926682" cy="3785978"/>
          </a:xfrm>
          <a:prstGeom prst="rect">
            <a:avLst/>
          </a:prstGeom>
          <a:noFill/>
          <a:ln>
            <a:noFill/>
          </a:ln>
        </p:spPr>
        <p:txBody>
          <a:bodyPr anchorCtr="0" anchor="t" bIns="45700" lIns="91425" spcFirstLastPara="1" rIns="91425" wrap="square" tIns="45700">
            <a:normAutofit lnSpcReduction="10000"/>
          </a:bodyPr>
          <a:lstStyle/>
          <a:p>
            <a:pPr indent="-457200" lvl="0" marL="457200" rtl="0" algn="l">
              <a:lnSpc>
                <a:spcPct val="120000"/>
              </a:lnSpc>
              <a:spcBef>
                <a:spcPts val="0"/>
              </a:spcBef>
              <a:spcAft>
                <a:spcPts val="0"/>
              </a:spcAft>
              <a:buSzPts val="2000"/>
              <a:buFont typeface="Gill Sans"/>
              <a:buAutoNum type="arabicPeriod"/>
            </a:pPr>
            <a:r>
              <a:rPr lang="en-GB"/>
              <a:t>Problem Identification</a:t>
            </a:r>
            <a:endParaRPr/>
          </a:p>
          <a:p>
            <a:pPr indent="-457200" lvl="0" marL="457200" rtl="0" algn="l">
              <a:lnSpc>
                <a:spcPct val="120000"/>
              </a:lnSpc>
              <a:spcBef>
                <a:spcPts val="1000"/>
              </a:spcBef>
              <a:spcAft>
                <a:spcPts val="0"/>
              </a:spcAft>
              <a:buSzPts val="2000"/>
              <a:buFont typeface="Gill Sans"/>
              <a:buAutoNum type="arabicPeriod"/>
            </a:pPr>
            <a:r>
              <a:rPr lang="en-GB"/>
              <a:t>Literature Review</a:t>
            </a:r>
            <a:endParaRPr/>
          </a:p>
          <a:p>
            <a:pPr indent="-457200" lvl="0" marL="457200" rtl="0" algn="l">
              <a:lnSpc>
                <a:spcPct val="120000"/>
              </a:lnSpc>
              <a:spcBef>
                <a:spcPts val="1000"/>
              </a:spcBef>
              <a:spcAft>
                <a:spcPts val="0"/>
              </a:spcAft>
              <a:buSzPts val="2000"/>
              <a:buFont typeface="Gill Sans"/>
              <a:buAutoNum type="arabicPeriod"/>
            </a:pPr>
            <a:r>
              <a:rPr lang="en-GB"/>
              <a:t>Research Questions / Hypothesis</a:t>
            </a:r>
            <a:endParaRPr/>
          </a:p>
          <a:p>
            <a:pPr indent="-457200" lvl="0" marL="457200" rtl="0" algn="l">
              <a:lnSpc>
                <a:spcPct val="120000"/>
              </a:lnSpc>
              <a:spcBef>
                <a:spcPts val="1000"/>
              </a:spcBef>
              <a:spcAft>
                <a:spcPts val="0"/>
              </a:spcAft>
              <a:buSzPts val="2000"/>
              <a:buFont typeface="Gill Sans"/>
              <a:buAutoNum type="arabicPeriod"/>
            </a:pPr>
            <a:r>
              <a:rPr lang="en-GB"/>
              <a:t>Methodology Design</a:t>
            </a:r>
            <a:endParaRPr/>
          </a:p>
          <a:p>
            <a:pPr indent="-457200" lvl="0" marL="457200" rtl="0" algn="l">
              <a:lnSpc>
                <a:spcPct val="120000"/>
              </a:lnSpc>
              <a:spcBef>
                <a:spcPts val="1000"/>
              </a:spcBef>
              <a:spcAft>
                <a:spcPts val="0"/>
              </a:spcAft>
              <a:buSzPts val="2000"/>
              <a:buFont typeface="Gill Sans"/>
              <a:buAutoNum type="arabicPeriod"/>
            </a:pPr>
            <a:r>
              <a:rPr lang="en-GB"/>
              <a:t>Data Collection</a:t>
            </a:r>
            <a:endParaRPr/>
          </a:p>
          <a:p>
            <a:pPr indent="-457200" lvl="0" marL="457200" rtl="0" algn="l">
              <a:lnSpc>
                <a:spcPct val="120000"/>
              </a:lnSpc>
              <a:spcBef>
                <a:spcPts val="1000"/>
              </a:spcBef>
              <a:spcAft>
                <a:spcPts val="0"/>
              </a:spcAft>
              <a:buSzPts val="2000"/>
              <a:buFont typeface="Gill Sans"/>
              <a:buAutoNum type="arabicPeriod"/>
            </a:pPr>
            <a:r>
              <a:rPr lang="en-GB"/>
              <a:t>Data Analysis</a:t>
            </a:r>
            <a:endParaRPr/>
          </a:p>
          <a:p>
            <a:pPr indent="-457200" lvl="0" marL="457200" rtl="0" algn="l">
              <a:lnSpc>
                <a:spcPct val="120000"/>
              </a:lnSpc>
              <a:spcBef>
                <a:spcPts val="1000"/>
              </a:spcBef>
              <a:spcAft>
                <a:spcPts val="0"/>
              </a:spcAft>
              <a:buSzPts val="2000"/>
              <a:buFont typeface="Gill Sans"/>
              <a:buAutoNum type="arabicPeriod"/>
            </a:pPr>
            <a:r>
              <a:rPr lang="en-GB"/>
              <a:t>Results &amp; Discussion</a:t>
            </a:r>
            <a:endParaRPr/>
          </a:p>
          <a:p>
            <a:pPr indent="-457200" lvl="0" marL="457200" rtl="0" algn="l">
              <a:lnSpc>
                <a:spcPct val="120000"/>
              </a:lnSpc>
              <a:spcBef>
                <a:spcPts val="1000"/>
              </a:spcBef>
              <a:spcAft>
                <a:spcPts val="0"/>
              </a:spcAft>
              <a:buSzPts val="2000"/>
              <a:buFont typeface="Gill Sans"/>
              <a:buAutoNum type="arabicPeriod"/>
            </a:pPr>
            <a:r>
              <a:rPr lang="en-GB"/>
              <a:t>Conclusion &amp; Future Work</a:t>
            </a:r>
            <a:endParaRPr/>
          </a:p>
          <a:p>
            <a:pPr indent="-101600" lvl="0" marL="228600" rtl="0" algn="l">
              <a:lnSpc>
                <a:spcPct val="120000"/>
              </a:lnSpc>
              <a:spcBef>
                <a:spcPts val="1000"/>
              </a:spcBef>
              <a:spcAft>
                <a:spcPts val="0"/>
              </a:spcAft>
              <a:buSzPts val="20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0"/>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Gill Sans"/>
              <a:buNone/>
            </a:pPr>
            <a:r>
              <a:rPr lang="en-GB"/>
              <a:t>INNOVATION MODELS</a:t>
            </a:r>
            <a:endParaRPr/>
          </a:p>
        </p:txBody>
      </p:sp>
      <p:pic>
        <p:nvPicPr>
          <p:cNvPr id="159" name="Google Shape;159;p10"/>
          <p:cNvPicPr preferRelativeResize="0"/>
          <p:nvPr>
            <p:ph idx="1" type="body"/>
          </p:nvPr>
        </p:nvPicPr>
        <p:blipFill rotWithShape="1">
          <a:blip r:embed="rId3">
            <a:alphaModFix/>
          </a:blip>
          <a:srcRect b="0" l="0" r="0" t="0"/>
          <a:stretch/>
        </p:blipFill>
        <p:spPr>
          <a:xfrm>
            <a:off x="2133600" y="1983120"/>
            <a:ext cx="8080516" cy="440755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1"/>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Gill Sans"/>
              <a:buNone/>
            </a:pPr>
            <a:r>
              <a:rPr b="1" lang="en-GB"/>
              <a:t>INNOVATION MODELS – THE "HOW" OF PROGRESS</a:t>
            </a:r>
            <a:br>
              <a:rPr b="1" lang="en-GB"/>
            </a:br>
            <a:endParaRPr/>
          </a:p>
        </p:txBody>
      </p:sp>
      <p:sp>
        <p:nvSpPr>
          <p:cNvPr id="165" name="Google Shape;165;p11"/>
          <p:cNvSpPr txBox="1"/>
          <p:nvPr>
            <p:ph idx="1" type="body"/>
          </p:nvPr>
        </p:nvSpPr>
        <p:spPr>
          <a:xfrm>
            <a:off x="704193" y="1944415"/>
            <a:ext cx="11109435" cy="390984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20000"/>
              </a:lnSpc>
              <a:spcBef>
                <a:spcPts val="0"/>
              </a:spcBef>
              <a:spcAft>
                <a:spcPts val="0"/>
              </a:spcAft>
              <a:buSzPts val="2000"/>
              <a:buNone/>
            </a:pPr>
            <a:r>
              <a:rPr lang="en-GB"/>
              <a:t>How does an idea move from the brain to the market?</a:t>
            </a:r>
            <a:endParaRPr/>
          </a:p>
          <a:p>
            <a:pPr indent="0" lvl="0" marL="0" rtl="0" algn="l">
              <a:lnSpc>
                <a:spcPct val="120000"/>
              </a:lnSpc>
              <a:spcBef>
                <a:spcPts val="1000"/>
              </a:spcBef>
              <a:spcAft>
                <a:spcPts val="0"/>
              </a:spcAft>
              <a:buSzPts val="2000"/>
              <a:buNone/>
            </a:pPr>
            <a:r>
              <a:rPr b="1" lang="en-GB"/>
              <a:t>The Technology Push:</a:t>
            </a:r>
            <a:r>
              <a:rPr lang="en-GB"/>
              <a:t> Research Design &gt; Manufacturing &gt; Marketing. (e.g., The invention of the Touchscreen).</a:t>
            </a:r>
            <a:endParaRPr/>
          </a:p>
          <a:p>
            <a:pPr indent="0" lvl="0" marL="0" rtl="0" algn="l">
              <a:lnSpc>
                <a:spcPct val="120000"/>
              </a:lnSpc>
              <a:spcBef>
                <a:spcPts val="1000"/>
              </a:spcBef>
              <a:spcAft>
                <a:spcPts val="0"/>
              </a:spcAft>
              <a:buSzPts val="2000"/>
              <a:buNone/>
            </a:pPr>
            <a:r>
              <a:rPr b="1" lang="en-GB"/>
              <a:t>The Market Pull:</a:t>
            </a:r>
            <a:r>
              <a:rPr lang="en-GB"/>
              <a:t> Market Need &gt; Development &gt; Manufacturing. (e.g., The demand for eco-friendly, biodegradable packaging).</a:t>
            </a:r>
            <a:endParaRPr/>
          </a:p>
          <a:p>
            <a:pPr indent="0" lvl="0" marL="0" rtl="0" algn="l">
              <a:lnSpc>
                <a:spcPct val="120000"/>
              </a:lnSpc>
              <a:spcBef>
                <a:spcPts val="1000"/>
              </a:spcBef>
              <a:spcAft>
                <a:spcPts val="0"/>
              </a:spcAft>
              <a:buSzPts val="2000"/>
              <a:buNone/>
            </a:pPr>
            <a:r>
              <a:rPr b="1" lang="en-GB"/>
              <a:t>The Triple Helix Model:</a:t>
            </a:r>
            <a:r>
              <a:rPr lang="en-GB"/>
              <a:t> The synergy between </a:t>
            </a:r>
            <a:r>
              <a:rPr b="1" lang="en-GB"/>
              <a:t>University</a:t>
            </a:r>
            <a:r>
              <a:rPr lang="en-GB"/>
              <a:t> (Research), </a:t>
            </a:r>
            <a:r>
              <a:rPr b="1" lang="en-GB"/>
              <a:t>Industry</a:t>
            </a:r>
            <a:r>
              <a:rPr lang="en-GB"/>
              <a:t> (Application), and </a:t>
            </a:r>
            <a:r>
              <a:rPr b="1" lang="en-GB"/>
              <a:t>Government</a:t>
            </a:r>
            <a:r>
              <a:rPr lang="en-GB"/>
              <a:t> (Policy/Funding).</a:t>
            </a:r>
            <a:endParaRPr/>
          </a:p>
          <a:p>
            <a:pPr indent="0" lvl="0" marL="0" rtl="0" algn="l">
              <a:lnSpc>
                <a:spcPct val="120000"/>
              </a:lnSpc>
              <a:spcBef>
                <a:spcPts val="1000"/>
              </a:spcBef>
              <a:spcAft>
                <a:spcPts val="0"/>
              </a:spcAft>
              <a:buSzPts val="2000"/>
              <a:buNone/>
            </a:pPr>
            <a:r>
              <a:t/>
            </a:r>
            <a:endParaRPr/>
          </a:p>
          <a:p>
            <a:pPr indent="0" lvl="1" marL="457200" rtl="0" algn="ctr">
              <a:lnSpc>
                <a:spcPct val="120000"/>
              </a:lnSpc>
              <a:spcBef>
                <a:spcPts val="500"/>
              </a:spcBef>
              <a:spcAft>
                <a:spcPts val="0"/>
              </a:spcAft>
              <a:buSzPts val="1800"/>
              <a:buNone/>
            </a:pPr>
            <a:r>
              <a:rPr i="1" lang="en-GB"/>
              <a:t>Insight:</a:t>
            </a:r>
            <a:r>
              <a:rPr lang="en-GB"/>
              <a:t> FYDP is most successful when it sits at the intersection of these three.</a:t>
            </a:r>
            <a:endParaRPr/>
          </a:p>
          <a:p>
            <a:pPr indent="-101600" lvl="0" marL="228600" rtl="0" algn="l">
              <a:lnSpc>
                <a:spcPct val="120000"/>
              </a:lnSpc>
              <a:spcBef>
                <a:spcPts val="1000"/>
              </a:spcBef>
              <a:spcAft>
                <a:spcPts val="0"/>
              </a:spcAft>
              <a:buSzPts val="20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2"/>
          <p:cNvSpPr txBox="1"/>
          <p:nvPr>
            <p:ph type="title"/>
          </p:nvPr>
        </p:nvSpPr>
        <p:spPr>
          <a:xfrm>
            <a:off x="1309552" y="2808889"/>
            <a:ext cx="9572895" cy="193390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6600"/>
              <a:buFont typeface="Gill Sans"/>
              <a:buNone/>
            </a:pPr>
            <a:r>
              <a:rPr lang="en-GB" sz="6600"/>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allery">
  <a:themeElements>
    <a:clrScheme name="Gallery">
      <a:dk1>
        <a:srgbClr val="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2026-01-30T13:51:46Z</dcterms:created>
  <dc:creator>Md Mizanur Rahman</dc:creator>
</cp:coreProperties>
</file>