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91" r:id="rId17"/>
    <p:sldId id="293" r:id="rId18"/>
    <p:sldId id="295" r:id="rId19"/>
    <p:sldId id="296" r:id="rId20"/>
    <p:sldId id="297" r:id="rId21"/>
    <p:sldId id="298" r:id="rId22"/>
    <p:sldId id="299" r:id="rId23"/>
    <p:sldId id="300" r:id="rId24"/>
    <p:sldId id="301" r:id="rId25"/>
    <p:sldId id="292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89" r:id="rId44"/>
    <p:sldId id="290" r:id="rId4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8611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style adapted from uploaded file: Lecture-3_DDA Algorithm_new.pptx.pdf.
- Topic sequencing and compression terminology adapted from uploaded file: Week 5 - Image Compression (1).pdf.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Learning goals synthesized by assistant from the user-requested topics and Week 5 - Image Compression (1).pdf.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style adapted from uploaded file: Lecture-3_DDA Algorithm_new.pptx.pdf.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Multimedia system definition and compression motivation synthesized by assistant for teaching use.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Compression definitions and terminology adapted from Week 5 - Image Compression (1).pdf.
- Example applications and characteristics are standard educational examples synthesized by assistant.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Compression motivation and terminology adapted from Week 5 - Image Compression (1).pdf pages 2-10.
- Raw size examples are computed by assistant from standard size formulas.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style adapted from uploaded file: Lecture-3_DDA Algorithm_new.pptx.pdf.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Definitions adapted from Week 5 - Image Compression (1).pdf pages 2 and 11-12.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Redundancy types adapted from Week 5 - Image Compression (1).pdf pages 11-15.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Compression type distinction adapted from Week 5 - Image Compression (1).pdf page 10.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Compression ratio and redundancy formulas adapted from Week 5 - Image Compression (1).pdf pages 6-9.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style adapted from uploaded file: Lecture-3_DDA Algorithm_new.pptx.pdf.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Huffman coding introduction adapted from Week 5 - Image Compression (1).pdf pages 23-27.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Algorithm steps adapted from Week 5 - Image Compression (1).pdf pages 25-27.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Huffman process follows the algorithm in Week 5 - Image Compression (1).pdf pages 25-27.
- Frequency example A:45, B:13, C:12, D:16, E:9, F:5 is a standard teaching example synthesized by assistant.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EFC11-CE55-25F8-0BD7-258B0A431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7E40B6-82A3-565C-056F-87BCE6A36B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F16B77-354C-7F1F-1202-D4AD0B36E9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Huffman process follows the algorithm in Week 5 - Image Compression (1).pdf pages 25-27.
- Frequency example A:45, B:13, C:12, D:16, E:9, F:5 is a standard teaching example synthesized by assistant.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BB0C84-5731-E6E3-E624-164093A5F8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363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924AC-E92C-7594-74F0-C4DC1EC5D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5B9C75-11F0-1758-BE08-C0145B0690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C88415-D67F-F3DD-5931-A7E20C1C13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Huffman process follows the algorithm in Week 5 - Image Compression (1).pdf pages 25-27.
- Frequency example A:45, B:13, C:12, D:16, E:9, F:5 is a standard teaching example synthesized by assistant.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379EEB-24EF-E979-0AFB-7382D11A78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9430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458BF-5EF6-1D78-FC9D-A1F853426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CEFB3E-39BA-5BB6-2894-9E92D9ACAF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CC656B-B98B-21BB-C418-B08D8F2519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Huffman process follows the algorithm in Week 5 - Image Compression (1).pdf pages 25-27.
- Frequency example A:45, B:13, C:12, D:16, E:9, F:5 is a standard teaching example synthesized by assistant.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CC6854-C5F7-958C-29CA-A457F17C2C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6344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264C6-8538-3921-776B-3DD27ADD8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D9F055-010C-BB72-3952-D52FDC9A4B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FF24EF-EF23-C3EB-7F54-F4F7D77C73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Huffman process follows the algorithm in Week 5 - Image Compression (1).pdf pages 25-27.
- Frequency example A:45, B:13, C:12, D:16, E:9, F:5 is a standard teaching example synthesized by assistant.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703681-0236-20E4-09C0-3C9E020D53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3945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7D827-D954-BF58-76E2-6D3D15026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BA2A9E-7074-55EA-D955-98553535B9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F96C71-7181-1FEB-A8F6-D32F70464A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Huffman process follows the algorithm in Week 5 - Image Compression (1).pdf pages 25-27.
- Frequency example A:45, B:13, C:12, D:16, E:9, F:5 is a standard teaching example synthesized by assistant.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319793-476E-0E6F-DE2F-CD07403780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6663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2881D-1710-AC65-04D7-56101A807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DF0961-3D72-769A-ECED-77B7D272A1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DDC0A8-2237-2144-2F1C-10F2BE8A0C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Huffman process follows the algorithm in Week 5 - Image Compression (1).pdf pages 25-27.
- Frequency example A:45, B:13, C:12, D:16, E:9, F:5 is a standard teaching example synthesized by assistant.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C283D1-205E-B219-5901-8E9CEF68AF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7903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36CD4-5AAD-A338-867D-C1642AE96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6756A4-D9E3-6DFC-E3A6-3E442C2270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1564AF-C3AA-61FA-13D5-A75F75C383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Huffman process follows the algorithm in Week 5 - Image Compression (1).pdf pages 25-27.
- Frequency example A:45, B:13, C:12, D:16, E:9, F:5 is a standard teaching example synthesized by assistant.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1AD5A-ED75-448C-8A8D-3BFEA9F40D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5250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01184-26EF-A300-5EA9-D9BC6FCA1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0FD748-D479-AA0A-D53E-3CAA01CA0B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D6CD16-7987-111C-EF37-550A5FEF9E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Huffman process follows the algorithm in Week 5 - Image Compression (1).pdf pages 25-27.
- Frequency example A:45, B:13, C:12, D:16, E:9, F:5 is a standard teaching example synthesized by assistant.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E5AD3-1373-22AC-62DE-63B75129D3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5453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DCD8F-FC20-10BE-A246-5C022AA77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1F1E45-3781-11D7-B469-CC1546D945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D313D9-D341-9F55-44A7-F0CE45770F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Huffman process follows the algorithm in Week 5 - Image Compression (1).pdf pages 25-27.
- Frequency example A:45, B:13, C:12, D:16, E:9, F:5 is a standard teaching example synthesized by assistant.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3B57B2-950E-CAF2-C1E9-F3B176D7B0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42116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8DB71-5950-D3AB-CFEA-FFB6E38C2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3F8C5C-D4A1-68C8-4CFD-246E98250F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52F25C-8410-ACE0-ADDC-CD74F049F4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Huffman process follows the algorithm in Week 5 - Image Compression (1).pdf pages 25-27.
- Frequency example A:45, B:13, C:12, D:16, E:9, F:5 is a standard teaching example synthesized by assistant.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349C22-BCB9-ABC0-2A4A-7800864F9B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5769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Practice problem and solution synthesized by assistant for exam preparation.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style adapted from uploaded file: Lecture-3_DDA Algorithm_new.pptx.pdf.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JPEG pipeline is standard textbook material synthesized by assistant for teaching use.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JPEG component descriptions are standard educational material synthesized by assistant for study use.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DCT role in JPEG is standard image-compression material synthesized by assistant.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Quantization role and formula are standard JPEG teaching content synthesized by assistant.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Zigzag, RLE and Huffman roles in JPEG are standard teaching content synthesized by assistant.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Study example synthesized by assistant to illustrate JPEG quantization and zero-run formation.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Practice questions synthesized by assistant for teaching support.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style adapted from uploaded file: Lecture-3_DDA Algorithm_new.pptx.pdf.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MPEG motivation and frame similarity concepts are standard multimedia-compression content synthesized by assistant.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MPEG frame categories are standard video-compression material synthesized by assistant.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Motion-compensation explanation is standard MPEG teaching material synthesized by assistant.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MPEG pipeline synthesized by assistant from standard video-compression concepts.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Practice problems synthesized by assistant for exam preparation.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style adapted from uploaded file: Lecture-3_DDA Algorithm_new.pptx.pdf.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Summary synthesized by assistant from the full deck.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Practice set synthesized by assistant based on the requested topics.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style adapted from Lecture-3_DDA Algorithm_new.pptx.pdf.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ser-1kFy9epRxYXs1pHOCdzQinPw/fc5910e8ff0f429aa4306e1576c19e7d/mnt/data/diu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09728"/>
            <a:ext cx="91440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37560" y="93268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1111"/>
                </a:solidFill>
              </a:rPr>
              <a:t>Computer Graphics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463040" y="132588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11111"/>
                </a:solidFill>
              </a:rPr>
              <a:t>Multimedia Systems and Compression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3840480" y="22402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62828"/>
                </a:solidFill>
              </a:rPr>
              <a:t>Lecture- 9, 10</a:t>
            </a:r>
            <a:endParaRPr lang="en-US" sz="2000" dirty="0"/>
          </a:p>
        </p:txBody>
      </p:sp>
      <p:pic>
        <p:nvPicPr>
          <p:cNvPr id="6" name="Image 1" descr="/mnt/data/user-1kFy9epRxYXs1pHOCdzQinPw/14e32550596d4f43b50b23329dd58ce7/mnt/data/Computer_Graphics_Multimedia_Compression_mont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5399" y="2761488"/>
            <a:ext cx="5030722" cy="18745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194560" y="49377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D62828"/>
                </a:solidFill>
              </a:rPr>
              <a:t>Md </a:t>
            </a:r>
            <a:r>
              <a:rPr lang="en-US" sz="1900" dirty="0" err="1">
                <a:solidFill>
                  <a:srgbClr val="D62828"/>
                </a:solidFill>
              </a:rPr>
              <a:t>Mehefujur</a:t>
            </a:r>
            <a:r>
              <a:rPr lang="en-US" sz="1900" dirty="0">
                <a:solidFill>
                  <a:srgbClr val="D62828"/>
                </a:solidFill>
              </a:rPr>
              <a:t> Rahman Mubin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1920240" y="535838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11111"/>
                </a:solidFill>
              </a:rPr>
              <a:t>Department of Computer Science and Engineering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2377440" y="563270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11111"/>
                </a:solidFill>
              </a:rPr>
              <a:t>Daffodil International University, DIU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3840480" y="6473952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 of CSE, Daffodil International University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612880" y="63825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</a:rPr>
              <a:t>Learning Outcomes</a:t>
            </a:r>
            <a:endParaRPr lang="en-US" sz="2200" dirty="0"/>
          </a:p>
        </p:txBody>
      </p:sp>
      <p:pic>
        <p:nvPicPr>
          <p:cNvPr id="3" name="Image 0" descr="/mnt/data/user-1kFy9epRxYXs1pHOCdzQinPw/fc5910e8ff0f429aa4306e1576c19e7d/mnt/data/diu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6960" y="91440"/>
            <a:ext cx="66040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280160"/>
            <a:ext cx="1024128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</a:rPr>
              <a:t>Explain what a multimedia system is and why compression is necessary.</a:t>
            </a:r>
          </a:p>
          <a:p>
            <a:pPr>
              <a:buSzPct val="100000"/>
            </a:pPr>
            <a:endParaRPr lang="en-US" sz="2100" dirty="0"/>
          </a:p>
          <a:p>
            <a:pPr marL="203200" indent="-203200"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</a:rPr>
              <a:t>Differentiate data, information, redundancy, compression ratio, lossless and lossy compression.</a:t>
            </a:r>
          </a:p>
          <a:p>
            <a:pPr>
              <a:buSzPct val="100000"/>
            </a:pPr>
            <a:endParaRPr lang="en-US" sz="2100" dirty="0"/>
          </a:p>
          <a:p>
            <a:pPr marL="203200" indent="-203200"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</a:rPr>
              <a:t>Apply Huffman coding to build codes, compute average bit length and estimate compression ratio.</a:t>
            </a:r>
          </a:p>
          <a:p>
            <a:pPr>
              <a:buSzPct val="100000"/>
            </a:pPr>
            <a:endParaRPr lang="en-US" sz="2100" dirty="0"/>
          </a:p>
          <a:p>
            <a:pPr marL="203200" indent="-203200"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</a:rPr>
              <a:t>Describe the full JPEG pipeline and solve basic quantization / zigzag style exercises.</a:t>
            </a:r>
          </a:p>
          <a:p>
            <a:pPr>
              <a:buSzPct val="100000"/>
            </a:pPr>
            <a:endParaRPr lang="en-US" sz="2100" dirty="0"/>
          </a:p>
          <a:p>
            <a:pPr marL="203200" indent="-203200"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</a:rPr>
              <a:t>Explain MPEG video compression using I, P and B frames, motion vectors and residual error.</a:t>
            </a:r>
          </a:p>
          <a:p>
            <a:pPr>
              <a:buSzPct val="100000"/>
            </a:pPr>
            <a:endParaRPr lang="en-US" sz="2100" dirty="0"/>
          </a:p>
          <a:p>
            <a:pPr marL="203200" indent="-203200"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</a:rPr>
              <a:t>Practice exam-style problems at the end of each topic.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868680" y="5349240"/>
            <a:ext cx="10332720" cy="685800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 w="15240">
            <a:solidFill>
              <a:srgbClr val="F4A26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8408" y="5440680"/>
            <a:ext cx="10113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A4D00"/>
                </a:solidFill>
              </a:rPr>
              <a:t>How to use this deck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78408" y="5733288"/>
            <a:ext cx="10113264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Study concept -&gt; see worked example -&gt; solve practice problem -&gt; check whether you can explain the idea in your own words.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840480" y="6473952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 of CSE, Daffodil International University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612880" y="63825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ser-1kFy9epRxYXs1pHOCdzQinPw/fc5910e8ff0f429aa4306e1576c19e7d/mnt/data/diu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6960" y="91440"/>
            <a:ext cx="66040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114300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</a:rPr>
              <a:t>1. Multimedia System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1005840" y="1920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62828"/>
                </a:solidFill>
              </a:rPr>
              <a:t>Start from the big picture before learning compression.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1005840" y="2743200"/>
            <a:ext cx="8778240" cy="0"/>
          </a:xfrm>
          <a:prstGeom prst="line">
            <a:avLst/>
          </a:prstGeom>
          <a:noFill/>
          <a:ln w="25400">
            <a:solidFill>
              <a:srgbClr val="D6282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840480" y="6473952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 of CSE, Daffodil International University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612880" y="63825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</a:rPr>
              <a:t>3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3567E64-8D41-FD3C-3A72-3D39AD79AD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289" y="2834641"/>
            <a:ext cx="5611526" cy="26791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DEB8AD9-CFBC-C888-691F-5B21580DD6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1318" y="2867298"/>
            <a:ext cx="4676912" cy="34876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</a:rPr>
              <a:t>What is a Multimedia System?</a:t>
            </a:r>
            <a:endParaRPr lang="en-US" sz="2200" dirty="0"/>
          </a:p>
        </p:txBody>
      </p:sp>
      <p:pic>
        <p:nvPicPr>
          <p:cNvPr id="3" name="Image 0" descr="/mnt/data/user-1kFy9epRxYXs1pHOCdzQinPw/fc5910e8ff0f429aa4306e1576c19e7d/mnt/data/diu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6960" y="91440"/>
            <a:ext cx="660400" cy="594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77240" y="1097280"/>
            <a:ext cx="5212080" cy="1920240"/>
          </a:xfrm>
          <a:prstGeom prst="roundRect">
            <a:avLst>
              <a:gd name="adj" fmla="val 2857"/>
            </a:avLst>
          </a:prstGeom>
          <a:solidFill>
            <a:srgbClr val="EEF5FF"/>
          </a:solidFill>
          <a:ln w="13970">
            <a:solidFill>
              <a:srgbClr val="B4C7E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86968" y="1170432"/>
            <a:ext cx="4992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04060"/>
                </a:solidFill>
              </a:rPr>
              <a:t>Definition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86968" y="1589892"/>
            <a:ext cx="4992624" cy="1499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</a:rPr>
              <a:t>A multimedia system is a computer-based system that stores, processes, transmits and presents multiple media types together: text, graphics, image, audio, video and animation.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77240" y="3200400"/>
            <a:ext cx="5212080" cy="1828800"/>
          </a:xfrm>
          <a:prstGeom prst="roundRect">
            <a:avLst>
              <a:gd name="adj" fmla="val 3000"/>
            </a:avLst>
          </a:prstGeom>
          <a:solidFill>
            <a:srgbClr val="EEF5FF"/>
          </a:solidFill>
          <a:ln w="13970">
            <a:solidFill>
              <a:srgbClr val="B4C7E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6968" y="3273552"/>
            <a:ext cx="4992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04060"/>
                </a:solidFill>
              </a:rPr>
              <a:t>Why it matters in computer graphics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86968" y="3707526"/>
            <a:ext cx="4992624" cy="1408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</a:rPr>
              <a:t>Graphics is only one component. In a real application, a scene may include image, sound, video clips, subtitles, timing control and user interaction.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067044" y="1120140"/>
            <a:ext cx="868680" cy="658368"/>
          </a:xfrm>
          <a:prstGeom prst="roundRect">
            <a:avLst>
              <a:gd name="adj" fmla="val 6944"/>
            </a:avLst>
          </a:prstGeom>
          <a:solidFill>
            <a:srgbClr val="EDF4FF"/>
          </a:solidFill>
          <a:ln w="12700">
            <a:solidFill>
              <a:srgbClr val="B7C9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96000" y="1335024"/>
            <a:ext cx="832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0000"/>
                </a:solidFill>
              </a:rPr>
              <a:t>Capture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969906" y="1281902"/>
            <a:ext cx="219456" cy="256032"/>
          </a:xfrm>
          <a:prstGeom prst="chevron">
            <a:avLst/>
          </a:prstGeom>
          <a:solidFill>
            <a:schemeClr val="accent5"/>
          </a:solidFill>
          <a:ln w="6350">
            <a:solidFill>
              <a:srgbClr val="CFE2F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190376" y="1108166"/>
            <a:ext cx="868680" cy="658368"/>
          </a:xfrm>
          <a:prstGeom prst="roundRect">
            <a:avLst>
              <a:gd name="adj" fmla="val 6944"/>
            </a:avLst>
          </a:prstGeom>
          <a:solidFill>
            <a:srgbClr val="F9FBFD"/>
          </a:solidFill>
          <a:ln w="12700">
            <a:solidFill>
              <a:srgbClr val="B7C9E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08664" y="1323848"/>
            <a:ext cx="832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0000"/>
                </a:solidFill>
              </a:rPr>
              <a:t>Store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072988" y="1281902"/>
            <a:ext cx="219456" cy="256032"/>
          </a:xfrm>
          <a:prstGeom prst="chevron">
            <a:avLst/>
          </a:prstGeom>
          <a:solidFill>
            <a:schemeClr val="accent5"/>
          </a:solidFill>
          <a:ln w="6350">
            <a:solidFill>
              <a:srgbClr val="CFE2F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93461" y="1108166"/>
            <a:ext cx="868680" cy="658368"/>
          </a:xfrm>
          <a:prstGeom prst="roundRect">
            <a:avLst>
              <a:gd name="adj" fmla="val 6944"/>
            </a:avLst>
          </a:prstGeom>
          <a:solidFill>
            <a:srgbClr val="EDF4FF"/>
          </a:solidFill>
          <a:ln w="12700">
            <a:solidFill>
              <a:srgbClr val="B7C9E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11749" y="1309334"/>
            <a:ext cx="832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0000"/>
                </a:solidFill>
              </a:rPr>
              <a:t>Compress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9176074" y="1281902"/>
            <a:ext cx="219456" cy="256032"/>
          </a:xfrm>
          <a:prstGeom prst="chevron">
            <a:avLst/>
          </a:prstGeom>
          <a:solidFill>
            <a:schemeClr val="accent5"/>
          </a:solidFill>
          <a:ln w="6350">
            <a:solidFill>
              <a:srgbClr val="CFE2F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411064" y="1108166"/>
            <a:ext cx="868680" cy="658368"/>
          </a:xfrm>
          <a:prstGeom prst="roundRect">
            <a:avLst>
              <a:gd name="adj" fmla="val 6944"/>
            </a:avLst>
          </a:prstGeom>
          <a:solidFill>
            <a:srgbClr val="F9FBFD"/>
          </a:solidFill>
          <a:ln w="12700">
            <a:solidFill>
              <a:srgbClr val="B7C9E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429352" y="1309334"/>
            <a:ext cx="832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0000"/>
                </a:solidFill>
              </a:rPr>
              <a:t>Transmit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279161" y="1281902"/>
            <a:ext cx="219456" cy="256032"/>
          </a:xfrm>
          <a:prstGeom prst="chevron">
            <a:avLst/>
          </a:prstGeom>
          <a:solidFill>
            <a:schemeClr val="accent5"/>
          </a:solidFill>
          <a:ln w="6350">
            <a:solidFill>
              <a:srgbClr val="CFE2F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514148" y="1108166"/>
            <a:ext cx="868680" cy="658368"/>
          </a:xfrm>
          <a:prstGeom prst="roundRect">
            <a:avLst>
              <a:gd name="adj" fmla="val 6944"/>
            </a:avLst>
          </a:prstGeom>
          <a:solidFill>
            <a:srgbClr val="EDF4FF"/>
          </a:solidFill>
          <a:ln w="12700">
            <a:solidFill>
              <a:srgbClr val="B7C9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532436" y="1309334"/>
            <a:ext cx="832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0000"/>
                </a:solidFill>
              </a:rPr>
              <a:t>Decode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 rot="5400000">
            <a:off x="10859734" y="1804417"/>
            <a:ext cx="219456" cy="256032"/>
          </a:xfrm>
          <a:prstGeom prst="chevron">
            <a:avLst/>
          </a:prstGeom>
          <a:solidFill>
            <a:schemeClr val="accent5"/>
          </a:solidFill>
          <a:ln w="6350">
            <a:solidFill>
              <a:srgbClr val="CFE2F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557690" y="2124170"/>
            <a:ext cx="868680" cy="658368"/>
          </a:xfrm>
          <a:prstGeom prst="roundRect">
            <a:avLst>
              <a:gd name="adj" fmla="val 6944"/>
            </a:avLst>
          </a:prstGeom>
          <a:solidFill>
            <a:srgbClr val="F9FBFD"/>
          </a:solidFill>
          <a:ln w="12700">
            <a:solidFill>
              <a:srgbClr val="B7C9E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575978" y="2325338"/>
            <a:ext cx="832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0000"/>
                </a:solidFill>
              </a:rPr>
              <a:t>Present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6217920" y="246234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62828"/>
                </a:solidFill>
              </a:rPr>
              <a:t>Typical components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217920" y="2782386"/>
            <a:ext cx="507492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Input devices: camera, microphone, scanner</a:t>
            </a:r>
          </a:p>
          <a:p>
            <a:pPr marL="203200" indent="-203200">
              <a:buSzPct val="100000"/>
              <a:buChar char="•"/>
            </a:pP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CPU/GPU for processing</a:t>
            </a:r>
          </a:p>
          <a:p>
            <a:pPr marL="203200" indent="-203200">
              <a:buSzPct val="100000"/>
              <a:buChar char="•"/>
            </a:pP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Storage: SSD/HDD/cloud</a:t>
            </a:r>
          </a:p>
          <a:p>
            <a:pPr marL="203200" indent="-203200">
              <a:buSzPct val="100000"/>
              <a:buChar char="•"/>
            </a:pP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Network for delivery</a:t>
            </a:r>
          </a:p>
          <a:p>
            <a:pPr marL="203200" indent="-203200">
              <a:buSzPct val="100000"/>
              <a:buChar char="•"/>
            </a:pP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Display and speakers for output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3840480" y="6473952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 of CSE, Daffodil International University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612880" y="63825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</a:rPr>
              <a:t>Characteristics of a Multimedia System</a:t>
            </a:r>
            <a:endParaRPr lang="en-US" sz="2200" dirty="0"/>
          </a:p>
        </p:txBody>
      </p:sp>
      <p:pic>
        <p:nvPicPr>
          <p:cNvPr id="3" name="Image 0" descr="/mnt/data/user-1kFy9epRxYXs1pHOCdzQinPw/fc5910e8ff0f429aa4306e1576c19e7d/mnt/data/diu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6960" y="91440"/>
            <a:ext cx="660400" cy="594360"/>
          </a:xfrm>
          <a:prstGeom prst="rect">
            <a:avLst/>
          </a:prstGeom>
        </p:spPr>
      </p:pic>
      <p:pic>
        <p:nvPicPr>
          <p:cNvPr id="5" name="Image 1" descr="/mnt/data/user-1kFy9epRxYXs1pHOCdzQinPw/fc5910e8ff0f429aa4306e1576c19e7d/mnt/data/diu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6960" y="91440"/>
            <a:ext cx="660400" cy="5943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31520" y="1051560"/>
            <a:ext cx="5440680" cy="5074920"/>
          </a:xfrm>
          <a:prstGeom prst="roundRect">
            <a:avLst>
              <a:gd name="adj" fmla="val 1441"/>
            </a:avLst>
          </a:prstGeom>
          <a:solidFill>
            <a:srgbClr val="F9F9F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6355080" y="1051560"/>
            <a:ext cx="5074920" cy="5074920"/>
          </a:xfrm>
          <a:prstGeom prst="roundRect">
            <a:avLst>
              <a:gd name="adj" fmla="val 1441"/>
            </a:avLst>
          </a:prstGeom>
          <a:solidFill>
            <a:srgbClr val="F9F9F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60120" y="107478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62828"/>
                </a:solidFill>
              </a:rPr>
              <a:t>Technical characteristics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6583680" y="1060269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04060"/>
                </a:solidFill>
              </a:rPr>
              <a:t>Real-life examples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914400" y="1627632"/>
            <a:ext cx="489204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11111"/>
                </a:solidFill>
              </a:rPr>
              <a:t>Integration of several media types in one application.</a:t>
            </a:r>
          </a:p>
          <a:p>
            <a:pPr marL="203200" indent="-203200">
              <a:buSzPct val="100000"/>
              <a:buChar char="•"/>
            </a:pP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11111"/>
                </a:solidFill>
              </a:rPr>
              <a:t>Time-dependent data: audio and video must play at the correct rate.</a:t>
            </a:r>
          </a:p>
          <a:p>
            <a:pPr marL="203200" indent="-203200">
              <a:buSzPct val="100000"/>
              <a:buChar char="•"/>
            </a:pP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11111"/>
                </a:solidFill>
              </a:rPr>
              <a:t>Large data volume: raw image, audio and video consume significant storage.</a:t>
            </a:r>
          </a:p>
          <a:p>
            <a:pPr marL="203200" indent="-203200">
              <a:buSzPct val="100000"/>
              <a:buChar char="•"/>
            </a:pP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11111"/>
                </a:solidFill>
              </a:rPr>
              <a:t>Synchronization is essential: lip movement and sound should match.</a:t>
            </a:r>
          </a:p>
          <a:p>
            <a:pPr marL="203200" indent="-203200">
              <a:buSzPct val="100000"/>
              <a:buChar char="•"/>
            </a:pP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11111"/>
                </a:solidFill>
              </a:rPr>
              <a:t>Interactive control: pause, rewind, zoom, seek, click, drag.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6537960" y="1627632"/>
            <a:ext cx="452628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11111"/>
                </a:solidFill>
              </a:rPr>
              <a:t>YouTube: video + audio + subtitles + thumbnails + controls.</a:t>
            </a:r>
          </a:p>
          <a:p>
            <a:pPr marL="203200" indent="-203200">
              <a:buSzPct val="100000"/>
              <a:buChar char="•"/>
            </a:pP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11111"/>
                </a:solidFill>
              </a:rPr>
              <a:t>Online class: slides + camera feed + microphone + screen share.</a:t>
            </a:r>
          </a:p>
          <a:p>
            <a:pPr marL="203200" indent="-203200">
              <a:buSzPct val="100000"/>
              <a:buChar char="•"/>
            </a:pP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11111"/>
                </a:solidFill>
              </a:rPr>
              <a:t>Game: 3D graphics + animation + background music + effects.</a:t>
            </a:r>
          </a:p>
          <a:p>
            <a:pPr marL="203200" indent="-203200">
              <a:buSzPct val="100000"/>
              <a:buChar char="•"/>
            </a:pP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11111"/>
                </a:solidFill>
              </a:rPr>
              <a:t>Medical imaging system: image archive + annotations + video clips.</a:t>
            </a:r>
          </a:p>
          <a:p>
            <a:pPr marL="203200" indent="-203200">
              <a:buSzPct val="100000"/>
              <a:buChar char="•"/>
            </a:pP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11111"/>
                </a:solidFill>
              </a:rPr>
              <a:t>Google Maps street view: image, text and voice navigation.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3840480" y="6473952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 of CSE, Daffodil International University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612880" y="63825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</a:rPr>
              <a:t>Why Compression is Necessary in Multimedia</a:t>
            </a:r>
            <a:endParaRPr lang="en-US" sz="2200" dirty="0"/>
          </a:p>
        </p:txBody>
      </p:sp>
      <p:pic>
        <p:nvPicPr>
          <p:cNvPr id="3" name="Image 0" descr="/mnt/data/user-1kFy9epRxYXs1pHOCdzQinPw/fc5910e8ff0f429aa4306e1576c19e7d/mnt/data/diu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6960" y="91440"/>
            <a:ext cx="66040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051560"/>
            <a:ext cx="3209834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62828"/>
                </a:solidFill>
              </a:rPr>
              <a:t>Raw data grows very fast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4498262"/>
              </p:ext>
            </p:extLst>
          </p:nvPr>
        </p:nvGraphicFramePr>
        <p:xfrm>
          <a:off x="822960" y="1417320"/>
          <a:ext cx="10561320" cy="3243072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111111"/>
                          </a:solidFill>
                        </a:rPr>
                        <a:t>Media item</a:t>
                      </a:r>
                      <a:endParaRPr lang="en-US" sz="2000" dirty="0"/>
                    </a:p>
                  </a:txBody>
                  <a:tcPr marL="45720" marR="4572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111111"/>
                          </a:solidFill>
                        </a:rPr>
                        <a:t>Simple raw size estimate</a:t>
                      </a:r>
                      <a:endParaRPr lang="en-US" sz="2000" dirty="0"/>
                    </a:p>
                  </a:txBody>
                  <a:tcPr marL="45720" marR="4572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111111"/>
                          </a:solidFill>
                        </a:rPr>
                        <a:t>Meaning</a:t>
                      </a:r>
                      <a:endParaRPr lang="en-US" sz="2000" dirty="0"/>
                    </a:p>
                  </a:txBody>
                  <a:tcPr marL="45720" marR="4572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</a:rPr>
                        <a:t>1024 × 1024 grayscale image</a:t>
                      </a:r>
                      <a:endParaRPr lang="en-US" sz="2000" dirty="0"/>
                    </a:p>
                  </a:txBody>
                  <a:tcPr marL="45720" marR="4572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</a:rPr>
                        <a:t>1024×1024×8 bits = 8,388,608 bits ≈ 1 MB</a:t>
                      </a:r>
                      <a:endParaRPr lang="en-US" sz="2000" dirty="0"/>
                    </a:p>
                  </a:txBody>
                  <a:tcPr marL="45720" marR="4572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</a:rPr>
                        <a:t>One still image</a:t>
                      </a:r>
                      <a:endParaRPr lang="en-US" sz="2000" dirty="0"/>
                    </a:p>
                  </a:txBody>
                  <a:tcPr marL="45720" marR="4572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</a:rPr>
                        <a:t>1920 × 1080 RGB frame</a:t>
                      </a:r>
                      <a:endParaRPr lang="en-US" sz="2000" dirty="0"/>
                    </a:p>
                  </a:txBody>
                  <a:tcPr marL="45720" marR="4572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</a:rPr>
                        <a:t>1920×1080×24 bits ≈ 49,766,400 bits ≈ 5.93 MB</a:t>
                      </a:r>
                      <a:endParaRPr lang="en-US" sz="2000" dirty="0"/>
                    </a:p>
                  </a:txBody>
                  <a:tcPr marL="45720" marR="4572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</a:rPr>
                        <a:t>One full-color frame</a:t>
                      </a:r>
                      <a:endParaRPr lang="en-US" sz="2000" dirty="0"/>
                    </a:p>
                  </a:txBody>
                  <a:tcPr marL="45720" marR="4572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</a:rPr>
                        <a:t>30 fps Full HD video</a:t>
                      </a:r>
                      <a:endParaRPr lang="en-US" sz="2000" dirty="0"/>
                    </a:p>
                  </a:txBody>
                  <a:tcPr marL="45720" marR="4572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</a:rPr>
                        <a:t>5.93 MB × 30 ≈ 178 MB/s</a:t>
                      </a:r>
                      <a:endParaRPr lang="en-US" sz="2000" dirty="0"/>
                    </a:p>
                  </a:txBody>
                  <a:tcPr marL="45720" marR="4572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</a:rPr>
                        <a:t>Much too large for ordinary storage/streaming</a:t>
                      </a:r>
                      <a:endParaRPr lang="en-US" sz="2000" dirty="0"/>
                    </a:p>
                  </a:txBody>
                  <a:tcPr marL="45720" marR="4572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</a:rPr>
                        <a:t>CD-quality audio (stereo)</a:t>
                      </a:r>
                      <a:endParaRPr lang="en-US" sz="2000" dirty="0"/>
                    </a:p>
                  </a:txBody>
                  <a:tcPr marL="45720" marR="4572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</a:rPr>
                        <a:t>44,100 samples/s × 16 bits × 2 ≈ 1.41 Mb/s</a:t>
                      </a:r>
                      <a:endParaRPr lang="en-US" sz="2000" dirty="0"/>
                    </a:p>
                  </a:txBody>
                  <a:tcPr marL="45720" marR="4572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</a:rPr>
                        <a:t>Large for long recordings</a:t>
                      </a:r>
                      <a:endParaRPr lang="en-US" sz="2000" dirty="0"/>
                    </a:p>
                  </a:txBody>
                  <a:tcPr marL="45720" marR="4572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868680" y="4865912"/>
            <a:ext cx="5029200" cy="1516599"/>
          </a:xfrm>
          <a:prstGeom prst="roundRect">
            <a:avLst>
              <a:gd name="adj" fmla="val 4615"/>
            </a:avLst>
          </a:prstGeom>
          <a:solidFill>
            <a:srgbClr val="EEF5FF"/>
          </a:solidFill>
          <a:ln w="13970">
            <a:solidFill>
              <a:srgbClr val="B4C7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4939065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04060"/>
                </a:solidFill>
              </a:rPr>
              <a:t>Main reason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978408" y="5242413"/>
            <a:ext cx="4809744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Compression reduces storage, transmission time, bandwidth and cost while trying to keep useful information.</a:t>
            </a:r>
            <a:endParaRPr lang="en-US" dirty="0"/>
          </a:p>
        </p:txBody>
      </p:sp>
      <p:sp>
        <p:nvSpPr>
          <p:cNvPr id="9" name="Shape 5"/>
          <p:cNvSpPr/>
          <p:nvPr/>
        </p:nvSpPr>
        <p:spPr>
          <a:xfrm>
            <a:off x="6126480" y="4851403"/>
            <a:ext cx="5074920" cy="1516598"/>
          </a:xfrm>
          <a:prstGeom prst="roundRect">
            <a:avLst>
              <a:gd name="adj" fmla="val 4615"/>
            </a:avLst>
          </a:prstGeom>
          <a:solidFill>
            <a:srgbClr val="FFF8E8"/>
          </a:solidFill>
          <a:ln w="15240">
            <a:solidFill>
              <a:srgbClr val="F4A26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236208" y="4942843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A4D00"/>
                </a:solidFill>
              </a:rPr>
              <a:t>Quick check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6236208" y="5235451"/>
            <a:ext cx="507492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If one raw 4 MB image must be sent over a slow network, what happens if you compress it to 0.5 MB? Answer: less bandwidth, faster transfer, lower storage.</a:t>
            </a: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3840480" y="6473952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 of CSE, Daffodil International University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612880" y="63825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ser-1kFy9epRxYXs1pHOCdzQinPw/fc5910e8ff0f429aa4306e1576c19e7d/mnt/data/diu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6960" y="91440"/>
            <a:ext cx="66040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114300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</a:rPr>
              <a:t>2. Data Compression Basics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1005840" y="1920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62828"/>
                </a:solidFill>
              </a:rPr>
              <a:t>Before JPEG and MPEG, learn redundancy and measurement.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1005840" y="2743200"/>
            <a:ext cx="8778240" cy="0"/>
          </a:xfrm>
          <a:prstGeom prst="line">
            <a:avLst/>
          </a:prstGeom>
          <a:noFill/>
          <a:ln w="25400">
            <a:solidFill>
              <a:srgbClr val="D6282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840480" y="6473952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 of CSE, Daffodil International University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612880" y="63825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</a:rPr>
              <a:t>7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29A4D91-5D8E-D336-7E37-0EF2DADA60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5065" y="2984754"/>
            <a:ext cx="6305550" cy="35623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</a:rPr>
              <a:t>Data, Information and Redundancy</a:t>
            </a:r>
            <a:endParaRPr lang="en-US" sz="2200" dirty="0"/>
          </a:p>
        </p:txBody>
      </p:sp>
      <p:pic>
        <p:nvPicPr>
          <p:cNvPr id="3" name="Image 0" descr="/mnt/data/user-1kFy9epRxYXs1pHOCdzQinPw/fc5910e8ff0f429aa4306e1576c19e7d/mnt/data/diu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6960" y="91440"/>
            <a:ext cx="660400" cy="594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" y="1097280"/>
            <a:ext cx="3383280" cy="1371600"/>
          </a:xfrm>
          <a:prstGeom prst="roundRect">
            <a:avLst>
              <a:gd name="adj" fmla="val 4000"/>
            </a:avLst>
          </a:prstGeom>
          <a:solidFill>
            <a:srgbClr val="EEF5FF"/>
          </a:solidFill>
          <a:ln w="13970">
            <a:solidFill>
              <a:srgbClr val="B4C7E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41248" y="1170432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4060"/>
                </a:solidFill>
              </a:rPr>
              <a:t>Data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41248" y="1444752"/>
            <a:ext cx="3163824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Raw symbols or values stored in a computer. For an image, pixel intensities are data.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4389120" y="1097280"/>
            <a:ext cx="3383280" cy="1371600"/>
          </a:xfrm>
          <a:prstGeom prst="roundRect">
            <a:avLst>
              <a:gd name="adj" fmla="val 4000"/>
            </a:avLst>
          </a:prstGeom>
          <a:solidFill>
            <a:srgbClr val="EEF5FF"/>
          </a:solidFill>
          <a:ln w="13970">
            <a:solidFill>
              <a:srgbClr val="B4C7E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498848" y="1170432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4060"/>
                </a:solidFill>
              </a:rPr>
              <a:t>Information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498848" y="1444752"/>
            <a:ext cx="3163824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11111"/>
                </a:solidFill>
              </a:rPr>
              <a:t>Meaning extracted from the data. Different data representations may contain the same useful information.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8046720" y="1097280"/>
            <a:ext cx="3383280" cy="1371600"/>
          </a:xfrm>
          <a:prstGeom prst="roundRect">
            <a:avLst>
              <a:gd name="adj" fmla="val 4000"/>
            </a:avLst>
          </a:prstGeom>
          <a:solidFill>
            <a:srgbClr val="EEF5FF"/>
          </a:solidFill>
          <a:ln w="13970">
            <a:solidFill>
              <a:srgbClr val="B4C7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56448" y="1170432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4060"/>
                </a:solidFill>
              </a:rPr>
              <a:t>Redundancy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156448" y="1444752"/>
            <a:ext cx="3163824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Extra or repeated data that is not necessary for representing the same information.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868680" y="27889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62828"/>
                </a:solidFill>
              </a:rPr>
              <a:t>Key idea: data is not always equal to information.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68680" y="3503022"/>
            <a:ext cx="548640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If neighboring pixels are almost the same, storing each one independently wastes bits.</a:t>
            </a:r>
          </a:p>
          <a:p>
            <a:pPr marL="203200" indent="-203200">
              <a:buSzPct val="100000"/>
              <a:buChar char="•"/>
            </a:pPr>
            <a:endParaRPr lang="en-US" dirty="0"/>
          </a:p>
          <a:p>
            <a:pPr marL="203200" indent="-2032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If a symbol appears very often, giving every symbol the same bit length is inefficient.</a:t>
            </a:r>
          </a:p>
          <a:p>
            <a:pPr marL="203200" indent="-203200">
              <a:buSzPct val="100000"/>
              <a:buChar char="•"/>
            </a:pPr>
            <a:endParaRPr lang="en-US" dirty="0"/>
          </a:p>
          <a:p>
            <a:pPr marL="203200" indent="-2032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If the human eye cannot notice a tiny change, storing that detail exactly may be unnecessary in lossy compression.</a:t>
            </a: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6720840" y="2880360"/>
            <a:ext cx="4572000" cy="2194560"/>
          </a:xfrm>
          <a:prstGeom prst="roundRect">
            <a:avLst>
              <a:gd name="adj" fmla="val 2500"/>
            </a:avLst>
          </a:prstGeom>
          <a:solidFill>
            <a:srgbClr val="FFF8E8"/>
          </a:solidFill>
          <a:ln w="15240">
            <a:solidFill>
              <a:srgbClr val="F4A26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30568" y="2971800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A4D00"/>
                </a:solidFill>
              </a:rPr>
              <a:t>Example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830568" y="3322464"/>
            <a:ext cx="4352544" cy="1719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Consider 8 pixels: 120,120,121,120,120,121,120,120.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They carry nearly the same visual information. A smart coding method can represent this more compactly than storing each value independently.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3840480" y="6473952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 of CSE, Daffodil International University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612880" y="63825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</a:rPr>
              <a:t>Types of Redundancy</a:t>
            </a:r>
            <a:endParaRPr lang="en-US" sz="2200" dirty="0"/>
          </a:p>
        </p:txBody>
      </p:sp>
      <p:pic>
        <p:nvPicPr>
          <p:cNvPr id="3" name="Image 0" descr="/mnt/data/user-1kFy9epRxYXs1pHOCdzQinPw/fc5910e8ff0f429aa4306e1576c19e7d/mnt/data/diu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6960" y="91440"/>
            <a:ext cx="660400" cy="594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22960" y="1188720"/>
            <a:ext cx="3474720" cy="3474720"/>
          </a:xfrm>
          <a:prstGeom prst="roundRect">
            <a:avLst>
              <a:gd name="adj" fmla="val 1579"/>
            </a:avLst>
          </a:prstGeom>
          <a:solidFill>
            <a:srgbClr val="EEF9F0"/>
          </a:solidFill>
          <a:ln w="13970">
            <a:solidFill>
              <a:srgbClr val="B8D8B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32688" y="1261872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4060"/>
                </a:solidFill>
              </a:rPr>
              <a:t>1. Coding redundancy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932688" y="1608762"/>
            <a:ext cx="3255264" cy="3054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Some symbols occur much more often than others. Fixed-length code wastes bits.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Example: If A appears 70% of the time and Z appears 1% of the time, giving both 8 bits is inefficient. Variable-length coding such as Huffman helps here.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4434840" y="1188720"/>
            <a:ext cx="3474720" cy="3474720"/>
          </a:xfrm>
          <a:prstGeom prst="roundRect">
            <a:avLst>
              <a:gd name="adj" fmla="val 1579"/>
            </a:avLst>
          </a:prstGeom>
          <a:solidFill>
            <a:srgbClr val="EEF5FF"/>
          </a:solidFill>
          <a:ln w="13970">
            <a:solidFill>
              <a:srgbClr val="B4C7E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44568" y="1377984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4060"/>
                </a:solidFill>
              </a:rPr>
              <a:t>2. Spatial / temporal redundancy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544568" y="1899050"/>
            <a:ext cx="3255264" cy="2585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Neighboring pixels in an image are often similar. Nearby video frames are also similar.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Example: blue sky across many pixels, or a person slightly moving between frames.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8046720" y="1188720"/>
            <a:ext cx="3474720" cy="3474720"/>
          </a:xfrm>
          <a:prstGeom prst="roundRect">
            <a:avLst>
              <a:gd name="adj" fmla="val 1579"/>
            </a:avLst>
          </a:prstGeom>
          <a:solidFill>
            <a:srgbClr val="FFF5EE"/>
          </a:solidFill>
          <a:ln w="13970">
            <a:solidFill>
              <a:srgbClr val="F2C6A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56448" y="1261872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4060"/>
                </a:solidFill>
              </a:rPr>
              <a:t>3. Psychovisual redundancy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8156448" y="1695846"/>
            <a:ext cx="3255264" cy="29670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Some details are less noticeable to the human eye. Lossy methods remove or coarsen them.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Example: slight high-frequency chroma detail in JPEG.</a:t>
            </a: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868680" y="4983480"/>
            <a:ext cx="10241280" cy="822960"/>
          </a:xfrm>
          <a:prstGeom prst="roundRect">
            <a:avLst>
              <a:gd name="adj" fmla="val 6667"/>
            </a:avLst>
          </a:prstGeom>
          <a:solidFill>
            <a:srgbClr val="FFF8E8"/>
          </a:solidFill>
          <a:ln w="15240">
            <a:solidFill>
              <a:srgbClr val="F4A26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78408" y="5056632"/>
            <a:ext cx="1002182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Question: Which redundancy is mainly reduced by Huffman coding? Which by MPEG motion compensation? Which by JPEG quantization?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3840480" y="6473952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 of CSE, Daffodil International University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612880" y="63825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</a:rPr>
              <a:t>Lossless vs Lossy Compression</a:t>
            </a:r>
            <a:endParaRPr lang="en-US" sz="2200" dirty="0"/>
          </a:p>
        </p:txBody>
      </p:sp>
      <p:pic>
        <p:nvPicPr>
          <p:cNvPr id="3" name="Image 0" descr="/mnt/data/user-1kFy9epRxYXs1pHOCdzQinPw/fc5910e8ff0f429aa4306e1576c19e7d/mnt/data/diu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6960" y="91440"/>
            <a:ext cx="660400" cy="594360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4205189"/>
              </p:ext>
            </p:extLst>
          </p:nvPr>
        </p:nvGraphicFramePr>
        <p:xfrm>
          <a:off x="822960" y="1234440"/>
          <a:ext cx="10561320" cy="3182112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Feature</a:t>
                      </a:r>
                      <a:endParaRPr lang="en-US" sz="180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Lossless</a:t>
                      </a:r>
                      <a:endParaRPr lang="en-US" sz="180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Lossy</a:t>
                      </a:r>
                      <a:endParaRPr lang="en-US" sz="180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Can reconstruct original exactly?</a:t>
                      </a:r>
                      <a:endParaRPr lang="en-US" sz="180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Yes</a:t>
                      </a:r>
                      <a:endParaRPr lang="en-US" sz="180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en-US" sz="180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Main idea</a:t>
                      </a:r>
                      <a:endParaRPr lang="en-US" sz="180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Remove redundancy without losing information</a:t>
                      </a:r>
                      <a:endParaRPr lang="en-US" sz="180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Remove redundancy + discard less-important information</a:t>
                      </a:r>
                      <a:endParaRPr lang="en-US" sz="180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Typical methods</a:t>
                      </a:r>
                      <a:endParaRPr lang="en-US" sz="180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Huffman, Run-Length, PNG, ZIP</a:t>
                      </a:r>
                      <a:endParaRPr lang="en-US" sz="180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JPEG, MPEG, MP3</a:t>
                      </a:r>
                      <a:endParaRPr lang="en-US" sz="180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Typical use</a:t>
                      </a:r>
                      <a:endParaRPr lang="en-US" sz="180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Text, medical records, source code, archival</a:t>
                      </a:r>
                      <a:endParaRPr lang="en-US" sz="180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Photos, video, streaming, social media</a:t>
                      </a:r>
                      <a:endParaRPr lang="en-US" sz="180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Compression ratio</a:t>
                      </a:r>
                      <a:endParaRPr lang="en-US" sz="180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Usually lower</a:t>
                      </a:r>
                      <a:endParaRPr lang="en-US" sz="180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Usually higher</a:t>
                      </a:r>
                      <a:endParaRPr lang="en-US" sz="180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752568" y="4929776"/>
            <a:ext cx="4754880" cy="1325880"/>
          </a:xfrm>
          <a:prstGeom prst="roundRect">
            <a:avLst>
              <a:gd name="adj" fmla="val 4138"/>
            </a:avLst>
          </a:prstGeom>
          <a:solidFill>
            <a:srgbClr val="EEF5FF"/>
          </a:solidFill>
          <a:ln w="13970">
            <a:solidFill>
              <a:srgbClr val="B4C7E7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862296" y="5002928"/>
            <a:ext cx="4535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4060"/>
                </a:solidFill>
              </a:rPr>
              <a:t>Remember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862296" y="5277248"/>
            <a:ext cx="4535424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Lossless means exact recovery. Lossy means acceptable recovery based on perception or application requirement</a:t>
            </a:r>
            <a:r>
              <a:rPr lang="en-US" sz="1450" dirty="0">
                <a:solidFill>
                  <a:srgbClr val="111111"/>
                </a:solidFill>
              </a:rPr>
              <a:t>.</a:t>
            </a:r>
            <a:endParaRPr lang="en-US" sz="1450" dirty="0"/>
          </a:p>
        </p:txBody>
      </p:sp>
      <p:sp>
        <p:nvSpPr>
          <p:cNvPr id="8" name="Shape 4"/>
          <p:cNvSpPr/>
          <p:nvPr/>
        </p:nvSpPr>
        <p:spPr>
          <a:xfrm>
            <a:off x="5943600" y="4886236"/>
            <a:ext cx="5257800" cy="1325880"/>
          </a:xfrm>
          <a:prstGeom prst="roundRect">
            <a:avLst>
              <a:gd name="adj" fmla="val 4138"/>
            </a:avLst>
          </a:prstGeom>
          <a:solidFill>
            <a:srgbClr val="FFF8E8"/>
          </a:solidFill>
          <a:ln w="15240">
            <a:solidFill>
              <a:srgbClr val="F4A26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053328" y="4977676"/>
            <a:ext cx="5038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A4D00"/>
                </a:solidFill>
              </a:rPr>
              <a:t>Question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053328" y="5270284"/>
            <a:ext cx="5038344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Why is JPEG preferred for photographs but not for source code or legal documents?</a:t>
            </a:r>
            <a:endParaRPr lang="en-US" dirty="0"/>
          </a:p>
        </p:txBody>
      </p:sp>
      <p:sp>
        <p:nvSpPr>
          <p:cNvPr id="4" name="Text 7"/>
          <p:cNvSpPr/>
          <p:nvPr/>
        </p:nvSpPr>
        <p:spPr>
          <a:xfrm>
            <a:off x="3840480" y="6473952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 of CSE, Daffodil International University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612880" y="63825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</a:rPr>
              <a:t>Compression Ratio and Redundancy: Math</a:t>
            </a:r>
            <a:endParaRPr lang="en-US" sz="2200" dirty="0"/>
          </a:p>
        </p:txBody>
      </p:sp>
      <p:pic>
        <p:nvPicPr>
          <p:cNvPr id="3" name="Image 0" descr="/mnt/data/user-1kFy9epRxYXs1pHOCdzQinPw/fc5910e8ff0f429aa4306e1576c19e7d/mnt/data/diu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6960" y="91440"/>
            <a:ext cx="66040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836019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62828"/>
                </a:solidFill>
              </a:rPr>
              <a:t>Formulas</a:t>
            </a:r>
            <a:endParaRPr lang="en-US" sz="17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2"/>
              <p:cNvSpPr/>
              <p:nvPr/>
            </p:nvSpPr>
            <p:spPr>
              <a:xfrm>
                <a:off x="914400" y="2112283"/>
                <a:ext cx="4754880" cy="411481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/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𝑪𝒐𝒎𝒑𝒓𝒆𝒔𝒔𝒊𝒐𝒏</m:t>
                      </m:r>
                      <m:r>
                        <a:rPr lang="en-US" b="1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𝒓𝒂𝒕𝒊𝒐</m:t>
                      </m:r>
                      <m:r>
                        <a:rPr lang="en-US" b="1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  </m:t>
                      </m:r>
                      <m:r>
                        <a:rPr lang="en-US" b="1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b="1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b="1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𝑶𝒓𝒊𝒈𝒊𝒏𝒂𝒍</m:t>
                          </m:r>
                          <m:r>
                            <a:rPr lang="en-US" b="1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𝒔𝒊𝒛𝒆</m:t>
                          </m:r>
                        </m:num>
                        <m:den>
                          <m:r>
                            <a:rPr lang="en-US" b="1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𝑪𝒐𝒎𝒑𝒓𝒆𝒔𝒔𝒆𝒅</m:t>
                          </m:r>
                          <m:r>
                            <a:rPr lang="en-US" b="1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𝒔𝒊𝒛𝒆</m:t>
                          </m:r>
                          <m:r>
                            <m:rPr>
                              <m:nor/>
                            </m:rPr>
                            <a:rPr lang="en-US" b="1" dirty="0">
                              <a:solidFill>
                                <a:srgbClr val="000000"/>
                              </a:solidFill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US" b="1" dirty="0">
                  <a:solidFill>
                    <a:srgbClr val="000000"/>
                  </a:solidFill>
                </a:endParaRPr>
              </a:p>
              <a:p>
                <a:endParaRPr lang="en-US" b="1" dirty="0">
                  <a:solidFill>
                    <a:srgbClr val="000000"/>
                  </a:solidFill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𝑹𝒆𝒍𝒂𝒕𝒊𝒗𝒆</m:t>
                      </m:r>
                      <m:r>
                        <a:rPr lang="en-US" b="1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𝒓𝒆𝒅𝒖𝒏𝒅𝒂𝒏𝒄𝒚</m:t>
                      </m:r>
                      <m:r>
                        <a:rPr lang="en-US" b="1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− </m:t>
                      </m:r>
                      <m:f>
                        <m:fPr>
                          <m:ctrlPr>
                            <a:rPr lang="en-US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den>
                      </m:f>
                    </m:oMath>
                  </m:oMathPara>
                </a14:m>
                <a:endParaRPr lang="en-US" b="1" dirty="0">
                  <a:solidFill>
                    <a:srgbClr val="000000"/>
                  </a:solidFill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1" i="1" dirty="0" smtClean="0">
                          <a:solidFill>
                            <a:srgbClr val="111111"/>
                          </a:solidFill>
                        </a:rPr>
                        <m:t>Average</m:t>
                      </m:r>
                      <m:r>
                        <m:rPr>
                          <m:nor/>
                        </m:rPr>
                        <a:rPr lang="en-US" b="1" i="1" dirty="0" smtClean="0">
                          <a:solidFill>
                            <a:srgbClr val="11111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b="1" i="1" dirty="0" smtClean="0">
                          <a:solidFill>
                            <a:srgbClr val="111111"/>
                          </a:solidFill>
                        </a:rPr>
                        <m:t>Bit</m:t>
                      </m:r>
                      <m:r>
                        <m:rPr>
                          <m:nor/>
                        </m:rPr>
                        <a:rPr lang="en-US" b="1" i="1" dirty="0" smtClean="0">
                          <a:solidFill>
                            <a:srgbClr val="11111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b="1" i="1" dirty="0" smtClean="0">
                          <a:solidFill>
                            <a:srgbClr val="111111"/>
                          </a:solidFill>
                        </a:rPr>
                        <m:t>Length</m:t>
                      </m:r>
                      <m:r>
                        <m:rPr>
                          <m:nor/>
                        </m:rPr>
                        <a:rPr lang="en-US" b="1" i="1" dirty="0" smtClean="0">
                          <a:solidFill>
                            <a:srgbClr val="111111"/>
                          </a:solidFill>
                        </a:rPr>
                        <m:t> =</m:t>
                      </m:r>
                      <m:r>
                        <m:rPr>
                          <m:nor/>
                        </m:rPr>
                        <a:rPr lang="en-US" b="1" i="0" dirty="0" smtClean="0">
                          <a:solidFill>
                            <a:srgbClr val="111111"/>
                          </a:solidFill>
                        </a:rPr>
                        <m:t> </m:t>
                      </m:r>
                      <m:f>
                        <m:fPr>
                          <m:ctrlPr>
                            <a:rPr lang="en-US" b="1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𝑺𝒊𝒛𝒆</m:t>
                          </m:r>
                          <m:r>
                            <a:rPr lang="en-US" b="1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𝒊𝒏</m:t>
                          </m:r>
                          <m:r>
                            <a:rPr lang="en-US" b="1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𝒃𝒊𝒕𝒔</m:t>
                          </m:r>
                        </m:num>
                        <m:den>
                          <m:r>
                            <a:rPr lang="en-US" b="1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𝑵𝒐</m:t>
                          </m:r>
                          <m:r>
                            <a:rPr lang="en-US" b="1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. </m:t>
                          </m:r>
                          <m:r>
                            <a:rPr lang="en-US" b="1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𝒐𝒇</m:t>
                          </m:r>
                          <m:r>
                            <a:rPr lang="en-US" b="1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𝒑𝒊𝒙𝒆𝒍𝒔</m:t>
                          </m:r>
                        </m:den>
                      </m:f>
                    </m:oMath>
                  </m:oMathPara>
                </a14:m>
                <a:endParaRPr lang="en-US" b="1" dirty="0">
                  <a:solidFill>
                    <a:srgbClr val="000000"/>
                  </a:solidFill>
                </a:endParaRPr>
              </a:p>
              <a:p>
                <a:endParaRPr lang="en-US" b="1" dirty="0">
                  <a:solidFill>
                    <a:srgbClr val="000000"/>
                  </a:solidFill>
                </a:endParaRPr>
              </a:p>
              <a:p>
                <a:endParaRPr lang="en-US" b="1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5" name="Text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2112283"/>
                <a:ext cx="4754880" cy="411481"/>
              </a:xfrm>
              <a:prstGeom prst="rect">
                <a:avLst/>
              </a:prstGeom>
              <a:blipFill>
                <a:blip r:embed="rId4"/>
                <a:stretch>
                  <a:fillRect t="-247761" b="-119403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hape 3"/>
          <p:cNvSpPr/>
          <p:nvPr/>
        </p:nvSpPr>
        <p:spPr>
          <a:xfrm>
            <a:off x="868680" y="3240528"/>
            <a:ext cx="4709160" cy="3218688"/>
          </a:xfrm>
          <a:prstGeom prst="roundRect">
            <a:avLst>
              <a:gd name="adj" fmla="val 2500"/>
            </a:avLst>
          </a:prstGeom>
          <a:solidFill>
            <a:srgbClr val="EEF5FF"/>
          </a:solidFill>
          <a:ln w="13970">
            <a:solidFill>
              <a:srgbClr val="B4C7E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78408" y="3323007"/>
            <a:ext cx="4489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4060"/>
                </a:solidFill>
              </a:rPr>
              <a:t>Worked example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5"/>
              <p:cNvSpPr/>
              <p:nvPr/>
            </p:nvSpPr>
            <p:spPr>
              <a:xfrm>
                <a:off x="978408" y="3627390"/>
                <a:ext cx="4489704" cy="3081528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t"/>
              <a:lstStyle/>
              <a:p>
                <a:pPr marL="0" indent="0">
                  <a:buNone/>
                </a:pPr>
                <a:r>
                  <a:rPr lang="en-US" sz="1700" dirty="0">
                    <a:solidFill>
                      <a:srgbClr val="111111"/>
                    </a:solidFill>
                  </a:rPr>
                  <a:t>An image size is 65,536 bytes. After compression it becomes 6,554 bytes.</a:t>
                </a:r>
                <a:endParaRPr lang="en-US" sz="1700" dirty="0"/>
              </a:p>
              <a:p>
                <a:pPr marL="0" indent="0">
                  <a:buNone/>
                </a:pPr>
                <a:endParaRPr lang="en-US" sz="17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7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sz="17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700" b="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65,535</m:t>
                          </m:r>
                        </m:num>
                        <m:den>
                          <m:r>
                            <a:rPr lang="en-US" sz="1700" b="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6554</m:t>
                          </m:r>
                        </m:den>
                      </m:f>
                      <m:r>
                        <a:rPr lang="en-US" sz="17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 ≈ 10</m:t>
                      </m:r>
                    </m:oMath>
                  </m:oMathPara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7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700" b="0" i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f>
                        <m:fPr>
                          <m:ctrlPr>
                            <a:rPr lang="en-US" sz="170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7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7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 sz="17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1700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0.9</m:t>
                      </m:r>
                    </m:oMath>
                  </m:oMathPara>
                </a14:m>
              </a:p>
              <a:p>
                <a:pPr marL="0" indent="0">
                  <a:buNone/>
                </a:pPr>
                <a:endParaRPr lang="en-US" sz="1700" dirty="0"/>
              </a:p>
              <a:p>
                <a:pPr marL="0" indent="0">
                  <a:buNone/>
                </a:pPr>
                <a:r>
                  <a:rPr lang="en-US" sz="1700" dirty="0">
                    <a:solidFill>
                      <a:srgbClr val="111111"/>
                    </a:solidFill>
                  </a:rPr>
                  <a:t>So, we say the image has about 10:1 compression and 90% relative redundancy.</a:t>
                </a:r>
                <a:endParaRPr lang="en-US" sz="1700" dirty="0"/>
              </a:p>
            </p:txBody>
          </p:sp>
        </mc:Choice>
        <mc:Fallback>
          <p:sp>
            <p:nvSpPr>
              <p:cNvPr id="8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408" y="3627390"/>
                <a:ext cx="4489704" cy="3081528"/>
              </a:xfrm>
              <a:prstGeom prst="rect">
                <a:avLst/>
              </a:prstGeom>
              <a:blipFill>
                <a:blip r:embed="rId5"/>
                <a:stretch>
                  <a:fillRect l="-2989" t="-197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hape 6"/>
          <p:cNvSpPr/>
          <p:nvPr/>
        </p:nvSpPr>
        <p:spPr>
          <a:xfrm>
            <a:off x="5952931" y="3231194"/>
            <a:ext cx="5257800" cy="3228021"/>
          </a:xfrm>
          <a:prstGeom prst="roundRect">
            <a:avLst>
              <a:gd name="adj" fmla="val 1538"/>
            </a:avLst>
          </a:prstGeom>
          <a:solidFill>
            <a:srgbClr val="FFF8E8"/>
          </a:solidFill>
          <a:ln w="15240">
            <a:solidFill>
              <a:srgbClr val="F4A2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62659" y="3322635"/>
            <a:ext cx="5038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A4D00"/>
                </a:solidFill>
              </a:rPr>
              <a:t>Practice problem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8"/>
              <p:cNvSpPr/>
              <p:nvPr/>
            </p:nvSpPr>
            <p:spPr>
              <a:xfrm>
                <a:off x="6062659" y="3731354"/>
                <a:ext cx="5038344" cy="2815749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t"/>
              <a:lstStyle/>
              <a:p>
                <a:pPr marL="0" indent="0">
                  <a:buNone/>
                </a:pPr>
                <a:r>
                  <a:rPr lang="en-US" sz="1700" dirty="0">
                    <a:solidFill>
                      <a:srgbClr val="111111"/>
                    </a:solidFill>
                  </a:rPr>
                  <a:t>A raw image is 2.4 MB and the compressed image is 0.3 MB.</a:t>
                </a:r>
                <a:endParaRPr lang="en-US" sz="1700" dirty="0"/>
              </a:p>
              <a:p>
                <a:pPr marL="0" indent="0">
                  <a:buNone/>
                </a:pPr>
                <a:r>
                  <a:rPr lang="en-US" sz="1700" dirty="0">
                    <a:solidFill>
                      <a:srgbClr val="111111"/>
                    </a:solidFill>
                  </a:rPr>
                  <a:t>1) Find the compression ratio.</a:t>
                </a:r>
                <a:endParaRPr lang="en-US" sz="1700" dirty="0"/>
              </a:p>
              <a:p>
                <a:pPr marL="0" indent="0">
                  <a:buNone/>
                </a:pPr>
                <a:r>
                  <a:rPr lang="en-US" sz="1700" dirty="0">
                    <a:solidFill>
                      <a:srgbClr val="111111"/>
                    </a:solidFill>
                  </a:rPr>
                  <a:t>2) Find the relative redundancy.</a:t>
                </a:r>
              </a:p>
              <a:p>
                <a:pPr marL="0" indent="0">
                  <a:buNone/>
                </a:pPr>
                <a:endParaRPr lang="en-US" sz="1700" dirty="0"/>
              </a:p>
              <a:p>
                <a:pPr marL="0" indent="0">
                  <a:buNone/>
                </a:pPr>
                <a:r>
                  <a:rPr lang="en-US" sz="1700" dirty="0">
                    <a:solidFill>
                      <a:srgbClr val="111111"/>
                    </a:solidFill>
                  </a:rPr>
                  <a:t>Solution outline:</a:t>
                </a:r>
                <a:endParaRPr lang="en-US" sz="17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7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sz="17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700" b="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2.4</m:t>
                          </m:r>
                        </m:num>
                        <m:den>
                          <m:r>
                            <a:rPr lang="en-US" sz="1700" b="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0.3</m:t>
                          </m:r>
                        </m:den>
                      </m:f>
                      <m:r>
                        <a:rPr lang="en-US" sz="17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= 8</m:t>
                      </m:r>
                    </m:oMath>
                  </m:oMathPara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7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 = 1−</m:t>
                      </m:r>
                      <m:f>
                        <m:fPr>
                          <m:ctrlPr>
                            <a:rPr lang="en-US" sz="17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700" b="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700" b="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US" sz="17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 = 0.875 = 87.5%</m:t>
                      </m:r>
                    </m:oMath>
                  </m:oMathPara>
                </a14:m>
              </a:p>
              <a:p>
                <a:pPr marL="0" indent="0">
                  <a:buNone/>
                </a:pPr>
              </a:p>
            </p:txBody>
          </p:sp>
        </mc:Choice>
        <mc:Fallback>
          <p:sp>
            <p:nvSpPr>
              <p:cNvPr id="11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2659" y="3731354"/>
                <a:ext cx="5038344" cy="2815749"/>
              </a:xfrm>
              <a:prstGeom prst="rect">
                <a:avLst/>
              </a:prstGeom>
              <a:blipFill>
                <a:blip r:embed="rId6"/>
                <a:stretch>
                  <a:fillRect l="-2663" t="-216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9"/>
          <p:cNvSpPr/>
          <p:nvPr/>
        </p:nvSpPr>
        <p:spPr>
          <a:xfrm>
            <a:off x="3840480" y="6473952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 of CSE, Daffodil International University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612880" y="63825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</a:rPr>
              <a:t>11</a:t>
            </a:r>
            <a:endParaRPr lang="en-US" sz="900" dirty="0"/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0C592BEC-8C96-5849-B99D-7DBD4AE7E0B2}"/>
              </a:ext>
            </a:extLst>
          </p:cNvPr>
          <p:cNvSpPr/>
          <p:nvPr/>
        </p:nvSpPr>
        <p:spPr>
          <a:xfrm>
            <a:off x="6423497" y="668393"/>
            <a:ext cx="4709160" cy="2135291"/>
          </a:xfrm>
          <a:prstGeom prst="roundRect">
            <a:avLst>
              <a:gd name="adj" fmla="val 2500"/>
            </a:avLst>
          </a:prstGeom>
          <a:solidFill>
            <a:srgbClr val="EEF5FF"/>
          </a:solidFill>
          <a:ln w="13970">
            <a:solidFill>
              <a:srgbClr val="B4C7E7"/>
            </a:solidFill>
            <a:prstDash val="solid"/>
          </a:ln>
        </p:spPr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6293C109-FF6E-8BC9-EE8A-7C6878989DDE}"/>
              </a:ext>
            </a:extLst>
          </p:cNvPr>
          <p:cNvSpPr/>
          <p:nvPr/>
        </p:nvSpPr>
        <p:spPr>
          <a:xfrm>
            <a:off x="6533225" y="750872"/>
            <a:ext cx="4489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4060"/>
                </a:solidFill>
              </a:rPr>
              <a:t>Worked example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 5">
                <a:extLst>
                  <a:ext uri="{FF2B5EF4-FFF2-40B4-BE49-F238E27FC236}">
                    <a16:creationId xmlns:a16="http://schemas.microsoft.com/office/drawing/2014/main" id="{6FA4303A-E186-0A64-37E4-058B60A2DF52}"/>
                  </a:ext>
                </a:extLst>
              </p:cNvPr>
              <p:cNvSpPr/>
              <p:nvPr/>
            </p:nvSpPr>
            <p:spPr>
              <a:xfrm>
                <a:off x="6533225" y="1073917"/>
                <a:ext cx="4489704" cy="2392790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t"/>
              <a:lstStyle/>
              <a:p>
                <a:r>
                  <a:rPr lang="en-US" sz="1700" dirty="0"/>
                  <a:t>An image size is 16 × 16 pixels. After applying compression, the total size becomes 720 bits.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7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sz="1700" b="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700" b="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720</m:t>
                          </m:r>
                        </m:num>
                        <m:den>
                          <m:r>
                            <a:rPr lang="en-US" sz="1700" b="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  <m:r>
                            <a:rPr lang="en-US" sz="1700" b="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×16</m:t>
                          </m:r>
                        </m:den>
                      </m:f>
                      <m:r>
                        <a:rPr lang="en-US" sz="1700" b="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700" b="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2.81</m:t>
                      </m:r>
                      <m:r>
                        <a:rPr lang="en-US" sz="1700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sz="1700" b="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1700" dirty="0"/>
              </a:p>
              <a:p>
                <a:r>
                  <a:rPr lang="en-US" sz="1700" dirty="0"/>
                  <a:t>Therefore, the average number of bits required to represent each pixel is 3 bits/pixel.</a:t>
                </a:r>
              </a:p>
            </p:txBody>
          </p:sp>
        </mc:Choice>
        <mc:Fallback>
          <p:sp>
            <p:nvSpPr>
              <p:cNvPr id="16" name="Text 5">
                <a:extLst>
                  <a:ext uri="{FF2B5EF4-FFF2-40B4-BE49-F238E27FC236}">
                    <a16:creationId xmlns:a16="http://schemas.microsoft.com/office/drawing/2014/main" id="{6FA4303A-E186-0A64-37E4-058B60A2DF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3225" y="1073917"/>
                <a:ext cx="4489704" cy="2392790"/>
              </a:xfrm>
              <a:prstGeom prst="rect">
                <a:avLst/>
              </a:prstGeom>
              <a:blipFill>
                <a:blip r:embed="rId7"/>
                <a:stretch>
                  <a:fillRect l="-2989" t="-254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ser-1kFy9epRxYXs1pHOCdzQinPw/fc5910e8ff0f429aa4306e1576c19e7d/mnt/data/diu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6960" y="91440"/>
            <a:ext cx="66040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114300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</a:rPr>
              <a:t>3. Huffman Coding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1005840" y="1920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62828"/>
                </a:solidFill>
              </a:rPr>
              <a:t>The classic lossless coding technique you should be able to solve by hand.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1005840" y="2743200"/>
            <a:ext cx="8778240" cy="0"/>
          </a:xfrm>
          <a:prstGeom prst="line">
            <a:avLst/>
          </a:prstGeom>
          <a:noFill/>
          <a:ln w="25400">
            <a:solidFill>
              <a:srgbClr val="D6282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840480" y="6473952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 of CSE, Daffodil International University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612880" y="63825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</a:rPr>
              <a:t>12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788AA9B-E03F-9E34-0FFC-099F3D3CD0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6728" y="2651760"/>
            <a:ext cx="3218543" cy="349441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</a:rPr>
              <a:t>Huffman Coding: Main Idea</a:t>
            </a:r>
            <a:endParaRPr lang="en-US" sz="2200" dirty="0"/>
          </a:p>
        </p:txBody>
      </p:sp>
      <p:pic>
        <p:nvPicPr>
          <p:cNvPr id="3" name="Image 0" descr="/mnt/data/user-1kFy9epRxYXs1pHOCdzQinPw/fc5910e8ff0f429aa4306e1576c19e7d/mnt/data/diu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6960" y="91440"/>
            <a:ext cx="660400" cy="594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77240" y="1097280"/>
            <a:ext cx="5486400" cy="1828800"/>
          </a:xfrm>
          <a:prstGeom prst="roundRect">
            <a:avLst>
              <a:gd name="adj" fmla="val 3000"/>
            </a:avLst>
          </a:prstGeom>
          <a:solidFill>
            <a:srgbClr val="EEF5FF"/>
          </a:solidFill>
          <a:ln w="13970">
            <a:solidFill>
              <a:srgbClr val="B4C7E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86968" y="1170432"/>
            <a:ext cx="5266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4060"/>
                </a:solidFill>
              </a:rPr>
              <a:t>Definition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86968" y="1444752"/>
            <a:ext cx="5266944" cy="1408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Huffman coding is a lossless variable-length coding technique. It assigns short codes to frequent pixels and longer codes to rare pixels.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777240" y="3154680"/>
            <a:ext cx="5486400" cy="2011680"/>
          </a:xfrm>
          <a:prstGeom prst="roundRect">
            <a:avLst>
              <a:gd name="adj" fmla="val 2727"/>
            </a:avLst>
          </a:prstGeom>
          <a:solidFill>
            <a:srgbClr val="EEF5FF"/>
          </a:solidFill>
          <a:ln w="13970">
            <a:solidFill>
              <a:srgbClr val="B4C7E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6968" y="3227832"/>
            <a:ext cx="5266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4060"/>
                </a:solidFill>
              </a:rPr>
              <a:t>Why it works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886968" y="3502152"/>
            <a:ext cx="5266944" cy="1591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If common pixels use fewer bits, the average number of bits per symbol decreases. That means lower storage while preserving exact information.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6492240" y="1325880"/>
            <a:ext cx="4663440" cy="3611880"/>
          </a:xfrm>
          <a:prstGeom prst="roundRect">
            <a:avLst>
              <a:gd name="adj" fmla="val 1519"/>
            </a:avLst>
          </a:prstGeom>
          <a:solidFill>
            <a:srgbClr val="FFF8E8"/>
          </a:solidFill>
          <a:ln w="15240">
            <a:solidFill>
              <a:srgbClr val="F4A2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01968" y="1417320"/>
            <a:ext cx="4443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A4D00"/>
                </a:solidFill>
              </a:rPr>
              <a:t>Compare fixed vs variable length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601968" y="1709928"/>
            <a:ext cx="4443984" cy="3136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Suppose four pixels use equal 2-bit fixed code. If one pixel appears much more often, variable-length coding can lower the average below 2 bits/pixel.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840480" y="6473952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 of CSE, Daffodil International University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612880" y="63825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</a:rPr>
              <a:t>Huffman Coding Algorithm</a:t>
            </a:r>
            <a:endParaRPr lang="en-US" sz="2200" dirty="0"/>
          </a:p>
        </p:txBody>
      </p:sp>
      <p:pic>
        <p:nvPicPr>
          <p:cNvPr id="3" name="Image 0" descr="/mnt/data/user-1kFy9epRxYXs1pHOCdzQinPw/fc5910e8ff0f429aa4306e1576c19e7d/mnt/data/diu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6960" y="91440"/>
            <a:ext cx="660400" cy="594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" y="1097279"/>
            <a:ext cx="5440680" cy="5172891"/>
          </a:xfrm>
          <a:prstGeom prst="roundRect">
            <a:avLst>
              <a:gd name="adj" fmla="val 1237"/>
            </a:avLst>
          </a:prstGeom>
          <a:solidFill>
            <a:srgbClr val="EEF5FF"/>
          </a:solidFill>
          <a:ln w="13970">
            <a:solidFill>
              <a:srgbClr val="B4C7E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41248" y="1170432"/>
            <a:ext cx="5221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4060"/>
                </a:solidFill>
              </a:rPr>
              <a:t>Step-by-step algorithm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41248" y="1517322"/>
            <a:ext cx="5221224" cy="486519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AutoNum type="arabicPeriod"/>
            </a:pPr>
            <a:r>
              <a:rPr lang="en-US" dirty="0">
                <a:solidFill>
                  <a:srgbClr val="111111"/>
                </a:solidFill>
              </a:rPr>
              <a:t>Count the frequency of each pixel value.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2. Put all pixel values into a min-priority queue.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3. Remove the two nodes with smallest frequency.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4. Combine them into a new parent node whose frequency is the sum.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5. Insert the parent back into the queue.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6. Repeat until one root remains.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7. Assign 0 to each left edge and 1 to each right edge.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8. The root-to-leaf path gives the code for each symbol.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6400800" y="1325880"/>
            <a:ext cx="4754880" cy="2103120"/>
          </a:xfrm>
          <a:prstGeom prst="roundRect">
            <a:avLst>
              <a:gd name="adj" fmla="val 2609"/>
            </a:avLst>
          </a:prstGeom>
          <a:solidFill>
            <a:srgbClr val="FFF8E8"/>
          </a:solidFill>
          <a:ln w="15240">
            <a:solidFill>
              <a:srgbClr val="F4A2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10528" y="1417320"/>
            <a:ext cx="4535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A4D00"/>
                </a:solidFill>
              </a:rPr>
              <a:t>Time-saving exam tip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510528" y="1797012"/>
            <a:ext cx="4535424" cy="162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In the exam, always write frequencies in descending order first. Then combine the two smallest repeatedly.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6400800" y="3657600"/>
            <a:ext cx="4754880" cy="1828800"/>
          </a:xfrm>
          <a:prstGeom prst="roundRect">
            <a:avLst>
              <a:gd name="adj" fmla="val 3000"/>
            </a:avLst>
          </a:prstGeom>
          <a:solidFill>
            <a:srgbClr val="F2F9FF"/>
          </a:solidFill>
          <a:ln w="13970">
            <a:solidFill>
              <a:srgbClr val="BBD3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0528" y="3730752"/>
            <a:ext cx="4535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4060"/>
                </a:solidFill>
              </a:rPr>
              <a:t>Important property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510528" y="4092156"/>
            <a:ext cx="4535424" cy="1408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No Huffman code is a prefix of another Huffman code. Therefore, the bitstream can be decoded unambiguously.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840480" y="6473952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 of CSE, Daffodil International University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612880" y="63825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</a:rPr>
              <a:t>Worked Example: Build a Huffman Tree</a:t>
            </a:r>
            <a:endParaRPr lang="en-US" sz="2200" dirty="0"/>
          </a:p>
        </p:txBody>
      </p:sp>
      <p:pic>
        <p:nvPicPr>
          <p:cNvPr id="3" name="Image 0" descr="/mnt/data/user-1kFy9epRxYXs1pHOCdzQinPw/fc5910e8ff0f429aa4306e1576c19e7d/mnt/data/diu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6960" y="91440"/>
            <a:ext cx="66040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927237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62828"/>
                </a:solidFill>
              </a:rPr>
              <a:t>Given </a:t>
            </a:r>
            <a:r>
              <a:rPr lang="en-US" b="1" dirty="0">
                <a:solidFill>
                  <a:srgbClr val="D62828"/>
                </a:solidFill>
              </a:rPr>
              <a:t>an image: 8*8 8-bit grayscale image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6096000" y="531410"/>
            <a:ext cx="5013960" cy="3827338"/>
          </a:xfrm>
          <a:prstGeom prst="roundRect">
            <a:avLst>
              <a:gd name="adj" fmla="val 1905"/>
            </a:avLst>
          </a:prstGeom>
          <a:solidFill>
            <a:srgbClr val="EEF5FF"/>
          </a:solidFill>
          <a:ln w="13970">
            <a:solidFill>
              <a:srgbClr val="B4C7E7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217920" y="611240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4060"/>
                </a:solidFill>
              </a:rPr>
              <a:t>Pixel values Frequency</a:t>
            </a:r>
            <a:endParaRPr lang="en-US" dirty="0"/>
          </a:p>
        </p:txBody>
      </p:sp>
      <p:sp>
        <p:nvSpPr>
          <p:cNvPr id="9" name="Shape 5"/>
          <p:cNvSpPr/>
          <p:nvPr/>
        </p:nvSpPr>
        <p:spPr>
          <a:xfrm>
            <a:off x="868680" y="4528269"/>
            <a:ext cx="10241280" cy="1459505"/>
          </a:xfrm>
          <a:prstGeom prst="roundRect">
            <a:avLst>
              <a:gd name="adj" fmla="val 5455"/>
            </a:avLst>
          </a:prstGeom>
          <a:solidFill>
            <a:srgbClr val="FFF8E8"/>
          </a:solidFill>
          <a:ln w="15240">
            <a:solidFill>
              <a:srgbClr val="F4A26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78408" y="4528270"/>
            <a:ext cx="10021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A4D00"/>
                </a:solidFill>
              </a:rPr>
              <a:t>What to remember</a:t>
            </a: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978408" y="5638217"/>
            <a:ext cx="1002182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3840480" y="6473952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 of CSE, Daffodil International University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612880" y="63825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</a:rPr>
              <a:t>15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8A64394-6EAA-7F70-E58D-5BBD978CB9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1311106"/>
            <a:ext cx="4924347" cy="3047642"/>
          </a:xfrm>
          <a:prstGeom prst="rect">
            <a:avLst/>
          </a:prstGeom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A43BFF6A-2E69-1C3B-09C3-C8B91EC41C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99158"/>
              </p:ext>
            </p:extLst>
          </p:nvPr>
        </p:nvGraphicFramePr>
        <p:xfrm>
          <a:off x="6217920" y="937612"/>
          <a:ext cx="478231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1156">
                  <a:extLst>
                    <a:ext uri="{9D8B030D-6E8A-4147-A177-3AD203B41FA5}">
                      <a16:colId xmlns:a16="http://schemas.microsoft.com/office/drawing/2014/main" val="2978170936"/>
                    </a:ext>
                  </a:extLst>
                </a:gridCol>
                <a:gridCol w="2391156">
                  <a:extLst>
                    <a:ext uri="{9D8B030D-6E8A-4147-A177-3AD203B41FA5}">
                      <a16:colId xmlns:a16="http://schemas.microsoft.com/office/drawing/2014/main" val="3313544304"/>
                    </a:ext>
                  </a:extLst>
                </a:gridCol>
              </a:tblGrid>
              <a:tr h="2950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Gray level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Frequency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3615380"/>
                  </a:ext>
                </a:extLst>
              </a:tr>
              <a:tr h="2950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8191439"/>
                  </a:ext>
                </a:extLst>
              </a:tr>
              <a:tr h="2950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9035227"/>
                  </a:ext>
                </a:extLst>
              </a:tr>
              <a:tr h="2950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5147709"/>
                  </a:ext>
                </a:extLst>
              </a:tr>
              <a:tr h="2950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8367381"/>
                  </a:ext>
                </a:extLst>
              </a:tr>
              <a:tr h="2950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7553702"/>
                  </a:ext>
                </a:extLst>
              </a:tr>
              <a:tr h="2950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4276252"/>
                  </a:ext>
                </a:extLst>
              </a:tr>
              <a:tr h="2950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2869529"/>
                  </a:ext>
                </a:extLst>
              </a:tr>
              <a:tr h="2950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045001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63A2E38-9CF9-2437-C9D4-2168DBEF1DC4}"/>
              </a:ext>
            </a:extLst>
          </p:cNvPr>
          <p:cNvSpPr txBox="1"/>
          <p:nvPr/>
        </p:nvSpPr>
        <p:spPr>
          <a:xfrm>
            <a:off x="978408" y="4787446"/>
            <a:ext cx="10021824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dirty="0"/>
              <a:t>Total Number of pixel in the image: </a:t>
            </a:r>
            <a:r>
              <a:rPr lang="en-US" sz="1700" dirty="0"/>
              <a:t>8x8 = 64. [</a:t>
            </a:r>
            <a:r>
              <a:rPr lang="en-US" sz="1700" b="1" dirty="0"/>
              <a:t>Original Storage: </a:t>
            </a:r>
            <a:r>
              <a:rPr lang="en-US" sz="1700" dirty="0"/>
              <a:t>(Total no. of pixel * bit) = 64*8 = 512 bits]</a:t>
            </a:r>
          </a:p>
          <a:p>
            <a:r>
              <a:rPr lang="en-US" sz="1700" b="1" dirty="0"/>
              <a:t>Sum of the frequency: </a:t>
            </a:r>
            <a:r>
              <a:rPr lang="en-US" sz="1700" dirty="0"/>
              <a:t>4+7+8+10+11+10+9+5=64</a:t>
            </a:r>
          </a:p>
          <a:p>
            <a:r>
              <a:rPr lang="en-US" sz="1700" i="1" dirty="0"/>
              <a:t>Since, the total number of pixel and sum of the frequency are equal. Hence, the histogram is correct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9F5443-C165-2D85-49D8-CA0F6CC7A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957A64C-EB83-893D-9B3B-504F00F3E071}"/>
              </a:ext>
            </a:extLst>
          </p:cNvPr>
          <p:cNvSpPr/>
          <p:nvPr/>
        </p:nvSpPr>
        <p:spPr>
          <a:xfrm>
            <a:off x="594360" y="38404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</a:rPr>
              <a:t>Worked Example: Build a Huffman Tree</a:t>
            </a:r>
            <a:endParaRPr lang="en-US" sz="2200" dirty="0"/>
          </a:p>
        </p:txBody>
      </p:sp>
      <p:pic>
        <p:nvPicPr>
          <p:cNvPr id="3" name="Image 0" descr="/mnt/data/user-1kFy9epRxYXs1pHOCdzQinPw/fc5910e8ff0f429aa4306e1576c19e7d/mnt/data/diu_logo_crop.png">
            <a:extLst>
              <a:ext uri="{FF2B5EF4-FFF2-40B4-BE49-F238E27FC236}">
                <a16:creationId xmlns:a16="http://schemas.microsoft.com/office/drawing/2014/main" id="{D5A3FF23-D0C1-D139-E780-6C5A85FAFD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6960" y="91440"/>
            <a:ext cx="660400" cy="594360"/>
          </a:xfrm>
          <a:prstGeom prst="rect">
            <a:avLst/>
          </a:prstGeom>
        </p:spPr>
      </p:pic>
      <p:sp>
        <p:nvSpPr>
          <p:cNvPr id="6" name="Shape 2">
            <a:extLst>
              <a:ext uri="{FF2B5EF4-FFF2-40B4-BE49-F238E27FC236}">
                <a16:creationId xmlns:a16="http://schemas.microsoft.com/office/drawing/2014/main" id="{2210FD71-BA4D-E974-B464-E069032C7472}"/>
              </a:ext>
            </a:extLst>
          </p:cNvPr>
          <p:cNvSpPr/>
          <p:nvPr/>
        </p:nvSpPr>
        <p:spPr>
          <a:xfrm>
            <a:off x="594359" y="784277"/>
            <a:ext cx="9956409" cy="1185200"/>
          </a:xfrm>
          <a:prstGeom prst="roundRect">
            <a:avLst>
              <a:gd name="adj" fmla="val 1905"/>
            </a:avLst>
          </a:prstGeom>
          <a:solidFill>
            <a:srgbClr val="EEF5FF"/>
          </a:solidFill>
          <a:ln w="13970">
            <a:solidFill>
              <a:srgbClr val="B4C7E7"/>
            </a:solidFill>
            <a:prstDash val="solid"/>
          </a:ln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Sort the frequency of pixel values in descending order to construct the Huffman tree</a:t>
            </a:r>
            <a:endParaRPr lang="en-US" dirty="0">
              <a:solidFill>
                <a:srgbClr val="11111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111"/>
                </a:solidFill>
              </a:rPr>
              <a:t>Combine the two nodes with smallest frequency into a new parent node whose frequency is the sum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111"/>
                </a:solidFill>
              </a:rPr>
              <a:t>Rearrange the nodes after making a new node</a:t>
            </a: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85C89B9D-8CA5-DC7C-9E18-1D8EF0A840AF}"/>
              </a:ext>
            </a:extLst>
          </p:cNvPr>
          <p:cNvSpPr/>
          <p:nvPr/>
        </p:nvSpPr>
        <p:spPr>
          <a:xfrm>
            <a:off x="868680" y="5254169"/>
            <a:ext cx="10241280" cy="1005840"/>
          </a:xfrm>
          <a:prstGeom prst="roundRect">
            <a:avLst>
              <a:gd name="adj" fmla="val 5455"/>
            </a:avLst>
          </a:prstGeom>
          <a:solidFill>
            <a:srgbClr val="FFF8E8"/>
          </a:solidFill>
          <a:ln w="15240">
            <a:solidFill>
              <a:srgbClr val="F4A261"/>
            </a:solidFill>
            <a:prstDash val="solid"/>
          </a:ln>
        </p:spPr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0D8FBF8C-BE79-C170-2E19-D980E899598C}"/>
              </a:ext>
            </a:extLst>
          </p:cNvPr>
          <p:cNvSpPr/>
          <p:nvPr/>
        </p:nvSpPr>
        <p:spPr>
          <a:xfrm>
            <a:off x="978408" y="5345609"/>
            <a:ext cx="10021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A4D00"/>
                </a:solidFill>
              </a:rPr>
              <a:t>Note:</a:t>
            </a:r>
            <a:endParaRPr lang="en-US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6987AAAA-3BFE-C702-F757-A4899D75A9D2}"/>
              </a:ext>
            </a:extLst>
          </p:cNvPr>
          <p:cNvSpPr/>
          <p:nvPr/>
        </p:nvSpPr>
        <p:spPr>
          <a:xfrm>
            <a:off x="978408" y="5638217"/>
            <a:ext cx="1002182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dirty="0"/>
              <a:t>Since 4 and 5 are the two lowest frequencies, we combine them to form a new parent node. The value of the parent node is the sum of these two values: 9.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CCB5F08E-4F52-430E-9BC9-205D33E66B79}"/>
              </a:ext>
            </a:extLst>
          </p:cNvPr>
          <p:cNvSpPr/>
          <p:nvPr/>
        </p:nvSpPr>
        <p:spPr>
          <a:xfrm>
            <a:off x="3840480" y="6473952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 of CSE, Daffodil International University</a:t>
            </a:r>
            <a:endParaRPr lang="en-US" sz="9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AD62B8B4-2081-A3C9-A25C-0440B05344B9}"/>
              </a:ext>
            </a:extLst>
          </p:cNvPr>
          <p:cNvSpPr/>
          <p:nvPr/>
        </p:nvSpPr>
        <p:spPr>
          <a:xfrm>
            <a:off x="11612880" y="63825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</a:rPr>
              <a:t>15</a:t>
            </a:r>
            <a:endParaRPr lang="en-US" sz="9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5DC0139-CBF5-6B53-A197-B4406FB69370}"/>
              </a:ext>
            </a:extLst>
          </p:cNvPr>
          <p:cNvSpPr/>
          <p:nvPr/>
        </p:nvSpPr>
        <p:spPr>
          <a:xfrm>
            <a:off x="1111348" y="2715065"/>
            <a:ext cx="689317" cy="7139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11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1B03D8B-054E-60AB-9D7B-3CF35EEDB68E}"/>
              </a:ext>
            </a:extLst>
          </p:cNvPr>
          <p:cNvSpPr/>
          <p:nvPr/>
        </p:nvSpPr>
        <p:spPr>
          <a:xfrm>
            <a:off x="2276622" y="2715064"/>
            <a:ext cx="689317" cy="7139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10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AD87D13-8379-4F22-72E2-B3232FE712AB}"/>
              </a:ext>
            </a:extLst>
          </p:cNvPr>
          <p:cNvSpPr/>
          <p:nvPr/>
        </p:nvSpPr>
        <p:spPr>
          <a:xfrm>
            <a:off x="3441896" y="2715065"/>
            <a:ext cx="689317" cy="7139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10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8E08E4A-E9EF-8968-28F2-3435F0344175}"/>
              </a:ext>
            </a:extLst>
          </p:cNvPr>
          <p:cNvSpPr/>
          <p:nvPr/>
        </p:nvSpPr>
        <p:spPr>
          <a:xfrm>
            <a:off x="4672821" y="2715066"/>
            <a:ext cx="689317" cy="7139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A030A5A-93B0-D7F5-6DF6-33B06E2EBC08}"/>
              </a:ext>
            </a:extLst>
          </p:cNvPr>
          <p:cNvSpPr/>
          <p:nvPr/>
        </p:nvSpPr>
        <p:spPr>
          <a:xfrm>
            <a:off x="5838095" y="2715065"/>
            <a:ext cx="689317" cy="7139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A1D421D-109D-F2E0-CB55-FC4762CB1521}"/>
              </a:ext>
            </a:extLst>
          </p:cNvPr>
          <p:cNvSpPr/>
          <p:nvPr/>
        </p:nvSpPr>
        <p:spPr>
          <a:xfrm>
            <a:off x="7003369" y="2715066"/>
            <a:ext cx="689317" cy="7139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03A994A-C51E-974F-8E3A-6AE51C1C48F6}"/>
              </a:ext>
            </a:extLst>
          </p:cNvPr>
          <p:cNvSpPr/>
          <p:nvPr/>
        </p:nvSpPr>
        <p:spPr>
          <a:xfrm>
            <a:off x="8060787" y="2715066"/>
            <a:ext cx="689317" cy="7139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31CBA2B-EB23-9634-11BA-248DF3655391}"/>
              </a:ext>
            </a:extLst>
          </p:cNvPr>
          <p:cNvSpPr/>
          <p:nvPr/>
        </p:nvSpPr>
        <p:spPr>
          <a:xfrm>
            <a:off x="9226061" y="2715067"/>
            <a:ext cx="689317" cy="7139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722FC9-99E3-0C03-A256-13E4DBEB7E1C}"/>
              </a:ext>
            </a:extLst>
          </p:cNvPr>
          <p:cNvSpPr txBox="1"/>
          <p:nvPr/>
        </p:nvSpPr>
        <p:spPr>
          <a:xfrm>
            <a:off x="1246751" y="3387936"/>
            <a:ext cx="8989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72                    79                    67                     85                     61                    58                 91                     52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3259F84-5778-2692-CF8C-02901A8F11FA}"/>
              </a:ext>
            </a:extLst>
          </p:cNvPr>
          <p:cNvCxnSpPr/>
          <p:nvPr/>
        </p:nvCxnSpPr>
        <p:spPr>
          <a:xfrm>
            <a:off x="7962311" y="2504051"/>
            <a:ext cx="0" cy="1323557"/>
          </a:xfrm>
          <a:prstGeom prst="line">
            <a:avLst/>
          </a:prstGeom>
          <a:ln w="3810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08EE01A-51F8-FD28-96EA-F5F65AD19E70}"/>
              </a:ext>
            </a:extLst>
          </p:cNvPr>
          <p:cNvCxnSpPr/>
          <p:nvPr/>
        </p:nvCxnSpPr>
        <p:spPr>
          <a:xfrm>
            <a:off x="10056054" y="2501703"/>
            <a:ext cx="0" cy="1323557"/>
          </a:xfrm>
          <a:prstGeom prst="line">
            <a:avLst/>
          </a:prstGeom>
          <a:ln w="3810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9766052-0F70-2F1A-10B9-60FD6E524AB9}"/>
              </a:ext>
            </a:extLst>
          </p:cNvPr>
          <p:cNvCxnSpPr>
            <a:cxnSpLocks/>
          </p:cNvCxnSpPr>
          <p:nvPr/>
        </p:nvCxnSpPr>
        <p:spPr>
          <a:xfrm>
            <a:off x="7962311" y="2504051"/>
            <a:ext cx="2093743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2A535D5-4831-F247-B26A-C9CC6455EBDB}"/>
              </a:ext>
            </a:extLst>
          </p:cNvPr>
          <p:cNvCxnSpPr>
            <a:cxnSpLocks/>
          </p:cNvCxnSpPr>
          <p:nvPr/>
        </p:nvCxnSpPr>
        <p:spPr>
          <a:xfrm>
            <a:off x="7959966" y="3810004"/>
            <a:ext cx="2093743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93040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422324-6400-C840-76DE-C86487049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C331DA8-DACB-46E1-68A8-A2CB48BE0B0E}"/>
              </a:ext>
            </a:extLst>
          </p:cNvPr>
          <p:cNvSpPr/>
          <p:nvPr/>
        </p:nvSpPr>
        <p:spPr>
          <a:xfrm>
            <a:off x="594360" y="38404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</a:rPr>
              <a:t>Worked Example: Build a Huffman Tree</a:t>
            </a:r>
            <a:endParaRPr lang="en-US" sz="2200" dirty="0"/>
          </a:p>
        </p:txBody>
      </p:sp>
      <p:pic>
        <p:nvPicPr>
          <p:cNvPr id="3" name="Image 0" descr="/mnt/data/user-1kFy9epRxYXs1pHOCdzQinPw/fc5910e8ff0f429aa4306e1576c19e7d/mnt/data/diu_logo_crop.png">
            <a:extLst>
              <a:ext uri="{FF2B5EF4-FFF2-40B4-BE49-F238E27FC236}">
                <a16:creationId xmlns:a16="http://schemas.microsoft.com/office/drawing/2014/main" id="{530F17DD-A2D6-DE89-5A34-1FAA3C633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6960" y="91440"/>
            <a:ext cx="660400" cy="594360"/>
          </a:xfrm>
          <a:prstGeom prst="rect">
            <a:avLst/>
          </a:prstGeom>
        </p:spPr>
      </p:pic>
      <p:sp>
        <p:nvSpPr>
          <p:cNvPr id="6" name="Shape 2">
            <a:extLst>
              <a:ext uri="{FF2B5EF4-FFF2-40B4-BE49-F238E27FC236}">
                <a16:creationId xmlns:a16="http://schemas.microsoft.com/office/drawing/2014/main" id="{BB354714-9D1B-CA40-1018-6DABD0FF9D0E}"/>
              </a:ext>
            </a:extLst>
          </p:cNvPr>
          <p:cNvSpPr/>
          <p:nvPr/>
        </p:nvSpPr>
        <p:spPr>
          <a:xfrm>
            <a:off x="594359" y="784277"/>
            <a:ext cx="9956409" cy="1185200"/>
          </a:xfrm>
          <a:prstGeom prst="roundRect">
            <a:avLst>
              <a:gd name="adj" fmla="val 1905"/>
            </a:avLst>
          </a:prstGeom>
          <a:solidFill>
            <a:srgbClr val="EEF5FF"/>
          </a:solidFill>
          <a:ln w="13970">
            <a:solidFill>
              <a:srgbClr val="B4C7E7"/>
            </a:solidFill>
            <a:prstDash val="solid"/>
          </a:ln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Sort the frequency of pixel values in descending order to construct the Huffman tree</a:t>
            </a:r>
            <a:endParaRPr lang="en-US" dirty="0">
              <a:solidFill>
                <a:srgbClr val="11111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111"/>
                </a:solidFill>
              </a:rPr>
              <a:t>Combine the two nodes with smallest frequency into a new parent node whose frequency is the sum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111"/>
                </a:solidFill>
              </a:rPr>
              <a:t>Rearrange the nodes after making a new node</a:t>
            </a: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8972B95B-0876-59DB-36D5-E7B3F629D9EB}"/>
              </a:ext>
            </a:extLst>
          </p:cNvPr>
          <p:cNvSpPr/>
          <p:nvPr/>
        </p:nvSpPr>
        <p:spPr>
          <a:xfrm>
            <a:off x="868680" y="5254169"/>
            <a:ext cx="10241280" cy="1005840"/>
          </a:xfrm>
          <a:prstGeom prst="roundRect">
            <a:avLst>
              <a:gd name="adj" fmla="val 5455"/>
            </a:avLst>
          </a:prstGeom>
          <a:solidFill>
            <a:srgbClr val="FFF8E8"/>
          </a:solidFill>
          <a:ln w="15240">
            <a:solidFill>
              <a:srgbClr val="F4A261"/>
            </a:solidFill>
            <a:prstDash val="solid"/>
          </a:ln>
        </p:spPr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1DB7FE62-C46F-F28B-2B42-21F3BE6F9EBB}"/>
              </a:ext>
            </a:extLst>
          </p:cNvPr>
          <p:cNvSpPr/>
          <p:nvPr/>
        </p:nvSpPr>
        <p:spPr>
          <a:xfrm>
            <a:off x="978408" y="5345609"/>
            <a:ext cx="10021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A4D00"/>
                </a:solidFill>
              </a:rPr>
              <a:t>Note:</a:t>
            </a:r>
            <a:endParaRPr lang="en-US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EE83D700-001D-62D5-7F2A-06993A105B56}"/>
              </a:ext>
            </a:extLst>
          </p:cNvPr>
          <p:cNvSpPr/>
          <p:nvPr/>
        </p:nvSpPr>
        <p:spPr>
          <a:xfrm>
            <a:off x="978408" y="5638217"/>
            <a:ext cx="1002182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dirty="0"/>
              <a:t>Now, lowest two nodes are 7 and 8. So, make a new parent nodes: 7+8=15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EF636BBE-BDEB-8943-C937-50C1FEE85C67}"/>
              </a:ext>
            </a:extLst>
          </p:cNvPr>
          <p:cNvSpPr/>
          <p:nvPr/>
        </p:nvSpPr>
        <p:spPr>
          <a:xfrm>
            <a:off x="3840480" y="6473952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 of CSE, Daffodil International University</a:t>
            </a:r>
            <a:endParaRPr lang="en-US" sz="9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2376FFA0-73BB-67CB-5850-30BE4D69634E}"/>
              </a:ext>
            </a:extLst>
          </p:cNvPr>
          <p:cNvSpPr/>
          <p:nvPr/>
        </p:nvSpPr>
        <p:spPr>
          <a:xfrm>
            <a:off x="11612880" y="63825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</a:rPr>
              <a:t>15</a:t>
            </a:r>
            <a:endParaRPr lang="en-US" sz="9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56839DE-59BC-29D7-35D9-48D89BE4F8D5}"/>
              </a:ext>
            </a:extLst>
          </p:cNvPr>
          <p:cNvSpPr/>
          <p:nvPr/>
        </p:nvSpPr>
        <p:spPr>
          <a:xfrm>
            <a:off x="1111348" y="3902229"/>
            <a:ext cx="689317" cy="6277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11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8BC9153-DFE1-E24B-2D05-67071A09FA65}"/>
              </a:ext>
            </a:extLst>
          </p:cNvPr>
          <p:cNvSpPr/>
          <p:nvPr/>
        </p:nvSpPr>
        <p:spPr>
          <a:xfrm>
            <a:off x="2276622" y="3902228"/>
            <a:ext cx="689317" cy="6277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10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D7CF39-3BD6-5642-B1F7-60DD83F9142E}"/>
              </a:ext>
            </a:extLst>
          </p:cNvPr>
          <p:cNvSpPr/>
          <p:nvPr/>
        </p:nvSpPr>
        <p:spPr>
          <a:xfrm>
            <a:off x="3441896" y="3902229"/>
            <a:ext cx="689317" cy="6277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10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4EAC60D-2A0D-1F28-298F-E07E8FD7A0BC}"/>
              </a:ext>
            </a:extLst>
          </p:cNvPr>
          <p:cNvSpPr/>
          <p:nvPr/>
        </p:nvSpPr>
        <p:spPr>
          <a:xfrm>
            <a:off x="4672821" y="3902230"/>
            <a:ext cx="689317" cy="6277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0BCF8C0-5F39-861C-3C44-DD21D5106507}"/>
              </a:ext>
            </a:extLst>
          </p:cNvPr>
          <p:cNvSpPr/>
          <p:nvPr/>
        </p:nvSpPr>
        <p:spPr>
          <a:xfrm>
            <a:off x="5838095" y="3902229"/>
            <a:ext cx="689317" cy="6277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58B0C52-456E-988A-58C3-D9B071EEFD21}"/>
              </a:ext>
            </a:extLst>
          </p:cNvPr>
          <p:cNvSpPr/>
          <p:nvPr/>
        </p:nvSpPr>
        <p:spPr>
          <a:xfrm>
            <a:off x="7003369" y="3902230"/>
            <a:ext cx="689317" cy="6277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23274B4-F61A-B3DE-E59E-0645A725C6FE}"/>
              </a:ext>
            </a:extLst>
          </p:cNvPr>
          <p:cNvSpPr/>
          <p:nvPr/>
        </p:nvSpPr>
        <p:spPr>
          <a:xfrm>
            <a:off x="8060787" y="3902230"/>
            <a:ext cx="689317" cy="62779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F6ABE8B-9E46-9F0E-D6F3-FD66B0A07AC5}"/>
              </a:ext>
            </a:extLst>
          </p:cNvPr>
          <p:cNvSpPr/>
          <p:nvPr/>
        </p:nvSpPr>
        <p:spPr>
          <a:xfrm>
            <a:off x="9226061" y="3902231"/>
            <a:ext cx="689317" cy="62779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041B96-7FA3-1340-A44A-C610249006CF}"/>
              </a:ext>
            </a:extLst>
          </p:cNvPr>
          <p:cNvSpPr txBox="1"/>
          <p:nvPr/>
        </p:nvSpPr>
        <p:spPr>
          <a:xfrm>
            <a:off x="1246751" y="4488955"/>
            <a:ext cx="8989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72                    79                    67                     85                     61                    58                 91                     52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F27373F-A1E3-0C66-D8E9-D5E1279F29C7}"/>
              </a:ext>
            </a:extLst>
          </p:cNvPr>
          <p:cNvSpPr/>
          <p:nvPr/>
        </p:nvSpPr>
        <p:spPr>
          <a:xfrm>
            <a:off x="8639344" y="2687216"/>
            <a:ext cx="689317" cy="6277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458BE9C-2DF2-3211-1193-C93B78C0389E}"/>
              </a:ext>
            </a:extLst>
          </p:cNvPr>
          <p:cNvCxnSpPr>
            <a:cxnSpLocks/>
            <a:stCxn id="4" idx="4"/>
            <a:endCxn id="20" idx="0"/>
          </p:cNvCxnSpPr>
          <p:nvPr/>
        </p:nvCxnSpPr>
        <p:spPr>
          <a:xfrm flipH="1">
            <a:off x="8405446" y="3315006"/>
            <a:ext cx="578557" cy="58722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42052E3-F09A-30C7-389E-90201896BD26}"/>
              </a:ext>
            </a:extLst>
          </p:cNvPr>
          <p:cNvCxnSpPr>
            <a:cxnSpLocks/>
            <a:stCxn id="21" idx="0"/>
            <a:endCxn id="4" idx="4"/>
          </p:cNvCxnSpPr>
          <p:nvPr/>
        </p:nvCxnSpPr>
        <p:spPr>
          <a:xfrm flipH="1" flipV="1">
            <a:off x="8984003" y="3315006"/>
            <a:ext cx="586717" cy="58722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F270076-9CBE-608C-2D5C-E2C10844FA95}"/>
              </a:ext>
            </a:extLst>
          </p:cNvPr>
          <p:cNvCxnSpPr/>
          <p:nvPr/>
        </p:nvCxnSpPr>
        <p:spPr>
          <a:xfrm>
            <a:off x="5750948" y="3567739"/>
            <a:ext cx="0" cy="1323557"/>
          </a:xfrm>
          <a:prstGeom prst="line">
            <a:avLst/>
          </a:prstGeom>
          <a:ln w="3810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BD164A3-6128-DBE3-818D-0F00B0E3F7FE}"/>
              </a:ext>
            </a:extLst>
          </p:cNvPr>
          <p:cNvCxnSpPr/>
          <p:nvPr/>
        </p:nvCxnSpPr>
        <p:spPr>
          <a:xfrm>
            <a:off x="7844691" y="3565391"/>
            <a:ext cx="0" cy="1323557"/>
          </a:xfrm>
          <a:prstGeom prst="line">
            <a:avLst/>
          </a:prstGeom>
          <a:ln w="3810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A723457-8A34-622D-0D50-1AC4FDFDD37D}"/>
              </a:ext>
            </a:extLst>
          </p:cNvPr>
          <p:cNvCxnSpPr>
            <a:cxnSpLocks/>
          </p:cNvCxnSpPr>
          <p:nvPr/>
        </p:nvCxnSpPr>
        <p:spPr>
          <a:xfrm>
            <a:off x="5750948" y="3567739"/>
            <a:ext cx="2093743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A7EDB0F-5E5D-2CD7-1B9E-F14B02FF393B}"/>
              </a:ext>
            </a:extLst>
          </p:cNvPr>
          <p:cNvCxnSpPr>
            <a:cxnSpLocks/>
          </p:cNvCxnSpPr>
          <p:nvPr/>
        </p:nvCxnSpPr>
        <p:spPr>
          <a:xfrm>
            <a:off x="5748603" y="4873692"/>
            <a:ext cx="2093743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12521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2D3049-2A56-9FD9-9090-DCF121355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89A151D-47DF-8165-5ABC-D19EACB4F342}"/>
              </a:ext>
            </a:extLst>
          </p:cNvPr>
          <p:cNvSpPr/>
          <p:nvPr/>
        </p:nvSpPr>
        <p:spPr>
          <a:xfrm>
            <a:off x="594360" y="38404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</a:rPr>
              <a:t>Worked Example: Build a Huffman Tree</a:t>
            </a:r>
            <a:endParaRPr lang="en-US" sz="2200" dirty="0"/>
          </a:p>
        </p:txBody>
      </p:sp>
      <p:pic>
        <p:nvPicPr>
          <p:cNvPr id="3" name="Image 0" descr="/mnt/data/user-1kFy9epRxYXs1pHOCdzQinPw/fc5910e8ff0f429aa4306e1576c19e7d/mnt/data/diu_logo_crop.png">
            <a:extLst>
              <a:ext uri="{FF2B5EF4-FFF2-40B4-BE49-F238E27FC236}">
                <a16:creationId xmlns:a16="http://schemas.microsoft.com/office/drawing/2014/main" id="{00DDC856-00DB-8465-7388-F8C72013A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6960" y="91440"/>
            <a:ext cx="660400" cy="594360"/>
          </a:xfrm>
          <a:prstGeom prst="rect">
            <a:avLst/>
          </a:prstGeom>
        </p:spPr>
      </p:pic>
      <p:sp>
        <p:nvSpPr>
          <p:cNvPr id="6" name="Shape 2">
            <a:extLst>
              <a:ext uri="{FF2B5EF4-FFF2-40B4-BE49-F238E27FC236}">
                <a16:creationId xmlns:a16="http://schemas.microsoft.com/office/drawing/2014/main" id="{B3BD8596-F772-4CFB-F1DB-ABD0D74D4F16}"/>
              </a:ext>
            </a:extLst>
          </p:cNvPr>
          <p:cNvSpPr/>
          <p:nvPr/>
        </p:nvSpPr>
        <p:spPr>
          <a:xfrm>
            <a:off x="594359" y="784277"/>
            <a:ext cx="9956409" cy="1185200"/>
          </a:xfrm>
          <a:prstGeom prst="roundRect">
            <a:avLst>
              <a:gd name="adj" fmla="val 1905"/>
            </a:avLst>
          </a:prstGeom>
          <a:solidFill>
            <a:srgbClr val="EEF5FF"/>
          </a:solidFill>
          <a:ln w="13970">
            <a:solidFill>
              <a:srgbClr val="B4C7E7"/>
            </a:solidFill>
            <a:prstDash val="solid"/>
          </a:ln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Sort the frequency of pixel values in descending order to construct the Huffman tree</a:t>
            </a:r>
            <a:endParaRPr lang="en-US" dirty="0">
              <a:solidFill>
                <a:srgbClr val="11111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111"/>
                </a:solidFill>
              </a:rPr>
              <a:t>Combine the two nodes with smallest frequency into a new parent node whose frequency is the sum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11111"/>
                </a:solidFill>
              </a:rPr>
              <a:t>Rearrange the nodes after making a new node</a:t>
            </a: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8CC997A2-35BC-0EE0-920E-015BEBEFAE09}"/>
              </a:ext>
            </a:extLst>
          </p:cNvPr>
          <p:cNvSpPr/>
          <p:nvPr/>
        </p:nvSpPr>
        <p:spPr>
          <a:xfrm>
            <a:off x="868680" y="5254169"/>
            <a:ext cx="10241280" cy="1005840"/>
          </a:xfrm>
          <a:prstGeom prst="roundRect">
            <a:avLst>
              <a:gd name="adj" fmla="val 5455"/>
            </a:avLst>
          </a:prstGeom>
          <a:solidFill>
            <a:srgbClr val="FFF8E8"/>
          </a:solidFill>
          <a:ln w="15240">
            <a:solidFill>
              <a:srgbClr val="F4A261"/>
            </a:solidFill>
            <a:prstDash val="solid"/>
          </a:ln>
        </p:spPr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49E0A2BE-6AD3-7A0A-D3B3-13F698A0C310}"/>
              </a:ext>
            </a:extLst>
          </p:cNvPr>
          <p:cNvSpPr/>
          <p:nvPr/>
        </p:nvSpPr>
        <p:spPr>
          <a:xfrm>
            <a:off x="978408" y="5345609"/>
            <a:ext cx="10021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A4D00"/>
                </a:solidFill>
              </a:rPr>
              <a:t>Note:</a:t>
            </a:r>
            <a:endParaRPr lang="en-US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01627E00-063C-15D4-CE29-AEF030DB0A11}"/>
              </a:ext>
            </a:extLst>
          </p:cNvPr>
          <p:cNvSpPr/>
          <p:nvPr/>
        </p:nvSpPr>
        <p:spPr>
          <a:xfrm>
            <a:off x="978408" y="5638217"/>
            <a:ext cx="1002182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dirty="0"/>
              <a:t>Since 9 and 9 are now the smallest nodes, we place them side by side for convenience so they can be merged into a new parent node.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98C35AE4-F4EB-014B-1870-2AF086FE0690}"/>
              </a:ext>
            </a:extLst>
          </p:cNvPr>
          <p:cNvSpPr/>
          <p:nvPr/>
        </p:nvSpPr>
        <p:spPr>
          <a:xfrm>
            <a:off x="3840480" y="6473952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 of CSE, Daffodil International University</a:t>
            </a:r>
            <a:endParaRPr lang="en-US" sz="9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6D1E5419-E12A-D2E8-9B45-B5C6C3C30320}"/>
              </a:ext>
            </a:extLst>
          </p:cNvPr>
          <p:cNvSpPr/>
          <p:nvPr/>
        </p:nvSpPr>
        <p:spPr>
          <a:xfrm>
            <a:off x="11612880" y="63825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</a:rPr>
              <a:t>15</a:t>
            </a:r>
            <a:endParaRPr lang="en-US" sz="9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EA6B973-C9C6-90DA-49D9-A68BD706C161}"/>
              </a:ext>
            </a:extLst>
          </p:cNvPr>
          <p:cNvSpPr/>
          <p:nvPr/>
        </p:nvSpPr>
        <p:spPr>
          <a:xfrm>
            <a:off x="1111348" y="3939551"/>
            <a:ext cx="689317" cy="581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11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88D04C4-E2B2-8598-12E8-CEE78BD7D75E}"/>
              </a:ext>
            </a:extLst>
          </p:cNvPr>
          <p:cNvSpPr/>
          <p:nvPr/>
        </p:nvSpPr>
        <p:spPr>
          <a:xfrm>
            <a:off x="2276622" y="3939550"/>
            <a:ext cx="689317" cy="581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10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8BAB79B-FE96-82E5-CFB3-BE7BCA4AA9DF}"/>
              </a:ext>
            </a:extLst>
          </p:cNvPr>
          <p:cNvSpPr/>
          <p:nvPr/>
        </p:nvSpPr>
        <p:spPr>
          <a:xfrm>
            <a:off x="3441896" y="3939551"/>
            <a:ext cx="689317" cy="581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10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E8F7B10-32CB-351B-31C1-7DEE0CB95BB0}"/>
              </a:ext>
            </a:extLst>
          </p:cNvPr>
          <p:cNvSpPr/>
          <p:nvPr/>
        </p:nvSpPr>
        <p:spPr>
          <a:xfrm>
            <a:off x="4672821" y="3939552"/>
            <a:ext cx="689317" cy="581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9409413-DC52-EFC8-94E3-9F51F6FD6EE6}"/>
              </a:ext>
            </a:extLst>
          </p:cNvPr>
          <p:cNvSpPr/>
          <p:nvPr/>
        </p:nvSpPr>
        <p:spPr>
          <a:xfrm>
            <a:off x="5838095" y="3948882"/>
            <a:ext cx="689317" cy="581137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BD29835-C7CC-C6A6-A79F-F0CFAFD91575}"/>
              </a:ext>
            </a:extLst>
          </p:cNvPr>
          <p:cNvSpPr/>
          <p:nvPr/>
        </p:nvSpPr>
        <p:spPr>
          <a:xfrm>
            <a:off x="7003369" y="3948883"/>
            <a:ext cx="689317" cy="581137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36169D0-7455-5D45-4550-D4E4FAB05466}"/>
              </a:ext>
            </a:extLst>
          </p:cNvPr>
          <p:cNvSpPr/>
          <p:nvPr/>
        </p:nvSpPr>
        <p:spPr>
          <a:xfrm>
            <a:off x="8060787" y="3948883"/>
            <a:ext cx="689317" cy="58113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5A1E6FC-4881-C6F9-D6CF-A920988A1686}"/>
              </a:ext>
            </a:extLst>
          </p:cNvPr>
          <p:cNvSpPr/>
          <p:nvPr/>
        </p:nvSpPr>
        <p:spPr>
          <a:xfrm>
            <a:off x="9226061" y="3948884"/>
            <a:ext cx="689317" cy="58113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68AA9F-264F-753B-435C-132EF98AFDC3}"/>
              </a:ext>
            </a:extLst>
          </p:cNvPr>
          <p:cNvSpPr txBox="1"/>
          <p:nvPr/>
        </p:nvSpPr>
        <p:spPr>
          <a:xfrm>
            <a:off x="1246751" y="4488955"/>
            <a:ext cx="8989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72                    79                    67                     85                     61                    58                 91                     52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4069654-5B4A-BF99-F95A-28FFBE7B6D72}"/>
              </a:ext>
            </a:extLst>
          </p:cNvPr>
          <p:cNvSpPr/>
          <p:nvPr/>
        </p:nvSpPr>
        <p:spPr>
          <a:xfrm>
            <a:off x="8639344" y="2733869"/>
            <a:ext cx="689317" cy="581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A6FE74-AC78-EC41-DE7C-14C5A9EE4B10}"/>
              </a:ext>
            </a:extLst>
          </p:cNvPr>
          <p:cNvCxnSpPr>
            <a:stCxn id="4" idx="4"/>
            <a:endCxn id="20" idx="0"/>
          </p:cNvCxnSpPr>
          <p:nvPr/>
        </p:nvCxnSpPr>
        <p:spPr>
          <a:xfrm flipH="1">
            <a:off x="8405446" y="3315006"/>
            <a:ext cx="578557" cy="63387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B2F67DC-1D58-4614-5CF5-DB13A0D81913}"/>
              </a:ext>
            </a:extLst>
          </p:cNvPr>
          <p:cNvCxnSpPr>
            <a:stCxn id="21" idx="0"/>
            <a:endCxn id="4" idx="4"/>
          </p:cNvCxnSpPr>
          <p:nvPr/>
        </p:nvCxnSpPr>
        <p:spPr>
          <a:xfrm flipH="1" flipV="1">
            <a:off x="8984003" y="3315006"/>
            <a:ext cx="586717" cy="6338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0D63C50E-7723-BF31-D87D-9FB95C84F84F}"/>
              </a:ext>
            </a:extLst>
          </p:cNvPr>
          <p:cNvSpPr/>
          <p:nvPr/>
        </p:nvSpPr>
        <p:spPr>
          <a:xfrm>
            <a:off x="6450815" y="2753807"/>
            <a:ext cx="689317" cy="581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15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600CF51-083F-D0FC-57CE-DD42A3C8C825}"/>
              </a:ext>
            </a:extLst>
          </p:cNvPr>
          <p:cNvCxnSpPr>
            <a:stCxn id="34" idx="4"/>
            <a:endCxn id="18" idx="0"/>
          </p:cNvCxnSpPr>
          <p:nvPr/>
        </p:nvCxnSpPr>
        <p:spPr>
          <a:xfrm flipH="1">
            <a:off x="6182754" y="3334944"/>
            <a:ext cx="612720" cy="61393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2B23821-ED04-8B7A-C27A-E4797217E538}"/>
              </a:ext>
            </a:extLst>
          </p:cNvPr>
          <p:cNvCxnSpPr>
            <a:stCxn id="34" idx="4"/>
            <a:endCxn id="19" idx="0"/>
          </p:cNvCxnSpPr>
          <p:nvPr/>
        </p:nvCxnSpPr>
        <p:spPr>
          <a:xfrm>
            <a:off x="6795474" y="3334944"/>
            <a:ext cx="552554" cy="61393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2499958-8C79-F0E3-9ABF-6B25A9564E7B}"/>
              </a:ext>
            </a:extLst>
          </p:cNvPr>
          <p:cNvCxnSpPr>
            <a:cxnSpLocks/>
          </p:cNvCxnSpPr>
          <p:nvPr/>
        </p:nvCxnSpPr>
        <p:spPr>
          <a:xfrm>
            <a:off x="5716797" y="2709320"/>
            <a:ext cx="0" cy="2148967"/>
          </a:xfrm>
          <a:prstGeom prst="line">
            <a:avLst/>
          </a:prstGeom>
          <a:ln w="3810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2A09167-4EE7-38E1-2379-E43248B359DA}"/>
              </a:ext>
            </a:extLst>
          </p:cNvPr>
          <p:cNvCxnSpPr>
            <a:cxnSpLocks/>
          </p:cNvCxnSpPr>
          <p:nvPr/>
        </p:nvCxnSpPr>
        <p:spPr>
          <a:xfrm>
            <a:off x="7810540" y="2706972"/>
            <a:ext cx="0" cy="2151315"/>
          </a:xfrm>
          <a:prstGeom prst="line">
            <a:avLst/>
          </a:prstGeom>
          <a:ln w="3810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5D17F1D-8A7F-8602-5D65-CE0815FD3548}"/>
              </a:ext>
            </a:extLst>
          </p:cNvPr>
          <p:cNvCxnSpPr>
            <a:cxnSpLocks/>
          </p:cNvCxnSpPr>
          <p:nvPr/>
        </p:nvCxnSpPr>
        <p:spPr>
          <a:xfrm>
            <a:off x="5716797" y="2709320"/>
            <a:ext cx="2093743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C04B468-4623-BE47-7134-CE223100A16A}"/>
              </a:ext>
            </a:extLst>
          </p:cNvPr>
          <p:cNvCxnSpPr>
            <a:cxnSpLocks/>
          </p:cNvCxnSpPr>
          <p:nvPr/>
        </p:nvCxnSpPr>
        <p:spPr>
          <a:xfrm>
            <a:off x="5714452" y="4864362"/>
            <a:ext cx="2093743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C3C40F1-5E75-BC27-AE0B-0177409A0A5A}"/>
              </a:ext>
            </a:extLst>
          </p:cNvPr>
          <p:cNvCxnSpPr/>
          <p:nvPr/>
        </p:nvCxnSpPr>
        <p:spPr>
          <a:xfrm>
            <a:off x="4556632" y="3567739"/>
            <a:ext cx="0" cy="132355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30E7071-8DF2-B35D-0B98-CF7184E77EE3}"/>
              </a:ext>
            </a:extLst>
          </p:cNvPr>
          <p:cNvCxnSpPr/>
          <p:nvPr/>
        </p:nvCxnSpPr>
        <p:spPr>
          <a:xfrm>
            <a:off x="5437392" y="3565391"/>
            <a:ext cx="0" cy="132355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36AC1B2-4F70-8C43-D240-A6D5BD4E8EBB}"/>
              </a:ext>
            </a:extLst>
          </p:cNvPr>
          <p:cNvCxnSpPr>
            <a:cxnSpLocks/>
          </p:cNvCxnSpPr>
          <p:nvPr/>
        </p:nvCxnSpPr>
        <p:spPr>
          <a:xfrm>
            <a:off x="4556632" y="3567739"/>
            <a:ext cx="88076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A9DDA59-DADA-07E1-58B8-1F494C2F7F98}"/>
              </a:ext>
            </a:extLst>
          </p:cNvPr>
          <p:cNvCxnSpPr>
            <a:cxnSpLocks/>
          </p:cNvCxnSpPr>
          <p:nvPr/>
        </p:nvCxnSpPr>
        <p:spPr>
          <a:xfrm>
            <a:off x="4556632" y="4873692"/>
            <a:ext cx="87841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49D6D9F-E49B-05EE-7CC7-808CB2C05CDB}"/>
              </a:ext>
            </a:extLst>
          </p:cNvPr>
          <p:cNvCxnSpPr/>
          <p:nvPr/>
        </p:nvCxnSpPr>
        <p:spPr>
          <a:xfrm>
            <a:off x="5459216" y="4142790"/>
            <a:ext cx="24508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7B6A33BC-BB5A-8086-FA3C-C3DD9A9DF738}"/>
              </a:ext>
            </a:extLst>
          </p:cNvPr>
          <p:cNvCxnSpPr>
            <a:cxnSpLocks/>
          </p:cNvCxnSpPr>
          <p:nvPr/>
        </p:nvCxnSpPr>
        <p:spPr>
          <a:xfrm flipH="1">
            <a:off x="5459216" y="4591592"/>
            <a:ext cx="245082" cy="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13340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4E164A-6341-0BAA-C61D-EBCC5CC44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F82C163-5FE9-29A5-DE4E-E32B54225FCF}"/>
              </a:ext>
            </a:extLst>
          </p:cNvPr>
          <p:cNvSpPr/>
          <p:nvPr/>
        </p:nvSpPr>
        <p:spPr>
          <a:xfrm>
            <a:off x="594360" y="38404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</a:rPr>
              <a:t>Worked Example: Build a Huffman Tree</a:t>
            </a:r>
            <a:endParaRPr lang="en-US" sz="2200" dirty="0"/>
          </a:p>
        </p:txBody>
      </p:sp>
      <p:pic>
        <p:nvPicPr>
          <p:cNvPr id="3" name="Image 0" descr="/mnt/data/user-1kFy9epRxYXs1pHOCdzQinPw/fc5910e8ff0f429aa4306e1576c19e7d/mnt/data/diu_logo_crop.png">
            <a:extLst>
              <a:ext uri="{FF2B5EF4-FFF2-40B4-BE49-F238E27FC236}">
                <a16:creationId xmlns:a16="http://schemas.microsoft.com/office/drawing/2014/main" id="{2C0212BF-8CAA-5B1B-F246-023A695542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6960" y="91440"/>
            <a:ext cx="660400" cy="594360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A2148F48-0280-45AF-7782-7FE4A79A815C}"/>
              </a:ext>
            </a:extLst>
          </p:cNvPr>
          <p:cNvSpPr/>
          <p:nvPr/>
        </p:nvSpPr>
        <p:spPr>
          <a:xfrm>
            <a:off x="3840480" y="6473952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 of CSE, Daffodil International University</a:t>
            </a:r>
            <a:endParaRPr lang="en-US" sz="9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5C3C93B0-14E8-CF81-0B30-F5A5A4778E15}"/>
              </a:ext>
            </a:extLst>
          </p:cNvPr>
          <p:cNvSpPr/>
          <p:nvPr/>
        </p:nvSpPr>
        <p:spPr>
          <a:xfrm>
            <a:off x="11612880" y="63825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</a:rPr>
              <a:t>15</a:t>
            </a:r>
            <a:endParaRPr lang="en-US" sz="9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46350A4-0ADD-D619-5D4C-7EF7AC03BB33}"/>
              </a:ext>
            </a:extLst>
          </p:cNvPr>
          <p:cNvSpPr/>
          <p:nvPr/>
        </p:nvSpPr>
        <p:spPr>
          <a:xfrm>
            <a:off x="1111348" y="4144827"/>
            <a:ext cx="689317" cy="581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11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FEF5817-1398-CB1D-A59A-FA0E496941F1}"/>
              </a:ext>
            </a:extLst>
          </p:cNvPr>
          <p:cNvSpPr/>
          <p:nvPr/>
        </p:nvSpPr>
        <p:spPr>
          <a:xfrm>
            <a:off x="2276622" y="4144826"/>
            <a:ext cx="689317" cy="581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10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81F7E5C-D422-4E40-C0CA-726FD5FB558F}"/>
              </a:ext>
            </a:extLst>
          </p:cNvPr>
          <p:cNvSpPr/>
          <p:nvPr/>
        </p:nvSpPr>
        <p:spPr>
          <a:xfrm>
            <a:off x="3441896" y="4144827"/>
            <a:ext cx="689317" cy="581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10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B4BB248-1BB5-6ACF-B730-17FC68CD8DC4}"/>
              </a:ext>
            </a:extLst>
          </p:cNvPr>
          <p:cNvSpPr/>
          <p:nvPr/>
        </p:nvSpPr>
        <p:spPr>
          <a:xfrm>
            <a:off x="7014809" y="4144828"/>
            <a:ext cx="689317" cy="581137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55BFF10-5414-B39D-2059-E795C7D824A1}"/>
              </a:ext>
            </a:extLst>
          </p:cNvPr>
          <p:cNvSpPr/>
          <p:nvPr/>
        </p:nvSpPr>
        <p:spPr>
          <a:xfrm>
            <a:off x="4653109" y="4126165"/>
            <a:ext cx="689317" cy="58113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778C110-2CD0-B643-C7D6-EA195871A51B}"/>
              </a:ext>
            </a:extLst>
          </p:cNvPr>
          <p:cNvSpPr/>
          <p:nvPr/>
        </p:nvSpPr>
        <p:spPr>
          <a:xfrm>
            <a:off x="5818383" y="4126166"/>
            <a:ext cx="689317" cy="58113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8310932-62C0-BA88-F8D7-DA0DA19BB263}"/>
              </a:ext>
            </a:extLst>
          </p:cNvPr>
          <p:cNvSpPr/>
          <p:nvPr/>
        </p:nvSpPr>
        <p:spPr>
          <a:xfrm>
            <a:off x="8060787" y="4154159"/>
            <a:ext cx="689317" cy="58113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8EE3CAC-F41E-516C-B55B-E2B163AB9BAB}"/>
              </a:ext>
            </a:extLst>
          </p:cNvPr>
          <p:cNvSpPr/>
          <p:nvPr/>
        </p:nvSpPr>
        <p:spPr>
          <a:xfrm>
            <a:off x="9226061" y="4154160"/>
            <a:ext cx="689317" cy="58113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D735500-74F9-0FCD-0ACD-9C7AE36FF636}"/>
              </a:ext>
            </a:extLst>
          </p:cNvPr>
          <p:cNvSpPr txBox="1"/>
          <p:nvPr/>
        </p:nvSpPr>
        <p:spPr>
          <a:xfrm>
            <a:off x="1246751" y="4694231"/>
            <a:ext cx="8989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72                    79                    67                     61                    58                     85                 91                     52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6629FD9-CE64-1A67-9C89-7C96F97DA21B}"/>
              </a:ext>
            </a:extLst>
          </p:cNvPr>
          <p:cNvSpPr/>
          <p:nvPr/>
        </p:nvSpPr>
        <p:spPr>
          <a:xfrm>
            <a:off x="8639344" y="2939145"/>
            <a:ext cx="689317" cy="581137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6397E38-F5DF-0600-4D08-1C6E242A86FE}"/>
              </a:ext>
            </a:extLst>
          </p:cNvPr>
          <p:cNvCxnSpPr>
            <a:stCxn id="4" idx="4"/>
            <a:endCxn id="20" idx="0"/>
          </p:cNvCxnSpPr>
          <p:nvPr/>
        </p:nvCxnSpPr>
        <p:spPr>
          <a:xfrm flipH="1">
            <a:off x="8405446" y="3520282"/>
            <a:ext cx="578557" cy="63387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0A502A5-B4A9-1EA7-9FE7-41F07DB2F0A0}"/>
              </a:ext>
            </a:extLst>
          </p:cNvPr>
          <p:cNvCxnSpPr>
            <a:stCxn id="21" idx="0"/>
            <a:endCxn id="4" idx="4"/>
          </p:cNvCxnSpPr>
          <p:nvPr/>
        </p:nvCxnSpPr>
        <p:spPr>
          <a:xfrm flipH="1" flipV="1">
            <a:off x="8984003" y="3520282"/>
            <a:ext cx="586717" cy="6338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8F2BDC25-796A-D787-D1BC-CD3E53EA3FAD}"/>
              </a:ext>
            </a:extLst>
          </p:cNvPr>
          <p:cNvSpPr/>
          <p:nvPr/>
        </p:nvSpPr>
        <p:spPr>
          <a:xfrm>
            <a:off x="5265829" y="2931090"/>
            <a:ext cx="689317" cy="581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15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4FC275E-3AB0-6076-F1D5-CDD87C914107}"/>
              </a:ext>
            </a:extLst>
          </p:cNvPr>
          <p:cNvCxnSpPr>
            <a:stCxn id="34" idx="4"/>
            <a:endCxn id="18" idx="0"/>
          </p:cNvCxnSpPr>
          <p:nvPr/>
        </p:nvCxnSpPr>
        <p:spPr>
          <a:xfrm flipH="1">
            <a:off x="4997768" y="3512227"/>
            <a:ext cx="612720" cy="61393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D91D27C-2087-E0B0-340C-D7079A1B7B2A}"/>
              </a:ext>
            </a:extLst>
          </p:cNvPr>
          <p:cNvCxnSpPr>
            <a:stCxn id="34" idx="4"/>
            <a:endCxn id="19" idx="0"/>
          </p:cNvCxnSpPr>
          <p:nvPr/>
        </p:nvCxnSpPr>
        <p:spPr>
          <a:xfrm>
            <a:off x="5610488" y="3512227"/>
            <a:ext cx="552554" cy="61393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224A12C9-E2D5-E11F-FBDF-3CBE526BA897}"/>
              </a:ext>
            </a:extLst>
          </p:cNvPr>
          <p:cNvSpPr/>
          <p:nvPr/>
        </p:nvSpPr>
        <p:spPr>
          <a:xfrm>
            <a:off x="7511867" y="2082754"/>
            <a:ext cx="689317" cy="581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18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9938B31-5A0A-E022-C0D5-4550FE3DC95A}"/>
              </a:ext>
            </a:extLst>
          </p:cNvPr>
          <p:cNvCxnSpPr>
            <a:stCxn id="5" idx="4"/>
            <a:endCxn id="17" idx="0"/>
          </p:cNvCxnSpPr>
          <p:nvPr/>
        </p:nvCxnSpPr>
        <p:spPr>
          <a:xfrm flipH="1">
            <a:off x="7359468" y="2663891"/>
            <a:ext cx="497058" cy="148093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7C9F9D3-8552-704E-850A-86967CA39F47}"/>
              </a:ext>
            </a:extLst>
          </p:cNvPr>
          <p:cNvCxnSpPr>
            <a:stCxn id="5" idx="4"/>
            <a:endCxn id="4" idx="0"/>
          </p:cNvCxnSpPr>
          <p:nvPr/>
        </p:nvCxnSpPr>
        <p:spPr>
          <a:xfrm>
            <a:off x="7856526" y="2663891"/>
            <a:ext cx="1127477" cy="27525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hape 5">
            <a:extLst>
              <a:ext uri="{FF2B5EF4-FFF2-40B4-BE49-F238E27FC236}">
                <a16:creationId xmlns:a16="http://schemas.microsoft.com/office/drawing/2014/main" id="{6339BE58-CBAD-DC73-5EA0-98B7D565802B}"/>
              </a:ext>
            </a:extLst>
          </p:cNvPr>
          <p:cNvSpPr/>
          <p:nvPr/>
        </p:nvSpPr>
        <p:spPr>
          <a:xfrm>
            <a:off x="868680" y="5254169"/>
            <a:ext cx="10241280" cy="1005840"/>
          </a:xfrm>
          <a:prstGeom prst="roundRect">
            <a:avLst>
              <a:gd name="adj" fmla="val 5455"/>
            </a:avLst>
          </a:prstGeom>
          <a:solidFill>
            <a:srgbClr val="FFF8E8"/>
          </a:solidFill>
          <a:ln w="15240">
            <a:solidFill>
              <a:srgbClr val="F4A261"/>
            </a:solidFill>
            <a:prstDash val="solid"/>
          </a:ln>
        </p:spPr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08FF995F-9EAC-C3CF-19AB-FFA75689C5C4}"/>
              </a:ext>
            </a:extLst>
          </p:cNvPr>
          <p:cNvSpPr/>
          <p:nvPr/>
        </p:nvSpPr>
        <p:spPr>
          <a:xfrm>
            <a:off x="978408" y="5345609"/>
            <a:ext cx="10021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A4D00"/>
                </a:solidFill>
              </a:rPr>
              <a:t>Note:</a:t>
            </a:r>
            <a:endParaRPr lang="en-US" dirty="0"/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17B1581C-4668-1192-FC80-DE5ED2B75B50}"/>
              </a:ext>
            </a:extLst>
          </p:cNvPr>
          <p:cNvSpPr/>
          <p:nvPr/>
        </p:nvSpPr>
        <p:spPr>
          <a:xfrm>
            <a:off x="978408" y="5638217"/>
            <a:ext cx="1002182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dirty="0"/>
              <a:t>Among 11, 10, 10, 15, and 18; node 10 and 10 are the smallest.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E7F30BB-A886-3167-F856-BDB293E3D665}"/>
              </a:ext>
            </a:extLst>
          </p:cNvPr>
          <p:cNvCxnSpPr/>
          <p:nvPr/>
        </p:nvCxnSpPr>
        <p:spPr>
          <a:xfrm>
            <a:off x="6917282" y="3791677"/>
            <a:ext cx="0" cy="132355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CE9C768-7278-C5F3-5AC3-5656085AEA4C}"/>
              </a:ext>
            </a:extLst>
          </p:cNvPr>
          <p:cNvCxnSpPr/>
          <p:nvPr/>
        </p:nvCxnSpPr>
        <p:spPr>
          <a:xfrm>
            <a:off x="7798042" y="3789329"/>
            <a:ext cx="0" cy="132355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B4F63C1-7A48-E841-23A0-D07F8B7DFB72}"/>
              </a:ext>
            </a:extLst>
          </p:cNvPr>
          <p:cNvCxnSpPr>
            <a:cxnSpLocks/>
          </p:cNvCxnSpPr>
          <p:nvPr/>
        </p:nvCxnSpPr>
        <p:spPr>
          <a:xfrm>
            <a:off x="6917282" y="3791677"/>
            <a:ext cx="88076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2DFA517-1B05-0B4E-9DA1-62D4AA6E8EA5}"/>
              </a:ext>
            </a:extLst>
          </p:cNvPr>
          <p:cNvCxnSpPr>
            <a:cxnSpLocks/>
          </p:cNvCxnSpPr>
          <p:nvPr/>
        </p:nvCxnSpPr>
        <p:spPr>
          <a:xfrm>
            <a:off x="6917282" y="5097630"/>
            <a:ext cx="87841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EE7E6B4-E6F6-B11E-B852-B25211A203FD}"/>
              </a:ext>
            </a:extLst>
          </p:cNvPr>
          <p:cNvCxnSpPr>
            <a:cxnSpLocks/>
          </p:cNvCxnSpPr>
          <p:nvPr/>
        </p:nvCxnSpPr>
        <p:spPr>
          <a:xfrm>
            <a:off x="4578457" y="2886599"/>
            <a:ext cx="0" cy="2148967"/>
          </a:xfrm>
          <a:prstGeom prst="line">
            <a:avLst/>
          </a:prstGeom>
          <a:ln w="3810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1DA077C-E6C6-17AD-D415-40AF375F3081}"/>
              </a:ext>
            </a:extLst>
          </p:cNvPr>
          <p:cNvCxnSpPr>
            <a:cxnSpLocks/>
          </p:cNvCxnSpPr>
          <p:nvPr/>
        </p:nvCxnSpPr>
        <p:spPr>
          <a:xfrm>
            <a:off x="6672200" y="2884251"/>
            <a:ext cx="0" cy="2151315"/>
          </a:xfrm>
          <a:prstGeom prst="line">
            <a:avLst/>
          </a:prstGeom>
          <a:ln w="3810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4E38BCD-D3F2-679E-A016-3D86A557DAEB}"/>
              </a:ext>
            </a:extLst>
          </p:cNvPr>
          <p:cNvCxnSpPr>
            <a:cxnSpLocks/>
          </p:cNvCxnSpPr>
          <p:nvPr/>
        </p:nvCxnSpPr>
        <p:spPr>
          <a:xfrm>
            <a:off x="4578457" y="2886599"/>
            <a:ext cx="2093743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5942BFF-B9BA-D35B-0A0B-70F7A53F312E}"/>
              </a:ext>
            </a:extLst>
          </p:cNvPr>
          <p:cNvCxnSpPr>
            <a:cxnSpLocks/>
          </p:cNvCxnSpPr>
          <p:nvPr/>
        </p:nvCxnSpPr>
        <p:spPr>
          <a:xfrm>
            <a:off x="4576112" y="5041641"/>
            <a:ext cx="2093743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21563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E9AAF6-C4AA-28DF-A397-A47DF815D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807CF9A-1994-81E9-A3FB-B90C45DEA2A8}"/>
              </a:ext>
            </a:extLst>
          </p:cNvPr>
          <p:cNvSpPr/>
          <p:nvPr/>
        </p:nvSpPr>
        <p:spPr>
          <a:xfrm>
            <a:off x="594360" y="38404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</a:rPr>
              <a:t>Worked Example: Build a Huffman Tree</a:t>
            </a:r>
            <a:endParaRPr lang="en-US" sz="2200" dirty="0"/>
          </a:p>
        </p:txBody>
      </p:sp>
      <p:pic>
        <p:nvPicPr>
          <p:cNvPr id="3" name="Image 0" descr="/mnt/data/user-1kFy9epRxYXs1pHOCdzQinPw/fc5910e8ff0f429aa4306e1576c19e7d/mnt/data/diu_logo_crop.png">
            <a:extLst>
              <a:ext uri="{FF2B5EF4-FFF2-40B4-BE49-F238E27FC236}">
                <a16:creationId xmlns:a16="http://schemas.microsoft.com/office/drawing/2014/main" id="{25F25612-7BAB-4EE2-A2F6-72BD8ED34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6960" y="91440"/>
            <a:ext cx="660400" cy="594360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9614E5D4-1529-4B6D-E5AA-BF9C443FBBF4}"/>
              </a:ext>
            </a:extLst>
          </p:cNvPr>
          <p:cNvSpPr/>
          <p:nvPr/>
        </p:nvSpPr>
        <p:spPr>
          <a:xfrm>
            <a:off x="3840480" y="6473952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 of CSE, Daffodil International University</a:t>
            </a:r>
            <a:endParaRPr lang="en-US" sz="9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60F2202-5AB4-97D4-81E9-5552A196ACA5}"/>
              </a:ext>
            </a:extLst>
          </p:cNvPr>
          <p:cNvSpPr/>
          <p:nvPr/>
        </p:nvSpPr>
        <p:spPr>
          <a:xfrm>
            <a:off x="11612880" y="63825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</a:rPr>
              <a:t>15</a:t>
            </a:r>
            <a:endParaRPr lang="en-US" sz="9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60BC71D-9EE7-B09F-ED6D-8D457B05A752}"/>
              </a:ext>
            </a:extLst>
          </p:cNvPr>
          <p:cNvSpPr/>
          <p:nvPr/>
        </p:nvSpPr>
        <p:spPr>
          <a:xfrm>
            <a:off x="1111348" y="4144827"/>
            <a:ext cx="689317" cy="581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11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46B4D92-CDF3-DB7B-33E9-C9186460C460}"/>
              </a:ext>
            </a:extLst>
          </p:cNvPr>
          <p:cNvSpPr/>
          <p:nvPr/>
        </p:nvSpPr>
        <p:spPr>
          <a:xfrm>
            <a:off x="2276622" y="4144826"/>
            <a:ext cx="689317" cy="581137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10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BE17C06-5BA6-3E73-BCA4-B3EC2B666B16}"/>
              </a:ext>
            </a:extLst>
          </p:cNvPr>
          <p:cNvSpPr/>
          <p:nvPr/>
        </p:nvSpPr>
        <p:spPr>
          <a:xfrm>
            <a:off x="3441896" y="4144827"/>
            <a:ext cx="689317" cy="581137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10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DD9FA6E-AD06-B395-C84B-A30F2E0E0702}"/>
              </a:ext>
            </a:extLst>
          </p:cNvPr>
          <p:cNvSpPr/>
          <p:nvPr/>
        </p:nvSpPr>
        <p:spPr>
          <a:xfrm>
            <a:off x="7014809" y="4144828"/>
            <a:ext cx="689317" cy="58113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8F94869-3F3A-D887-EB0D-9E6597BA22F9}"/>
              </a:ext>
            </a:extLst>
          </p:cNvPr>
          <p:cNvSpPr/>
          <p:nvPr/>
        </p:nvSpPr>
        <p:spPr>
          <a:xfrm>
            <a:off x="4653109" y="4126165"/>
            <a:ext cx="689317" cy="58113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3E22888-1ECB-A380-A537-99FA4AE7D72D}"/>
              </a:ext>
            </a:extLst>
          </p:cNvPr>
          <p:cNvSpPr/>
          <p:nvPr/>
        </p:nvSpPr>
        <p:spPr>
          <a:xfrm>
            <a:off x="5818383" y="4126166"/>
            <a:ext cx="689317" cy="58113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F67877A-0A6A-2E96-8AC3-03545BE7DB73}"/>
              </a:ext>
            </a:extLst>
          </p:cNvPr>
          <p:cNvSpPr/>
          <p:nvPr/>
        </p:nvSpPr>
        <p:spPr>
          <a:xfrm>
            <a:off x="8060787" y="4154159"/>
            <a:ext cx="689317" cy="58113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A9D3D7E-FC08-69F3-F5A5-80F61FBC31B5}"/>
              </a:ext>
            </a:extLst>
          </p:cNvPr>
          <p:cNvSpPr/>
          <p:nvPr/>
        </p:nvSpPr>
        <p:spPr>
          <a:xfrm>
            <a:off x="9226061" y="4154160"/>
            <a:ext cx="689317" cy="58113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1789D61-DD26-C5C8-54D5-9B85B7FB724E}"/>
              </a:ext>
            </a:extLst>
          </p:cNvPr>
          <p:cNvSpPr txBox="1"/>
          <p:nvPr/>
        </p:nvSpPr>
        <p:spPr>
          <a:xfrm>
            <a:off x="1246751" y="4694231"/>
            <a:ext cx="8989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72                    79                    67                     61                    58                     85                 91                     52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4F77C09-8FF1-1092-648F-42E4E03A19AC}"/>
              </a:ext>
            </a:extLst>
          </p:cNvPr>
          <p:cNvSpPr/>
          <p:nvPr/>
        </p:nvSpPr>
        <p:spPr>
          <a:xfrm>
            <a:off x="8639344" y="2939145"/>
            <a:ext cx="689317" cy="58113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2CB021-3179-8D3E-DABD-9796C87EE70F}"/>
              </a:ext>
            </a:extLst>
          </p:cNvPr>
          <p:cNvCxnSpPr>
            <a:stCxn id="4" idx="4"/>
            <a:endCxn id="20" idx="0"/>
          </p:cNvCxnSpPr>
          <p:nvPr/>
        </p:nvCxnSpPr>
        <p:spPr>
          <a:xfrm flipH="1">
            <a:off x="8405446" y="3520282"/>
            <a:ext cx="578557" cy="63387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0343CA4-D3FA-3D24-0EE1-51A0760ED884}"/>
              </a:ext>
            </a:extLst>
          </p:cNvPr>
          <p:cNvCxnSpPr>
            <a:stCxn id="21" idx="0"/>
            <a:endCxn id="4" idx="4"/>
          </p:cNvCxnSpPr>
          <p:nvPr/>
        </p:nvCxnSpPr>
        <p:spPr>
          <a:xfrm flipH="1" flipV="1">
            <a:off x="8984003" y="3520282"/>
            <a:ext cx="586717" cy="6338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BA2E6419-4364-85ED-7DF5-6C22C2731CD6}"/>
              </a:ext>
            </a:extLst>
          </p:cNvPr>
          <p:cNvSpPr/>
          <p:nvPr/>
        </p:nvSpPr>
        <p:spPr>
          <a:xfrm>
            <a:off x="5265829" y="2939145"/>
            <a:ext cx="689317" cy="581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15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17599E5-AF15-ED5E-E32D-003974DFB605}"/>
              </a:ext>
            </a:extLst>
          </p:cNvPr>
          <p:cNvCxnSpPr>
            <a:stCxn id="34" idx="4"/>
            <a:endCxn id="18" idx="0"/>
          </p:cNvCxnSpPr>
          <p:nvPr/>
        </p:nvCxnSpPr>
        <p:spPr>
          <a:xfrm flipH="1">
            <a:off x="4997768" y="3520282"/>
            <a:ext cx="612720" cy="60588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89EFA75-C3CA-4B5D-42A8-26B0400164AB}"/>
              </a:ext>
            </a:extLst>
          </p:cNvPr>
          <p:cNvCxnSpPr>
            <a:stCxn id="34" idx="4"/>
            <a:endCxn id="19" idx="0"/>
          </p:cNvCxnSpPr>
          <p:nvPr/>
        </p:nvCxnSpPr>
        <p:spPr>
          <a:xfrm>
            <a:off x="5610488" y="3520282"/>
            <a:ext cx="552554" cy="60588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389B6AE8-88C2-04FA-A593-4AD3ED950C3B}"/>
              </a:ext>
            </a:extLst>
          </p:cNvPr>
          <p:cNvSpPr/>
          <p:nvPr/>
        </p:nvSpPr>
        <p:spPr>
          <a:xfrm>
            <a:off x="7511867" y="2185392"/>
            <a:ext cx="689317" cy="581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18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ACCF301-539D-FDCF-DBAA-E5F010C5DCFC}"/>
              </a:ext>
            </a:extLst>
          </p:cNvPr>
          <p:cNvCxnSpPr>
            <a:stCxn id="5" idx="4"/>
            <a:endCxn id="17" idx="0"/>
          </p:cNvCxnSpPr>
          <p:nvPr/>
        </p:nvCxnSpPr>
        <p:spPr>
          <a:xfrm flipH="1">
            <a:off x="7359468" y="2766529"/>
            <a:ext cx="497058" cy="137829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C0F2C20-650E-458F-AE69-007FFAA433D7}"/>
              </a:ext>
            </a:extLst>
          </p:cNvPr>
          <p:cNvCxnSpPr>
            <a:stCxn id="5" idx="4"/>
            <a:endCxn id="4" idx="0"/>
          </p:cNvCxnSpPr>
          <p:nvPr/>
        </p:nvCxnSpPr>
        <p:spPr>
          <a:xfrm>
            <a:off x="7856526" y="2766529"/>
            <a:ext cx="1127477" cy="17261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hape 5">
            <a:extLst>
              <a:ext uri="{FF2B5EF4-FFF2-40B4-BE49-F238E27FC236}">
                <a16:creationId xmlns:a16="http://schemas.microsoft.com/office/drawing/2014/main" id="{B91F91EC-8182-D446-0AB5-B8B7953EAE7F}"/>
              </a:ext>
            </a:extLst>
          </p:cNvPr>
          <p:cNvSpPr/>
          <p:nvPr/>
        </p:nvSpPr>
        <p:spPr>
          <a:xfrm>
            <a:off x="868680" y="5254169"/>
            <a:ext cx="10241280" cy="1005840"/>
          </a:xfrm>
          <a:prstGeom prst="roundRect">
            <a:avLst>
              <a:gd name="adj" fmla="val 5455"/>
            </a:avLst>
          </a:prstGeom>
          <a:solidFill>
            <a:srgbClr val="FFF8E8"/>
          </a:solidFill>
          <a:ln w="15240">
            <a:solidFill>
              <a:srgbClr val="F4A261"/>
            </a:solidFill>
            <a:prstDash val="solid"/>
          </a:ln>
        </p:spPr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BFA2B8BE-23A4-1556-74EF-F7D8C863403B}"/>
              </a:ext>
            </a:extLst>
          </p:cNvPr>
          <p:cNvSpPr/>
          <p:nvPr/>
        </p:nvSpPr>
        <p:spPr>
          <a:xfrm>
            <a:off x="978408" y="5345609"/>
            <a:ext cx="10021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A4D00"/>
                </a:solidFill>
              </a:rPr>
              <a:t>Note:</a:t>
            </a:r>
            <a:endParaRPr lang="en-US" dirty="0"/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313088E5-1A21-B929-307D-AFB9278AABA1}"/>
              </a:ext>
            </a:extLst>
          </p:cNvPr>
          <p:cNvSpPr/>
          <p:nvPr/>
        </p:nvSpPr>
        <p:spPr>
          <a:xfrm>
            <a:off x="978408" y="5638217"/>
            <a:ext cx="1002182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dirty="0"/>
              <a:t>Again, 11 and 15 are now the smallest nodes. So, we again place them side by side for convenience so they can be merged into a new parent node.</a:t>
            </a:r>
          </a:p>
          <a:p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5521DF4-395E-452D-978D-9D2E1E9151F1}"/>
              </a:ext>
            </a:extLst>
          </p:cNvPr>
          <p:cNvSpPr/>
          <p:nvPr/>
        </p:nvSpPr>
        <p:spPr>
          <a:xfrm>
            <a:off x="2903310" y="2943705"/>
            <a:ext cx="689317" cy="581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20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14911F9-1FF4-4422-E378-4B2351FCA720}"/>
              </a:ext>
            </a:extLst>
          </p:cNvPr>
          <p:cNvCxnSpPr>
            <a:stCxn id="6" idx="4"/>
            <a:endCxn id="15" idx="0"/>
          </p:cNvCxnSpPr>
          <p:nvPr/>
        </p:nvCxnSpPr>
        <p:spPr>
          <a:xfrm flipH="1">
            <a:off x="2621281" y="3524842"/>
            <a:ext cx="626688" cy="61998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C24D0DE-3D49-FBD9-DB2C-D6795DB60E01}"/>
              </a:ext>
            </a:extLst>
          </p:cNvPr>
          <p:cNvCxnSpPr>
            <a:stCxn id="6" idx="4"/>
            <a:endCxn id="16" idx="0"/>
          </p:cNvCxnSpPr>
          <p:nvPr/>
        </p:nvCxnSpPr>
        <p:spPr>
          <a:xfrm>
            <a:off x="3247969" y="3524842"/>
            <a:ext cx="538586" cy="61998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247EBB4-8486-ACF3-53E4-37ABF6C990C5}"/>
              </a:ext>
            </a:extLst>
          </p:cNvPr>
          <p:cNvCxnSpPr>
            <a:cxnSpLocks/>
          </p:cNvCxnSpPr>
          <p:nvPr/>
        </p:nvCxnSpPr>
        <p:spPr>
          <a:xfrm>
            <a:off x="4578457" y="2886599"/>
            <a:ext cx="0" cy="2148967"/>
          </a:xfrm>
          <a:prstGeom prst="line">
            <a:avLst/>
          </a:prstGeom>
          <a:ln w="3810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A710638-BC63-8C18-8D26-20AB047130AD}"/>
              </a:ext>
            </a:extLst>
          </p:cNvPr>
          <p:cNvCxnSpPr>
            <a:cxnSpLocks/>
          </p:cNvCxnSpPr>
          <p:nvPr/>
        </p:nvCxnSpPr>
        <p:spPr>
          <a:xfrm>
            <a:off x="6672200" y="2884251"/>
            <a:ext cx="0" cy="2151315"/>
          </a:xfrm>
          <a:prstGeom prst="line">
            <a:avLst/>
          </a:prstGeom>
          <a:ln w="3810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7C0038D-858D-48D5-89EA-890B50531C8E}"/>
              </a:ext>
            </a:extLst>
          </p:cNvPr>
          <p:cNvCxnSpPr>
            <a:cxnSpLocks/>
          </p:cNvCxnSpPr>
          <p:nvPr/>
        </p:nvCxnSpPr>
        <p:spPr>
          <a:xfrm>
            <a:off x="4578457" y="2886599"/>
            <a:ext cx="2093743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2CF9148-55DC-9AD5-7A1E-950634F090D8}"/>
              </a:ext>
            </a:extLst>
          </p:cNvPr>
          <p:cNvCxnSpPr>
            <a:cxnSpLocks/>
          </p:cNvCxnSpPr>
          <p:nvPr/>
        </p:nvCxnSpPr>
        <p:spPr>
          <a:xfrm>
            <a:off x="4576112" y="5041641"/>
            <a:ext cx="2093743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A951CA7-E76C-0654-0CD0-D3C12E31989D}"/>
              </a:ext>
            </a:extLst>
          </p:cNvPr>
          <p:cNvCxnSpPr>
            <a:cxnSpLocks/>
          </p:cNvCxnSpPr>
          <p:nvPr/>
        </p:nvCxnSpPr>
        <p:spPr>
          <a:xfrm>
            <a:off x="2202252" y="2871045"/>
            <a:ext cx="0" cy="214896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BDDAE56-C39B-86F6-6FD6-1C14EB91933B}"/>
              </a:ext>
            </a:extLst>
          </p:cNvPr>
          <p:cNvCxnSpPr>
            <a:cxnSpLocks/>
          </p:cNvCxnSpPr>
          <p:nvPr/>
        </p:nvCxnSpPr>
        <p:spPr>
          <a:xfrm>
            <a:off x="4295995" y="2868697"/>
            <a:ext cx="0" cy="215131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5E9B0EC-0E92-B489-1A64-3CAF534C894C}"/>
              </a:ext>
            </a:extLst>
          </p:cNvPr>
          <p:cNvCxnSpPr>
            <a:cxnSpLocks/>
          </p:cNvCxnSpPr>
          <p:nvPr/>
        </p:nvCxnSpPr>
        <p:spPr>
          <a:xfrm>
            <a:off x="2202252" y="2871045"/>
            <a:ext cx="209374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BDD7921-2A60-3C68-EEC3-DFAD71272D04}"/>
              </a:ext>
            </a:extLst>
          </p:cNvPr>
          <p:cNvCxnSpPr>
            <a:cxnSpLocks/>
          </p:cNvCxnSpPr>
          <p:nvPr/>
        </p:nvCxnSpPr>
        <p:spPr>
          <a:xfrm>
            <a:off x="2199907" y="5026087"/>
            <a:ext cx="209374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5CA58EA-6118-E83E-FCB5-F47A96A6308B}"/>
              </a:ext>
            </a:extLst>
          </p:cNvPr>
          <p:cNvCxnSpPr/>
          <p:nvPr/>
        </p:nvCxnSpPr>
        <p:spPr>
          <a:xfrm>
            <a:off x="4295995" y="3704253"/>
            <a:ext cx="28246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0B69BFE-43C0-14DE-EE89-0228AD56D9C1}"/>
              </a:ext>
            </a:extLst>
          </p:cNvPr>
          <p:cNvCxnSpPr/>
          <p:nvPr/>
        </p:nvCxnSpPr>
        <p:spPr>
          <a:xfrm flipH="1">
            <a:off x="4293650" y="4126165"/>
            <a:ext cx="282462" cy="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23091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F8BE2F-8BB4-7A8A-F043-227A42810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5EAB9F6-E28F-B209-A8A1-B184F1D24E6F}"/>
              </a:ext>
            </a:extLst>
          </p:cNvPr>
          <p:cNvSpPr/>
          <p:nvPr/>
        </p:nvSpPr>
        <p:spPr>
          <a:xfrm>
            <a:off x="594360" y="38404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</a:rPr>
              <a:t>Worked Example: Build a Huffman Tree</a:t>
            </a:r>
            <a:endParaRPr lang="en-US" sz="2200" dirty="0"/>
          </a:p>
        </p:txBody>
      </p:sp>
      <p:pic>
        <p:nvPicPr>
          <p:cNvPr id="3" name="Image 0" descr="/mnt/data/user-1kFy9epRxYXs1pHOCdzQinPw/fc5910e8ff0f429aa4306e1576c19e7d/mnt/data/diu_logo_crop.png">
            <a:extLst>
              <a:ext uri="{FF2B5EF4-FFF2-40B4-BE49-F238E27FC236}">
                <a16:creationId xmlns:a16="http://schemas.microsoft.com/office/drawing/2014/main" id="{74712F80-A453-7A7E-A582-5FFB91DE9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6960" y="91440"/>
            <a:ext cx="660400" cy="594360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BEE2720B-EC37-7DBB-73A2-8F3E675B452F}"/>
              </a:ext>
            </a:extLst>
          </p:cNvPr>
          <p:cNvSpPr/>
          <p:nvPr/>
        </p:nvSpPr>
        <p:spPr>
          <a:xfrm>
            <a:off x="3840480" y="6473952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 of CSE, Daffodil International University</a:t>
            </a:r>
            <a:endParaRPr lang="en-US" sz="9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434EB2C9-D68C-6A1C-C42B-41BF4119AF91}"/>
              </a:ext>
            </a:extLst>
          </p:cNvPr>
          <p:cNvSpPr/>
          <p:nvPr/>
        </p:nvSpPr>
        <p:spPr>
          <a:xfrm>
            <a:off x="11612880" y="63825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</a:rPr>
              <a:t>15</a:t>
            </a:r>
            <a:endParaRPr lang="en-US" sz="9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8FC58FE-4C02-7D0B-2FF0-4B15B9A301F6}"/>
              </a:ext>
            </a:extLst>
          </p:cNvPr>
          <p:cNvSpPr/>
          <p:nvPr/>
        </p:nvSpPr>
        <p:spPr>
          <a:xfrm>
            <a:off x="1111348" y="4144827"/>
            <a:ext cx="689317" cy="581137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11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5810797-A955-E63F-246F-9209B14CC057}"/>
              </a:ext>
            </a:extLst>
          </p:cNvPr>
          <p:cNvSpPr/>
          <p:nvPr/>
        </p:nvSpPr>
        <p:spPr>
          <a:xfrm>
            <a:off x="4655930" y="4107506"/>
            <a:ext cx="689317" cy="58113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10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410B94E-5F1F-EBE8-FC55-64FC41870287}"/>
              </a:ext>
            </a:extLst>
          </p:cNvPr>
          <p:cNvSpPr/>
          <p:nvPr/>
        </p:nvSpPr>
        <p:spPr>
          <a:xfrm>
            <a:off x="5821204" y="4107507"/>
            <a:ext cx="689317" cy="58113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10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C2B8BE8-1380-210C-0447-36C40B5B4F82}"/>
              </a:ext>
            </a:extLst>
          </p:cNvPr>
          <p:cNvSpPr/>
          <p:nvPr/>
        </p:nvSpPr>
        <p:spPr>
          <a:xfrm>
            <a:off x="7014809" y="4144828"/>
            <a:ext cx="689317" cy="58113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9CFBE9C-8E60-1098-B965-4EBB9BE31515}"/>
              </a:ext>
            </a:extLst>
          </p:cNvPr>
          <p:cNvSpPr/>
          <p:nvPr/>
        </p:nvSpPr>
        <p:spPr>
          <a:xfrm>
            <a:off x="2292458" y="4126165"/>
            <a:ext cx="689317" cy="58113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FB7D317-E289-EFE3-E95B-9AC7281894E7}"/>
              </a:ext>
            </a:extLst>
          </p:cNvPr>
          <p:cNvSpPr/>
          <p:nvPr/>
        </p:nvSpPr>
        <p:spPr>
          <a:xfrm>
            <a:off x="3457732" y="4126166"/>
            <a:ext cx="689317" cy="58113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8C96341-6418-A01B-0176-255597F4D6F2}"/>
              </a:ext>
            </a:extLst>
          </p:cNvPr>
          <p:cNvSpPr/>
          <p:nvPr/>
        </p:nvSpPr>
        <p:spPr>
          <a:xfrm>
            <a:off x="8060787" y="4154159"/>
            <a:ext cx="689317" cy="58113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6B56986-E085-A11E-E991-04CFE5C78C1A}"/>
              </a:ext>
            </a:extLst>
          </p:cNvPr>
          <p:cNvSpPr/>
          <p:nvPr/>
        </p:nvSpPr>
        <p:spPr>
          <a:xfrm>
            <a:off x="9226061" y="4154160"/>
            <a:ext cx="689317" cy="58113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6DEAD4-F22A-C2CE-88DF-F6A4F37677E0}"/>
              </a:ext>
            </a:extLst>
          </p:cNvPr>
          <p:cNvSpPr txBox="1"/>
          <p:nvPr/>
        </p:nvSpPr>
        <p:spPr>
          <a:xfrm>
            <a:off x="1246751" y="4694231"/>
            <a:ext cx="8989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72                    61                    58                     79                    67                     85                 91                     52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9941DB0-7588-55CC-BA8F-03DABE55B47D}"/>
              </a:ext>
            </a:extLst>
          </p:cNvPr>
          <p:cNvSpPr/>
          <p:nvPr/>
        </p:nvSpPr>
        <p:spPr>
          <a:xfrm>
            <a:off x="8639344" y="2939145"/>
            <a:ext cx="689317" cy="58113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F013B5D-E985-9A7E-6E54-B3B71E347323}"/>
              </a:ext>
            </a:extLst>
          </p:cNvPr>
          <p:cNvCxnSpPr>
            <a:stCxn id="4" idx="4"/>
            <a:endCxn id="20" idx="0"/>
          </p:cNvCxnSpPr>
          <p:nvPr/>
        </p:nvCxnSpPr>
        <p:spPr>
          <a:xfrm flipH="1">
            <a:off x="8405446" y="3520282"/>
            <a:ext cx="578557" cy="63387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A98DA20-28B1-B03E-597C-DE1A2842B21B}"/>
              </a:ext>
            </a:extLst>
          </p:cNvPr>
          <p:cNvCxnSpPr>
            <a:stCxn id="21" idx="0"/>
            <a:endCxn id="4" idx="4"/>
          </p:cNvCxnSpPr>
          <p:nvPr/>
        </p:nvCxnSpPr>
        <p:spPr>
          <a:xfrm flipH="1" flipV="1">
            <a:off x="8984003" y="3520282"/>
            <a:ext cx="586717" cy="6338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9C10D202-55FC-4F26-F01D-1351213F4F40}"/>
              </a:ext>
            </a:extLst>
          </p:cNvPr>
          <p:cNvSpPr/>
          <p:nvPr/>
        </p:nvSpPr>
        <p:spPr>
          <a:xfrm>
            <a:off x="2905178" y="2939145"/>
            <a:ext cx="689317" cy="581137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15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324D138-1BC1-FF84-17B8-1863ABA5935E}"/>
              </a:ext>
            </a:extLst>
          </p:cNvPr>
          <p:cNvCxnSpPr>
            <a:stCxn id="34" idx="4"/>
            <a:endCxn id="18" idx="0"/>
          </p:cNvCxnSpPr>
          <p:nvPr/>
        </p:nvCxnSpPr>
        <p:spPr>
          <a:xfrm flipH="1">
            <a:off x="2637117" y="3520282"/>
            <a:ext cx="612720" cy="60588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FE5A4D4-4956-7D8B-4914-7A3EA3D629F2}"/>
              </a:ext>
            </a:extLst>
          </p:cNvPr>
          <p:cNvCxnSpPr>
            <a:stCxn id="34" idx="4"/>
            <a:endCxn id="19" idx="0"/>
          </p:cNvCxnSpPr>
          <p:nvPr/>
        </p:nvCxnSpPr>
        <p:spPr>
          <a:xfrm>
            <a:off x="3249837" y="3520282"/>
            <a:ext cx="552554" cy="60588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B7985CD7-E028-9226-20DC-CD51B2EC4087}"/>
              </a:ext>
            </a:extLst>
          </p:cNvPr>
          <p:cNvSpPr/>
          <p:nvPr/>
        </p:nvSpPr>
        <p:spPr>
          <a:xfrm>
            <a:off x="7511867" y="2054760"/>
            <a:ext cx="689317" cy="581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18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0C83533-309D-A8BA-2AE5-B488BBE72437}"/>
              </a:ext>
            </a:extLst>
          </p:cNvPr>
          <p:cNvCxnSpPr>
            <a:stCxn id="5" idx="4"/>
            <a:endCxn id="17" idx="0"/>
          </p:cNvCxnSpPr>
          <p:nvPr/>
        </p:nvCxnSpPr>
        <p:spPr>
          <a:xfrm flipH="1">
            <a:off x="7359468" y="2635897"/>
            <a:ext cx="497058" cy="15089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A946988-E5E0-29FF-1500-019E045794CE}"/>
              </a:ext>
            </a:extLst>
          </p:cNvPr>
          <p:cNvCxnSpPr>
            <a:stCxn id="5" idx="4"/>
            <a:endCxn id="4" idx="0"/>
          </p:cNvCxnSpPr>
          <p:nvPr/>
        </p:nvCxnSpPr>
        <p:spPr>
          <a:xfrm>
            <a:off x="7856526" y="2635897"/>
            <a:ext cx="1127477" cy="30324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hape 5">
            <a:extLst>
              <a:ext uri="{FF2B5EF4-FFF2-40B4-BE49-F238E27FC236}">
                <a16:creationId xmlns:a16="http://schemas.microsoft.com/office/drawing/2014/main" id="{93675E2C-9193-AE13-2292-3401167DB1A5}"/>
              </a:ext>
            </a:extLst>
          </p:cNvPr>
          <p:cNvSpPr/>
          <p:nvPr/>
        </p:nvSpPr>
        <p:spPr>
          <a:xfrm>
            <a:off x="868680" y="5254169"/>
            <a:ext cx="10241280" cy="1005840"/>
          </a:xfrm>
          <a:prstGeom prst="roundRect">
            <a:avLst>
              <a:gd name="adj" fmla="val 5455"/>
            </a:avLst>
          </a:prstGeom>
          <a:solidFill>
            <a:srgbClr val="FFF8E8"/>
          </a:solidFill>
          <a:ln w="15240">
            <a:solidFill>
              <a:srgbClr val="F4A261"/>
            </a:solidFill>
            <a:prstDash val="solid"/>
          </a:ln>
        </p:spPr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92B72746-08C6-74DD-F096-3A11B8A4C3BD}"/>
              </a:ext>
            </a:extLst>
          </p:cNvPr>
          <p:cNvSpPr/>
          <p:nvPr/>
        </p:nvSpPr>
        <p:spPr>
          <a:xfrm>
            <a:off x="978408" y="5345609"/>
            <a:ext cx="10021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A4D00"/>
                </a:solidFill>
              </a:rPr>
              <a:t>Note:</a:t>
            </a:r>
            <a:endParaRPr lang="en-US" dirty="0"/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599DA07E-4B23-C1E9-7D2C-630E32CB7BB2}"/>
              </a:ext>
            </a:extLst>
          </p:cNvPr>
          <p:cNvSpPr/>
          <p:nvPr/>
        </p:nvSpPr>
        <p:spPr>
          <a:xfrm>
            <a:off x="978408" y="5638217"/>
            <a:ext cx="1002182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dirty="0"/>
              <a:t>Merge 18 and 20 as these two are now the smallest two nodes.</a:t>
            </a:r>
          </a:p>
          <a:p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FFDE522-F071-C907-C835-7B929245C568}"/>
              </a:ext>
            </a:extLst>
          </p:cNvPr>
          <p:cNvSpPr/>
          <p:nvPr/>
        </p:nvSpPr>
        <p:spPr>
          <a:xfrm>
            <a:off x="5282618" y="2906385"/>
            <a:ext cx="689317" cy="581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20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AA2F1A8-A04B-27F9-87B7-984CE3AB399B}"/>
              </a:ext>
            </a:extLst>
          </p:cNvPr>
          <p:cNvCxnSpPr>
            <a:stCxn id="6" idx="4"/>
            <a:endCxn id="15" idx="0"/>
          </p:cNvCxnSpPr>
          <p:nvPr/>
        </p:nvCxnSpPr>
        <p:spPr>
          <a:xfrm flipH="1">
            <a:off x="5000589" y="3487522"/>
            <a:ext cx="626688" cy="61998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4B47388-DF11-CB94-B7D2-C19E7933AFF2}"/>
              </a:ext>
            </a:extLst>
          </p:cNvPr>
          <p:cNvCxnSpPr>
            <a:stCxn id="6" idx="4"/>
            <a:endCxn id="16" idx="0"/>
          </p:cNvCxnSpPr>
          <p:nvPr/>
        </p:nvCxnSpPr>
        <p:spPr>
          <a:xfrm>
            <a:off x="5627277" y="3487522"/>
            <a:ext cx="538586" cy="61998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B47E67F6-F896-01E9-FCDC-BF5A0498E797}"/>
              </a:ext>
            </a:extLst>
          </p:cNvPr>
          <p:cNvSpPr/>
          <p:nvPr/>
        </p:nvSpPr>
        <p:spPr>
          <a:xfrm>
            <a:off x="1729990" y="2048541"/>
            <a:ext cx="689317" cy="581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26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42157B0-0502-A8A1-8D4A-C9102DEE020B}"/>
              </a:ext>
            </a:extLst>
          </p:cNvPr>
          <p:cNvCxnSpPr>
            <a:stCxn id="8" idx="4"/>
            <a:endCxn id="34" idx="0"/>
          </p:cNvCxnSpPr>
          <p:nvPr/>
        </p:nvCxnSpPr>
        <p:spPr>
          <a:xfrm>
            <a:off x="2074649" y="2629678"/>
            <a:ext cx="1175188" cy="30946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5238C7B-70FC-A6FC-07F2-09B2D9661772}"/>
              </a:ext>
            </a:extLst>
          </p:cNvPr>
          <p:cNvCxnSpPr>
            <a:stCxn id="8" idx="4"/>
            <a:endCxn id="14" idx="0"/>
          </p:cNvCxnSpPr>
          <p:nvPr/>
        </p:nvCxnSpPr>
        <p:spPr>
          <a:xfrm flipH="1">
            <a:off x="1456007" y="2629678"/>
            <a:ext cx="618642" cy="151514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5C6BC14-8F08-58EB-EDBD-C9DB415386FE}"/>
              </a:ext>
            </a:extLst>
          </p:cNvPr>
          <p:cNvCxnSpPr>
            <a:cxnSpLocks/>
          </p:cNvCxnSpPr>
          <p:nvPr/>
        </p:nvCxnSpPr>
        <p:spPr>
          <a:xfrm>
            <a:off x="4578457" y="2858606"/>
            <a:ext cx="0" cy="214896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DC9E970-9363-89AA-01C3-6433339BCC28}"/>
              </a:ext>
            </a:extLst>
          </p:cNvPr>
          <p:cNvCxnSpPr>
            <a:cxnSpLocks/>
          </p:cNvCxnSpPr>
          <p:nvPr/>
        </p:nvCxnSpPr>
        <p:spPr>
          <a:xfrm>
            <a:off x="6672200" y="2856258"/>
            <a:ext cx="0" cy="215131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6A30EA5-F880-E09A-2721-5FB6AE4F865C}"/>
              </a:ext>
            </a:extLst>
          </p:cNvPr>
          <p:cNvCxnSpPr>
            <a:cxnSpLocks/>
          </p:cNvCxnSpPr>
          <p:nvPr/>
        </p:nvCxnSpPr>
        <p:spPr>
          <a:xfrm>
            <a:off x="4578457" y="2858606"/>
            <a:ext cx="209374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E4D983D-0512-524C-0D18-B17901BDB34E}"/>
              </a:ext>
            </a:extLst>
          </p:cNvPr>
          <p:cNvCxnSpPr>
            <a:cxnSpLocks/>
          </p:cNvCxnSpPr>
          <p:nvPr/>
        </p:nvCxnSpPr>
        <p:spPr>
          <a:xfrm>
            <a:off x="4576112" y="5013648"/>
            <a:ext cx="209374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ABD5533-3451-71B9-1884-FEE4DD924742}"/>
              </a:ext>
            </a:extLst>
          </p:cNvPr>
          <p:cNvCxnSpPr>
            <a:cxnSpLocks/>
          </p:cNvCxnSpPr>
          <p:nvPr/>
        </p:nvCxnSpPr>
        <p:spPr>
          <a:xfrm>
            <a:off x="2202252" y="2871045"/>
            <a:ext cx="0" cy="2148967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5265B57-923F-AFC5-45B6-ADBACB475D85}"/>
              </a:ext>
            </a:extLst>
          </p:cNvPr>
          <p:cNvCxnSpPr>
            <a:cxnSpLocks/>
          </p:cNvCxnSpPr>
          <p:nvPr/>
        </p:nvCxnSpPr>
        <p:spPr>
          <a:xfrm>
            <a:off x="4295995" y="2868697"/>
            <a:ext cx="0" cy="2151315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FAA0067-0E80-2C3E-AAB3-C59A9582B31F}"/>
              </a:ext>
            </a:extLst>
          </p:cNvPr>
          <p:cNvCxnSpPr>
            <a:cxnSpLocks/>
          </p:cNvCxnSpPr>
          <p:nvPr/>
        </p:nvCxnSpPr>
        <p:spPr>
          <a:xfrm>
            <a:off x="2202252" y="2871045"/>
            <a:ext cx="2093743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5603F8E-80C6-0F8D-3479-1B7F46BB0716}"/>
              </a:ext>
            </a:extLst>
          </p:cNvPr>
          <p:cNvCxnSpPr>
            <a:cxnSpLocks/>
          </p:cNvCxnSpPr>
          <p:nvPr/>
        </p:nvCxnSpPr>
        <p:spPr>
          <a:xfrm>
            <a:off x="2199907" y="5026087"/>
            <a:ext cx="2093743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6651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A05D0F-5DC6-60F8-1018-B63D1649C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D1820E3-9C81-CA15-45ED-BCAF499AF931}"/>
              </a:ext>
            </a:extLst>
          </p:cNvPr>
          <p:cNvSpPr/>
          <p:nvPr/>
        </p:nvSpPr>
        <p:spPr>
          <a:xfrm>
            <a:off x="594360" y="38404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</a:rPr>
              <a:t>Worked Example: Build a Huffman Tree</a:t>
            </a:r>
            <a:endParaRPr lang="en-US" sz="2200" dirty="0"/>
          </a:p>
        </p:txBody>
      </p:sp>
      <p:pic>
        <p:nvPicPr>
          <p:cNvPr id="3" name="Image 0" descr="/mnt/data/user-1kFy9epRxYXs1pHOCdzQinPw/fc5910e8ff0f429aa4306e1576c19e7d/mnt/data/diu_logo_crop.png">
            <a:extLst>
              <a:ext uri="{FF2B5EF4-FFF2-40B4-BE49-F238E27FC236}">
                <a16:creationId xmlns:a16="http://schemas.microsoft.com/office/drawing/2014/main" id="{8AFA3244-9920-8EC8-8668-9BC18F8A7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6960" y="91440"/>
            <a:ext cx="660400" cy="594360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AC33020D-A04D-623E-CCAF-2634162274CF}"/>
              </a:ext>
            </a:extLst>
          </p:cNvPr>
          <p:cNvSpPr/>
          <p:nvPr/>
        </p:nvSpPr>
        <p:spPr>
          <a:xfrm>
            <a:off x="3840480" y="6473952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 of CSE, Daffodil International University</a:t>
            </a:r>
            <a:endParaRPr lang="en-US" sz="9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A7700AB6-A45C-6A9A-948D-B8AF5FCEC8A1}"/>
              </a:ext>
            </a:extLst>
          </p:cNvPr>
          <p:cNvSpPr/>
          <p:nvPr/>
        </p:nvSpPr>
        <p:spPr>
          <a:xfrm>
            <a:off x="11612880" y="63825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</a:rPr>
              <a:t>15</a:t>
            </a:r>
            <a:endParaRPr lang="en-US" sz="9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685F124-B648-396A-87CF-F5BC685BA30F}"/>
              </a:ext>
            </a:extLst>
          </p:cNvPr>
          <p:cNvSpPr/>
          <p:nvPr/>
        </p:nvSpPr>
        <p:spPr>
          <a:xfrm>
            <a:off x="1111348" y="4144827"/>
            <a:ext cx="689317" cy="58113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11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E8273C5-86A0-6EED-940A-2FAF5F73697D}"/>
              </a:ext>
            </a:extLst>
          </p:cNvPr>
          <p:cNvSpPr/>
          <p:nvPr/>
        </p:nvSpPr>
        <p:spPr>
          <a:xfrm>
            <a:off x="4655930" y="4107506"/>
            <a:ext cx="689317" cy="58113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10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495F79-EEFE-7541-6E6D-6693C5A5685D}"/>
              </a:ext>
            </a:extLst>
          </p:cNvPr>
          <p:cNvSpPr/>
          <p:nvPr/>
        </p:nvSpPr>
        <p:spPr>
          <a:xfrm>
            <a:off x="5821204" y="4107507"/>
            <a:ext cx="689317" cy="58113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10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F127AAD-CB74-131D-CD69-58FC17458661}"/>
              </a:ext>
            </a:extLst>
          </p:cNvPr>
          <p:cNvSpPr/>
          <p:nvPr/>
        </p:nvSpPr>
        <p:spPr>
          <a:xfrm>
            <a:off x="7014809" y="4144828"/>
            <a:ext cx="689317" cy="58113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BD6DFDB-3DC9-78BC-CA49-11F0234D638D}"/>
              </a:ext>
            </a:extLst>
          </p:cNvPr>
          <p:cNvSpPr/>
          <p:nvPr/>
        </p:nvSpPr>
        <p:spPr>
          <a:xfrm>
            <a:off x="2292458" y="4126165"/>
            <a:ext cx="689317" cy="58113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8BA106E-7EC3-162F-E62D-3C883B93241B}"/>
              </a:ext>
            </a:extLst>
          </p:cNvPr>
          <p:cNvSpPr/>
          <p:nvPr/>
        </p:nvSpPr>
        <p:spPr>
          <a:xfrm>
            <a:off x="3457732" y="4126166"/>
            <a:ext cx="689317" cy="58113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2C6E6AC-B192-6205-E9B4-BFA3E75A94DC}"/>
              </a:ext>
            </a:extLst>
          </p:cNvPr>
          <p:cNvSpPr/>
          <p:nvPr/>
        </p:nvSpPr>
        <p:spPr>
          <a:xfrm>
            <a:off x="8060787" y="4154159"/>
            <a:ext cx="689317" cy="58113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F0FB168-8C00-A745-C1F8-F5B7548EC06D}"/>
              </a:ext>
            </a:extLst>
          </p:cNvPr>
          <p:cNvSpPr/>
          <p:nvPr/>
        </p:nvSpPr>
        <p:spPr>
          <a:xfrm>
            <a:off x="9226061" y="4154160"/>
            <a:ext cx="689317" cy="58113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0F1825-481B-A9C1-7605-749CEDF4CA87}"/>
              </a:ext>
            </a:extLst>
          </p:cNvPr>
          <p:cNvSpPr txBox="1"/>
          <p:nvPr/>
        </p:nvSpPr>
        <p:spPr>
          <a:xfrm>
            <a:off x="1246751" y="4694231"/>
            <a:ext cx="8989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72                    61                    58                     79                    67                     85                 91                     52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FA0AAAE-AC83-AD67-55DC-F1FC3614C846}"/>
              </a:ext>
            </a:extLst>
          </p:cNvPr>
          <p:cNvSpPr/>
          <p:nvPr/>
        </p:nvSpPr>
        <p:spPr>
          <a:xfrm>
            <a:off x="8639344" y="2939145"/>
            <a:ext cx="689317" cy="58113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EB892A9-60D1-CD30-264A-53C621A62310}"/>
              </a:ext>
            </a:extLst>
          </p:cNvPr>
          <p:cNvCxnSpPr>
            <a:stCxn id="4" idx="4"/>
            <a:endCxn id="20" idx="0"/>
          </p:cNvCxnSpPr>
          <p:nvPr/>
        </p:nvCxnSpPr>
        <p:spPr>
          <a:xfrm flipH="1">
            <a:off x="8405446" y="3520282"/>
            <a:ext cx="578557" cy="63387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E77CFE9-0469-6B45-EB6C-AAB4919766F3}"/>
              </a:ext>
            </a:extLst>
          </p:cNvPr>
          <p:cNvCxnSpPr>
            <a:stCxn id="21" idx="0"/>
            <a:endCxn id="4" idx="4"/>
          </p:cNvCxnSpPr>
          <p:nvPr/>
        </p:nvCxnSpPr>
        <p:spPr>
          <a:xfrm flipH="1" flipV="1">
            <a:off x="8984003" y="3520282"/>
            <a:ext cx="586717" cy="6338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22A917E5-C491-AF6B-5C64-F4376C4FB81C}"/>
              </a:ext>
            </a:extLst>
          </p:cNvPr>
          <p:cNvSpPr/>
          <p:nvPr/>
        </p:nvSpPr>
        <p:spPr>
          <a:xfrm>
            <a:off x="2905178" y="2939145"/>
            <a:ext cx="689317" cy="58113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15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218B67B-963C-4783-0B8D-9AF327119BF3}"/>
              </a:ext>
            </a:extLst>
          </p:cNvPr>
          <p:cNvCxnSpPr>
            <a:stCxn id="34" idx="4"/>
            <a:endCxn id="18" idx="0"/>
          </p:cNvCxnSpPr>
          <p:nvPr/>
        </p:nvCxnSpPr>
        <p:spPr>
          <a:xfrm flipH="1">
            <a:off x="2637117" y="3520282"/>
            <a:ext cx="612720" cy="60588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3B2FCFB-C48C-7BB3-989B-D7D115651B1A}"/>
              </a:ext>
            </a:extLst>
          </p:cNvPr>
          <p:cNvCxnSpPr>
            <a:stCxn id="34" idx="4"/>
            <a:endCxn id="19" idx="0"/>
          </p:cNvCxnSpPr>
          <p:nvPr/>
        </p:nvCxnSpPr>
        <p:spPr>
          <a:xfrm>
            <a:off x="3249837" y="3520282"/>
            <a:ext cx="552554" cy="60588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A63D24F2-2471-D6B4-C4FF-DD04EE8F6F38}"/>
              </a:ext>
            </a:extLst>
          </p:cNvPr>
          <p:cNvSpPr/>
          <p:nvPr/>
        </p:nvSpPr>
        <p:spPr>
          <a:xfrm>
            <a:off x="7511867" y="2054760"/>
            <a:ext cx="689317" cy="581137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18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3CBA595-802A-C8CC-DF54-BAD30BCBB813}"/>
              </a:ext>
            </a:extLst>
          </p:cNvPr>
          <p:cNvCxnSpPr>
            <a:stCxn id="5" idx="4"/>
            <a:endCxn id="17" idx="0"/>
          </p:cNvCxnSpPr>
          <p:nvPr/>
        </p:nvCxnSpPr>
        <p:spPr>
          <a:xfrm flipH="1">
            <a:off x="7359468" y="2635897"/>
            <a:ext cx="497058" cy="15089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F795D8A-7203-D386-AA0E-6DF4419C6B97}"/>
              </a:ext>
            </a:extLst>
          </p:cNvPr>
          <p:cNvCxnSpPr>
            <a:stCxn id="5" idx="4"/>
            <a:endCxn id="4" idx="0"/>
          </p:cNvCxnSpPr>
          <p:nvPr/>
        </p:nvCxnSpPr>
        <p:spPr>
          <a:xfrm>
            <a:off x="7856526" y="2635897"/>
            <a:ext cx="1127477" cy="30324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hape 5">
            <a:extLst>
              <a:ext uri="{FF2B5EF4-FFF2-40B4-BE49-F238E27FC236}">
                <a16:creationId xmlns:a16="http://schemas.microsoft.com/office/drawing/2014/main" id="{3C5E1657-A118-32AC-8293-1049EC8313EE}"/>
              </a:ext>
            </a:extLst>
          </p:cNvPr>
          <p:cNvSpPr/>
          <p:nvPr/>
        </p:nvSpPr>
        <p:spPr>
          <a:xfrm>
            <a:off x="868680" y="5254169"/>
            <a:ext cx="10241280" cy="1005840"/>
          </a:xfrm>
          <a:prstGeom prst="roundRect">
            <a:avLst>
              <a:gd name="adj" fmla="val 5455"/>
            </a:avLst>
          </a:prstGeom>
          <a:solidFill>
            <a:srgbClr val="FFF8E8"/>
          </a:solidFill>
          <a:ln w="15240">
            <a:solidFill>
              <a:srgbClr val="F4A261"/>
            </a:solidFill>
            <a:prstDash val="solid"/>
          </a:ln>
        </p:spPr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A5030972-04C9-3415-795A-5CBC309C699C}"/>
              </a:ext>
            </a:extLst>
          </p:cNvPr>
          <p:cNvSpPr/>
          <p:nvPr/>
        </p:nvSpPr>
        <p:spPr>
          <a:xfrm>
            <a:off x="978408" y="5345609"/>
            <a:ext cx="10021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A4D00"/>
                </a:solidFill>
              </a:rPr>
              <a:t>Note:</a:t>
            </a:r>
            <a:endParaRPr lang="en-US" dirty="0"/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8A827A11-AA97-E531-2077-64E207D063B3}"/>
              </a:ext>
            </a:extLst>
          </p:cNvPr>
          <p:cNvSpPr/>
          <p:nvPr/>
        </p:nvSpPr>
        <p:spPr>
          <a:xfrm>
            <a:off x="978408" y="5638217"/>
            <a:ext cx="1002182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dirty="0"/>
              <a:t>Finally, merge 26 and 38 to form the root node, whose value is 64. This matches the total sum of all frequencies, which is 64. Since the image size is 8×8, the total number of pixels is also 64.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346520B-5FF5-F74F-BB9C-46F90465AC5F}"/>
              </a:ext>
            </a:extLst>
          </p:cNvPr>
          <p:cNvSpPr/>
          <p:nvPr/>
        </p:nvSpPr>
        <p:spPr>
          <a:xfrm>
            <a:off x="5282618" y="2906385"/>
            <a:ext cx="689317" cy="581137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20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0F3191-D42F-E79C-51A4-786F188C16E5}"/>
              </a:ext>
            </a:extLst>
          </p:cNvPr>
          <p:cNvCxnSpPr>
            <a:stCxn id="6" idx="4"/>
            <a:endCxn id="15" idx="0"/>
          </p:cNvCxnSpPr>
          <p:nvPr/>
        </p:nvCxnSpPr>
        <p:spPr>
          <a:xfrm flipH="1">
            <a:off x="5000589" y="3487522"/>
            <a:ext cx="626688" cy="61998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1DF7124-34A4-95BD-C5F1-5E3F97DAB5B1}"/>
              </a:ext>
            </a:extLst>
          </p:cNvPr>
          <p:cNvCxnSpPr>
            <a:stCxn id="6" idx="4"/>
            <a:endCxn id="16" idx="0"/>
          </p:cNvCxnSpPr>
          <p:nvPr/>
        </p:nvCxnSpPr>
        <p:spPr>
          <a:xfrm>
            <a:off x="5627277" y="3487522"/>
            <a:ext cx="538586" cy="61998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4352111C-7909-B6AD-8183-BF99A475813D}"/>
              </a:ext>
            </a:extLst>
          </p:cNvPr>
          <p:cNvSpPr/>
          <p:nvPr/>
        </p:nvSpPr>
        <p:spPr>
          <a:xfrm>
            <a:off x="1729990" y="2048541"/>
            <a:ext cx="689317" cy="581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26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E556D3B-D13D-85CE-1D18-69C344179AE2}"/>
              </a:ext>
            </a:extLst>
          </p:cNvPr>
          <p:cNvCxnSpPr>
            <a:stCxn id="8" idx="4"/>
            <a:endCxn id="34" idx="0"/>
          </p:cNvCxnSpPr>
          <p:nvPr/>
        </p:nvCxnSpPr>
        <p:spPr>
          <a:xfrm>
            <a:off x="2074649" y="2629678"/>
            <a:ext cx="1175188" cy="30946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3B40999-04B1-8061-B215-05641EC3806B}"/>
              </a:ext>
            </a:extLst>
          </p:cNvPr>
          <p:cNvCxnSpPr>
            <a:stCxn id="8" idx="4"/>
            <a:endCxn id="14" idx="0"/>
          </p:cNvCxnSpPr>
          <p:nvPr/>
        </p:nvCxnSpPr>
        <p:spPr>
          <a:xfrm flipH="1">
            <a:off x="1456007" y="2629678"/>
            <a:ext cx="618642" cy="151514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543BA125-2DF2-7D20-D213-189C92457302}"/>
              </a:ext>
            </a:extLst>
          </p:cNvPr>
          <p:cNvSpPr/>
          <p:nvPr/>
        </p:nvSpPr>
        <p:spPr>
          <a:xfrm>
            <a:off x="6146475" y="1202563"/>
            <a:ext cx="689317" cy="581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38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ED84066-E70C-1C97-BDD8-C819A6925901}"/>
              </a:ext>
            </a:extLst>
          </p:cNvPr>
          <p:cNvCxnSpPr>
            <a:stCxn id="9" idx="4"/>
            <a:endCxn id="6" idx="0"/>
          </p:cNvCxnSpPr>
          <p:nvPr/>
        </p:nvCxnSpPr>
        <p:spPr>
          <a:xfrm flipH="1">
            <a:off x="5627277" y="1783700"/>
            <a:ext cx="863857" cy="112268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38BBDC1-90DF-B739-3D04-F039A21B49B5}"/>
              </a:ext>
            </a:extLst>
          </p:cNvPr>
          <p:cNvCxnSpPr>
            <a:stCxn id="9" idx="4"/>
            <a:endCxn id="5" idx="0"/>
          </p:cNvCxnSpPr>
          <p:nvPr/>
        </p:nvCxnSpPr>
        <p:spPr>
          <a:xfrm>
            <a:off x="6491134" y="1783700"/>
            <a:ext cx="1365392" cy="2710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52970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C7E8C6-68BE-B20D-E291-FD7D83698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1BAA006-332C-D382-C502-F3BEAF092D87}"/>
              </a:ext>
            </a:extLst>
          </p:cNvPr>
          <p:cNvSpPr/>
          <p:nvPr/>
        </p:nvSpPr>
        <p:spPr>
          <a:xfrm>
            <a:off x="594360" y="38404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</a:rPr>
              <a:t>Worked Example: Build a Huffman Tree</a:t>
            </a:r>
            <a:endParaRPr lang="en-US" sz="2200" dirty="0"/>
          </a:p>
        </p:txBody>
      </p:sp>
      <p:pic>
        <p:nvPicPr>
          <p:cNvPr id="3" name="Image 0" descr="/mnt/data/user-1kFy9epRxYXs1pHOCdzQinPw/fc5910e8ff0f429aa4306e1576c19e7d/mnt/data/diu_logo_crop.png">
            <a:extLst>
              <a:ext uri="{FF2B5EF4-FFF2-40B4-BE49-F238E27FC236}">
                <a16:creationId xmlns:a16="http://schemas.microsoft.com/office/drawing/2014/main" id="{4A2CA070-F973-4CEC-6CA8-71BED85DB2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6960" y="91440"/>
            <a:ext cx="660400" cy="594360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C5395389-2A89-9420-AD80-8139FABEADD3}"/>
              </a:ext>
            </a:extLst>
          </p:cNvPr>
          <p:cNvSpPr/>
          <p:nvPr/>
        </p:nvSpPr>
        <p:spPr>
          <a:xfrm>
            <a:off x="3840480" y="6473952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 of CSE, Daffodil International University</a:t>
            </a:r>
            <a:endParaRPr lang="en-US" sz="9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5B5F0B5F-4B9A-FC02-11A2-D511266BC66F}"/>
              </a:ext>
            </a:extLst>
          </p:cNvPr>
          <p:cNvSpPr/>
          <p:nvPr/>
        </p:nvSpPr>
        <p:spPr>
          <a:xfrm>
            <a:off x="11612880" y="63825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</a:rPr>
              <a:t>15</a:t>
            </a:r>
            <a:endParaRPr lang="en-US" sz="9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9255D61-17E9-C340-6F67-3BD50092D1B7}"/>
              </a:ext>
            </a:extLst>
          </p:cNvPr>
          <p:cNvSpPr/>
          <p:nvPr/>
        </p:nvSpPr>
        <p:spPr>
          <a:xfrm>
            <a:off x="1111348" y="4499399"/>
            <a:ext cx="689317" cy="58113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11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FF133EF-F170-3ECA-873E-0D9FB0D0B0A8}"/>
              </a:ext>
            </a:extLst>
          </p:cNvPr>
          <p:cNvSpPr/>
          <p:nvPr/>
        </p:nvSpPr>
        <p:spPr>
          <a:xfrm>
            <a:off x="4655930" y="4462078"/>
            <a:ext cx="689317" cy="58113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10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75D2A5F-3A40-21E9-0B07-136BEA7C2A4E}"/>
              </a:ext>
            </a:extLst>
          </p:cNvPr>
          <p:cNvSpPr/>
          <p:nvPr/>
        </p:nvSpPr>
        <p:spPr>
          <a:xfrm>
            <a:off x="5821204" y="4462079"/>
            <a:ext cx="689317" cy="58113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10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61CF218-7AF5-BC8A-4D27-C0F551D56251}"/>
              </a:ext>
            </a:extLst>
          </p:cNvPr>
          <p:cNvSpPr/>
          <p:nvPr/>
        </p:nvSpPr>
        <p:spPr>
          <a:xfrm>
            <a:off x="7014809" y="4499400"/>
            <a:ext cx="689317" cy="58113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2783084-D8A5-5EDE-2D3A-32B51AF0FB15}"/>
              </a:ext>
            </a:extLst>
          </p:cNvPr>
          <p:cNvSpPr/>
          <p:nvPr/>
        </p:nvSpPr>
        <p:spPr>
          <a:xfrm>
            <a:off x="2292458" y="4480737"/>
            <a:ext cx="689317" cy="58113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CE5E95D-EEE4-BD68-FE2F-962A71B975D9}"/>
              </a:ext>
            </a:extLst>
          </p:cNvPr>
          <p:cNvSpPr/>
          <p:nvPr/>
        </p:nvSpPr>
        <p:spPr>
          <a:xfrm>
            <a:off x="3457732" y="4480738"/>
            <a:ext cx="689317" cy="58113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FFABF84-9034-EF5B-D701-719815E753B6}"/>
              </a:ext>
            </a:extLst>
          </p:cNvPr>
          <p:cNvSpPr/>
          <p:nvPr/>
        </p:nvSpPr>
        <p:spPr>
          <a:xfrm>
            <a:off x="8060787" y="4508731"/>
            <a:ext cx="689317" cy="58113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4609BCB-2D76-FA76-5B1E-274271C83D88}"/>
              </a:ext>
            </a:extLst>
          </p:cNvPr>
          <p:cNvSpPr/>
          <p:nvPr/>
        </p:nvSpPr>
        <p:spPr>
          <a:xfrm>
            <a:off x="9226061" y="4508732"/>
            <a:ext cx="689317" cy="58113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F5CD7B-4FA4-07CA-1CB6-1249C0036931}"/>
              </a:ext>
            </a:extLst>
          </p:cNvPr>
          <p:cNvSpPr txBox="1"/>
          <p:nvPr/>
        </p:nvSpPr>
        <p:spPr>
          <a:xfrm>
            <a:off x="1246751" y="5048803"/>
            <a:ext cx="8989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72                    61                    58                     79                    67                     85                 91                     52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1F5632A-68A2-E7A6-6E0B-10EC58345F42}"/>
              </a:ext>
            </a:extLst>
          </p:cNvPr>
          <p:cNvSpPr/>
          <p:nvPr/>
        </p:nvSpPr>
        <p:spPr>
          <a:xfrm>
            <a:off x="8639344" y="3685607"/>
            <a:ext cx="689317" cy="58113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221BEA0-3B45-5BEF-C5E3-039B703BEAEC}"/>
              </a:ext>
            </a:extLst>
          </p:cNvPr>
          <p:cNvCxnSpPr>
            <a:stCxn id="4" idx="4"/>
            <a:endCxn id="20" idx="0"/>
          </p:cNvCxnSpPr>
          <p:nvPr/>
        </p:nvCxnSpPr>
        <p:spPr>
          <a:xfrm flipH="1">
            <a:off x="8405446" y="4266744"/>
            <a:ext cx="578557" cy="24198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B72EAAA-B5F1-37FD-4DDF-66EDEFA7CEB9}"/>
              </a:ext>
            </a:extLst>
          </p:cNvPr>
          <p:cNvCxnSpPr>
            <a:stCxn id="21" idx="0"/>
            <a:endCxn id="4" idx="4"/>
          </p:cNvCxnSpPr>
          <p:nvPr/>
        </p:nvCxnSpPr>
        <p:spPr>
          <a:xfrm flipH="1" flipV="1">
            <a:off x="8984003" y="4266744"/>
            <a:ext cx="586717" cy="2419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EFD4CC85-9FFE-208C-56CB-959FC1E7B53E}"/>
              </a:ext>
            </a:extLst>
          </p:cNvPr>
          <p:cNvSpPr/>
          <p:nvPr/>
        </p:nvSpPr>
        <p:spPr>
          <a:xfrm>
            <a:off x="2905178" y="3685607"/>
            <a:ext cx="689317" cy="58113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15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2664480-2B03-10AD-6A23-E013F8601CA1}"/>
              </a:ext>
            </a:extLst>
          </p:cNvPr>
          <p:cNvCxnSpPr>
            <a:stCxn id="34" idx="4"/>
            <a:endCxn id="18" idx="0"/>
          </p:cNvCxnSpPr>
          <p:nvPr/>
        </p:nvCxnSpPr>
        <p:spPr>
          <a:xfrm flipH="1">
            <a:off x="2637117" y="4266744"/>
            <a:ext cx="612720" cy="21399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E3FB057-3589-DF93-3EB2-BB21FCD947A5}"/>
              </a:ext>
            </a:extLst>
          </p:cNvPr>
          <p:cNvCxnSpPr>
            <a:stCxn id="34" idx="4"/>
            <a:endCxn id="19" idx="0"/>
          </p:cNvCxnSpPr>
          <p:nvPr/>
        </p:nvCxnSpPr>
        <p:spPr>
          <a:xfrm>
            <a:off x="3249837" y="4266744"/>
            <a:ext cx="552554" cy="21399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142D5208-9BC4-D856-BD7E-F92DCB405B4D}"/>
              </a:ext>
            </a:extLst>
          </p:cNvPr>
          <p:cNvSpPr/>
          <p:nvPr/>
        </p:nvSpPr>
        <p:spPr>
          <a:xfrm>
            <a:off x="7511867" y="2801208"/>
            <a:ext cx="689317" cy="58113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18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AFCA702-F44A-06CF-387B-935FC7E3110B}"/>
              </a:ext>
            </a:extLst>
          </p:cNvPr>
          <p:cNvCxnSpPr>
            <a:stCxn id="5" idx="4"/>
            <a:endCxn id="17" idx="0"/>
          </p:cNvCxnSpPr>
          <p:nvPr/>
        </p:nvCxnSpPr>
        <p:spPr>
          <a:xfrm flipH="1">
            <a:off x="7359468" y="3382345"/>
            <a:ext cx="497058" cy="111705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2BAA693-D286-B35B-97E2-5B5D005AE878}"/>
              </a:ext>
            </a:extLst>
          </p:cNvPr>
          <p:cNvCxnSpPr>
            <a:stCxn id="5" idx="4"/>
            <a:endCxn id="4" idx="0"/>
          </p:cNvCxnSpPr>
          <p:nvPr/>
        </p:nvCxnSpPr>
        <p:spPr>
          <a:xfrm>
            <a:off x="7856526" y="3382345"/>
            <a:ext cx="1127477" cy="30326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FC32482B-556A-9E23-A8A2-489C05CF950A}"/>
              </a:ext>
            </a:extLst>
          </p:cNvPr>
          <p:cNvSpPr/>
          <p:nvPr/>
        </p:nvSpPr>
        <p:spPr>
          <a:xfrm>
            <a:off x="5282618" y="3652847"/>
            <a:ext cx="689317" cy="58113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20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AA2127-4241-B3BE-54D7-F16B7827DDC6}"/>
              </a:ext>
            </a:extLst>
          </p:cNvPr>
          <p:cNvCxnSpPr>
            <a:stCxn id="6" idx="4"/>
            <a:endCxn id="15" idx="0"/>
          </p:cNvCxnSpPr>
          <p:nvPr/>
        </p:nvCxnSpPr>
        <p:spPr>
          <a:xfrm flipH="1">
            <a:off x="5000589" y="4233984"/>
            <a:ext cx="626688" cy="22809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89DB4E0-794E-1E21-F73B-A917F1613462}"/>
              </a:ext>
            </a:extLst>
          </p:cNvPr>
          <p:cNvCxnSpPr>
            <a:stCxn id="6" idx="4"/>
            <a:endCxn id="16" idx="0"/>
          </p:cNvCxnSpPr>
          <p:nvPr/>
        </p:nvCxnSpPr>
        <p:spPr>
          <a:xfrm>
            <a:off x="5627277" y="4233984"/>
            <a:ext cx="538586" cy="22809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5949DA4D-38EC-8AA2-93E7-B6B6A6DACF6A}"/>
              </a:ext>
            </a:extLst>
          </p:cNvPr>
          <p:cNvSpPr/>
          <p:nvPr/>
        </p:nvSpPr>
        <p:spPr>
          <a:xfrm>
            <a:off x="1729990" y="2794989"/>
            <a:ext cx="689317" cy="581137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26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5C3D201-A9EF-5812-23A5-141109F4257B}"/>
              </a:ext>
            </a:extLst>
          </p:cNvPr>
          <p:cNvCxnSpPr>
            <a:stCxn id="8" idx="4"/>
            <a:endCxn id="34" idx="0"/>
          </p:cNvCxnSpPr>
          <p:nvPr/>
        </p:nvCxnSpPr>
        <p:spPr>
          <a:xfrm>
            <a:off x="2074649" y="3376126"/>
            <a:ext cx="1175188" cy="30948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4C8B3C5-3E94-3AD5-B794-C9FB04A8EDE6}"/>
              </a:ext>
            </a:extLst>
          </p:cNvPr>
          <p:cNvCxnSpPr>
            <a:stCxn id="8" idx="4"/>
            <a:endCxn id="14" idx="0"/>
          </p:cNvCxnSpPr>
          <p:nvPr/>
        </p:nvCxnSpPr>
        <p:spPr>
          <a:xfrm flipH="1">
            <a:off x="1456007" y="3376126"/>
            <a:ext cx="618642" cy="112327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DB5CD526-845C-3400-3C8B-40E9D619F826}"/>
              </a:ext>
            </a:extLst>
          </p:cNvPr>
          <p:cNvSpPr/>
          <p:nvPr/>
        </p:nvSpPr>
        <p:spPr>
          <a:xfrm>
            <a:off x="6146475" y="1967687"/>
            <a:ext cx="689317" cy="581137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38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9349687-2D88-6B1C-901E-CA937F1E4F35}"/>
              </a:ext>
            </a:extLst>
          </p:cNvPr>
          <p:cNvCxnSpPr>
            <a:stCxn id="9" idx="4"/>
            <a:endCxn id="6" idx="0"/>
          </p:cNvCxnSpPr>
          <p:nvPr/>
        </p:nvCxnSpPr>
        <p:spPr>
          <a:xfrm flipH="1">
            <a:off x="5627277" y="2548824"/>
            <a:ext cx="863857" cy="110402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83FD9AE-0629-7ADB-5D09-44D68440E25C}"/>
              </a:ext>
            </a:extLst>
          </p:cNvPr>
          <p:cNvCxnSpPr>
            <a:stCxn id="9" idx="4"/>
            <a:endCxn id="5" idx="0"/>
          </p:cNvCxnSpPr>
          <p:nvPr/>
        </p:nvCxnSpPr>
        <p:spPr>
          <a:xfrm>
            <a:off x="6491134" y="2548824"/>
            <a:ext cx="1365392" cy="25238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Shape 5">
            <a:extLst>
              <a:ext uri="{FF2B5EF4-FFF2-40B4-BE49-F238E27FC236}">
                <a16:creationId xmlns:a16="http://schemas.microsoft.com/office/drawing/2014/main" id="{AD045DA1-BF6B-5B53-EBDC-AEE59BEE7F50}"/>
              </a:ext>
            </a:extLst>
          </p:cNvPr>
          <p:cNvSpPr/>
          <p:nvPr/>
        </p:nvSpPr>
        <p:spPr>
          <a:xfrm>
            <a:off x="868680" y="5468771"/>
            <a:ext cx="10241280" cy="1005840"/>
          </a:xfrm>
          <a:prstGeom prst="roundRect">
            <a:avLst>
              <a:gd name="adj" fmla="val 5455"/>
            </a:avLst>
          </a:prstGeom>
          <a:solidFill>
            <a:srgbClr val="FFF8E8"/>
          </a:solidFill>
          <a:ln w="15240">
            <a:solidFill>
              <a:srgbClr val="F4A261"/>
            </a:solidFill>
            <a:prstDash val="solid"/>
          </a:ln>
        </p:spPr>
      </p:sp>
      <p:sp>
        <p:nvSpPr>
          <p:cNvPr id="33" name="Text 6">
            <a:extLst>
              <a:ext uri="{FF2B5EF4-FFF2-40B4-BE49-F238E27FC236}">
                <a16:creationId xmlns:a16="http://schemas.microsoft.com/office/drawing/2014/main" id="{3E49CCBF-51B9-8FB2-B5E9-46C21E1D4F55}"/>
              </a:ext>
            </a:extLst>
          </p:cNvPr>
          <p:cNvSpPr/>
          <p:nvPr/>
        </p:nvSpPr>
        <p:spPr>
          <a:xfrm>
            <a:off x="978408" y="5560211"/>
            <a:ext cx="10021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A4D00"/>
                </a:solidFill>
              </a:rPr>
              <a:t>Note:</a:t>
            </a:r>
            <a:endParaRPr lang="en-US" dirty="0"/>
          </a:p>
        </p:txBody>
      </p:sp>
      <p:sp>
        <p:nvSpPr>
          <p:cNvPr id="36" name="Text 7">
            <a:extLst>
              <a:ext uri="{FF2B5EF4-FFF2-40B4-BE49-F238E27FC236}">
                <a16:creationId xmlns:a16="http://schemas.microsoft.com/office/drawing/2014/main" id="{1523C5AB-125A-8E21-CFCB-E6C86BE1E356}"/>
              </a:ext>
            </a:extLst>
          </p:cNvPr>
          <p:cNvSpPr/>
          <p:nvPr/>
        </p:nvSpPr>
        <p:spPr>
          <a:xfrm>
            <a:off x="978408" y="5852819"/>
            <a:ext cx="1002182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Now assign 0 to the left edge and 1 to the right edge.</a:t>
            </a:r>
            <a:endParaRPr lang="en-US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036C0CF-A86D-C45B-17B5-7377803C505D}"/>
              </a:ext>
            </a:extLst>
          </p:cNvPr>
          <p:cNvSpPr/>
          <p:nvPr/>
        </p:nvSpPr>
        <p:spPr>
          <a:xfrm>
            <a:off x="4563380" y="897773"/>
            <a:ext cx="689317" cy="581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64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5469783-6A37-410C-8A44-A502B48EBB38}"/>
              </a:ext>
            </a:extLst>
          </p:cNvPr>
          <p:cNvCxnSpPr>
            <a:stCxn id="37" idx="4"/>
            <a:endCxn id="8" idx="0"/>
          </p:cNvCxnSpPr>
          <p:nvPr/>
        </p:nvCxnSpPr>
        <p:spPr>
          <a:xfrm flipH="1">
            <a:off x="2074649" y="1478910"/>
            <a:ext cx="2833390" cy="131607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C75906D-1E04-6B6E-13F2-97A588E26D01}"/>
              </a:ext>
            </a:extLst>
          </p:cNvPr>
          <p:cNvCxnSpPr>
            <a:stCxn id="37" idx="4"/>
            <a:endCxn id="9" idx="0"/>
          </p:cNvCxnSpPr>
          <p:nvPr/>
        </p:nvCxnSpPr>
        <p:spPr>
          <a:xfrm>
            <a:off x="4908039" y="1478910"/>
            <a:ext cx="1583095" cy="48877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64881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BBDE7-B9AB-98B9-171C-FDC637541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32CCB88-9F91-8830-4DAD-1E40DCA050C8}"/>
              </a:ext>
            </a:extLst>
          </p:cNvPr>
          <p:cNvSpPr/>
          <p:nvPr/>
        </p:nvSpPr>
        <p:spPr>
          <a:xfrm>
            <a:off x="594360" y="38404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</a:rPr>
              <a:t>Worked Example: Build a Huffman Tree</a:t>
            </a:r>
            <a:endParaRPr lang="en-US" sz="2200" dirty="0"/>
          </a:p>
        </p:txBody>
      </p:sp>
      <p:pic>
        <p:nvPicPr>
          <p:cNvPr id="3" name="Image 0" descr="/mnt/data/user-1kFy9epRxYXs1pHOCdzQinPw/fc5910e8ff0f429aa4306e1576c19e7d/mnt/data/diu_logo_crop.png">
            <a:extLst>
              <a:ext uri="{FF2B5EF4-FFF2-40B4-BE49-F238E27FC236}">
                <a16:creationId xmlns:a16="http://schemas.microsoft.com/office/drawing/2014/main" id="{5576AB6B-9F87-4FD4-A2BA-2B7F999906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6960" y="91440"/>
            <a:ext cx="660400" cy="594360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DAC280BA-AF1B-30F2-1E1E-70705FB5F37D}"/>
              </a:ext>
            </a:extLst>
          </p:cNvPr>
          <p:cNvSpPr/>
          <p:nvPr/>
        </p:nvSpPr>
        <p:spPr>
          <a:xfrm>
            <a:off x="3840480" y="6473952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 of CSE, Daffodil International University</a:t>
            </a:r>
            <a:endParaRPr lang="en-US" sz="9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E343B3E-305B-C367-71F0-72B7F5126BFF}"/>
              </a:ext>
            </a:extLst>
          </p:cNvPr>
          <p:cNvSpPr/>
          <p:nvPr/>
        </p:nvSpPr>
        <p:spPr>
          <a:xfrm>
            <a:off x="11612880" y="63825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</a:rPr>
              <a:t>15</a:t>
            </a:r>
            <a:endParaRPr lang="en-US" sz="9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A6E327A-DB61-416E-D519-4250854FD55B}"/>
              </a:ext>
            </a:extLst>
          </p:cNvPr>
          <p:cNvSpPr/>
          <p:nvPr/>
        </p:nvSpPr>
        <p:spPr>
          <a:xfrm>
            <a:off x="234260" y="4714008"/>
            <a:ext cx="689317" cy="581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11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30AF8DB-1656-D6D3-97B4-FF9C5F3511AF}"/>
              </a:ext>
            </a:extLst>
          </p:cNvPr>
          <p:cNvSpPr/>
          <p:nvPr/>
        </p:nvSpPr>
        <p:spPr>
          <a:xfrm>
            <a:off x="3778842" y="4676687"/>
            <a:ext cx="689317" cy="581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10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87BB79B-C2B3-08AF-7F5D-6FAFE893E462}"/>
              </a:ext>
            </a:extLst>
          </p:cNvPr>
          <p:cNvSpPr/>
          <p:nvPr/>
        </p:nvSpPr>
        <p:spPr>
          <a:xfrm>
            <a:off x="4944116" y="4676688"/>
            <a:ext cx="689317" cy="581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10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479AD19-FA99-1D94-E954-9E9D059E3A24}"/>
              </a:ext>
            </a:extLst>
          </p:cNvPr>
          <p:cNvSpPr/>
          <p:nvPr/>
        </p:nvSpPr>
        <p:spPr>
          <a:xfrm>
            <a:off x="6137721" y="4714009"/>
            <a:ext cx="689317" cy="581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F936F57-EC21-D988-334C-6D14977CC7DA}"/>
              </a:ext>
            </a:extLst>
          </p:cNvPr>
          <p:cNvSpPr/>
          <p:nvPr/>
        </p:nvSpPr>
        <p:spPr>
          <a:xfrm>
            <a:off x="1415370" y="4695346"/>
            <a:ext cx="689317" cy="581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B3F9CF9-DDE8-B35B-67CF-A38E1904BCDA}"/>
              </a:ext>
            </a:extLst>
          </p:cNvPr>
          <p:cNvSpPr/>
          <p:nvPr/>
        </p:nvSpPr>
        <p:spPr>
          <a:xfrm>
            <a:off x="2580644" y="4695347"/>
            <a:ext cx="689317" cy="581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CECFBFC-4AC1-DD2A-A9E3-4630D8312E17}"/>
              </a:ext>
            </a:extLst>
          </p:cNvPr>
          <p:cNvSpPr/>
          <p:nvPr/>
        </p:nvSpPr>
        <p:spPr>
          <a:xfrm>
            <a:off x="7183699" y="4723340"/>
            <a:ext cx="689317" cy="581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AB4B225-A0E7-4C58-B261-40896967B63F}"/>
              </a:ext>
            </a:extLst>
          </p:cNvPr>
          <p:cNvSpPr/>
          <p:nvPr/>
        </p:nvSpPr>
        <p:spPr>
          <a:xfrm>
            <a:off x="8348973" y="4723341"/>
            <a:ext cx="689317" cy="581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21971F-FE5D-8ACB-156B-379DEAFEF712}"/>
              </a:ext>
            </a:extLst>
          </p:cNvPr>
          <p:cNvSpPr txBox="1"/>
          <p:nvPr/>
        </p:nvSpPr>
        <p:spPr>
          <a:xfrm>
            <a:off x="369663" y="5263412"/>
            <a:ext cx="8989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72                    61                    58                     79                    67                     85                 91                     52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5A499B1-6EE6-5DFD-2FC7-3BE0DD400B4C}"/>
              </a:ext>
            </a:extLst>
          </p:cNvPr>
          <p:cNvSpPr/>
          <p:nvPr/>
        </p:nvSpPr>
        <p:spPr>
          <a:xfrm>
            <a:off x="7762256" y="3900216"/>
            <a:ext cx="689317" cy="581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95B7DD9-6ABD-9516-6128-62C0CAF5A1BA}"/>
              </a:ext>
            </a:extLst>
          </p:cNvPr>
          <p:cNvCxnSpPr>
            <a:stCxn id="4" idx="4"/>
            <a:endCxn id="20" idx="0"/>
          </p:cNvCxnSpPr>
          <p:nvPr/>
        </p:nvCxnSpPr>
        <p:spPr>
          <a:xfrm flipH="1">
            <a:off x="7528358" y="4481353"/>
            <a:ext cx="578557" cy="24198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F057B44-A77F-D126-AD17-CF79BF1E708D}"/>
              </a:ext>
            </a:extLst>
          </p:cNvPr>
          <p:cNvCxnSpPr>
            <a:stCxn id="21" idx="0"/>
            <a:endCxn id="4" idx="4"/>
          </p:cNvCxnSpPr>
          <p:nvPr/>
        </p:nvCxnSpPr>
        <p:spPr>
          <a:xfrm flipH="1" flipV="1">
            <a:off x="8106915" y="4481353"/>
            <a:ext cx="586717" cy="2419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9C52495A-A0BD-D6DB-EEBE-E5B9693A89C4}"/>
              </a:ext>
            </a:extLst>
          </p:cNvPr>
          <p:cNvSpPr/>
          <p:nvPr/>
        </p:nvSpPr>
        <p:spPr>
          <a:xfrm>
            <a:off x="2028090" y="3900216"/>
            <a:ext cx="689317" cy="581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15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33294F2-1A9E-C5BF-9F80-7107D264010D}"/>
              </a:ext>
            </a:extLst>
          </p:cNvPr>
          <p:cNvCxnSpPr>
            <a:stCxn id="34" idx="4"/>
            <a:endCxn id="18" idx="0"/>
          </p:cNvCxnSpPr>
          <p:nvPr/>
        </p:nvCxnSpPr>
        <p:spPr>
          <a:xfrm flipH="1">
            <a:off x="1760029" y="4481353"/>
            <a:ext cx="612720" cy="21399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2D9AA07-9B2C-0B0C-047C-80894BE14D4A}"/>
              </a:ext>
            </a:extLst>
          </p:cNvPr>
          <p:cNvCxnSpPr>
            <a:stCxn id="34" idx="4"/>
            <a:endCxn id="19" idx="0"/>
          </p:cNvCxnSpPr>
          <p:nvPr/>
        </p:nvCxnSpPr>
        <p:spPr>
          <a:xfrm>
            <a:off x="2372749" y="4481353"/>
            <a:ext cx="552554" cy="21399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E4055907-2D0B-4AB7-E895-AD47030D9038}"/>
              </a:ext>
            </a:extLst>
          </p:cNvPr>
          <p:cNvSpPr/>
          <p:nvPr/>
        </p:nvSpPr>
        <p:spPr>
          <a:xfrm>
            <a:off x="6634779" y="3015817"/>
            <a:ext cx="689317" cy="581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18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39A27B9-7726-4FA3-F057-F9D6C751AEA1}"/>
              </a:ext>
            </a:extLst>
          </p:cNvPr>
          <p:cNvCxnSpPr>
            <a:stCxn id="5" idx="4"/>
            <a:endCxn id="17" idx="0"/>
          </p:cNvCxnSpPr>
          <p:nvPr/>
        </p:nvCxnSpPr>
        <p:spPr>
          <a:xfrm flipH="1">
            <a:off x="6482380" y="3596954"/>
            <a:ext cx="497058" cy="111705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D42535-7E18-EE40-246F-BD34CC65D912}"/>
              </a:ext>
            </a:extLst>
          </p:cNvPr>
          <p:cNvCxnSpPr>
            <a:stCxn id="5" idx="4"/>
            <a:endCxn id="4" idx="0"/>
          </p:cNvCxnSpPr>
          <p:nvPr/>
        </p:nvCxnSpPr>
        <p:spPr>
          <a:xfrm>
            <a:off x="6979438" y="3596954"/>
            <a:ext cx="1127477" cy="30326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A85BA1AC-5264-A4FA-84B3-CC064E8E0474}"/>
              </a:ext>
            </a:extLst>
          </p:cNvPr>
          <p:cNvSpPr/>
          <p:nvPr/>
        </p:nvSpPr>
        <p:spPr>
          <a:xfrm>
            <a:off x="4405530" y="3867456"/>
            <a:ext cx="689317" cy="581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20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1831754-4B38-2989-8FF3-F5E647678D5F}"/>
              </a:ext>
            </a:extLst>
          </p:cNvPr>
          <p:cNvCxnSpPr>
            <a:stCxn id="6" idx="4"/>
            <a:endCxn id="15" idx="0"/>
          </p:cNvCxnSpPr>
          <p:nvPr/>
        </p:nvCxnSpPr>
        <p:spPr>
          <a:xfrm flipH="1">
            <a:off x="4123501" y="4448593"/>
            <a:ext cx="626688" cy="22809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1ECB079-1AAE-DC40-E46C-95EB0858A3C1}"/>
              </a:ext>
            </a:extLst>
          </p:cNvPr>
          <p:cNvCxnSpPr>
            <a:stCxn id="6" idx="4"/>
            <a:endCxn id="16" idx="0"/>
          </p:cNvCxnSpPr>
          <p:nvPr/>
        </p:nvCxnSpPr>
        <p:spPr>
          <a:xfrm>
            <a:off x="4750189" y="4448593"/>
            <a:ext cx="538586" cy="22809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4258A923-BC67-2883-297F-CB5DA5A9A7FF}"/>
              </a:ext>
            </a:extLst>
          </p:cNvPr>
          <p:cNvSpPr/>
          <p:nvPr/>
        </p:nvSpPr>
        <p:spPr>
          <a:xfrm>
            <a:off x="852902" y="3009598"/>
            <a:ext cx="689317" cy="581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26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FE56C64-F832-F8F3-B034-F0AD68CE81ED}"/>
              </a:ext>
            </a:extLst>
          </p:cNvPr>
          <p:cNvCxnSpPr>
            <a:stCxn id="8" idx="4"/>
            <a:endCxn id="34" idx="0"/>
          </p:cNvCxnSpPr>
          <p:nvPr/>
        </p:nvCxnSpPr>
        <p:spPr>
          <a:xfrm>
            <a:off x="1197561" y="3590735"/>
            <a:ext cx="1175188" cy="30948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8CEC1BB-A237-2623-893A-572FFB90FAF6}"/>
              </a:ext>
            </a:extLst>
          </p:cNvPr>
          <p:cNvCxnSpPr>
            <a:stCxn id="8" idx="4"/>
            <a:endCxn id="14" idx="0"/>
          </p:cNvCxnSpPr>
          <p:nvPr/>
        </p:nvCxnSpPr>
        <p:spPr>
          <a:xfrm flipH="1">
            <a:off x="578919" y="3590735"/>
            <a:ext cx="618642" cy="112327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D24757AE-E543-D6EF-627E-4DA7193AB60B}"/>
              </a:ext>
            </a:extLst>
          </p:cNvPr>
          <p:cNvSpPr/>
          <p:nvPr/>
        </p:nvSpPr>
        <p:spPr>
          <a:xfrm>
            <a:off x="5269387" y="2182296"/>
            <a:ext cx="689317" cy="581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38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CC780B0-DAA2-535F-14DB-A47240953CE0}"/>
              </a:ext>
            </a:extLst>
          </p:cNvPr>
          <p:cNvCxnSpPr>
            <a:stCxn id="9" idx="4"/>
            <a:endCxn id="6" idx="0"/>
          </p:cNvCxnSpPr>
          <p:nvPr/>
        </p:nvCxnSpPr>
        <p:spPr>
          <a:xfrm flipH="1">
            <a:off x="4750189" y="2763433"/>
            <a:ext cx="863857" cy="110402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26C3BDB-95F8-8066-8406-67D65AE3B864}"/>
              </a:ext>
            </a:extLst>
          </p:cNvPr>
          <p:cNvCxnSpPr>
            <a:stCxn id="9" idx="4"/>
            <a:endCxn id="5" idx="0"/>
          </p:cNvCxnSpPr>
          <p:nvPr/>
        </p:nvCxnSpPr>
        <p:spPr>
          <a:xfrm>
            <a:off x="5614046" y="2763433"/>
            <a:ext cx="1365392" cy="25238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2864337A-B777-E207-81AB-54D4991C29D4}"/>
              </a:ext>
            </a:extLst>
          </p:cNvPr>
          <p:cNvSpPr/>
          <p:nvPr/>
        </p:nvSpPr>
        <p:spPr>
          <a:xfrm>
            <a:off x="3686292" y="1112382"/>
            <a:ext cx="689317" cy="5811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64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D712FBB-4C49-0CAC-0709-46853BFCEB00}"/>
              </a:ext>
            </a:extLst>
          </p:cNvPr>
          <p:cNvCxnSpPr>
            <a:stCxn id="37" idx="4"/>
            <a:endCxn id="8" idx="0"/>
          </p:cNvCxnSpPr>
          <p:nvPr/>
        </p:nvCxnSpPr>
        <p:spPr>
          <a:xfrm flipH="1">
            <a:off x="1197561" y="1693519"/>
            <a:ext cx="2833390" cy="131607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72211B7-DB65-F8A2-33E2-47A77D7C5209}"/>
              </a:ext>
            </a:extLst>
          </p:cNvPr>
          <p:cNvCxnSpPr>
            <a:stCxn id="37" idx="4"/>
            <a:endCxn id="9" idx="0"/>
          </p:cNvCxnSpPr>
          <p:nvPr/>
        </p:nvCxnSpPr>
        <p:spPr>
          <a:xfrm>
            <a:off x="4030951" y="1693519"/>
            <a:ext cx="1583095" cy="48877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37AC63AB-DDCA-DA8A-C5A4-9EF4211F6190}"/>
              </a:ext>
            </a:extLst>
          </p:cNvPr>
          <p:cNvSpPr txBox="1"/>
          <p:nvPr/>
        </p:nvSpPr>
        <p:spPr>
          <a:xfrm>
            <a:off x="2755773" y="1670346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0</a:t>
            </a:r>
            <a:endParaRPr lang="en-US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4981F12-BED5-2028-5EA4-3CA4FF341334}"/>
              </a:ext>
            </a:extLst>
          </p:cNvPr>
          <p:cNvSpPr txBox="1"/>
          <p:nvPr/>
        </p:nvSpPr>
        <p:spPr>
          <a:xfrm>
            <a:off x="5120465" y="1636653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1</a:t>
            </a:r>
            <a:endParaRPr lang="en-US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14140FB-43EE-6D8D-DDDC-1ACC565BEE03}"/>
              </a:ext>
            </a:extLst>
          </p:cNvPr>
          <p:cNvSpPr txBox="1"/>
          <p:nvPr/>
        </p:nvSpPr>
        <p:spPr>
          <a:xfrm>
            <a:off x="699727" y="3523243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0</a:t>
            </a:r>
            <a:endParaRPr lang="en-US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F08CB8F-97CD-ECB4-4C66-E133BC9A3BDB}"/>
              </a:ext>
            </a:extLst>
          </p:cNvPr>
          <p:cNvSpPr txBox="1"/>
          <p:nvPr/>
        </p:nvSpPr>
        <p:spPr>
          <a:xfrm>
            <a:off x="1898096" y="3376996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1</a:t>
            </a:r>
            <a:endParaRPr lang="en-US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5FFC8B8-DA33-0B93-458F-49B329855422}"/>
              </a:ext>
            </a:extLst>
          </p:cNvPr>
          <p:cNvSpPr txBox="1"/>
          <p:nvPr/>
        </p:nvSpPr>
        <p:spPr>
          <a:xfrm>
            <a:off x="1673461" y="4190784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0</a:t>
            </a:r>
            <a:endParaRPr lang="en-US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7822997-1713-1E56-73E6-615BCA2BE735}"/>
              </a:ext>
            </a:extLst>
          </p:cNvPr>
          <p:cNvSpPr txBox="1"/>
          <p:nvPr/>
        </p:nvSpPr>
        <p:spPr>
          <a:xfrm>
            <a:off x="2660723" y="4238031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1</a:t>
            </a:r>
            <a:endParaRPr lang="en-US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8D0EB47-ACE0-AB69-46BC-3B93321DCA65}"/>
              </a:ext>
            </a:extLst>
          </p:cNvPr>
          <p:cNvSpPr txBox="1"/>
          <p:nvPr/>
        </p:nvSpPr>
        <p:spPr>
          <a:xfrm>
            <a:off x="5038019" y="2648650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0</a:t>
            </a:r>
            <a:endParaRPr lang="en-US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0540D52-E89D-0DC2-EFC6-75EB16A16656}"/>
              </a:ext>
            </a:extLst>
          </p:cNvPr>
          <p:cNvSpPr txBox="1"/>
          <p:nvPr/>
        </p:nvSpPr>
        <p:spPr>
          <a:xfrm>
            <a:off x="6058752" y="2472864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1</a:t>
            </a:r>
            <a:endParaRPr lang="en-US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D21BD66-55BC-B0FC-93BF-21CADB5684EB}"/>
              </a:ext>
            </a:extLst>
          </p:cNvPr>
          <p:cNvSpPr txBox="1"/>
          <p:nvPr/>
        </p:nvSpPr>
        <p:spPr>
          <a:xfrm>
            <a:off x="4022503" y="4134540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0</a:t>
            </a:r>
            <a:endParaRPr lang="en-US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C6B0EA0-C64E-A0AB-7D0A-D9D7C18DB182}"/>
              </a:ext>
            </a:extLst>
          </p:cNvPr>
          <p:cNvSpPr txBox="1"/>
          <p:nvPr/>
        </p:nvSpPr>
        <p:spPr>
          <a:xfrm>
            <a:off x="5019840" y="4125210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1</a:t>
            </a:r>
            <a:endParaRPr lang="en-US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DAD7D57-B508-9A41-552B-60E239D3A139}"/>
              </a:ext>
            </a:extLst>
          </p:cNvPr>
          <p:cNvSpPr txBox="1"/>
          <p:nvPr/>
        </p:nvSpPr>
        <p:spPr>
          <a:xfrm>
            <a:off x="6548866" y="3477018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0</a:t>
            </a:r>
            <a:endParaRPr lang="en-US" b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55EA99F-32E6-E669-1014-7AC7ADAE0860}"/>
              </a:ext>
            </a:extLst>
          </p:cNvPr>
          <p:cNvSpPr txBox="1"/>
          <p:nvPr/>
        </p:nvSpPr>
        <p:spPr>
          <a:xfrm>
            <a:off x="7354663" y="3296559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1</a:t>
            </a:r>
            <a:endParaRPr lang="en-US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46F2402-6961-C638-83D7-743835E4D86A}"/>
              </a:ext>
            </a:extLst>
          </p:cNvPr>
          <p:cNvSpPr txBox="1"/>
          <p:nvPr/>
        </p:nvSpPr>
        <p:spPr>
          <a:xfrm>
            <a:off x="7448274" y="4227502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0</a:t>
            </a:r>
            <a:endParaRPr lang="en-US" b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8F5D9A7-223E-420B-5060-695EC9FD8B82}"/>
              </a:ext>
            </a:extLst>
          </p:cNvPr>
          <p:cNvSpPr txBox="1"/>
          <p:nvPr/>
        </p:nvSpPr>
        <p:spPr>
          <a:xfrm>
            <a:off x="8340813" y="4197327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1</a:t>
            </a:r>
            <a:endParaRPr lang="en-US" b="1" dirty="0"/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1E64C9DF-8946-B0BD-1608-8E6A9A040F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5674215"/>
              </p:ext>
            </p:extLst>
          </p:nvPr>
        </p:nvGraphicFramePr>
        <p:xfrm>
          <a:off x="8871477" y="731818"/>
          <a:ext cx="2956825" cy="3881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365">
                  <a:extLst>
                    <a:ext uri="{9D8B030D-6E8A-4147-A177-3AD203B41FA5}">
                      <a16:colId xmlns:a16="http://schemas.microsoft.com/office/drawing/2014/main" val="1967581034"/>
                    </a:ext>
                  </a:extLst>
                </a:gridCol>
                <a:gridCol w="591365">
                  <a:extLst>
                    <a:ext uri="{9D8B030D-6E8A-4147-A177-3AD203B41FA5}">
                      <a16:colId xmlns:a16="http://schemas.microsoft.com/office/drawing/2014/main" val="188205715"/>
                    </a:ext>
                  </a:extLst>
                </a:gridCol>
                <a:gridCol w="591365">
                  <a:extLst>
                    <a:ext uri="{9D8B030D-6E8A-4147-A177-3AD203B41FA5}">
                      <a16:colId xmlns:a16="http://schemas.microsoft.com/office/drawing/2014/main" val="1707378221"/>
                    </a:ext>
                  </a:extLst>
                </a:gridCol>
                <a:gridCol w="591365">
                  <a:extLst>
                    <a:ext uri="{9D8B030D-6E8A-4147-A177-3AD203B41FA5}">
                      <a16:colId xmlns:a16="http://schemas.microsoft.com/office/drawing/2014/main" val="3596781779"/>
                    </a:ext>
                  </a:extLst>
                </a:gridCol>
                <a:gridCol w="591365">
                  <a:extLst>
                    <a:ext uri="{9D8B030D-6E8A-4147-A177-3AD203B41FA5}">
                      <a16:colId xmlns:a16="http://schemas.microsoft.com/office/drawing/2014/main" val="435995208"/>
                    </a:ext>
                  </a:extLst>
                </a:gridCol>
              </a:tblGrid>
              <a:tr h="397497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Pixel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Codes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Bits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Freq.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Total</a:t>
                      </a:r>
                      <a:br>
                        <a:rPr lang="en-US" sz="1000" dirty="0"/>
                      </a:br>
                      <a:r>
                        <a:rPr lang="en-US" sz="1000" dirty="0"/>
                        <a:t>(bit size x </a:t>
                      </a:r>
                      <a:r>
                        <a:rPr lang="en-US" sz="1000" dirty="0" err="1"/>
                        <a:t>freq</a:t>
                      </a:r>
                      <a:r>
                        <a:rPr lang="en-US" sz="10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3888353"/>
                  </a:ext>
                </a:extLst>
              </a:tr>
              <a:tr h="39749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8117514"/>
                  </a:ext>
                </a:extLst>
              </a:tr>
              <a:tr h="39749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4033735"/>
                  </a:ext>
                </a:extLst>
              </a:tr>
              <a:tr h="39749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8067517"/>
                  </a:ext>
                </a:extLst>
              </a:tr>
              <a:tr h="39749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863577"/>
                  </a:ext>
                </a:extLst>
              </a:tr>
              <a:tr h="39749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686317"/>
                  </a:ext>
                </a:extLst>
              </a:tr>
              <a:tr h="39749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8177480"/>
                  </a:ext>
                </a:extLst>
              </a:tr>
              <a:tr h="39749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6516203"/>
                  </a:ext>
                </a:extLst>
              </a:tr>
              <a:tr h="39749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8782943"/>
                  </a:ext>
                </a:extLst>
              </a:tr>
            </a:tbl>
          </a:graphicData>
        </a:graphic>
      </p:graphicFrame>
      <p:sp>
        <p:nvSpPr>
          <p:cNvPr id="29" name="Shape 5">
            <a:extLst>
              <a:ext uri="{FF2B5EF4-FFF2-40B4-BE49-F238E27FC236}">
                <a16:creationId xmlns:a16="http://schemas.microsoft.com/office/drawing/2014/main" id="{CF460030-CEBA-4641-6E51-352DC538F191}"/>
              </a:ext>
            </a:extLst>
          </p:cNvPr>
          <p:cNvSpPr/>
          <p:nvPr/>
        </p:nvSpPr>
        <p:spPr>
          <a:xfrm>
            <a:off x="868680" y="5759982"/>
            <a:ext cx="10241280" cy="695308"/>
          </a:xfrm>
          <a:prstGeom prst="roundRect">
            <a:avLst>
              <a:gd name="adj" fmla="val 5455"/>
            </a:avLst>
          </a:prstGeom>
          <a:solidFill>
            <a:srgbClr val="FFF8E8"/>
          </a:solidFill>
          <a:ln w="15240">
            <a:solidFill>
              <a:srgbClr val="F4A261"/>
            </a:solidFill>
            <a:prstDash val="solid"/>
          </a:ln>
        </p:spPr>
      </p:sp>
      <p:sp>
        <p:nvSpPr>
          <p:cNvPr id="38" name="Text 6">
            <a:extLst>
              <a:ext uri="{FF2B5EF4-FFF2-40B4-BE49-F238E27FC236}">
                <a16:creationId xmlns:a16="http://schemas.microsoft.com/office/drawing/2014/main" id="{5E29934D-2051-EAC8-CF95-AF0F9DCF0104}"/>
              </a:ext>
            </a:extLst>
          </p:cNvPr>
          <p:cNvSpPr/>
          <p:nvPr/>
        </p:nvSpPr>
        <p:spPr>
          <a:xfrm>
            <a:off x="978408" y="5756160"/>
            <a:ext cx="10021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A4D00"/>
                </a:solidFill>
              </a:rPr>
              <a:t>Note:</a:t>
            </a:r>
            <a:endParaRPr lang="en-US" dirty="0"/>
          </a:p>
        </p:txBody>
      </p:sp>
      <p:sp>
        <p:nvSpPr>
          <p:cNvPr id="39" name="Text 7">
            <a:extLst>
              <a:ext uri="{FF2B5EF4-FFF2-40B4-BE49-F238E27FC236}">
                <a16:creationId xmlns:a16="http://schemas.microsoft.com/office/drawing/2014/main" id="{72125687-377B-2684-40D5-A0229C1AFF49}"/>
              </a:ext>
            </a:extLst>
          </p:cNvPr>
          <p:cNvSpPr/>
          <p:nvPr/>
        </p:nvSpPr>
        <p:spPr>
          <a:xfrm>
            <a:off x="978408" y="6048768"/>
            <a:ext cx="1002182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dirty="0"/>
              <a:t>After applying Huffman coding, the size of the image becomes</a:t>
            </a:r>
            <a:r>
              <a:rPr lang="en-US" dirty="0">
                <a:solidFill>
                  <a:srgbClr val="111111"/>
                </a:solidFill>
              </a:rPr>
              <a:t>: 22+24+21+30+30+27+20+16 = 190 bits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3207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8C2E04-87E4-45C5-3A0B-60E086ED6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mnt/data/user-1kFy9epRxYXs1pHOCdzQinPw/fc5910e8ff0f429aa4306e1576c19e7d/mnt/data/diu_logo_crop.png">
            <a:extLst>
              <a:ext uri="{FF2B5EF4-FFF2-40B4-BE49-F238E27FC236}">
                <a16:creationId xmlns:a16="http://schemas.microsoft.com/office/drawing/2014/main" id="{B1300D1D-200B-BEF0-D0C2-9E31FC6A53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6960" y="91440"/>
            <a:ext cx="660400" cy="594360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56C306A7-F31A-D8CD-7123-A71B26F87EC1}"/>
              </a:ext>
            </a:extLst>
          </p:cNvPr>
          <p:cNvSpPr/>
          <p:nvPr/>
        </p:nvSpPr>
        <p:spPr>
          <a:xfrm>
            <a:off x="3840480" y="6473952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 of CSE, Daffodil International University</a:t>
            </a:r>
            <a:endParaRPr lang="en-US" sz="9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E617D18F-98AE-D154-DA61-86BF8799B130}"/>
              </a:ext>
            </a:extLst>
          </p:cNvPr>
          <p:cNvSpPr/>
          <p:nvPr/>
        </p:nvSpPr>
        <p:spPr>
          <a:xfrm>
            <a:off x="11612880" y="63825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</a:rPr>
              <a:t>15</a:t>
            </a:r>
            <a:endParaRPr lang="en-US" sz="900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B08EB1DF-CB9B-B3D8-90BD-4B797E1F2441}"/>
              </a:ext>
            </a:extLst>
          </p:cNvPr>
          <p:cNvSpPr/>
          <p:nvPr/>
        </p:nvSpPr>
        <p:spPr>
          <a:xfrm>
            <a:off x="429208" y="559837"/>
            <a:ext cx="3473786" cy="3293706"/>
          </a:xfrm>
          <a:prstGeom prst="roundRect">
            <a:avLst>
              <a:gd name="adj" fmla="val 1127"/>
            </a:avLst>
          </a:prstGeom>
          <a:solidFill>
            <a:srgbClr val="DDEBF7"/>
          </a:solidFill>
          <a:ln w="15240">
            <a:solidFill>
              <a:srgbClr val="9DC3E6"/>
            </a:solidFill>
            <a:prstDash val="solid"/>
          </a:ln>
        </p:spPr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8E2DC437-3DE5-1F5B-C939-62B1DAF5A99B}"/>
              </a:ext>
            </a:extLst>
          </p:cNvPr>
          <p:cNvSpPr/>
          <p:nvPr/>
        </p:nvSpPr>
        <p:spPr>
          <a:xfrm>
            <a:off x="554328" y="714712"/>
            <a:ext cx="3238938" cy="112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33333"/>
                </a:solidFill>
              </a:rPr>
              <a:t>Original vs compressed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7">
                <a:extLst>
                  <a:ext uri="{FF2B5EF4-FFF2-40B4-BE49-F238E27FC236}">
                    <a16:creationId xmlns:a16="http://schemas.microsoft.com/office/drawing/2014/main" id="{5922BF57-231B-0C37-0A97-DD4C177C4FBB}"/>
                  </a:ext>
                </a:extLst>
              </p:cNvPr>
              <p:cNvSpPr/>
              <p:nvPr/>
            </p:nvSpPr>
            <p:spPr>
              <a:xfrm>
                <a:off x="429208" y="982499"/>
                <a:ext cx="3473786" cy="21086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1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𝑶𝒓𝒊𝒈𝒊𝒏𝒂𝒍</m:t>
                      </m:r>
                      <m:r>
                        <a:rPr lang="en-US" sz="1700" b="1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1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𝒔𝒊𝒛𝒆</m:t>
                      </m:r>
                      <m:r>
                        <a:rPr lang="en-US" sz="1700" b="1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700" b="1" i="1" dirty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𝟔𝟒</m:t>
                      </m:r>
                      <m:r>
                        <a:rPr lang="en-US" sz="1700" b="1" i="1" dirty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1" i="1" dirty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𝒑𝒊𝒙𝒆𝒍𝒔</m:t>
                      </m:r>
                      <m:r>
                        <a:rPr lang="en-US" sz="1700" b="1" i="1" dirty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lang="en-US" sz="1700" b="1" i="1" dirty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sz="1700" b="1" i="1" dirty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1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7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1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1700" b="1" i="1" dirty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𝟓𝟏𝟐</m:t>
                      </m:r>
                      <m:r>
                        <a:rPr lang="en-US" sz="1700" b="1" i="1" dirty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1" i="1" dirty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𝒃𝒊𝒕𝒔</m:t>
                      </m:r>
                    </m:oMath>
                  </m:oMathPara>
                </a14:m>
              </a:p>
              <a:p>
                <a:pPr marL="0" indent="0" algn="ctr">
                  <a:buNone/>
                </a:pPr>
                <a:endParaRPr lang="en-US" sz="17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1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𝑪𝒐𝒎𝒑𝒓𝒆𝒔𝒔𝒆𝒅</m:t>
                      </m:r>
                      <m:r>
                        <a:rPr lang="en-US" sz="1700" b="1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1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𝒔𝒊𝒛𝒆</m:t>
                      </m:r>
                      <m:r>
                        <a:rPr lang="en-US" sz="17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1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1700" b="1" i="1" dirty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𝟏𝟗𝟎</m:t>
                      </m:r>
                      <m:r>
                        <a:rPr lang="en-US" sz="1700" b="1" i="1" dirty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1" i="1" dirty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𝒃𝒊𝒕𝒔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7" name="Text 7">
                <a:extLst>
                  <a:ext uri="{FF2B5EF4-FFF2-40B4-BE49-F238E27FC236}">
                    <a16:creationId xmlns:a16="http://schemas.microsoft.com/office/drawing/2014/main" id="{5922BF57-231B-0C37-0A97-DD4C177C4F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208" y="982499"/>
                <a:ext cx="3473786" cy="2108640"/>
              </a:xfrm>
              <a:prstGeom prst="rect">
                <a:avLst/>
              </a:prstGeom>
              <a:blipFill>
                <a:blip r:embed="rId4"/>
                <a:stretch>
                  <a:fillRect l="-1930" r="-3158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hape 8">
            <a:extLst>
              <a:ext uri="{FF2B5EF4-FFF2-40B4-BE49-F238E27FC236}">
                <a16:creationId xmlns:a16="http://schemas.microsoft.com/office/drawing/2014/main" id="{AB1CA423-46EA-F3B8-2841-FE7C5B76FFCD}"/>
              </a:ext>
            </a:extLst>
          </p:cNvPr>
          <p:cNvSpPr/>
          <p:nvPr/>
        </p:nvSpPr>
        <p:spPr>
          <a:xfrm>
            <a:off x="4178248" y="559837"/>
            <a:ext cx="3473786" cy="3293706"/>
          </a:xfrm>
          <a:prstGeom prst="roundRect">
            <a:avLst>
              <a:gd name="adj" fmla="val 1127"/>
            </a:avLst>
          </a:prstGeom>
          <a:solidFill>
            <a:srgbClr val="E2F0D9"/>
          </a:solidFill>
          <a:ln w="15240">
            <a:solidFill>
              <a:srgbClr val="A9D18E"/>
            </a:solidFill>
            <a:prstDash val="solid"/>
          </a:ln>
        </p:spPr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A1AD2AC0-4A93-646E-5359-A4C076950944}"/>
              </a:ext>
            </a:extLst>
          </p:cNvPr>
          <p:cNvSpPr/>
          <p:nvPr/>
        </p:nvSpPr>
        <p:spPr>
          <a:xfrm>
            <a:off x="4303368" y="714712"/>
            <a:ext cx="3238938" cy="112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33333"/>
                </a:solidFill>
              </a:rPr>
              <a:t>Compression ratio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 10">
                <a:extLst>
                  <a:ext uri="{FF2B5EF4-FFF2-40B4-BE49-F238E27FC236}">
                    <a16:creationId xmlns:a16="http://schemas.microsoft.com/office/drawing/2014/main" id="{CCF82F7E-2991-7A90-2590-CAA28B4EE704}"/>
                  </a:ext>
                </a:extLst>
              </p:cNvPr>
              <p:cNvSpPr/>
              <p:nvPr/>
            </p:nvSpPr>
            <p:spPr>
              <a:xfrm>
                <a:off x="4618587" y="1319328"/>
                <a:ext cx="2593108" cy="266484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1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𝑪𝒐𝒎𝒑𝒓𝒆𝒔𝒔𝒊𝒐𝒏</m:t>
                      </m:r>
                      <m:r>
                        <a:rPr lang="en-US" sz="1700" b="1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1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𝒓𝒂𝒕𝒊𝒐</m:t>
                      </m:r>
                      <m:r>
                        <a:rPr lang="en-US" sz="1700" b="1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sz="1700" b="1" i="1" dirty="0">
                  <a:solidFill>
                    <a:srgbClr val="222222"/>
                  </a:solidFill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1700" b="1" i="1" dirty="0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sz="1700" b="1" i="1" dirty="0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700" b="1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700" b="1" i="1" smtClean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700" b="1" i="1" smtClean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  <m:t>𝑶𝒓𝒊𝒈𝒊𝒏𝒂𝒍</m:t>
                        </m:r>
                      </m:num>
                      <m:den>
                        <m:r>
                          <a:rPr lang="en-US" sz="1700" b="1" i="1" smtClean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  <m:t>𝑪𝒐𝒎𝒑𝒓𝒆𝒔𝒔𝒆𝒅</m:t>
                        </m:r>
                      </m:den>
                    </m:f>
                  </m:oMath>
                </a14:m>
                <a:endParaRPr lang="en-US" sz="1700" b="1" dirty="0">
                  <a:solidFill>
                    <a:srgbClr val="222222"/>
                  </a:solidFill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1700" b="1" i="1" dirty="0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700" b="1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700" b="1" i="1" smtClean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700" b="1" i="1" smtClean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  <m:t>𝟓𝟏𝟐</m:t>
                        </m:r>
                        <m:r>
                          <a:rPr lang="en-US" sz="1700" b="1" i="1" smtClean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700" b="1" i="1" smtClean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  <m:t>𝒃𝒊𝒕𝒔</m:t>
                        </m:r>
                      </m:num>
                      <m:den>
                        <m:r>
                          <a:rPr lang="en-US" sz="1700" b="1" i="1" smtClean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  <m:t>𝟏𝟗𝟎</m:t>
                        </m:r>
                        <m:r>
                          <a:rPr lang="en-US" sz="1700" b="1" i="1" smtClean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700" b="1" i="1" smtClean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  <m:t>𝒃𝒊𝒕𝒔</m:t>
                        </m:r>
                      </m:den>
                    </m:f>
                  </m:oMath>
                </a14:m>
                <a:endParaRPr lang="en-US" sz="17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1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1700" b="1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1700" b="1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700" b="1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𝟔𝟗</m:t>
                      </m:r>
                      <m:r>
                        <a:rPr lang="en-US" sz="1700" b="1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US" sz="1700" b="1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1700" b="1" i="1" dirty="0">
                  <a:solidFill>
                    <a:srgbClr val="222222"/>
                  </a:solidFill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1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𝑹𝒆𝒍𝒂𝒕𝒊𝒗𝒆</m:t>
                      </m:r>
                      <m:r>
                        <a:rPr lang="en-US" sz="1700" b="1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1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𝒓𝒆𝒅𝒖𝒏𝒅𝒂𝒏𝒄𝒚</m:t>
                      </m:r>
                      <m:r>
                        <a:rPr lang="en-US" sz="1700" b="1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1700" b="1" i="1" dirty="0">
                  <a:solidFill>
                    <a:srgbClr val="222222"/>
                  </a:solidFill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1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sz="1700" b="1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700" b="1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1700" b="1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700" b="1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700" b="1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1700" b="1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den>
                      </m:f>
                    </m:oMath>
                  </m:oMathPara>
                </a14:m>
                <a:endParaRPr lang="en-US" sz="1700" b="1" i="1" dirty="0">
                  <a:solidFill>
                    <a:srgbClr val="222222"/>
                  </a:solidFill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1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700" b="1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1700" b="1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 − </m:t>
                      </m:r>
                      <m:f>
                        <m:fPr>
                          <m:ctrlPr>
                            <a:rPr lang="en-US" sz="1700" b="1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700" b="1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1700" b="1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1700" b="1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1700" b="1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𝟔𝟗</m:t>
                          </m:r>
                        </m:den>
                      </m:f>
                      <m:r>
                        <a:rPr lang="en-US" sz="1700" b="1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700" b="1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700" b="1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700" b="1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𝟑𝟕𝟐</m:t>
                      </m:r>
                      <m:r>
                        <a:rPr lang="en-US" sz="1700" b="1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700" b="1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𝟑𝟕</m:t>
                      </m:r>
                      <m:r>
                        <a:rPr lang="en-US" sz="1700" b="1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700" b="1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1700" b="1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US" sz="1700" b="1" i="1" dirty="0">
                  <a:solidFill>
                    <a:srgbClr val="222222"/>
                  </a:solidFill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endParaRPr lang="en-US" sz="1700" b="1" i="1" dirty="0">
                  <a:solidFill>
                    <a:srgbClr val="222222"/>
                  </a:solidFill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/>
              </a:p>
            </p:txBody>
          </p:sp>
        </mc:Choice>
        <mc:Fallback>
          <p:sp>
            <p:nvSpPr>
              <p:cNvPr id="24" name="Text 10">
                <a:extLst>
                  <a:ext uri="{FF2B5EF4-FFF2-40B4-BE49-F238E27FC236}">
                    <a16:creationId xmlns:a16="http://schemas.microsoft.com/office/drawing/2014/main" id="{CCF82F7E-2991-7A90-2590-CAA28B4EE7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8587" y="1319328"/>
                <a:ext cx="2593108" cy="2664847"/>
              </a:xfrm>
              <a:prstGeom prst="rect">
                <a:avLst/>
              </a:prstGeom>
              <a:blipFill>
                <a:blip r:embed="rId5"/>
                <a:stretch>
                  <a:fillRect t="-11644" b="-17123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Shape 11">
            <a:extLst>
              <a:ext uri="{FF2B5EF4-FFF2-40B4-BE49-F238E27FC236}">
                <a16:creationId xmlns:a16="http://schemas.microsoft.com/office/drawing/2014/main" id="{A8512271-5170-03DF-3DB2-0AA178C70823}"/>
              </a:ext>
            </a:extLst>
          </p:cNvPr>
          <p:cNvSpPr/>
          <p:nvPr/>
        </p:nvSpPr>
        <p:spPr>
          <a:xfrm>
            <a:off x="7927288" y="559837"/>
            <a:ext cx="3473786" cy="3293706"/>
          </a:xfrm>
          <a:prstGeom prst="roundRect">
            <a:avLst>
              <a:gd name="adj" fmla="val 1127"/>
            </a:avLst>
          </a:prstGeom>
          <a:solidFill>
            <a:srgbClr val="FCE4D6"/>
          </a:solidFill>
          <a:ln w="15240">
            <a:solidFill>
              <a:srgbClr val="F4B183"/>
            </a:solidFill>
            <a:prstDash val="solid"/>
          </a:ln>
        </p:spPr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3703A9F2-4C70-C1A3-E7CA-8841DCF7F03F}"/>
              </a:ext>
            </a:extLst>
          </p:cNvPr>
          <p:cNvSpPr/>
          <p:nvPr/>
        </p:nvSpPr>
        <p:spPr>
          <a:xfrm>
            <a:off x="8052408" y="714712"/>
            <a:ext cx="3238938" cy="112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33333"/>
                </a:solidFill>
              </a:rPr>
              <a:t>Bits per pixel and saving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 13">
                <a:extLst>
                  <a:ext uri="{FF2B5EF4-FFF2-40B4-BE49-F238E27FC236}">
                    <a16:creationId xmlns:a16="http://schemas.microsoft.com/office/drawing/2014/main" id="{25BE2386-9F0A-E0EB-1135-251774E44427}"/>
                  </a:ext>
                </a:extLst>
              </p:cNvPr>
              <p:cNvSpPr/>
              <p:nvPr/>
            </p:nvSpPr>
            <p:spPr>
              <a:xfrm>
                <a:off x="8030961" y="1576706"/>
                <a:ext cx="3238938" cy="16936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𝑨𝒗𝒆𝒓𝒂𝒈𝒆</m:t>
                      </m:r>
                      <m:r>
                        <a:rPr lang="en-US" sz="2000" b="1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2000" b="1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𝒑𝒆𝒓</m:t>
                      </m:r>
                      <m:r>
                        <a:rPr lang="en-US" sz="2000" b="1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𝒑𝒊𝒙𝒆𝒍</m:t>
                      </m:r>
                    </m:oMath>
                  </m:oMathPara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b="1" i="1" dirty="0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dirty="0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𝟏𝟗𝟎</m:t>
                          </m:r>
                        </m:num>
                        <m:den>
                          <m:r>
                            <a:rPr lang="en-US" sz="2000" b="1" i="1" dirty="0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𝟔𝟒</m:t>
                          </m:r>
                        </m:den>
                      </m:f>
                    </m:oMath>
                  </m:oMathPara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000" b="1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1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𝟗𝟕</m:t>
                      </m:r>
                      <m:r>
                        <a:rPr lang="en-US" sz="2000" b="1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2000" b="1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000" b="1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𝒑𝒊𝒙𝒆𝒍</m:t>
                      </m:r>
                    </m:oMath>
                    <m:oMath xmlns:m="http://schemas.openxmlformats.org/officeDocument/2006/math">
                      <m:r>
                        <a:rPr lang="en-US" sz="2000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≈ </m:t>
                      </m:r>
                      <m:r>
                        <a:rPr lang="en-US" sz="2000" b="1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000" b="1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2000" b="1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000" b="1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𝒑𝒊𝒙𝒆𝒍𝒔</m:t>
                      </m:r>
                    </m:oMath>
                  </m:oMathPara>
                </a14:m>
              </a:p>
              <a:p>
                <a:pPr marL="0" indent="0" algn="ctr">
                  <a:buNone/>
                </a:pPr>
              </a:p>
              <a:p>
                <a:pPr algn="ctr"/>
                <a:br>
                  <a:rPr lang="en-US" sz="2000" b="1" i="1" dirty="0">
                    <a:solidFill>
                      <a:srgbClr val="222222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≈ </m:t>
                      </m:r>
                      <m:r>
                        <a:rPr lang="en-US" sz="2000" b="1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000" b="1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2000" b="1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000" b="1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𝒑𝒊𝒙𝒆𝒍𝒔</m:t>
                      </m:r>
                    </m:oMath>
                  </m:oMathPara>
                </a14:m>
                <a:endParaRPr lang="en-US" sz="2000" dirty="0"/>
              </a:p>
              <a:p>
                <a:pPr algn="ctr"/>
                <a:endParaRPr lang="en-US" sz="20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𝑺𝒂𝒗𝒊𝒏𝒈</m:t>
                      </m:r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 dirty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dirty="0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𝟓𝟏𝟐</m:t>
                          </m:r>
                          <m:r>
                            <a:rPr lang="en-US" sz="2000" b="1" i="1" dirty="0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1" i="1" dirty="0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𝟏𝟗𝟎</m:t>
                          </m:r>
                        </m:num>
                        <m:den>
                          <m:r>
                            <a:rPr lang="en-US" sz="2000" b="1" i="1" dirty="0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𝟓𝟏𝟐</m:t>
                          </m:r>
                          <m:r>
                            <a:rPr lang="en-US" sz="2000" b="1" i="1" dirty="0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000" b="1" i="1" dirty="0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𝟏𝟎𝟎</m:t>
                          </m:r>
                        </m:den>
                      </m:f>
                      <m:r>
                        <a:rPr lang="en-US" sz="2000" b="1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𝟔𝟐</m:t>
                      </m:r>
                      <m:r>
                        <a:rPr lang="en-US" sz="2000" b="1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1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𝟖𝟗</m:t>
                      </m:r>
                      <m:r>
                        <a:rPr lang="en-US" sz="2000" b="1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27" name="Text 13">
                <a:extLst>
                  <a:ext uri="{FF2B5EF4-FFF2-40B4-BE49-F238E27FC236}">
                    <a16:creationId xmlns:a16="http://schemas.microsoft.com/office/drawing/2014/main" id="{25BE2386-9F0A-E0EB-1135-251774E444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0961" y="1576706"/>
                <a:ext cx="3238938" cy="1693680"/>
              </a:xfrm>
              <a:prstGeom prst="rect">
                <a:avLst/>
              </a:prstGeom>
              <a:blipFill>
                <a:blip r:embed="rId6"/>
                <a:stretch>
                  <a:fillRect t="-33935" b="-3826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Shape 5">
            <a:extLst>
              <a:ext uri="{FF2B5EF4-FFF2-40B4-BE49-F238E27FC236}">
                <a16:creationId xmlns:a16="http://schemas.microsoft.com/office/drawing/2014/main" id="{4A3DACDD-F36D-466C-F2FF-422D7D3A7F77}"/>
              </a:ext>
            </a:extLst>
          </p:cNvPr>
          <p:cNvSpPr/>
          <p:nvPr/>
        </p:nvSpPr>
        <p:spPr>
          <a:xfrm>
            <a:off x="868680" y="5440788"/>
            <a:ext cx="10241280" cy="1005840"/>
          </a:xfrm>
          <a:prstGeom prst="roundRect">
            <a:avLst>
              <a:gd name="adj" fmla="val 5455"/>
            </a:avLst>
          </a:prstGeom>
          <a:solidFill>
            <a:srgbClr val="FFF8E8"/>
          </a:solidFill>
          <a:ln w="15240">
            <a:solidFill>
              <a:srgbClr val="F4A261"/>
            </a:solidFill>
            <a:prstDash val="solid"/>
          </a:ln>
        </p:spPr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AA4C260A-0C9C-5A30-9789-EE41D7EF6BBE}"/>
              </a:ext>
            </a:extLst>
          </p:cNvPr>
          <p:cNvSpPr/>
          <p:nvPr/>
        </p:nvSpPr>
        <p:spPr>
          <a:xfrm>
            <a:off x="978408" y="5532228"/>
            <a:ext cx="10021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A4D00"/>
                </a:solidFill>
              </a:rPr>
              <a:t>What to remember:</a:t>
            </a:r>
            <a:endParaRPr lang="en-US" dirty="0"/>
          </a:p>
        </p:txBody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511FD646-13CD-59C4-AC5B-9F4FADE1ED22}"/>
              </a:ext>
            </a:extLst>
          </p:cNvPr>
          <p:cNvSpPr/>
          <p:nvPr/>
        </p:nvSpPr>
        <p:spPr>
          <a:xfrm>
            <a:off x="978408" y="5824836"/>
            <a:ext cx="1002182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The highest-frequency pixel value 72 gets the shortest code. Rare pixel values 52 and 91 get longer codes. That is why the average bit length decreases.</a:t>
            </a:r>
            <a:endParaRPr lang="en-US" dirty="0"/>
          </a:p>
        </p:txBody>
      </p:sp>
      <p:sp>
        <p:nvSpPr>
          <p:cNvPr id="33" name="Shape 5">
            <a:extLst>
              <a:ext uri="{FF2B5EF4-FFF2-40B4-BE49-F238E27FC236}">
                <a16:creationId xmlns:a16="http://schemas.microsoft.com/office/drawing/2014/main" id="{D1B67788-4DBB-8E55-A932-351417F0BA4C}"/>
              </a:ext>
            </a:extLst>
          </p:cNvPr>
          <p:cNvSpPr/>
          <p:nvPr/>
        </p:nvSpPr>
        <p:spPr>
          <a:xfrm>
            <a:off x="839754" y="4286075"/>
            <a:ext cx="10241280" cy="913713"/>
          </a:xfrm>
          <a:prstGeom prst="roundRect">
            <a:avLst>
              <a:gd name="adj" fmla="val 5455"/>
            </a:avLst>
          </a:prstGeom>
          <a:solidFill>
            <a:srgbClr val="FFF8E8"/>
          </a:solidFill>
          <a:ln w="15240">
            <a:solidFill>
              <a:srgbClr val="F4A261"/>
            </a:solidFill>
            <a:prstDash val="solid"/>
          </a:ln>
        </p:spPr>
      </p:sp>
      <p:sp>
        <p:nvSpPr>
          <p:cNvPr id="34" name="Text 6">
            <a:extLst>
              <a:ext uri="{FF2B5EF4-FFF2-40B4-BE49-F238E27FC236}">
                <a16:creationId xmlns:a16="http://schemas.microsoft.com/office/drawing/2014/main" id="{193157A8-6F87-10C3-E29D-BA19E3EF5F38}"/>
              </a:ext>
            </a:extLst>
          </p:cNvPr>
          <p:cNvSpPr/>
          <p:nvPr/>
        </p:nvSpPr>
        <p:spPr>
          <a:xfrm>
            <a:off x="949482" y="4282254"/>
            <a:ext cx="10021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A4D00"/>
                </a:solidFill>
              </a:rPr>
              <a:t>Conclusion:</a:t>
            </a:r>
            <a:endParaRPr lang="en-US" dirty="0"/>
          </a:p>
        </p:txBody>
      </p:sp>
      <p:sp>
        <p:nvSpPr>
          <p:cNvPr id="35" name="Text 7">
            <a:extLst>
              <a:ext uri="{FF2B5EF4-FFF2-40B4-BE49-F238E27FC236}">
                <a16:creationId xmlns:a16="http://schemas.microsoft.com/office/drawing/2014/main" id="{CCC629E1-1749-40FC-AAB5-3042BAC1ADF6}"/>
              </a:ext>
            </a:extLst>
          </p:cNvPr>
          <p:cNvSpPr/>
          <p:nvPr/>
        </p:nvSpPr>
        <p:spPr>
          <a:xfrm>
            <a:off x="949482" y="4574862"/>
            <a:ext cx="1002182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dirty="0">
                <a:solidFill>
                  <a:srgbClr val="333333"/>
                </a:solidFill>
              </a:rPr>
              <a:t>Huffman coding keeps the image information exact, but reduces the average storage from 8 bits/pixel to about 3 bits/pixel for this patch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9109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</a:rPr>
              <a:t>Practice Problem: Solve Huffman Coding by Hand</a:t>
            </a:r>
            <a:endParaRPr lang="en-US" sz="2200" dirty="0"/>
          </a:p>
        </p:txBody>
      </p:sp>
      <p:pic>
        <p:nvPicPr>
          <p:cNvPr id="3" name="Image 0" descr="/mnt/data/user-1kFy9epRxYXs1pHOCdzQinPw/fc5910e8ff0f429aa4306e1576c19e7d/mnt/data/diu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6960" y="91440"/>
            <a:ext cx="660400" cy="594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77240" y="1097280"/>
            <a:ext cx="5440680" cy="4709160"/>
          </a:xfrm>
          <a:prstGeom prst="roundRect">
            <a:avLst>
              <a:gd name="adj" fmla="val 1224"/>
            </a:avLst>
          </a:prstGeom>
          <a:solidFill>
            <a:srgbClr val="FFF8E8"/>
          </a:solidFill>
          <a:ln w="15240">
            <a:solidFill>
              <a:srgbClr val="F4A26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86968" y="1188720"/>
            <a:ext cx="5221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A4D00"/>
                </a:solidFill>
              </a:rPr>
              <a:t>Problem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3"/>
              <p:cNvSpPr/>
              <p:nvPr/>
            </p:nvSpPr>
            <p:spPr>
              <a:xfrm>
                <a:off x="886968" y="1553898"/>
                <a:ext cx="5221224" cy="4005072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t"/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rgbClr val="111111"/>
                    </a:solidFill>
                  </a:rPr>
                  <a:t>A 3x3 10-bit Grayscale image: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55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55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55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70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111111"/>
                    </a:solidFill>
                  </a:rPr>
                  <a:t>Tasks: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111111"/>
                    </a:solidFill>
                  </a:rPr>
                  <a:t>1. Draw the Huffman tree.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111111"/>
                    </a:solidFill>
                  </a:rPr>
                  <a:t>2. Write one valid code for each pixel.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111111"/>
                    </a:solidFill>
                  </a:rPr>
                  <a:t>3. Compute average bits/pixel.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111111"/>
                    </a:solidFill>
                  </a:rPr>
                  <a:t>4. Compare with fixed-length coding.</a:t>
                </a:r>
                <a:endParaRPr lang="en-US" dirty="0"/>
              </a:p>
            </p:txBody>
          </p:sp>
        </mc:Choice>
        <mc:Fallback>
          <p:sp>
            <p:nvSpPr>
              <p:cNvPr id="6" name="Tex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968" y="1553898"/>
                <a:ext cx="5221224" cy="4005072"/>
              </a:xfrm>
              <a:prstGeom prst="rect">
                <a:avLst/>
              </a:prstGeom>
              <a:blipFill>
                <a:blip r:embed="rId4"/>
                <a:stretch>
                  <a:fillRect l="-2804" t="-182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hape 4"/>
          <p:cNvSpPr/>
          <p:nvPr/>
        </p:nvSpPr>
        <p:spPr>
          <a:xfrm>
            <a:off x="6400800" y="1097280"/>
            <a:ext cx="4800600" cy="4709160"/>
          </a:xfrm>
          <a:prstGeom prst="roundRect">
            <a:avLst>
              <a:gd name="adj" fmla="val 1224"/>
            </a:avLst>
          </a:prstGeom>
          <a:solidFill>
            <a:srgbClr val="F2FBF5"/>
          </a:solidFill>
          <a:ln w="13970">
            <a:solidFill>
              <a:srgbClr val="B7D7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10528" y="1170432"/>
            <a:ext cx="4581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4060"/>
                </a:solidFill>
              </a:rPr>
              <a:t>Answer outline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6"/>
              <p:cNvSpPr/>
              <p:nvPr/>
            </p:nvSpPr>
            <p:spPr>
              <a:xfrm>
                <a:off x="6510528" y="1517322"/>
                <a:ext cx="4581144" cy="4289118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t"/>
              <a:lstStyle/>
              <a:p>
                <a:pPr marL="0" indent="0">
                  <a:buNone/>
                </a:pPr>
                <a:r>
                  <a:rPr lang="en-US" sz="1700" dirty="0">
                    <a:solidFill>
                      <a:srgbClr val="111111"/>
                    </a:solidFill>
                  </a:rPr>
                  <a:t>Possible combining order:</a:t>
                </a:r>
                <a:endParaRPr lang="en-US" sz="1700" dirty="0"/>
              </a:p>
              <a:p>
                <a:pPr marL="0" indent="0">
                  <a:buNone/>
                </a:pPr>
                <a:r>
                  <a:rPr lang="en-US" sz="1700" dirty="0">
                    <a:solidFill>
                      <a:srgbClr val="111111"/>
                    </a:solidFill>
                  </a:rPr>
                  <a:t>4+1=5</a:t>
                </a:r>
                <a:endParaRPr lang="en-US" sz="1700" dirty="0"/>
              </a:p>
              <a:p>
                <a:pPr marL="0" indent="0">
                  <a:buNone/>
                </a:pPr>
                <a:r>
                  <a:rPr lang="en-US" sz="1700" dirty="0">
                    <a:solidFill>
                      <a:srgbClr val="111111"/>
                    </a:solidFill>
                  </a:rPr>
                  <a:t>5+4=9</a:t>
                </a:r>
                <a:endParaRPr lang="en-US" sz="1700" dirty="0"/>
              </a:p>
              <a:p>
                <a:pPr marL="0" indent="0">
                  <a:buNone/>
                </a:pPr>
                <a:r>
                  <a:rPr lang="en-US" sz="1700" dirty="0">
                    <a:solidFill>
                      <a:srgbClr val="111111"/>
                    </a:solidFill>
                  </a:rPr>
                  <a:t>9+7=16 (Root)</a:t>
                </a:r>
              </a:p>
              <a:p>
                <a:pPr marL="0" indent="0">
                  <a:buNone/>
                </a:pPr>
                <a:endParaRPr lang="en-US" sz="1700" dirty="0"/>
              </a:p>
              <a:p>
                <a:pPr marL="0" indent="0">
                  <a:buNone/>
                </a:pPr>
                <a:r>
                  <a:rPr lang="en-US" sz="1700" dirty="0">
                    <a:solidFill>
                      <a:srgbClr val="111111"/>
                    </a:solidFill>
                  </a:rPr>
                  <a:t>One valid code set:</a:t>
                </a:r>
                <a:endParaRPr lang="en-US" sz="1700" dirty="0"/>
              </a:p>
              <a:p>
                <a:pPr marL="0" indent="0">
                  <a:buNone/>
                </a:pPr>
                <a:r>
                  <a:rPr lang="en-US" sz="1700" dirty="0">
                    <a:solidFill>
                      <a:srgbClr val="111111"/>
                    </a:solidFill>
                  </a:rPr>
                  <a:t>52=0, 55=10, 61=110, 70=111</a:t>
                </a:r>
                <a:endParaRPr lang="en-US" sz="1700" dirty="0"/>
              </a:p>
              <a:p>
                <a:pPr marL="0" indent="0">
                  <a:buNone/>
                </a:pPr>
                <a:endParaRPr lang="en-US" sz="1700" dirty="0"/>
              </a:p>
              <a:p>
                <a:pPr marL="0" indent="0">
                  <a:buNone/>
                </a:pPr>
                <a:r>
                  <a:rPr lang="en-US" sz="1700" dirty="0">
                    <a:solidFill>
                      <a:srgbClr val="111111"/>
                    </a:solidFill>
                  </a:rPr>
                  <a:t>Lengths: 1,2,3,3</a:t>
                </a:r>
                <a:endParaRPr lang="en-US" sz="17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7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𝑣𝑔</m:t>
                      </m:r>
                      <m:r>
                        <a:rPr lang="en-US" sz="17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𝑏𝑖𝑡𝑠</m:t>
                      </m:r>
                      <m:r>
                        <a:rPr lang="en-US" sz="17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7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𝑝𝑖𝑥𝑒𝑙</m:t>
                      </m:r>
                      <m:r>
                        <a:rPr lang="en-US" sz="17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7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7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(1×7</m:t>
                          </m:r>
                          <m:r>
                            <a:rPr lang="en-US" sz="1700" b="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17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700" b="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7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2×4</m:t>
                          </m:r>
                          <m:r>
                            <a:rPr lang="en-US" sz="1700" b="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17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700" b="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7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3×</m:t>
                          </m:r>
                          <m:r>
                            <a:rPr lang="en-US" sz="17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1700" b="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17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700" b="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7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3×1)</m:t>
                          </m:r>
                        </m:num>
                        <m:den>
                          <m:r>
                            <a:rPr lang="en-US" sz="1700" b="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</m:oMath>
                  </m:oMathPara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7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700" b="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30</m:t>
                          </m:r>
                        </m:num>
                        <m:den>
                          <m:r>
                            <a:rPr lang="en-US" sz="1700" b="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  <m:r>
                        <a:rPr lang="en-US" sz="1700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17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1.87</m:t>
                      </m:r>
                      <m:r>
                        <a:rPr lang="en-US" sz="1700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17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𝑏𝑖𝑡𝑠</m:t>
                      </m:r>
                      <m:r>
                        <a:rPr lang="en-US" sz="17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7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𝑝𝑖𝑥𝑒𝑙</m:t>
                      </m:r>
                      <m:r>
                        <a:rPr lang="en-US" sz="17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 ≈2 </m:t>
                      </m:r>
                      <m:r>
                        <a:rPr lang="en-US" sz="1700" b="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𝑏𝑖𝑡𝑠</m:t>
                      </m:r>
                      <m:r>
                        <a:rPr lang="en-US" sz="1700" b="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700" b="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𝑝𝑖𝑥𝑒𝑙</m:t>
                      </m:r>
                    </m:oMath>
                  </m:oMathPara>
                </a14:m>
              </a:p>
              <a:p>
                <a:pPr marL="0" indent="0">
                  <a:buNone/>
                </a:pPr>
                <a:endParaRPr lang="en-US" sz="1700" dirty="0">
                  <a:solidFill>
                    <a:srgbClr val="111111"/>
                  </a:solidFill>
                </a:endParaRPr>
              </a:p>
              <a:p>
                <a:pPr marL="0" indent="0">
                  <a:buNone/>
                </a:pPr>
                <a:endParaRPr lang="en-US" sz="1700" dirty="0"/>
              </a:p>
              <a:p>
                <a:pPr marL="0" indent="0">
                  <a:buNone/>
                </a:pPr>
                <a:r>
                  <a:rPr lang="en-US" sz="1700" dirty="0">
                    <a:solidFill>
                      <a:srgbClr val="111111"/>
                    </a:solidFill>
                  </a:rPr>
                  <a:t>Fixed-length = 10 bit/pixel</a:t>
                </a:r>
                <a:endParaRPr lang="en-US" sz="1700" dirty="0"/>
              </a:p>
            </p:txBody>
          </p:sp>
        </mc:Choice>
        <mc:Fallback>
          <p:sp>
            <p:nvSpPr>
              <p:cNvPr id="9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0528" y="1517322"/>
                <a:ext cx="4581144" cy="4289118"/>
              </a:xfrm>
              <a:prstGeom prst="rect">
                <a:avLst/>
              </a:prstGeom>
              <a:blipFill>
                <a:blip r:embed="rId5"/>
                <a:stretch>
                  <a:fillRect l="-2793" t="-142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7"/>
          <p:cNvSpPr/>
          <p:nvPr/>
        </p:nvSpPr>
        <p:spPr>
          <a:xfrm>
            <a:off x="3840480" y="6473952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 of CSE, Daffodil International University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612880" y="63825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ser-1kFy9epRxYXs1pHOCdzQinPw/fc5910e8ff0f429aa4306e1576c19e7d/mnt/data/diu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6960" y="91440"/>
            <a:ext cx="66040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114300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</a:rPr>
              <a:t>4. JPEG Compression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1005840" y="1920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62828"/>
                </a:solidFill>
              </a:rPr>
              <a:t>Most common lossy still-image method. Learn the pipeline.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1005840" y="2743200"/>
            <a:ext cx="8778240" cy="0"/>
          </a:xfrm>
          <a:prstGeom prst="line">
            <a:avLst/>
          </a:prstGeom>
          <a:noFill/>
          <a:ln w="25400">
            <a:solidFill>
              <a:srgbClr val="D6282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840480" y="6473952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 of CSE, Daffodil International University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612880" y="63825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</a:rPr>
              <a:t>18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8685DD9-FC48-6330-6B19-082C45F6E9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2628" y="2786241"/>
            <a:ext cx="5078639" cy="364467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</a:rPr>
              <a:t>JPEG at a Glance</a:t>
            </a:r>
            <a:endParaRPr lang="en-US" sz="2200" dirty="0"/>
          </a:p>
        </p:txBody>
      </p:sp>
      <p:pic>
        <p:nvPicPr>
          <p:cNvPr id="3" name="Image 0" descr="/mnt/data/user-1kFy9epRxYXs1pHOCdzQinPw/fc5910e8ff0f429aa4306e1576c19e7d/mnt/data/diu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6960" y="91440"/>
            <a:ext cx="660400" cy="594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77240" y="1097280"/>
            <a:ext cx="5257800" cy="1828800"/>
          </a:xfrm>
          <a:prstGeom prst="roundRect">
            <a:avLst>
              <a:gd name="adj" fmla="val 3000"/>
            </a:avLst>
          </a:prstGeom>
          <a:solidFill>
            <a:srgbClr val="EEF5FF"/>
          </a:solidFill>
          <a:ln w="13970">
            <a:solidFill>
              <a:srgbClr val="B4C7E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86968" y="1170432"/>
            <a:ext cx="5038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4060"/>
                </a:solidFill>
              </a:rPr>
              <a:t>What JPEG is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86968" y="1444752"/>
            <a:ext cx="5038344" cy="1408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JPEG is a lossy image compression standard designed mainly for natural photographs. It compresses by reducing psychovisual and some statistical redundancy.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777240" y="3246120"/>
            <a:ext cx="5257800" cy="2011680"/>
          </a:xfrm>
          <a:prstGeom prst="roundRect">
            <a:avLst>
              <a:gd name="adj" fmla="val 2727"/>
            </a:avLst>
          </a:prstGeom>
          <a:solidFill>
            <a:srgbClr val="EEF5FF"/>
          </a:solidFill>
          <a:ln w="13970">
            <a:solidFill>
              <a:srgbClr val="B4C7E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6968" y="3319272"/>
            <a:ext cx="5038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4060"/>
                </a:solidFill>
              </a:rPr>
              <a:t>Why JPEG works well for photos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886968" y="3593592"/>
            <a:ext cx="5038344" cy="1591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Human vision is less sensitive to slight high-frequency and color-detail loss than to major brightness loss. JPEG uses this property to save many bits.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6263640" y="1417320"/>
            <a:ext cx="1078992" cy="658368"/>
          </a:xfrm>
          <a:prstGeom prst="roundRect">
            <a:avLst>
              <a:gd name="adj" fmla="val 6944"/>
            </a:avLst>
          </a:prstGeom>
          <a:solidFill>
            <a:srgbClr val="F9FBFD"/>
          </a:solidFill>
          <a:ln w="12700">
            <a:solidFill>
              <a:srgbClr val="B7C9E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00216" y="15819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0000"/>
                </a:solidFill>
              </a:rPr>
              <a:t>RGB → YCbCr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340454" y="1673352"/>
            <a:ext cx="173736" cy="164592"/>
          </a:xfrm>
          <a:prstGeom prst="chevron">
            <a:avLst/>
          </a:prstGeom>
          <a:solidFill>
            <a:schemeClr val="accent5"/>
          </a:solidFill>
          <a:ln w="6350">
            <a:solidFill>
              <a:srgbClr val="D5E4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525512" y="1417320"/>
            <a:ext cx="1078992" cy="658368"/>
          </a:xfrm>
          <a:prstGeom prst="roundRect">
            <a:avLst>
              <a:gd name="adj" fmla="val 6944"/>
            </a:avLst>
          </a:prstGeom>
          <a:solidFill>
            <a:srgbClr val="F9FBFD"/>
          </a:solidFill>
          <a:ln w="12700">
            <a:solidFill>
              <a:srgbClr val="B7C9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62088" y="15819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0000"/>
                </a:solidFill>
              </a:rPr>
              <a:t>Chroma subsample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602326" y="1673352"/>
            <a:ext cx="173736" cy="164592"/>
          </a:xfrm>
          <a:prstGeom prst="chevron">
            <a:avLst/>
          </a:prstGeom>
          <a:solidFill>
            <a:schemeClr val="accent5"/>
          </a:solidFill>
          <a:ln w="6350">
            <a:solidFill>
              <a:srgbClr val="D5E4F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787384" y="1417320"/>
            <a:ext cx="1078992" cy="658368"/>
          </a:xfrm>
          <a:prstGeom prst="roundRect">
            <a:avLst>
              <a:gd name="adj" fmla="val 6944"/>
            </a:avLst>
          </a:prstGeom>
          <a:solidFill>
            <a:srgbClr val="F9FBFD"/>
          </a:solidFill>
          <a:ln w="12700">
            <a:solidFill>
              <a:srgbClr val="B7C9E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823960" y="15819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0000"/>
                </a:solidFill>
              </a:rPr>
              <a:t>8×8 blocks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9890702" y="1673352"/>
            <a:ext cx="173736" cy="164592"/>
          </a:xfrm>
          <a:prstGeom prst="chevron">
            <a:avLst/>
          </a:prstGeom>
          <a:solidFill>
            <a:schemeClr val="accent5"/>
          </a:solidFill>
          <a:ln w="6350">
            <a:solidFill>
              <a:srgbClr val="D5E4F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089012" y="1417320"/>
            <a:ext cx="1078992" cy="658368"/>
          </a:xfrm>
          <a:prstGeom prst="roundRect">
            <a:avLst>
              <a:gd name="adj" fmla="val 6944"/>
            </a:avLst>
          </a:prstGeom>
          <a:solidFill>
            <a:srgbClr val="F9FBFD"/>
          </a:solidFill>
          <a:ln w="12700">
            <a:solidFill>
              <a:srgbClr val="B7C9E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125588" y="15819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0000"/>
                </a:solidFill>
              </a:rPr>
              <a:t>DCT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10092192" y="2323371"/>
            <a:ext cx="1078992" cy="658368"/>
          </a:xfrm>
          <a:prstGeom prst="roundRect">
            <a:avLst>
              <a:gd name="adj" fmla="val 6944"/>
            </a:avLst>
          </a:prstGeom>
          <a:solidFill>
            <a:srgbClr val="F9FBFD"/>
          </a:solidFill>
          <a:ln w="12700">
            <a:solidFill>
              <a:srgbClr val="B7C9E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128768" y="2487963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0000"/>
                </a:solidFill>
              </a:rPr>
              <a:t>Quantize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 rot="10800000">
            <a:off x="7313950" y="2583114"/>
            <a:ext cx="173736" cy="164592"/>
          </a:xfrm>
          <a:prstGeom prst="chevron">
            <a:avLst/>
          </a:prstGeom>
          <a:solidFill>
            <a:schemeClr val="accent5"/>
          </a:solidFill>
          <a:ln w="6350">
            <a:solidFill>
              <a:srgbClr val="D5E4F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784486" y="2323371"/>
            <a:ext cx="1078992" cy="658368"/>
          </a:xfrm>
          <a:prstGeom prst="roundRect">
            <a:avLst>
              <a:gd name="adj" fmla="val 6944"/>
            </a:avLst>
          </a:prstGeom>
          <a:solidFill>
            <a:srgbClr val="F9FBFD"/>
          </a:solidFill>
          <a:ln w="12700">
            <a:solidFill>
              <a:srgbClr val="B7C9E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821062" y="2487963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0000"/>
                </a:solidFill>
              </a:rPr>
              <a:t>Zigzag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 rot="10594097">
            <a:off x="8602326" y="2583114"/>
            <a:ext cx="173736" cy="164592"/>
          </a:xfrm>
          <a:prstGeom prst="chevron">
            <a:avLst/>
          </a:prstGeom>
          <a:solidFill>
            <a:schemeClr val="accent5"/>
          </a:solidFill>
          <a:ln w="6350">
            <a:solidFill>
              <a:srgbClr val="D5E4F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525512" y="2336888"/>
            <a:ext cx="1078992" cy="658368"/>
          </a:xfrm>
          <a:prstGeom prst="roundRect">
            <a:avLst>
              <a:gd name="adj" fmla="val 6944"/>
            </a:avLst>
          </a:prstGeom>
          <a:solidFill>
            <a:srgbClr val="F9FBFD"/>
          </a:solidFill>
          <a:ln w="12700">
            <a:solidFill>
              <a:srgbClr val="B7C9E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562088" y="25014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0000"/>
                </a:solidFill>
              </a:rPr>
              <a:t>RLE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 rot="10800000">
            <a:off x="9889440" y="2543358"/>
            <a:ext cx="173736" cy="164592"/>
          </a:xfrm>
          <a:prstGeom prst="chevron">
            <a:avLst/>
          </a:prstGeom>
          <a:solidFill>
            <a:schemeClr val="accent5"/>
          </a:solidFill>
          <a:ln w="6350">
            <a:solidFill>
              <a:srgbClr val="D5E4F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217806" y="2363724"/>
            <a:ext cx="1078992" cy="658368"/>
          </a:xfrm>
          <a:prstGeom prst="roundRect">
            <a:avLst>
              <a:gd name="adj" fmla="val 6944"/>
            </a:avLst>
          </a:prstGeom>
          <a:solidFill>
            <a:srgbClr val="F9FBFD"/>
          </a:solidFill>
          <a:ln w="12700">
            <a:solidFill>
              <a:srgbClr val="B7C9E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54382" y="25283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0000"/>
                </a:solidFill>
              </a:rPr>
              <a:t>Huffman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6263640" y="4892040"/>
            <a:ext cx="4800600" cy="1044934"/>
          </a:xfrm>
          <a:prstGeom prst="roundRect">
            <a:avLst>
              <a:gd name="adj" fmla="val 6000"/>
            </a:avLst>
          </a:prstGeom>
          <a:solidFill>
            <a:srgbClr val="FFF8E8"/>
          </a:solidFill>
          <a:ln w="15240">
            <a:solidFill>
              <a:srgbClr val="F4A26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373368" y="4983480"/>
            <a:ext cx="4581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A4D00"/>
                </a:solidFill>
              </a:rPr>
              <a:t>Remember the logic</a:t>
            </a: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6373368" y="5276088"/>
            <a:ext cx="458114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Transform -&gt; quantize -&gt; reorder -&gt; entropy-code. Quantization is the main lossy step.</a:t>
            </a: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3840480" y="6473952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 of CSE, Daffodil International University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1612880" y="63825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</a:rPr>
              <a:t>19</a:t>
            </a:r>
            <a:endParaRPr lang="en-US" sz="900" dirty="0"/>
          </a:p>
        </p:txBody>
      </p:sp>
      <p:sp>
        <p:nvSpPr>
          <p:cNvPr id="37" name="Shape 26">
            <a:extLst>
              <a:ext uri="{FF2B5EF4-FFF2-40B4-BE49-F238E27FC236}">
                <a16:creationId xmlns:a16="http://schemas.microsoft.com/office/drawing/2014/main" id="{F1AF164E-71B3-D379-B870-AF9E7E661C27}"/>
              </a:ext>
            </a:extLst>
          </p:cNvPr>
          <p:cNvSpPr/>
          <p:nvPr/>
        </p:nvSpPr>
        <p:spPr>
          <a:xfrm rot="5029668">
            <a:off x="10628508" y="2113059"/>
            <a:ext cx="173736" cy="164592"/>
          </a:xfrm>
          <a:prstGeom prst="chevron">
            <a:avLst/>
          </a:prstGeom>
          <a:solidFill>
            <a:schemeClr val="accent5"/>
          </a:solidFill>
          <a:ln w="6350">
            <a:solidFill>
              <a:srgbClr val="D5E4F2"/>
            </a:solidFill>
            <a:prstDash val="solid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</a:rPr>
              <a:t>JPEG Step 1-3: Color Space and Blocking</a:t>
            </a:r>
            <a:endParaRPr lang="en-US" sz="2200" dirty="0"/>
          </a:p>
        </p:txBody>
      </p:sp>
      <p:pic>
        <p:nvPicPr>
          <p:cNvPr id="3" name="Image 0" descr="/mnt/data/user-1kFy9epRxYXs1pHOCdzQinPw/fc5910e8ff0f429aa4306e1576c19e7d/mnt/data/diu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6960" y="91440"/>
            <a:ext cx="660400" cy="594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77240" y="1097280"/>
            <a:ext cx="3611880" cy="1874520"/>
          </a:xfrm>
          <a:prstGeom prst="roundRect">
            <a:avLst>
              <a:gd name="adj" fmla="val 2927"/>
            </a:avLst>
          </a:prstGeom>
          <a:solidFill>
            <a:srgbClr val="EEF5FF"/>
          </a:solidFill>
          <a:ln w="13970">
            <a:solidFill>
              <a:srgbClr val="B4C7E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86968" y="1170432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4060"/>
                </a:solidFill>
              </a:rPr>
              <a:t>1. RGB to YCbCr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86968" y="1444752"/>
            <a:ext cx="3392424" cy="1453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Y represents brightness (luminance). Cb and Cr represent color difference (chrominance). JPEG often processes brightness more carefully than color.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777240" y="3246120"/>
            <a:ext cx="3611880" cy="2011680"/>
          </a:xfrm>
          <a:prstGeom prst="roundRect">
            <a:avLst>
              <a:gd name="adj" fmla="val 2727"/>
            </a:avLst>
          </a:prstGeom>
          <a:solidFill>
            <a:srgbClr val="EEF5FF"/>
          </a:solidFill>
          <a:ln w="13970">
            <a:solidFill>
              <a:srgbClr val="B4C7E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6968" y="3319272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4060"/>
                </a:solidFill>
              </a:rPr>
              <a:t>2. Chroma subsampling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886968" y="3593592"/>
            <a:ext cx="3392424" cy="1591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Because the eye is less sensitive to fine color detail, Cb and Cr may be stored at lower resolution, such as 4:2:0.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663440" y="1097280"/>
            <a:ext cx="3611880" cy="4160520"/>
          </a:xfrm>
          <a:prstGeom prst="roundRect">
            <a:avLst>
              <a:gd name="adj" fmla="val 1519"/>
            </a:avLst>
          </a:prstGeom>
          <a:solidFill>
            <a:srgbClr val="EEF5FF"/>
          </a:solidFill>
          <a:ln w="13970">
            <a:solidFill>
              <a:srgbClr val="B4C7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73168" y="1170432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4060"/>
                </a:solidFill>
              </a:rPr>
              <a:t>3. Divide into 8×8 blocks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773168" y="1444752"/>
            <a:ext cx="3392424" cy="3739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The image is split into small 8×8 blocks. Each block is processed separately.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Advantage: localized computation.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Disadvantage: at very high compression, block boundaries may become visible.</a:t>
            </a: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8641080" y="1417320"/>
            <a:ext cx="283464" cy="283464"/>
          </a:xfrm>
          <a:prstGeom prst="rect">
            <a:avLst/>
          </a:prstGeom>
          <a:solidFill>
            <a:srgbClr val="EEF5FF"/>
          </a:solidFill>
          <a:ln w="5080">
            <a:solidFill>
              <a:srgbClr val="BFD1E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933688" y="1417320"/>
            <a:ext cx="283464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BFD1E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226296" y="1417320"/>
            <a:ext cx="283464" cy="283464"/>
          </a:xfrm>
          <a:prstGeom prst="rect">
            <a:avLst/>
          </a:prstGeom>
          <a:solidFill>
            <a:srgbClr val="EEF5FF"/>
          </a:solidFill>
          <a:ln w="5080">
            <a:solidFill>
              <a:srgbClr val="BFD1E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518904" y="1417320"/>
            <a:ext cx="283464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BFD1E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811512" y="1417320"/>
            <a:ext cx="283464" cy="283464"/>
          </a:xfrm>
          <a:prstGeom prst="rect">
            <a:avLst/>
          </a:prstGeom>
          <a:solidFill>
            <a:srgbClr val="EEF5FF"/>
          </a:solidFill>
          <a:ln w="5080">
            <a:solidFill>
              <a:srgbClr val="BFD1E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104120" y="1417320"/>
            <a:ext cx="283464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BFD1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396728" y="1417320"/>
            <a:ext cx="283464" cy="283464"/>
          </a:xfrm>
          <a:prstGeom prst="rect">
            <a:avLst/>
          </a:prstGeom>
          <a:solidFill>
            <a:srgbClr val="EEF5FF"/>
          </a:solidFill>
          <a:ln w="5080">
            <a:solidFill>
              <a:srgbClr val="BFD1E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689336" y="1417320"/>
            <a:ext cx="283464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BFD1E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641080" y="1709928"/>
            <a:ext cx="283464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BFD1E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933688" y="1709928"/>
            <a:ext cx="283464" cy="283464"/>
          </a:xfrm>
          <a:prstGeom prst="rect">
            <a:avLst/>
          </a:prstGeom>
          <a:solidFill>
            <a:srgbClr val="EEF5FF"/>
          </a:solidFill>
          <a:ln w="5080">
            <a:solidFill>
              <a:srgbClr val="BFD1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226296" y="1709928"/>
            <a:ext cx="283464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BFD1E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518904" y="1709928"/>
            <a:ext cx="283464" cy="283464"/>
          </a:xfrm>
          <a:prstGeom prst="rect">
            <a:avLst/>
          </a:prstGeom>
          <a:solidFill>
            <a:srgbClr val="EEF5FF"/>
          </a:solidFill>
          <a:ln w="5080">
            <a:solidFill>
              <a:srgbClr val="BFD1E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811512" y="1709928"/>
            <a:ext cx="283464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BFD1E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104120" y="1709928"/>
            <a:ext cx="283464" cy="283464"/>
          </a:xfrm>
          <a:prstGeom prst="rect">
            <a:avLst/>
          </a:prstGeom>
          <a:solidFill>
            <a:srgbClr val="EEF5FF"/>
          </a:solidFill>
          <a:ln w="5080">
            <a:solidFill>
              <a:srgbClr val="BFD1E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396728" y="1709928"/>
            <a:ext cx="283464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BFD1E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689336" y="1709928"/>
            <a:ext cx="283464" cy="283464"/>
          </a:xfrm>
          <a:prstGeom prst="rect">
            <a:avLst/>
          </a:prstGeom>
          <a:solidFill>
            <a:srgbClr val="EEF5FF"/>
          </a:solidFill>
          <a:ln w="5080">
            <a:solidFill>
              <a:srgbClr val="BFD1E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641080" y="2002536"/>
            <a:ext cx="283464" cy="283464"/>
          </a:xfrm>
          <a:prstGeom prst="rect">
            <a:avLst/>
          </a:prstGeom>
          <a:solidFill>
            <a:srgbClr val="EEF5FF"/>
          </a:solidFill>
          <a:ln w="5080">
            <a:solidFill>
              <a:srgbClr val="BFD1E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933688" y="2002536"/>
            <a:ext cx="283464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BFD1E5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226296" y="2002536"/>
            <a:ext cx="283464" cy="283464"/>
          </a:xfrm>
          <a:prstGeom prst="rect">
            <a:avLst/>
          </a:prstGeom>
          <a:solidFill>
            <a:srgbClr val="EEF5FF"/>
          </a:solidFill>
          <a:ln w="5080">
            <a:solidFill>
              <a:srgbClr val="BFD1E5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9518904" y="2002536"/>
            <a:ext cx="283464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BFD1E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811512" y="2002536"/>
            <a:ext cx="283464" cy="283464"/>
          </a:xfrm>
          <a:prstGeom prst="rect">
            <a:avLst/>
          </a:prstGeom>
          <a:solidFill>
            <a:srgbClr val="EEF5FF"/>
          </a:solidFill>
          <a:ln w="5080">
            <a:solidFill>
              <a:srgbClr val="BFD1E5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0104120" y="2002536"/>
            <a:ext cx="283464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BFD1E5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0396728" y="2002536"/>
            <a:ext cx="283464" cy="283464"/>
          </a:xfrm>
          <a:prstGeom prst="rect">
            <a:avLst/>
          </a:prstGeom>
          <a:solidFill>
            <a:srgbClr val="EEF5FF"/>
          </a:solidFill>
          <a:ln w="5080">
            <a:solidFill>
              <a:srgbClr val="BFD1E5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0689336" y="2002536"/>
            <a:ext cx="283464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BFD1E5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641080" y="2295144"/>
            <a:ext cx="283464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BFD1E5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933688" y="2295144"/>
            <a:ext cx="283464" cy="283464"/>
          </a:xfrm>
          <a:prstGeom prst="rect">
            <a:avLst/>
          </a:prstGeom>
          <a:solidFill>
            <a:srgbClr val="EEF5FF"/>
          </a:solidFill>
          <a:ln w="5080">
            <a:solidFill>
              <a:srgbClr val="BFD1E5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9226296" y="2295144"/>
            <a:ext cx="283464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BFD1E5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9518904" y="2295144"/>
            <a:ext cx="283464" cy="283464"/>
          </a:xfrm>
          <a:prstGeom prst="rect">
            <a:avLst/>
          </a:prstGeom>
          <a:solidFill>
            <a:srgbClr val="EEF5FF"/>
          </a:solidFill>
          <a:ln w="5080">
            <a:solidFill>
              <a:srgbClr val="BFD1E5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811512" y="2295144"/>
            <a:ext cx="283464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BFD1E5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0104120" y="2295144"/>
            <a:ext cx="283464" cy="283464"/>
          </a:xfrm>
          <a:prstGeom prst="rect">
            <a:avLst/>
          </a:prstGeom>
          <a:solidFill>
            <a:srgbClr val="EEF5FF"/>
          </a:solidFill>
          <a:ln w="5080">
            <a:solidFill>
              <a:srgbClr val="BFD1E5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10396728" y="2295144"/>
            <a:ext cx="283464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BFD1E5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10689336" y="2295144"/>
            <a:ext cx="283464" cy="283464"/>
          </a:xfrm>
          <a:prstGeom prst="rect">
            <a:avLst/>
          </a:prstGeom>
          <a:solidFill>
            <a:srgbClr val="EEF5FF"/>
          </a:solidFill>
          <a:ln w="5080">
            <a:solidFill>
              <a:srgbClr val="BFD1E5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8641080" y="2587752"/>
            <a:ext cx="283464" cy="283464"/>
          </a:xfrm>
          <a:prstGeom prst="rect">
            <a:avLst/>
          </a:prstGeom>
          <a:solidFill>
            <a:srgbClr val="EEF5FF"/>
          </a:solidFill>
          <a:ln w="5080">
            <a:solidFill>
              <a:srgbClr val="BFD1E5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8933688" y="2587752"/>
            <a:ext cx="283464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BFD1E5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9226296" y="2587752"/>
            <a:ext cx="283464" cy="283464"/>
          </a:xfrm>
          <a:prstGeom prst="rect">
            <a:avLst/>
          </a:prstGeom>
          <a:solidFill>
            <a:srgbClr val="EEF5FF"/>
          </a:solidFill>
          <a:ln w="5080">
            <a:solidFill>
              <a:srgbClr val="BFD1E5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9518904" y="2587752"/>
            <a:ext cx="283464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BFD1E5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9811512" y="2587752"/>
            <a:ext cx="283464" cy="283464"/>
          </a:xfrm>
          <a:prstGeom prst="rect">
            <a:avLst/>
          </a:prstGeom>
          <a:solidFill>
            <a:srgbClr val="EEF5FF"/>
          </a:solidFill>
          <a:ln w="5080">
            <a:solidFill>
              <a:srgbClr val="BFD1E5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10104120" y="2587752"/>
            <a:ext cx="283464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BFD1E5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10396728" y="2587752"/>
            <a:ext cx="283464" cy="283464"/>
          </a:xfrm>
          <a:prstGeom prst="rect">
            <a:avLst/>
          </a:prstGeom>
          <a:solidFill>
            <a:srgbClr val="EEF5FF"/>
          </a:solidFill>
          <a:ln w="5080">
            <a:solidFill>
              <a:srgbClr val="BFD1E5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10689336" y="2587752"/>
            <a:ext cx="283464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BFD1E5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8641080" y="2880360"/>
            <a:ext cx="283464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BFD1E5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8933688" y="2880360"/>
            <a:ext cx="283464" cy="283464"/>
          </a:xfrm>
          <a:prstGeom prst="rect">
            <a:avLst/>
          </a:prstGeom>
          <a:solidFill>
            <a:srgbClr val="EEF5FF"/>
          </a:solidFill>
          <a:ln w="5080">
            <a:solidFill>
              <a:srgbClr val="BFD1E5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9226296" y="2880360"/>
            <a:ext cx="283464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BFD1E5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9518904" y="2880360"/>
            <a:ext cx="283464" cy="283464"/>
          </a:xfrm>
          <a:prstGeom prst="rect">
            <a:avLst/>
          </a:prstGeom>
          <a:solidFill>
            <a:srgbClr val="EEF5FF"/>
          </a:solidFill>
          <a:ln w="5080">
            <a:solidFill>
              <a:srgbClr val="BFD1E5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9811512" y="2880360"/>
            <a:ext cx="283464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BFD1E5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10104120" y="2880360"/>
            <a:ext cx="283464" cy="283464"/>
          </a:xfrm>
          <a:prstGeom prst="rect">
            <a:avLst/>
          </a:prstGeom>
          <a:solidFill>
            <a:srgbClr val="EEF5FF"/>
          </a:solidFill>
          <a:ln w="5080">
            <a:solidFill>
              <a:srgbClr val="BFD1E5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10396728" y="2880360"/>
            <a:ext cx="283464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BFD1E5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10689336" y="2880360"/>
            <a:ext cx="283464" cy="283464"/>
          </a:xfrm>
          <a:prstGeom prst="rect">
            <a:avLst/>
          </a:prstGeom>
          <a:solidFill>
            <a:srgbClr val="EEF5FF"/>
          </a:solidFill>
          <a:ln w="5080">
            <a:solidFill>
              <a:srgbClr val="BFD1E5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8641080" y="3172968"/>
            <a:ext cx="283464" cy="283464"/>
          </a:xfrm>
          <a:prstGeom prst="rect">
            <a:avLst/>
          </a:prstGeom>
          <a:solidFill>
            <a:srgbClr val="EEF5FF"/>
          </a:solidFill>
          <a:ln w="5080">
            <a:solidFill>
              <a:srgbClr val="BFD1E5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8933688" y="3172968"/>
            <a:ext cx="283464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BFD1E5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9226296" y="3172968"/>
            <a:ext cx="283464" cy="283464"/>
          </a:xfrm>
          <a:prstGeom prst="rect">
            <a:avLst/>
          </a:prstGeom>
          <a:solidFill>
            <a:srgbClr val="EEF5FF"/>
          </a:solidFill>
          <a:ln w="5080">
            <a:solidFill>
              <a:srgbClr val="BFD1E5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9518904" y="3172968"/>
            <a:ext cx="283464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BFD1E5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9811512" y="3172968"/>
            <a:ext cx="283464" cy="283464"/>
          </a:xfrm>
          <a:prstGeom prst="rect">
            <a:avLst/>
          </a:prstGeom>
          <a:solidFill>
            <a:srgbClr val="EEF5FF"/>
          </a:solidFill>
          <a:ln w="5080">
            <a:solidFill>
              <a:srgbClr val="BFD1E5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10104120" y="3172968"/>
            <a:ext cx="283464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BFD1E5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10396728" y="3172968"/>
            <a:ext cx="283464" cy="283464"/>
          </a:xfrm>
          <a:prstGeom prst="rect">
            <a:avLst/>
          </a:prstGeom>
          <a:solidFill>
            <a:srgbClr val="EEF5FF"/>
          </a:solidFill>
          <a:ln w="5080">
            <a:solidFill>
              <a:srgbClr val="BFD1E5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10689336" y="3172968"/>
            <a:ext cx="283464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BFD1E5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8641080" y="3465576"/>
            <a:ext cx="283464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BFD1E5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8933688" y="3465576"/>
            <a:ext cx="283464" cy="283464"/>
          </a:xfrm>
          <a:prstGeom prst="rect">
            <a:avLst/>
          </a:prstGeom>
          <a:solidFill>
            <a:srgbClr val="EEF5FF"/>
          </a:solidFill>
          <a:ln w="5080">
            <a:solidFill>
              <a:srgbClr val="BFD1E5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9226296" y="3465576"/>
            <a:ext cx="283464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BFD1E5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9518904" y="3465576"/>
            <a:ext cx="283464" cy="283464"/>
          </a:xfrm>
          <a:prstGeom prst="rect">
            <a:avLst/>
          </a:prstGeom>
          <a:solidFill>
            <a:srgbClr val="EEF5FF"/>
          </a:solidFill>
          <a:ln w="5080">
            <a:solidFill>
              <a:srgbClr val="BFD1E5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9811512" y="3465576"/>
            <a:ext cx="283464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BFD1E5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10104120" y="3465576"/>
            <a:ext cx="283464" cy="283464"/>
          </a:xfrm>
          <a:prstGeom prst="rect">
            <a:avLst/>
          </a:prstGeom>
          <a:solidFill>
            <a:srgbClr val="EEF5FF"/>
          </a:solidFill>
          <a:ln w="5080">
            <a:solidFill>
              <a:srgbClr val="BFD1E5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10396728" y="3465576"/>
            <a:ext cx="283464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BFD1E5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10689336" y="3465576"/>
            <a:ext cx="283464" cy="283464"/>
          </a:xfrm>
          <a:prstGeom prst="rect">
            <a:avLst/>
          </a:prstGeom>
          <a:solidFill>
            <a:srgbClr val="EEF5FF"/>
          </a:solidFill>
          <a:ln w="5080">
            <a:solidFill>
              <a:srgbClr val="BFD1E5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8732520" y="38862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62828"/>
                </a:solidFill>
              </a:rPr>
              <a:t>Example 8×8 block</a:t>
            </a:r>
            <a:endParaRPr lang="en-US" dirty="0"/>
          </a:p>
        </p:txBody>
      </p:sp>
      <p:sp>
        <p:nvSpPr>
          <p:cNvPr id="78" name="Shape 75"/>
          <p:cNvSpPr/>
          <p:nvPr/>
        </p:nvSpPr>
        <p:spPr>
          <a:xfrm>
            <a:off x="8458200" y="4251960"/>
            <a:ext cx="2606040" cy="2048256"/>
          </a:xfrm>
          <a:prstGeom prst="roundRect">
            <a:avLst>
              <a:gd name="adj" fmla="val 4800"/>
            </a:avLst>
          </a:prstGeom>
          <a:solidFill>
            <a:srgbClr val="FFF8E8"/>
          </a:solidFill>
          <a:ln w="15240">
            <a:solidFill>
              <a:srgbClr val="F4A261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8567928" y="4343400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A4D00"/>
                </a:solidFill>
              </a:rPr>
              <a:t>Quick concept check</a:t>
            </a:r>
            <a:endParaRPr lang="en-US" dirty="0"/>
          </a:p>
        </p:txBody>
      </p:sp>
      <p:sp>
        <p:nvSpPr>
          <p:cNvPr id="80" name="Text 77"/>
          <p:cNvSpPr/>
          <p:nvPr/>
        </p:nvSpPr>
        <p:spPr>
          <a:xfrm>
            <a:off x="8567928" y="4636008"/>
            <a:ext cx="2386584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Why can JPEG reduce more color detail than brightness detail? Because human vision notices luminance change more strongly.</a:t>
            </a:r>
            <a:endParaRPr lang="en-US" dirty="0"/>
          </a:p>
        </p:txBody>
      </p:sp>
      <p:sp>
        <p:nvSpPr>
          <p:cNvPr id="81" name="Text 78"/>
          <p:cNvSpPr/>
          <p:nvPr/>
        </p:nvSpPr>
        <p:spPr>
          <a:xfrm>
            <a:off x="3840480" y="6473952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 of CSE, Daffodil International University</a:t>
            </a:r>
            <a:endParaRPr lang="en-US" sz="900" dirty="0"/>
          </a:p>
        </p:txBody>
      </p:sp>
      <p:sp>
        <p:nvSpPr>
          <p:cNvPr id="82" name="Text 79"/>
          <p:cNvSpPr/>
          <p:nvPr/>
        </p:nvSpPr>
        <p:spPr>
          <a:xfrm>
            <a:off x="11612880" y="63825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</a:rPr>
              <a:t>JPEG Step 4: Discrete Cosine Transform (DCT)</a:t>
            </a:r>
            <a:endParaRPr lang="en-US" sz="2200" dirty="0"/>
          </a:p>
        </p:txBody>
      </p:sp>
      <p:pic>
        <p:nvPicPr>
          <p:cNvPr id="3" name="Image 0" descr="/mnt/data/user-1kFy9epRxYXs1pHOCdzQinPw/fc5910e8ff0f429aa4306e1576c19e7d/mnt/data/diu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6960" y="91440"/>
            <a:ext cx="660400" cy="594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77240" y="1097280"/>
            <a:ext cx="5166360" cy="1417320"/>
          </a:xfrm>
          <a:prstGeom prst="roundRect">
            <a:avLst>
              <a:gd name="adj" fmla="val 3871"/>
            </a:avLst>
          </a:prstGeom>
          <a:solidFill>
            <a:srgbClr val="EEF5FF"/>
          </a:solidFill>
          <a:ln w="13970">
            <a:solidFill>
              <a:srgbClr val="B4C7E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86968" y="1170432"/>
            <a:ext cx="4946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4060"/>
                </a:solidFill>
              </a:rPr>
              <a:t>Intuition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86968" y="1444752"/>
            <a:ext cx="4946904" cy="9966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DCT converts pixel values in a block from the spatial domain into frequency coefficients. The top-left coefficient is DC (average brightness). Others are AC (detail / change).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868679" y="2743200"/>
            <a:ext cx="435646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62828"/>
                </a:solidFill>
              </a:rPr>
              <a:t>2D DCT idea for an 8×8 block: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39652" y="4645298"/>
            <a:ext cx="5074920" cy="1508760"/>
          </a:xfrm>
          <a:prstGeom prst="roundRect">
            <a:avLst>
              <a:gd name="adj" fmla="val 3636"/>
            </a:avLst>
          </a:prstGeom>
          <a:solidFill>
            <a:srgbClr val="EEF5FF"/>
          </a:solidFill>
          <a:ln w="13970">
            <a:solidFill>
              <a:srgbClr val="B4C7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49380" y="4718450"/>
            <a:ext cx="4855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4060"/>
                </a:solidFill>
              </a:rPr>
              <a:t>What to remember in exam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949380" y="4992770"/>
            <a:ext cx="4855464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You usually do not need to compute the full DCT by hand. You need to know what it does: it packs most visually important energy into a few low-frequency coefficients.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7029996" y="1566816"/>
            <a:ext cx="310896" cy="310896"/>
          </a:xfrm>
          <a:prstGeom prst="rect">
            <a:avLst/>
          </a:prstGeom>
          <a:solidFill>
            <a:srgbClr val="EBEBEB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50036" y="1566816"/>
            <a:ext cx="310896" cy="310896"/>
          </a:xfrm>
          <a:prstGeom prst="rect">
            <a:avLst/>
          </a:prstGeom>
          <a:solidFill>
            <a:srgbClr val="DFDFDF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670076" y="1566816"/>
            <a:ext cx="310896" cy="310896"/>
          </a:xfrm>
          <a:prstGeom prst="rect">
            <a:avLst/>
          </a:prstGeom>
          <a:solidFill>
            <a:srgbClr val="D3D3D3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990116" y="1566816"/>
            <a:ext cx="310896" cy="310896"/>
          </a:xfrm>
          <a:prstGeom prst="rect">
            <a:avLst/>
          </a:prstGeom>
          <a:solidFill>
            <a:srgbClr val="C7C7C7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310156" y="1566816"/>
            <a:ext cx="310896" cy="310896"/>
          </a:xfrm>
          <a:prstGeom prst="rect">
            <a:avLst/>
          </a:prstGeom>
          <a:solidFill>
            <a:srgbClr val="BBBBBB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30196" y="1566816"/>
            <a:ext cx="310896" cy="310896"/>
          </a:xfrm>
          <a:prstGeom prst="rect">
            <a:avLst/>
          </a:prstGeom>
          <a:solidFill>
            <a:srgbClr val="AFAFAF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950236" y="1566816"/>
            <a:ext cx="310896" cy="310896"/>
          </a:xfrm>
          <a:prstGeom prst="rect">
            <a:avLst/>
          </a:prstGeom>
          <a:solidFill>
            <a:srgbClr val="A3A3A3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270276" y="1566816"/>
            <a:ext cx="310896" cy="310896"/>
          </a:xfrm>
          <a:prstGeom prst="rect">
            <a:avLst/>
          </a:prstGeom>
          <a:solidFill>
            <a:srgbClr val="979797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029996" y="1886856"/>
            <a:ext cx="310896" cy="310896"/>
          </a:xfrm>
          <a:prstGeom prst="rect">
            <a:avLst/>
          </a:prstGeom>
          <a:solidFill>
            <a:srgbClr val="DFDFDF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50036" y="1886856"/>
            <a:ext cx="310896" cy="310896"/>
          </a:xfrm>
          <a:prstGeom prst="rect">
            <a:avLst/>
          </a:prstGeom>
          <a:solidFill>
            <a:srgbClr val="D3D3D3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670076" y="1886856"/>
            <a:ext cx="310896" cy="310896"/>
          </a:xfrm>
          <a:prstGeom prst="rect">
            <a:avLst/>
          </a:prstGeom>
          <a:solidFill>
            <a:srgbClr val="C7C7C7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990116" y="1886856"/>
            <a:ext cx="310896" cy="310896"/>
          </a:xfrm>
          <a:prstGeom prst="rect">
            <a:avLst/>
          </a:prstGeom>
          <a:solidFill>
            <a:srgbClr val="BBBBBB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310156" y="1886856"/>
            <a:ext cx="310896" cy="310896"/>
          </a:xfrm>
          <a:prstGeom prst="rect">
            <a:avLst/>
          </a:prstGeom>
          <a:solidFill>
            <a:srgbClr val="AFAFAF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630196" y="1886856"/>
            <a:ext cx="310896" cy="310896"/>
          </a:xfrm>
          <a:prstGeom prst="rect">
            <a:avLst/>
          </a:prstGeom>
          <a:solidFill>
            <a:srgbClr val="A3A3A3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950236" y="1886856"/>
            <a:ext cx="310896" cy="310896"/>
          </a:xfrm>
          <a:prstGeom prst="rect">
            <a:avLst/>
          </a:prstGeom>
          <a:solidFill>
            <a:srgbClr val="979797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270276" y="1886856"/>
            <a:ext cx="310896" cy="310896"/>
          </a:xfrm>
          <a:prstGeom prst="rect">
            <a:avLst/>
          </a:prstGeom>
          <a:solidFill>
            <a:srgbClr val="8B8B8B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029996" y="2206896"/>
            <a:ext cx="310896" cy="310896"/>
          </a:xfrm>
          <a:prstGeom prst="rect">
            <a:avLst/>
          </a:prstGeom>
          <a:solidFill>
            <a:srgbClr val="D3D3D3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350036" y="2206896"/>
            <a:ext cx="310896" cy="310896"/>
          </a:xfrm>
          <a:prstGeom prst="rect">
            <a:avLst/>
          </a:prstGeom>
          <a:solidFill>
            <a:srgbClr val="C7C7C7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670076" y="2206896"/>
            <a:ext cx="310896" cy="310896"/>
          </a:xfrm>
          <a:prstGeom prst="rect">
            <a:avLst/>
          </a:prstGeom>
          <a:solidFill>
            <a:srgbClr val="BBBBBB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990116" y="2206896"/>
            <a:ext cx="310896" cy="310896"/>
          </a:xfrm>
          <a:prstGeom prst="rect">
            <a:avLst/>
          </a:prstGeom>
          <a:solidFill>
            <a:srgbClr val="AFAFAF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310156" y="2206896"/>
            <a:ext cx="310896" cy="310896"/>
          </a:xfrm>
          <a:prstGeom prst="rect">
            <a:avLst/>
          </a:prstGeom>
          <a:solidFill>
            <a:srgbClr val="A3A3A3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630196" y="2206896"/>
            <a:ext cx="310896" cy="310896"/>
          </a:xfrm>
          <a:prstGeom prst="rect">
            <a:avLst/>
          </a:prstGeom>
          <a:solidFill>
            <a:srgbClr val="979797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950236" y="2206896"/>
            <a:ext cx="310896" cy="310896"/>
          </a:xfrm>
          <a:prstGeom prst="rect">
            <a:avLst/>
          </a:prstGeom>
          <a:solidFill>
            <a:srgbClr val="8B8B8B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270276" y="2206896"/>
            <a:ext cx="310896" cy="310896"/>
          </a:xfrm>
          <a:prstGeom prst="rect">
            <a:avLst/>
          </a:prstGeom>
          <a:solidFill>
            <a:srgbClr val="7F7F7F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029996" y="2526936"/>
            <a:ext cx="310896" cy="310896"/>
          </a:xfrm>
          <a:prstGeom prst="rect">
            <a:avLst/>
          </a:prstGeom>
          <a:solidFill>
            <a:srgbClr val="C7C7C7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350036" y="2526936"/>
            <a:ext cx="310896" cy="310896"/>
          </a:xfrm>
          <a:prstGeom prst="rect">
            <a:avLst/>
          </a:prstGeom>
          <a:solidFill>
            <a:srgbClr val="BBBBBB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670076" y="2526936"/>
            <a:ext cx="310896" cy="310896"/>
          </a:xfrm>
          <a:prstGeom prst="rect">
            <a:avLst/>
          </a:prstGeom>
          <a:solidFill>
            <a:srgbClr val="AFAFAF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990116" y="2526936"/>
            <a:ext cx="310896" cy="310896"/>
          </a:xfrm>
          <a:prstGeom prst="rect">
            <a:avLst/>
          </a:prstGeom>
          <a:solidFill>
            <a:srgbClr val="A3A3A3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310156" y="2526936"/>
            <a:ext cx="310896" cy="310896"/>
          </a:xfrm>
          <a:prstGeom prst="rect">
            <a:avLst/>
          </a:prstGeom>
          <a:solidFill>
            <a:srgbClr val="979797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630196" y="2526936"/>
            <a:ext cx="310896" cy="310896"/>
          </a:xfrm>
          <a:prstGeom prst="rect">
            <a:avLst/>
          </a:prstGeom>
          <a:solidFill>
            <a:srgbClr val="8B8B8B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950236" y="2526936"/>
            <a:ext cx="310896" cy="310896"/>
          </a:xfrm>
          <a:prstGeom prst="rect">
            <a:avLst/>
          </a:prstGeom>
          <a:solidFill>
            <a:srgbClr val="7F7F7F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9270276" y="2526936"/>
            <a:ext cx="310896" cy="310896"/>
          </a:xfrm>
          <a:prstGeom prst="rect">
            <a:avLst/>
          </a:prstGeom>
          <a:solidFill>
            <a:srgbClr val="737373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029996" y="2846976"/>
            <a:ext cx="310896" cy="310896"/>
          </a:xfrm>
          <a:prstGeom prst="rect">
            <a:avLst/>
          </a:prstGeom>
          <a:solidFill>
            <a:srgbClr val="BBBBBB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7350036" y="2846976"/>
            <a:ext cx="310896" cy="310896"/>
          </a:xfrm>
          <a:prstGeom prst="rect">
            <a:avLst/>
          </a:prstGeom>
          <a:solidFill>
            <a:srgbClr val="AFAFAF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670076" y="2846976"/>
            <a:ext cx="310896" cy="310896"/>
          </a:xfrm>
          <a:prstGeom prst="rect">
            <a:avLst/>
          </a:prstGeom>
          <a:solidFill>
            <a:srgbClr val="A3A3A3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990116" y="2846976"/>
            <a:ext cx="310896" cy="310896"/>
          </a:xfrm>
          <a:prstGeom prst="rect">
            <a:avLst/>
          </a:prstGeom>
          <a:solidFill>
            <a:srgbClr val="979797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8310156" y="2846976"/>
            <a:ext cx="310896" cy="310896"/>
          </a:xfrm>
          <a:prstGeom prst="rect">
            <a:avLst/>
          </a:prstGeom>
          <a:solidFill>
            <a:srgbClr val="8B8B8B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8630196" y="2846976"/>
            <a:ext cx="310896" cy="310896"/>
          </a:xfrm>
          <a:prstGeom prst="rect">
            <a:avLst/>
          </a:prstGeom>
          <a:solidFill>
            <a:srgbClr val="7F7F7F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8950236" y="2846976"/>
            <a:ext cx="310896" cy="310896"/>
          </a:xfrm>
          <a:prstGeom prst="rect">
            <a:avLst/>
          </a:prstGeom>
          <a:solidFill>
            <a:srgbClr val="737373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9270276" y="2846976"/>
            <a:ext cx="310896" cy="310896"/>
          </a:xfrm>
          <a:prstGeom prst="rect">
            <a:avLst/>
          </a:prstGeom>
          <a:solidFill>
            <a:srgbClr val="676767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7029996" y="3167016"/>
            <a:ext cx="310896" cy="310896"/>
          </a:xfrm>
          <a:prstGeom prst="rect">
            <a:avLst/>
          </a:prstGeom>
          <a:solidFill>
            <a:srgbClr val="AFAFAF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7350036" y="3167016"/>
            <a:ext cx="310896" cy="310896"/>
          </a:xfrm>
          <a:prstGeom prst="rect">
            <a:avLst/>
          </a:prstGeom>
          <a:solidFill>
            <a:srgbClr val="A3A3A3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670076" y="3167016"/>
            <a:ext cx="310896" cy="310896"/>
          </a:xfrm>
          <a:prstGeom prst="rect">
            <a:avLst/>
          </a:prstGeom>
          <a:solidFill>
            <a:srgbClr val="979797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7990116" y="3167016"/>
            <a:ext cx="310896" cy="310896"/>
          </a:xfrm>
          <a:prstGeom prst="rect">
            <a:avLst/>
          </a:prstGeom>
          <a:solidFill>
            <a:srgbClr val="8B8B8B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8310156" y="3167016"/>
            <a:ext cx="310896" cy="310896"/>
          </a:xfrm>
          <a:prstGeom prst="rect">
            <a:avLst/>
          </a:prstGeom>
          <a:solidFill>
            <a:srgbClr val="7F7F7F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8630196" y="3167016"/>
            <a:ext cx="310896" cy="310896"/>
          </a:xfrm>
          <a:prstGeom prst="rect">
            <a:avLst/>
          </a:prstGeom>
          <a:solidFill>
            <a:srgbClr val="737373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8950236" y="3167016"/>
            <a:ext cx="310896" cy="310896"/>
          </a:xfrm>
          <a:prstGeom prst="rect">
            <a:avLst/>
          </a:prstGeom>
          <a:solidFill>
            <a:srgbClr val="676767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9270276" y="3167016"/>
            <a:ext cx="310896" cy="310896"/>
          </a:xfrm>
          <a:prstGeom prst="rect">
            <a:avLst/>
          </a:prstGeom>
          <a:solidFill>
            <a:srgbClr val="5B5B5B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7029996" y="3487056"/>
            <a:ext cx="310896" cy="310896"/>
          </a:xfrm>
          <a:prstGeom prst="rect">
            <a:avLst/>
          </a:prstGeom>
          <a:solidFill>
            <a:srgbClr val="A3A3A3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7350036" y="3487056"/>
            <a:ext cx="310896" cy="310896"/>
          </a:xfrm>
          <a:prstGeom prst="rect">
            <a:avLst/>
          </a:prstGeom>
          <a:solidFill>
            <a:srgbClr val="979797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7670076" y="3487056"/>
            <a:ext cx="310896" cy="310896"/>
          </a:xfrm>
          <a:prstGeom prst="rect">
            <a:avLst/>
          </a:prstGeom>
          <a:solidFill>
            <a:srgbClr val="8B8B8B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7990116" y="3487056"/>
            <a:ext cx="310896" cy="310896"/>
          </a:xfrm>
          <a:prstGeom prst="rect">
            <a:avLst/>
          </a:prstGeom>
          <a:solidFill>
            <a:srgbClr val="7F7F7F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8310156" y="3487056"/>
            <a:ext cx="310896" cy="310896"/>
          </a:xfrm>
          <a:prstGeom prst="rect">
            <a:avLst/>
          </a:prstGeom>
          <a:solidFill>
            <a:srgbClr val="737373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8630196" y="3487056"/>
            <a:ext cx="310896" cy="310896"/>
          </a:xfrm>
          <a:prstGeom prst="rect">
            <a:avLst/>
          </a:prstGeom>
          <a:solidFill>
            <a:srgbClr val="676767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8950236" y="3487056"/>
            <a:ext cx="310896" cy="310896"/>
          </a:xfrm>
          <a:prstGeom prst="rect">
            <a:avLst/>
          </a:prstGeom>
          <a:solidFill>
            <a:srgbClr val="5B5B5B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9270276" y="3487056"/>
            <a:ext cx="310896" cy="310896"/>
          </a:xfrm>
          <a:prstGeom prst="rect">
            <a:avLst/>
          </a:prstGeom>
          <a:solidFill>
            <a:srgbClr val="4F4F4F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7029996" y="3807096"/>
            <a:ext cx="310896" cy="310896"/>
          </a:xfrm>
          <a:prstGeom prst="rect">
            <a:avLst/>
          </a:prstGeom>
          <a:solidFill>
            <a:srgbClr val="979797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7350036" y="3807096"/>
            <a:ext cx="310896" cy="310896"/>
          </a:xfrm>
          <a:prstGeom prst="rect">
            <a:avLst/>
          </a:prstGeom>
          <a:solidFill>
            <a:srgbClr val="8B8B8B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7670076" y="3807096"/>
            <a:ext cx="310896" cy="310896"/>
          </a:xfrm>
          <a:prstGeom prst="rect">
            <a:avLst/>
          </a:prstGeom>
          <a:solidFill>
            <a:srgbClr val="7F7F7F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7990116" y="3807096"/>
            <a:ext cx="310896" cy="310896"/>
          </a:xfrm>
          <a:prstGeom prst="rect">
            <a:avLst/>
          </a:prstGeom>
          <a:solidFill>
            <a:srgbClr val="737373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8310156" y="3807096"/>
            <a:ext cx="310896" cy="310896"/>
          </a:xfrm>
          <a:prstGeom prst="rect">
            <a:avLst/>
          </a:prstGeom>
          <a:solidFill>
            <a:srgbClr val="676767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8630196" y="3807096"/>
            <a:ext cx="310896" cy="310896"/>
          </a:xfrm>
          <a:prstGeom prst="rect">
            <a:avLst/>
          </a:prstGeom>
          <a:solidFill>
            <a:srgbClr val="5B5B5B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8950236" y="3807096"/>
            <a:ext cx="310896" cy="310896"/>
          </a:xfrm>
          <a:prstGeom prst="rect">
            <a:avLst/>
          </a:prstGeom>
          <a:solidFill>
            <a:srgbClr val="4F4F4F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9270276" y="3807096"/>
            <a:ext cx="310896" cy="310896"/>
          </a:xfrm>
          <a:prstGeom prst="rect">
            <a:avLst/>
          </a:prstGeom>
          <a:solidFill>
            <a:srgbClr val="434343"/>
          </a:solidFill>
          <a:ln w="5080">
            <a:solidFill>
              <a:srgbClr val="D0D0D0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7094004" y="120105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32"/>
                </a:solidFill>
              </a:rPr>
              <a:t>Low freq</a:t>
            </a:r>
            <a:endParaRPr lang="en-US" sz="1250" dirty="0"/>
          </a:p>
        </p:txBody>
      </p:sp>
      <p:sp>
        <p:nvSpPr>
          <p:cNvPr id="77" name="Text 74"/>
          <p:cNvSpPr/>
          <p:nvPr/>
        </p:nvSpPr>
        <p:spPr>
          <a:xfrm>
            <a:off x="8896530" y="4251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62828"/>
                </a:solidFill>
              </a:rPr>
              <a:t>High freq</a:t>
            </a:r>
            <a:endParaRPr lang="en-US" sz="1250" dirty="0"/>
          </a:p>
        </p:txBody>
      </p:sp>
      <p:sp>
        <p:nvSpPr>
          <p:cNvPr id="78" name="Text 75"/>
          <p:cNvSpPr/>
          <p:nvPr/>
        </p:nvSpPr>
        <p:spPr>
          <a:xfrm>
            <a:off x="3840480" y="6473952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 of CSE, Daffodil International University</a:t>
            </a:r>
            <a:endParaRPr lang="en-US" sz="900" dirty="0"/>
          </a:p>
        </p:txBody>
      </p:sp>
      <p:sp>
        <p:nvSpPr>
          <p:cNvPr id="79" name="Text 76"/>
          <p:cNvSpPr/>
          <p:nvPr/>
        </p:nvSpPr>
        <p:spPr>
          <a:xfrm>
            <a:off x="11612880" y="63825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</a:rPr>
              <a:t>21</a:t>
            </a:r>
            <a:endParaRPr lang="en-US" sz="900" dirty="0"/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43844114-099A-32C1-5E35-DE4763F9AB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081" y="2976882"/>
            <a:ext cx="5074920" cy="151739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</a:rPr>
              <a:t>JPEG Step 5: Quantization (Main Lossy Stage)</a:t>
            </a:r>
            <a:endParaRPr lang="en-US" sz="2200" dirty="0"/>
          </a:p>
        </p:txBody>
      </p:sp>
      <p:pic>
        <p:nvPicPr>
          <p:cNvPr id="3" name="Image 0" descr="/mnt/data/user-1kFy9epRxYXs1pHOCdzQinPw/fc5910e8ff0f429aa4306e1576c19e7d/mnt/data/diu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6960" y="91440"/>
            <a:ext cx="66040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79" y="1051560"/>
            <a:ext cx="2527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62828"/>
                </a:solidFill>
              </a:rPr>
              <a:t>Quantization formula: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2"/>
              <p:cNvSpPr/>
              <p:nvPr/>
            </p:nvSpPr>
            <p:spPr>
              <a:xfrm>
                <a:off x="777240" y="1856951"/>
                <a:ext cx="4206240" cy="3474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𝑸𝒄𝒐𝒆𝒇𝒇</m:t>
                      </m:r>
                      <m:d>
                        <m:dPr>
                          <m:ctrlPr>
                            <a:rPr lang="en-US" sz="2000" b="1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dirty="0" err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a:rPr lang="en-US" sz="2000" b="1" i="1" dirty="0" err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1" i="1" dirty="0" err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d>
                      <m:r>
                        <a:rPr lang="en-US" sz="2000" b="1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000" b="1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𝒓𝒐𝒖𝒏𝒅</m:t>
                      </m:r>
                      <m:d>
                        <m:dPr>
                          <m:ctrlPr>
                            <a:rPr lang="en-US" sz="2000" b="1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b="1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1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  <m:d>
                                <m:dPr>
                                  <m:ctrlPr>
                                    <a:rPr lang="en-US" sz="2000" b="1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1" i="1" dirty="0" err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  <m:r>
                                    <a:rPr lang="en-US" sz="2000" b="1" i="1" dirty="0" err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b="1" i="1" dirty="0" err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sz="2000" b="1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  <m:d>
                                <m:dPr>
                                  <m:ctrlPr>
                                    <a:rPr lang="en-US" sz="2000" b="1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1" i="1" dirty="0" err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  <m:r>
                                    <a:rPr lang="en-US" sz="2000" b="1" i="1" dirty="0" err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b="1" i="1" dirty="0" err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  <a:endParaRPr lang="en-US" sz="2000" b="1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000" b="1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40" y="1856951"/>
                <a:ext cx="4206240" cy="347472"/>
              </a:xfrm>
              <a:prstGeom prst="rect">
                <a:avLst/>
              </a:prstGeom>
              <a:blipFill>
                <a:blip r:embed="rId4"/>
                <a:stretch>
                  <a:fillRect t="-91228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hape 3"/>
          <p:cNvSpPr/>
          <p:nvPr/>
        </p:nvSpPr>
        <p:spPr>
          <a:xfrm>
            <a:off x="777240" y="3052354"/>
            <a:ext cx="4434840" cy="3246120"/>
          </a:xfrm>
          <a:prstGeom prst="roundRect">
            <a:avLst>
              <a:gd name="adj" fmla="val 1690"/>
            </a:avLst>
          </a:prstGeom>
          <a:solidFill>
            <a:srgbClr val="EEF5FF"/>
          </a:solidFill>
          <a:ln w="13970">
            <a:solidFill>
              <a:srgbClr val="B4C7E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86968" y="3125506"/>
            <a:ext cx="4215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4060"/>
                </a:solidFill>
              </a:rPr>
              <a:t>Meaning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86968" y="3399826"/>
            <a:ext cx="4215384" cy="2825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Large quantization values force many high-frequency coefficients toward zero. This removes fine detail and makes the later coding steps much more efficient.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This is why JPEG is lossy. Once coefficients are rounded, exact recovery is impossible.</a:t>
            </a:r>
            <a:endParaRPr lang="en-US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8846156"/>
              </p:ext>
            </p:extLst>
          </p:nvPr>
        </p:nvGraphicFramePr>
        <p:xfrm>
          <a:off x="5321808" y="1325880"/>
          <a:ext cx="3319271" cy="2834639"/>
        </p:xfrm>
        <a:graphic>
          <a:graphicData uri="http://schemas.openxmlformats.org/drawingml/2006/table">
            <a:tbl>
              <a:tblPr/>
              <a:tblGrid>
                <a:gridCol w="1253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9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71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78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Coefficient F</a:t>
                      </a:r>
                      <a:endParaRPr lang="en-US" sz="1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Q value</a:t>
                      </a:r>
                      <a:endParaRPr lang="en-US" sz="1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Rounded result</a:t>
                      </a:r>
                      <a:endParaRPr lang="en-US" sz="1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3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160</a:t>
                      </a:r>
                      <a:endParaRPr lang="en-US" sz="1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3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25</a:t>
                      </a:r>
                      <a:endParaRPr lang="en-US" sz="1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3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3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1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3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-9</a:t>
                      </a:r>
                      <a:endParaRPr lang="en-US" sz="1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-1</a:t>
                      </a:r>
                      <a:endParaRPr lang="en-US" sz="1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9163592" y="1325880"/>
            <a:ext cx="2468880" cy="2651760"/>
          </a:xfrm>
          <a:prstGeom prst="roundRect">
            <a:avLst>
              <a:gd name="adj" fmla="val 2222"/>
            </a:avLst>
          </a:prstGeom>
          <a:solidFill>
            <a:srgbClr val="FFF8E8"/>
          </a:solidFill>
          <a:ln w="15240">
            <a:solidFill>
              <a:srgbClr val="F4A26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273320" y="141732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A4D00"/>
                </a:solidFill>
              </a:rPr>
              <a:t>Mini exercise</a:t>
            </a: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9273320" y="1709928"/>
            <a:ext cx="2249424" cy="2039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Quantize 52 using Q=13.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Answer: round(52/13)=4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Quantize 6 using Q=20.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Answer: 0</a:t>
            </a:r>
            <a:endParaRPr lang="en-US" dirty="0"/>
          </a:p>
        </p:txBody>
      </p:sp>
      <p:sp>
        <p:nvSpPr>
          <p:cNvPr id="13" name="Shape 9"/>
          <p:cNvSpPr/>
          <p:nvPr/>
        </p:nvSpPr>
        <p:spPr>
          <a:xfrm>
            <a:off x="5321808" y="4251960"/>
            <a:ext cx="6291072" cy="1280160"/>
          </a:xfrm>
          <a:prstGeom prst="roundRect">
            <a:avLst>
              <a:gd name="adj" fmla="val 5455"/>
            </a:avLst>
          </a:prstGeom>
          <a:solidFill>
            <a:srgbClr val="FFF8E8"/>
          </a:solidFill>
          <a:ln w="15240">
            <a:solidFill>
              <a:srgbClr val="F4A261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687568" y="4343400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A4D00"/>
                </a:solidFill>
              </a:rPr>
              <a:t>Interpretation</a:t>
            </a: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5687568" y="4636008"/>
            <a:ext cx="5925312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After quantization, many small high-frequency values become zero. That makes zigzag + run-length coding very effective.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3840480" y="6473952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 of CSE, Daffodil International University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612880" y="63825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</a:rPr>
              <a:t>JPEG Step 6-8: Zigzag, RLE and Huffman</a:t>
            </a:r>
            <a:endParaRPr lang="en-US" sz="2200" dirty="0"/>
          </a:p>
        </p:txBody>
      </p:sp>
      <p:pic>
        <p:nvPicPr>
          <p:cNvPr id="3" name="Image 0" descr="/mnt/data/user-1kFy9epRxYXs1pHOCdzQinPw/fc5910e8ff0f429aa4306e1576c19e7d/mnt/data/diu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6960" y="91440"/>
            <a:ext cx="660400" cy="594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77240" y="1097280"/>
            <a:ext cx="3474720" cy="4297680"/>
          </a:xfrm>
          <a:prstGeom prst="roundRect">
            <a:avLst>
              <a:gd name="adj" fmla="val 1579"/>
            </a:avLst>
          </a:prstGeom>
          <a:solidFill>
            <a:srgbClr val="EEF5FF"/>
          </a:solidFill>
          <a:ln w="13970">
            <a:solidFill>
              <a:srgbClr val="B4C7E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86968" y="1170432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4060"/>
                </a:solidFill>
              </a:rPr>
              <a:t>Why zigzag?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86968" y="1691495"/>
            <a:ext cx="3255264" cy="3877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Zigzag order reads low-frequency coefficients first and high-frequency coefficients later. After quantization, the later coefficients are often zero, producing long zero runs.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4466773" y="1153889"/>
            <a:ext cx="457200" cy="457200"/>
          </a:xfrm>
          <a:prstGeom prst="rect">
            <a:avLst/>
          </a:prstGeom>
          <a:solidFill>
            <a:srgbClr val="F9FBFD"/>
          </a:solidFill>
          <a:ln w="8890">
            <a:solidFill>
              <a:srgbClr val="B7C9E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39925" y="1281905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942261" y="1153889"/>
            <a:ext cx="457200" cy="457200"/>
          </a:xfrm>
          <a:prstGeom prst="rect">
            <a:avLst/>
          </a:prstGeom>
          <a:solidFill>
            <a:srgbClr val="F9FBFD"/>
          </a:solidFill>
          <a:ln w="8890">
            <a:solidFill>
              <a:srgbClr val="B7C9E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15413" y="1281905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17749" y="1153889"/>
            <a:ext cx="457200" cy="457200"/>
          </a:xfrm>
          <a:prstGeom prst="rect">
            <a:avLst/>
          </a:prstGeom>
          <a:solidFill>
            <a:srgbClr val="F9FBFD"/>
          </a:solidFill>
          <a:ln w="8890">
            <a:solidFill>
              <a:srgbClr val="B7C9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90901" y="1281905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6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893237" y="1153889"/>
            <a:ext cx="457200" cy="457200"/>
          </a:xfrm>
          <a:prstGeom prst="rect">
            <a:avLst/>
          </a:prstGeom>
          <a:solidFill>
            <a:srgbClr val="F9FBFD"/>
          </a:solidFill>
          <a:ln w="8890">
            <a:solidFill>
              <a:srgbClr val="B7C9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66389" y="1281905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7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466773" y="1629377"/>
            <a:ext cx="457200" cy="457200"/>
          </a:xfrm>
          <a:prstGeom prst="rect">
            <a:avLst/>
          </a:prstGeom>
          <a:solidFill>
            <a:srgbClr val="F9FBFD"/>
          </a:solidFill>
          <a:ln w="8890">
            <a:solidFill>
              <a:srgbClr val="B7C9E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39925" y="1757393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942261" y="1629377"/>
            <a:ext cx="457200" cy="457200"/>
          </a:xfrm>
          <a:prstGeom prst="rect">
            <a:avLst/>
          </a:prstGeom>
          <a:solidFill>
            <a:srgbClr val="F9FBFD"/>
          </a:solidFill>
          <a:ln w="8890">
            <a:solidFill>
              <a:srgbClr val="B7C9E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15413" y="1757393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5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17749" y="1629377"/>
            <a:ext cx="457200" cy="457200"/>
          </a:xfrm>
          <a:prstGeom prst="rect">
            <a:avLst/>
          </a:prstGeom>
          <a:solidFill>
            <a:srgbClr val="F9FBFD"/>
          </a:solidFill>
          <a:ln w="8890">
            <a:solidFill>
              <a:srgbClr val="B7C9E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90901" y="1757393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8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893237" y="1629377"/>
            <a:ext cx="457200" cy="457200"/>
          </a:xfrm>
          <a:prstGeom prst="rect">
            <a:avLst/>
          </a:prstGeom>
          <a:solidFill>
            <a:srgbClr val="F9FBFD"/>
          </a:solidFill>
          <a:ln w="8890">
            <a:solidFill>
              <a:srgbClr val="B7C9E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66389" y="1757393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13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466773" y="2104865"/>
            <a:ext cx="457200" cy="457200"/>
          </a:xfrm>
          <a:prstGeom prst="rect">
            <a:avLst/>
          </a:prstGeom>
          <a:solidFill>
            <a:srgbClr val="F9FBFD"/>
          </a:solidFill>
          <a:ln w="8890">
            <a:solidFill>
              <a:srgbClr val="B7C9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39925" y="2232881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942261" y="2104865"/>
            <a:ext cx="457200" cy="457200"/>
          </a:xfrm>
          <a:prstGeom prst="rect">
            <a:avLst/>
          </a:prstGeom>
          <a:solidFill>
            <a:srgbClr val="F9FBFD"/>
          </a:solidFill>
          <a:ln w="8890">
            <a:solidFill>
              <a:srgbClr val="B7C9E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15413" y="2232881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9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417749" y="2104865"/>
            <a:ext cx="457200" cy="457200"/>
          </a:xfrm>
          <a:prstGeom prst="rect">
            <a:avLst/>
          </a:prstGeom>
          <a:solidFill>
            <a:srgbClr val="F9FBFD"/>
          </a:solidFill>
          <a:ln w="8890">
            <a:solidFill>
              <a:srgbClr val="B7C9E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490901" y="2232881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12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5893237" y="2104865"/>
            <a:ext cx="457200" cy="457200"/>
          </a:xfrm>
          <a:prstGeom prst="rect">
            <a:avLst/>
          </a:prstGeom>
          <a:solidFill>
            <a:srgbClr val="F9FBFD"/>
          </a:solidFill>
          <a:ln w="8890">
            <a:solidFill>
              <a:srgbClr val="B7C9E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66389" y="2232881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14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466773" y="2580353"/>
            <a:ext cx="457200" cy="457200"/>
          </a:xfrm>
          <a:prstGeom prst="rect">
            <a:avLst/>
          </a:prstGeom>
          <a:solidFill>
            <a:srgbClr val="F9FBFD"/>
          </a:solidFill>
          <a:ln w="8890">
            <a:solidFill>
              <a:srgbClr val="B7C9E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39925" y="2708369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10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942261" y="2580353"/>
            <a:ext cx="457200" cy="457200"/>
          </a:xfrm>
          <a:prstGeom prst="rect">
            <a:avLst/>
          </a:prstGeom>
          <a:solidFill>
            <a:srgbClr val="F9FBFD"/>
          </a:solidFill>
          <a:ln w="8890">
            <a:solidFill>
              <a:srgbClr val="B7C9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015413" y="2708369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11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5417749" y="2580353"/>
            <a:ext cx="457200" cy="457200"/>
          </a:xfrm>
          <a:prstGeom prst="rect">
            <a:avLst/>
          </a:prstGeom>
          <a:solidFill>
            <a:srgbClr val="F9FBFD"/>
          </a:solidFill>
          <a:ln w="8890">
            <a:solidFill>
              <a:srgbClr val="B7C9E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490901" y="2708369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15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5893237" y="2580353"/>
            <a:ext cx="457200" cy="457200"/>
          </a:xfrm>
          <a:prstGeom prst="rect">
            <a:avLst/>
          </a:prstGeom>
          <a:solidFill>
            <a:srgbClr val="F9FBFD"/>
          </a:solidFill>
          <a:ln w="8890">
            <a:solidFill>
              <a:srgbClr val="B7C9E2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966389" y="2708369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</a:rPr>
              <a:t>16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4566193" y="3095171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62828"/>
                </a:solidFill>
              </a:rPr>
              <a:t>Simplified zigzag order</a:t>
            </a:r>
            <a:endParaRPr lang="en-US" sz="1350" dirty="0"/>
          </a:p>
        </p:txBody>
      </p:sp>
      <p:sp>
        <p:nvSpPr>
          <p:cNvPr id="40" name="Shape 37"/>
          <p:cNvSpPr/>
          <p:nvPr/>
        </p:nvSpPr>
        <p:spPr>
          <a:xfrm>
            <a:off x="6629400" y="1143000"/>
            <a:ext cx="4526280" cy="2011680"/>
          </a:xfrm>
          <a:prstGeom prst="roundRect">
            <a:avLst>
              <a:gd name="adj" fmla="val 2727"/>
            </a:avLst>
          </a:prstGeom>
          <a:solidFill>
            <a:srgbClr val="EEF5FF"/>
          </a:solidFill>
          <a:ln w="13970">
            <a:solidFill>
              <a:srgbClr val="B4C7E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739128" y="1216152"/>
            <a:ext cx="4306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4060"/>
                </a:solidFill>
              </a:rPr>
              <a:t>Run-Length Encoding example</a:t>
            </a: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6739128" y="1650126"/>
            <a:ext cx="4306824" cy="1591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Suppose zigzag output is: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[15, 3, 1, 0, 0, 0, -1, 0, 0, 0, 0]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RLE can store zeros compactly, e.g., (15),(3),(1),(0×3),(-1),(0×4)</a:t>
            </a:r>
            <a:endParaRPr lang="en-US" dirty="0"/>
          </a:p>
        </p:txBody>
      </p:sp>
      <p:sp>
        <p:nvSpPr>
          <p:cNvPr id="43" name="Shape 40"/>
          <p:cNvSpPr/>
          <p:nvPr/>
        </p:nvSpPr>
        <p:spPr>
          <a:xfrm>
            <a:off x="6629400" y="3474720"/>
            <a:ext cx="4526280" cy="1965960"/>
          </a:xfrm>
          <a:prstGeom prst="roundRect">
            <a:avLst>
              <a:gd name="adj" fmla="val 2791"/>
            </a:avLst>
          </a:prstGeom>
          <a:solidFill>
            <a:srgbClr val="EEF5FF"/>
          </a:solidFill>
          <a:ln w="13970">
            <a:solidFill>
              <a:srgbClr val="B4C7E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739128" y="3547872"/>
            <a:ext cx="4306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4060"/>
                </a:solidFill>
              </a:rPr>
              <a:t>Final entropy coding</a:t>
            </a:r>
            <a:endParaRPr lang="en-US" dirty="0"/>
          </a:p>
        </p:txBody>
      </p:sp>
      <p:sp>
        <p:nvSpPr>
          <p:cNvPr id="45" name="Text 42"/>
          <p:cNvSpPr/>
          <p:nvPr/>
        </p:nvSpPr>
        <p:spPr>
          <a:xfrm>
            <a:off x="6739128" y="3981846"/>
            <a:ext cx="4306824" cy="1545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The RLE symbols are then compressed again using Huffman coding. Therefore JPEG combines transform coding + lossy quantization + lossless entropy coding.</a:t>
            </a: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3840480" y="6473952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 of CSE, Daffodil International University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1612880" y="63825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</a:rPr>
              <a:t>JPEG Worked Study Example</a:t>
            </a:r>
            <a:endParaRPr lang="en-US" sz="2200" dirty="0"/>
          </a:p>
        </p:txBody>
      </p:sp>
      <p:pic>
        <p:nvPicPr>
          <p:cNvPr id="3" name="Image 0" descr="/mnt/data/user-1kFy9epRxYXs1pHOCdzQinPw/fc5910e8ff0f429aa4306e1576c19e7d/mnt/data/diu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6960" y="91440"/>
            <a:ext cx="660400" cy="594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77240" y="1097280"/>
            <a:ext cx="5486400" cy="4526280"/>
          </a:xfrm>
          <a:prstGeom prst="roundRect">
            <a:avLst>
              <a:gd name="adj" fmla="val 1212"/>
            </a:avLst>
          </a:prstGeom>
          <a:solidFill>
            <a:srgbClr val="FFF8E8"/>
          </a:solidFill>
          <a:ln w="15240">
            <a:solidFill>
              <a:srgbClr val="F4A26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86968" y="1188720"/>
            <a:ext cx="5266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A4D00"/>
                </a:solidFill>
              </a:rPr>
              <a:t>Problem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86968" y="1713556"/>
            <a:ext cx="5266944" cy="4050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After DCT, assume a small coefficient sequence is: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[80, 18, 9, 3, 2, 1, 0, 0]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Quantization divisors are: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[8, 6, 9, 10, 12, 15, 20, 25]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Tasks: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1. Quantize each value.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2. Which values become zero?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3. Why does this help compression?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6400800" y="1097280"/>
            <a:ext cx="4800600" cy="4526280"/>
          </a:xfrm>
          <a:prstGeom prst="roundRect">
            <a:avLst>
              <a:gd name="adj" fmla="val 1212"/>
            </a:avLst>
          </a:prstGeom>
          <a:solidFill>
            <a:srgbClr val="F2FBF5"/>
          </a:solidFill>
          <a:ln w="13970">
            <a:solidFill>
              <a:srgbClr val="B7D7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10528" y="1170432"/>
            <a:ext cx="4581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4060"/>
                </a:solidFill>
              </a:rPr>
              <a:t>Solution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510528" y="1676980"/>
            <a:ext cx="4581144" cy="4105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Quantized values: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80/8 = 10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18/6 = 3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9/9 = 1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3/10 ≈ 0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2/12 ≈ 0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1/15 ≈ 0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0/20 = 0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0/25 = 0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Result: [10, 3, 1, 0, 0, 0, 0, 0]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Now the tail has a long run of zeros. Zigzag + RLE + Huffman can compress this very well.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840480" y="6473952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 of CSE, Daffodil International University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612880" y="63825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</a:rPr>
              <a:t>Practice Problems on JPEG</a:t>
            </a:r>
            <a:endParaRPr lang="en-US" sz="2200" dirty="0"/>
          </a:p>
        </p:txBody>
      </p:sp>
      <p:pic>
        <p:nvPicPr>
          <p:cNvPr id="3" name="Image 0" descr="/mnt/data/user-1kFy9epRxYXs1pHOCdzQinPw/fc5910e8ff0f429aa4306e1576c19e7d/mnt/data/diu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6960" y="91440"/>
            <a:ext cx="660400" cy="594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77240" y="1097280"/>
            <a:ext cx="3383280" cy="4389120"/>
          </a:xfrm>
          <a:prstGeom prst="roundRect">
            <a:avLst>
              <a:gd name="adj" fmla="val 1622"/>
            </a:avLst>
          </a:prstGeom>
          <a:solidFill>
            <a:srgbClr val="FFF8E8"/>
          </a:solidFill>
          <a:ln w="15240">
            <a:solidFill>
              <a:srgbClr val="F4A26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86968" y="1188720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A4D00"/>
                </a:solidFill>
              </a:rPr>
              <a:t>Problem 1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86968" y="1713554"/>
            <a:ext cx="3163824" cy="3913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State the major steps of JPEG in correct order.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Expected order: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Color transform -&gt; subsampling -&gt; blocking -&gt; DCT -&gt; quantization -&gt; zigzag -&gt; RLE -&gt; Huffman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4407408" y="1097280"/>
            <a:ext cx="3383280" cy="4389120"/>
          </a:xfrm>
          <a:prstGeom prst="roundRect">
            <a:avLst>
              <a:gd name="adj" fmla="val 1622"/>
            </a:avLst>
          </a:prstGeom>
          <a:solidFill>
            <a:srgbClr val="FFF8E8"/>
          </a:solidFill>
          <a:ln w="15240">
            <a:solidFill>
              <a:srgbClr val="F4A2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17136" y="1188720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A4D00"/>
                </a:solidFill>
              </a:rPr>
              <a:t>Problem 2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517136" y="1713554"/>
            <a:ext cx="3163824" cy="3913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Which step of JPEG is lossy?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Why?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Expected answer: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Quantization. Because rounded coefficient values cannot be perfectly recovered.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8028432" y="1097280"/>
            <a:ext cx="3154680" cy="4389120"/>
          </a:xfrm>
          <a:prstGeom prst="roundRect">
            <a:avLst>
              <a:gd name="adj" fmla="val 1739"/>
            </a:avLst>
          </a:prstGeom>
          <a:solidFill>
            <a:srgbClr val="FFF8E8"/>
          </a:solidFill>
          <a:ln w="15240">
            <a:solidFill>
              <a:srgbClr val="F4A2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38160" y="1188720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A4D00"/>
                </a:solidFill>
              </a:rPr>
              <a:t>Problem 3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8138160" y="1713554"/>
            <a:ext cx="2935224" cy="3913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Why does JPEG work better for photographs than for text diagrams?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Expected idea: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Photos tolerate small smooth losses better; sharp edges in text/artifacts become more visible.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840480" y="6473952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 of CSE, Daffodil International University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612880" y="63825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ser-1kFy9epRxYXs1pHOCdzQinPw/fc5910e8ff0f429aa4306e1576c19e7d/mnt/data/diu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6960" y="91440"/>
            <a:ext cx="66040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114300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</a:rPr>
              <a:t>5. MPEG Compression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1005840" y="1920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62828"/>
                </a:solidFill>
              </a:rPr>
              <a:t>From image compression to video compression.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1005840" y="2743200"/>
            <a:ext cx="8778240" cy="0"/>
          </a:xfrm>
          <a:prstGeom prst="line">
            <a:avLst/>
          </a:prstGeom>
          <a:noFill/>
          <a:ln w="25400">
            <a:solidFill>
              <a:srgbClr val="D6282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840480" y="6473952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 of CSE, Daffodil International University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612880" y="63825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</a:rPr>
              <a:t>26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46DB0C-C937-72D2-6E9E-D6964B6D0C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878360"/>
            <a:ext cx="8778240" cy="3595592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</a:rPr>
              <a:t>From JPEG to MPEG</a:t>
            </a:r>
            <a:endParaRPr lang="en-US" sz="2200" dirty="0"/>
          </a:p>
        </p:txBody>
      </p:sp>
      <p:pic>
        <p:nvPicPr>
          <p:cNvPr id="3" name="Image 0" descr="/mnt/data/user-1kFy9epRxYXs1pHOCdzQinPw/fc5910e8ff0f429aa4306e1576c19e7d/mnt/data/diu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6960" y="91440"/>
            <a:ext cx="660400" cy="594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77240" y="1097280"/>
            <a:ext cx="5394960" cy="1737360"/>
          </a:xfrm>
          <a:prstGeom prst="roundRect">
            <a:avLst>
              <a:gd name="adj" fmla="val 3158"/>
            </a:avLst>
          </a:prstGeom>
          <a:solidFill>
            <a:srgbClr val="EEF5FF"/>
          </a:solidFill>
          <a:ln w="13970">
            <a:solidFill>
              <a:srgbClr val="B4C7E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86968" y="1170432"/>
            <a:ext cx="5175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4060"/>
                </a:solidFill>
              </a:rPr>
              <a:t>Core idea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86968" y="1531836"/>
            <a:ext cx="5175504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A video is a sequence of frames. If we compressed every frame separately like JPEG, we would ignore the strong similarity between neighboring frames.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777240" y="3154680"/>
            <a:ext cx="5394960" cy="1828800"/>
          </a:xfrm>
          <a:prstGeom prst="roundRect">
            <a:avLst>
              <a:gd name="adj" fmla="val 3000"/>
            </a:avLst>
          </a:prstGeom>
          <a:solidFill>
            <a:srgbClr val="EEF5FF"/>
          </a:solidFill>
          <a:ln w="13970">
            <a:solidFill>
              <a:srgbClr val="B4C7E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6968" y="3227832"/>
            <a:ext cx="5175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4060"/>
                </a:solidFill>
              </a:rPr>
              <a:t>MPEG strategy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886968" y="3618264"/>
            <a:ext cx="5175504" cy="1408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MPEG combines spatial compression inside each frame and temporal compression across frames. That is why it can achieve much higher video compression.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6400800" y="1371600"/>
            <a:ext cx="4754880" cy="3657600"/>
          </a:xfrm>
          <a:prstGeom prst="roundRect">
            <a:avLst>
              <a:gd name="adj" fmla="val 1500"/>
            </a:avLst>
          </a:prstGeom>
          <a:solidFill>
            <a:srgbClr val="FFF8E8"/>
          </a:solidFill>
          <a:ln w="15240">
            <a:solidFill>
              <a:srgbClr val="F4A2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0528" y="1463040"/>
            <a:ext cx="4535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A4D00"/>
                </a:solidFill>
              </a:rPr>
              <a:t>Real-world example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510528" y="1987878"/>
            <a:ext cx="4535424" cy="3182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A talking person in front of a fixed background: most of the background remains the same from frame to frame. MPEG sends only the important change rather than sending the full frame each time.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840480" y="6473952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 of CSE, Daffodil International University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612880" y="63825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</a:rPr>
              <a:t>MPEG Frame Types: I, P and B</a:t>
            </a:r>
            <a:endParaRPr lang="en-US" sz="2200" dirty="0"/>
          </a:p>
        </p:txBody>
      </p:sp>
      <p:pic>
        <p:nvPicPr>
          <p:cNvPr id="3" name="Image 0" descr="/mnt/data/user-1kFy9epRxYXs1pHOCdzQinPw/fc5910e8ff0f429aa4306e1576c19e7d/mnt/data/diu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6960" y="91440"/>
            <a:ext cx="660400" cy="594360"/>
          </a:xfrm>
          <a:prstGeom prst="rect">
            <a:avLst/>
          </a:prstGeom>
        </p:spPr>
      </p:pic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913503"/>
              </p:ext>
            </p:extLst>
          </p:nvPr>
        </p:nvGraphicFramePr>
        <p:xfrm>
          <a:off x="822960" y="1325880"/>
          <a:ext cx="10241280" cy="1938528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Frame type</a:t>
                      </a:r>
                      <a:endParaRPr lang="en-US" sz="180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Meaning</a:t>
                      </a:r>
                      <a:endParaRPr lang="en-US" sz="180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Depends on</a:t>
                      </a:r>
                      <a:endParaRPr lang="en-US" sz="180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Use</a:t>
                      </a:r>
                      <a:endParaRPr lang="en-US" sz="180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I-frame</a:t>
                      </a:r>
                      <a:endParaRPr lang="en-US" sz="180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Intra-coded frame</a:t>
                      </a:r>
                      <a:endParaRPr lang="en-US" sz="180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No other frame</a:t>
                      </a:r>
                      <a:endParaRPr lang="en-US" sz="180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Reference, random access, highest size</a:t>
                      </a:r>
                      <a:endParaRPr lang="en-US" sz="180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P-frame</a:t>
                      </a:r>
                      <a:endParaRPr lang="en-US" sz="180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Predicted frame</a:t>
                      </a:r>
                      <a:endParaRPr lang="en-US" sz="180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Previous I/P frame</a:t>
                      </a:r>
                      <a:endParaRPr lang="en-US" sz="180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Stores motion + residual, medium size</a:t>
                      </a:r>
                      <a:endParaRPr lang="en-US" sz="180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B-frame</a:t>
                      </a:r>
                      <a:endParaRPr lang="en-US" sz="180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Bi-directional frame</a:t>
                      </a:r>
                      <a:endParaRPr lang="en-US" sz="180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Previous and next reference frames</a:t>
                      </a:r>
                      <a:endParaRPr lang="en-US" sz="180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Usually smallest, highest compression</a:t>
                      </a:r>
                      <a:endParaRPr lang="en-US" sz="180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914400" y="3931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62828"/>
                </a:solidFill>
              </a:rPr>
              <a:t>Example GOP:  I  B  B  P  B  B  P  B  B  I</a:t>
            </a:r>
            <a:endParaRPr lang="en-US" dirty="0"/>
          </a:p>
        </p:txBody>
      </p:sp>
      <p:sp>
        <p:nvSpPr>
          <p:cNvPr id="6" name="Shape 2"/>
          <p:cNvSpPr/>
          <p:nvPr/>
        </p:nvSpPr>
        <p:spPr>
          <a:xfrm>
            <a:off x="868680" y="4389120"/>
            <a:ext cx="5303520" cy="1097280"/>
          </a:xfrm>
          <a:prstGeom prst="roundRect">
            <a:avLst>
              <a:gd name="adj" fmla="val 5000"/>
            </a:avLst>
          </a:prstGeom>
          <a:solidFill>
            <a:srgbClr val="FFF8E8"/>
          </a:solidFill>
          <a:ln w="15240">
            <a:solidFill>
              <a:srgbClr val="F4A26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78408" y="4480560"/>
            <a:ext cx="5084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A4D00"/>
                </a:solidFill>
              </a:rPr>
              <a:t>Meaning of GOP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978408" y="4889280"/>
            <a:ext cx="5084064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GOP = Group of Pictures. It is the repeated pattern that organizes I, P and B frames.</a:t>
            </a:r>
            <a:endParaRPr lang="en-US" dirty="0"/>
          </a:p>
        </p:txBody>
      </p:sp>
      <p:sp>
        <p:nvSpPr>
          <p:cNvPr id="9" name="Shape 5"/>
          <p:cNvSpPr/>
          <p:nvPr/>
        </p:nvSpPr>
        <p:spPr>
          <a:xfrm>
            <a:off x="6400800" y="3931920"/>
            <a:ext cx="4754880" cy="1554480"/>
          </a:xfrm>
          <a:prstGeom prst="roundRect">
            <a:avLst>
              <a:gd name="adj" fmla="val 3529"/>
            </a:avLst>
          </a:prstGeom>
          <a:solidFill>
            <a:srgbClr val="FFF8E8"/>
          </a:solidFill>
          <a:ln w="15240">
            <a:solidFill>
              <a:srgbClr val="F4A26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510528" y="4023360"/>
            <a:ext cx="4535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A4D00"/>
                </a:solidFill>
              </a:rPr>
              <a:t>Think</a:t>
            </a: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6510528" y="4432080"/>
            <a:ext cx="4535424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Why are I-frames larger? Because they are coded independently and must carry more complete image information.</a:t>
            </a: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3840480" y="6473952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 of CSE, Daffodil International University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612880" y="63825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</a:rPr>
              <a:t>Motion Compensation: The Heart of MPEG</a:t>
            </a:r>
            <a:endParaRPr lang="en-US" sz="2200" dirty="0"/>
          </a:p>
        </p:txBody>
      </p:sp>
      <p:pic>
        <p:nvPicPr>
          <p:cNvPr id="3" name="Image 0" descr="/mnt/data/user-1kFy9epRxYXs1pHOCdzQinPw/fc5910e8ff0f429aa4306e1576c19e7d/mnt/data/diu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6960" y="91440"/>
            <a:ext cx="660400" cy="594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77240" y="109728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EEF5FF"/>
          </a:solidFill>
          <a:ln w="13970">
            <a:solidFill>
              <a:srgbClr val="B4C7E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86968" y="1170432"/>
            <a:ext cx="5129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4060"/>
                </a:solidFill>
              </a:rPr>
              <a:t>Idea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86968" y="1444752"/>
            <a:ext cx="5129784" cy="1408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Instead of sending the whole next block, MPEG searches for a similar block in a reference frame. It sends the motion vector and the residual difference.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701040" y="381726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901440" y="381726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12520" y="381726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12920" y="381726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524000" y="381726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24400" y="381726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935480" y="381726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135880" y="381726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346960" y="381726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547360" y="381726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758440" y="381726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958840" y="381726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169920" y="381726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370320" y="381726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01040" y="422874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901440" y="422874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112520" y="422874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312920" y="422874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524000" y="422874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724400" y="422874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935480" y="422874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135880" y="422874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346960" y="422874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547360" y="422874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758440" y="422874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958840" y="422874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169920" y="422874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370320" y="422874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01040" y="464022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901440" y="464022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112520" y="464022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312920" y="464022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524000" y="464022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724400" y="464022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935480" y="464022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135880" y="464022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346960" y="464022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5547360" y="464022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758440" y="464022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958840" y="464022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3169920" y="464022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370320" y="464022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701040" y="505170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3901440" y="505170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1112520" y="505170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4312920" y="505170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1524000" y="505170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4724400" y="505170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935480" y="505170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5135880" y="505170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346960" y="505170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5547360" y="505170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2758440" y="505170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5958840" y="505170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3169920" y="505170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6370320" y="505170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701040" y="546318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3901440" y="546318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1112520" y="546318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4312920" y="546318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1524000" y="546318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4724400" y="546318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1935480" y="546318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5135880" y="546318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2346960" y="546318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5547360" y="546318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2758440" y="546318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5958840" y="546318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3169920" y="546318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6370320" y="5463182"/>
            <a:ext cx="39319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1112520" y="4228742"/>
            <a:ext cx="804672" cy="804672"/>
          </a:xfrm>
          <a:prstGeom prst="rect">
            <a:avLst/>
          </a:prstGeom>
          <a:solidFill>
            <a:srgbClr val="CFE2F3"/>
          </a:solidFill>
          <a:ln w="15240">
            <a:solidFill>
              <a:srgbClr val="7FA6D6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4312920" y="4640222"/>
            <a:ext cx="804672" cy="804672"/>
          </a:xfrm>
          <a:prstGeom prst="rect">
            <a:avLst/>
          </a:prstGeom>
          <a:solidFill>
            <a:srgbClr val="CFE2F3"/>
          </a:solidFill>
          <a:ln w="15240">
            <a:solidFill>
              <a:srgbClr val="7FA6D6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1645920" y="34950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</a:rPr>
              <a:t>Frame k</a:t>
            </a:r>
            <a:endParaRPr lang="en-US" sz="1500" dirty="0"/>
          </a:p>
        </p:txBody>
      </p:sp>
      <p:sp>
        <p:nvSpPr>
          <p:cNvPr id="80" name="Text 77"/>
          <p:cNvSpPr/>
          <p:nvPr/>
        </p:nvSpPr>
        <p:spPr>
          <a:xfrm>
            <a:off x="4754880" y="34950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</a:rPr>
              <a:t>Frame k+1</a:t>
            </a:r>
            <a:endParaRPr lang="en-US" sz="1500" dirty="0"/>
          </a:p>
        </p:txBody>
      </p:sp>
      <p:sp>
        <p:nvSpPr>
          <p:cNvPr id="81" name="Shape 78"/>
          <p:cNvSpPr/>
          <p:nvPr/>
        </p:nvSpPr>
        <p:spPr>
          <a:xfrm>
            <a:off x="2758440" y="4503062"/>
            <a:ext cx="548640" cy="320040"/>
          </a:xfrm>
          <a:prstGeom prst="chevron">
            <a:avLst/>
          </a:prstGeom>
          <a:solidFill>
            <a:srgbClr val="D5E4F2"/>
          </a:solidFill>
          <a:ln w="12700">
            <a:solidFill>
              <a:srgbClr val="D5E4F2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7315200" y="1234440"/>
            <a:ext cx="3794760" cy="4023360"/>
          </a:xfrm>
          <a:prstGeom prst="roundRect">
            <a:avLst>
              <a:gd name="adj" fmla="val 1446"/>
            </a:avLst>
          </a:prstGeom>
          <a:solidFill>
            <a:srgbClr val="EEF5FF"/>
          </a:solidFill>
          <a:ln w="13970">
            <a:solidFill>
              <a:srgbClr val="B4C7E7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7424928" y="1307592"/>
            <a:ext cx="3575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4060"/>
                </a:solidFill>
              </a:rPr>
              <a:t>Simple math example</a:t>
            </a:r>
            <a:endParaRPr lang="en-US" dirty="0"/>
          </a:p>
        </p:txBody>
      </p:sp>
      <p:sp>
        <p:nvSpPr>
          <p:cNvPr id="84" name="Text 81"/>
          <p:cNvSpPr/>
          <p:nvPr/>
        </p:nvSpPr>
        <p:spPr>
          <a:xfrm>
            <a:off x="7424928" y="1581912"/>
            <a:ext cx="3575304" cy="3602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A block moves 2 pixels right and 1 pixel down.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Motion vector = ( +2, +1 )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Predicted block = block from old frame shifted by that vector.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Residual = actual new block - predicted block.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If residual is small, only a little extra data is needed.</a:t>
            </a:r>
            <a:endParaRPr lang="en-US" dirty="0"/>
          </a:p>
        </p:txBody>
      </p:sp>
      <p:sp>
        <p:nvSpPr>
          <p:cNvPr id="85" name="Text 82"/>
          <p:cNvSpPr/>
          <p:nvPr/>
        </p:nvSpPr>
        <p:spPr>
          <a:xfrm>
            <a:off x="3840480" y="6473952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 of CSE, Daffodil International University</a:t>
            </a:r>
            <a:endParaRPr lang="en-US" sz="900" dirty="0"/>
          </a:p>
        </p:txBody>
      </p:sp>
      <p:sp>
        <p:nvSpPr>
          <p:cNvPr id="86" name="Text 83"/>
          <p:cNvSpPr/>
          <p:nvPr/>
        </p:nvSpPr>
        <p:spPr>
          <a:xfrm>
            <a:off x="11612880" y="63825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</a:rPr>
              <a:t>MPEG Encoding Pipeline</a:t>
            </a:r>
            <a:endParaRPr lang="en-US" sz="2200" dirty="0"/>
          </a:p>
        </p:txBody>
      </p:sp>
      <p:pic>
        <p:nvPicPr>
          <p:cNvPr id="3" name="Image 0" descr="/mnt/data/user-1kFy9epRxYXs1pHOCdzQinPw/fc5910e8ff0f429aa4306e1576c19e7d/mnt/data/diu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6960" y="91440"/>
            <a:ext cx="660400" cy="594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22960" y="1097280"/>
            <a:ext cx="3017520" cy="4590288"/>
          </a:xfrm>
          <a:prstGeom prst="roundRect">
            <a:avLst>
              <a:gd name="adj" fmla="val 1818"/>
            </a:avLst>
          </a:prstGeom>
          <a:solidFill>
            <a:srgbClr val="EEF5FF"/>
          </a:solidFill>
          <a:ln w="13970">
            <a:solidFill>
              <a:srgbClr val="B4C7E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32688" y="1170432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4060"/>
                </a:solidFill>
              </a:rPr>
              <a:t>Pipeline overview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932688" y="1444752"/>
            <a:ext cx="2798064" cy="4242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buAutoNum type="arabicPeriod"/>
            </a:pPr>
            <a:r>
              <a:rPr lang="en-US" sz="1700" dirty="0">
                <a:solidFill>
                  <a:srgbClr val="111111"/>
                </a:solidFill>
              </a:rPr>
              <a:t>Divide video into frames.</a:t>
            </a:r>
          </a:p>
          <a:p>
            <a:pPr marL="342900" indent="-342900">
              <a:buAutoNum type="arabicPeriod"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11111"/>
                </a:solidFill>
              </a:rPr>
              <a:t>2. Decide frame type: I, P or B.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11111"/>
                </a:solidFill>
              </a:rPr>
              <a:t>3. For P/B frames, search matching blocks in reference frame(s).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11111"/>
                </a:solidFill>
              </a:rPr>
              <a:t>4. Compute motion vectors.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11111"/>
                </a:solidFill>
              </a:rPr>
              <a:t>5. Compute residual error.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11111"/>
                </a:solidFill>
              </a:rPr>
              <a:t>6. Transform and quantize residual.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11111"/>
                </a:solidFill>
              </a:rPr>
              <a:t>7. Entropy-code the result.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017556" y="1141546"/>
            <a:ext cx="914400" cy="594360"/>
          </a:xfrm>
          <a:prstGeom prst="roundRect">
            <a:avLst>
              <a:gd name="adj" fmla="val 6154"/>
            </a:avLst>
          </a:prstGeom>
          <a:solidFill>
            <a:srgbClr val="F9FBFD"/>
          </a:solidFill>
          <a:ln w="12700">
            <a:solidFill>
              <a:srgbClr val="B7C9E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44988" y="1351858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0000"/>
                </a:solidFill>
              </a:rPr>
              <a:t>Frames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958806" y="1351858"/>
            <a:ext cx="146304" cy="137160"/>
          </a:xfrm>
          <a:prstGeom prst="chevron">
            <a:avLst/>
          </a:prstGeom>
          <a:solidFill>
            <a:schemeClr val="accent5"/>
          </a:solidFill>
          <a:ln w="12700">
            <a:solidFill>
              <a:srgbClr val="D5E4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170714" y="1141546"/>
            <a:ext cx="914400" cy="594360"/>
          </a:xfrm>
          <a:prstGeom prst="roundRect">
            <a:avLst>
              <a:gd name="adj" fmla="val 6154"/>
            </a:avLst>
          </a:prstGeom>
          <a:solidFill>
            <a:srgbClr val="F9FBFD"/>
          </a:solidFill>
          <a:ln w="12700">
            <a:solidFill>
              <a:srgbClr val="B7C9E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198146" y="1351858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0000"/>
                </a:solidFill>
              </a:rPr>
              <a:t>Type select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11964" y="1351858"/>
            <a:ext cx="146304" cy="137160"/>
          </a:xfrm>
          <a:prstGeom prst="chevron">
            <a:avLst/>
          </a:prstGeom>
          <a:solidFill>
            <a:schemeClr val="accent5"/>
          </a:solidFill>
          <a:ln w="12700">
            <a:solidFill>
              <a:srgbClr val="D5E4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94844" y="1141546"/>
            <a:ext cx="914400" cy="594360"/>
          </a:xfrm>
          <a:prstGeom prst="roundRect">
            <a:avLst>
              <a:gd name="adj" fmla="val 6154"/>
            </a:avLst>
          </a:prstGeom>
          <a:solidFill>
            <a:srgbClr val="F9FBFD"/>
          </a:solidFill>
          <a:ln w="12700">
            <a:solidFill>
              <a:srgbClr val="B7C9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22276" y="1351858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0000"/>
                </a:solidFill>
              </a:rPr>
              <a:t>Motion estimation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250608" y="1351858"/>
            <a:ext cx="146304" cy="137160"/>
          </a:xfrm>
          <a:prstGeom prst="chevron">
            <a:avLst/>
          </a:prstGeom>
          <a:solidFill>
            <a:schemeClr val="accent5"/>
          </a:solidFill>
          <a:ln w="12700">
            <a:solidFill>
              <a:srgbClr val="D5E4F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433490" y="1141546"/>
            <a:ext cx="914400" cy="594360"/>
          </a:xfrm>
          <a:prstGeom prst="roundRect">
            <a:avLst>
              <a:gd name="adj" fmla="val 6154"/>
            </a:avLst>
          </a:prstGeom>
          <a:solidFill>
            <a:srgbClr val="F9FBFD"/>
          </a:solidFill>
          <a:ln w="12700">
            <a:solidFill>
              <a:srgbClr val="B7C9E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60922" y="1351858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0000"/>
                </a:solidFill>
              </a:rPr>
              <a:t>Residual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374740" y="1351858"/>
            <a:ext cx="146304" cy="137160"/>
          </a:xfrm>
          <a:prstGeom prst="chevron">
            <a:avLst/>
          </a:prstGeom>
          <a:solidFill>
            <a:schemeClr val="accent5"/>
          </a:solidFill>
          <a:ln w="12700">
            <a:solidFill>
              <a:srgbClr val="D5E4F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543106" y="1141546"/>
            <a:ext cx="914400" cy="594360"/>
          </a:xfrm>
          <a:prstGeom prst="roundRect">
            <a:avLst>
              <a:gd name="adj" fmla="val 6154"/>
            </a:avLst>
          </a:prstGeom>
          <a:solidFill>
            <a:srgbClr val="F9FBFD"/>
          </a:solidFill>
          <a:ln w="12700">
            <a:solidFill>
              <a:srgbClr val="B7C9E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570538" y="1351858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0000"/>
                </a:solidFill>
              </a:rPr>
              <a:t>Transform/quantize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9498870" y="1351858"/>
            <a:ext cx="146304" cy="137160"/>
          </a:xfrm>
          <a:prstGeom prst="chevron">
            <a:avLst/>
          </a:prstGeom>
          <a:solidFill>
            <a:schemeClr val="accent5"/>
          </a:solidFill>
          <a:ln w="12700">
            <a:solidFill>
              <a:srgbClr val="D5E4F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681750" y="1141546"/>
            <a:ext cx="914400" cy="594360"/>
          </a:xfrm>
          <a:prstGeom prst="roundRect">
            <a:avLst>
              <a:gd name="adj" fmla="val 6154"/>
            </a:avLst>
          </a:prstGeom>
          <a:solidFill>
            <a:srgbClr val="F9FBFD"/>
          </a:solidFill>
          <a:ln w="12700">
            <a:solidFill>
              <a:srgbClr val="B7C9E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709182" y="1351858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0000"/>
                </a:solidFill>
              </a:rPr>
              <a:t>Entropy coding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 rot="5608772">
            <a:off x="10115002" y="1801801"/>
            <a:ext cx="146304" cy="137160"/>
          </a:xfrm>
          <a:prstGeom prst="chevron">
            <a:avLst/>
          </a:prstGeom>
          <a:solidFill>
            <a:schemeClr val="accent5"/>
          </a:solidFill>
          <a:ln w="12700">
            <a:solidFill>
              <a:srgbClr val="D5E4F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746336" y="1983378"/>
            <a:ext cx="914400" cy="594360"/>
          </a:xfrm>
          <a:prstGeom prst="roundRect">
            <a:avLst>
              <a:gd name="adj" fmla="val 6154"/>
            </a:avLst>
          </a:prstGeom>
          <a:solidFill>
            <a:srgbClr val="F9FBFD"/>
          </a:solidFill>
          <a:ln w="12700">
            <a:solidFill>
              <a:srgbClr val="B7C9E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744740" y="2193690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0000"/>
                </a:solidFill>
              </a:rPr>
              <a:t>Bitstream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343400" y="3840480"/>
            <a:ext cx="6675120" cy="1554480"/>
          </a:xfrm>
          <a:prstGeom prst="roundRect">
            <a:avLst>
              <a:gd name="adj" fmla="val 3529"/>
            </a:avLst>
          </a:prstGeom>
          <a:solidFill>
            <a:srgbClr val="FFF8E8"/>
          </a:solidFill>
          <a:ln w="15240">
            <a:solidFill>
              <a:srgbClr val="F4A26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453128" y="3931920"/>
            <a:ext cx="6455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A4D00"/>
                </a:solidFill>
              </a:rPr>
              <a:t>Key comparison with JPEG</a:t>
            </a: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4453128" y="4224528"/>
            <a:ext cx="6455664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JPEG works mainly within one image. MPEG also uses relationships between frames, so it removes temporal redundancy in addition to spatial redundancy.</a:t>
            </a: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3840480" y="6473952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 of CSE, Daffodil International University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612880" y="63825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</a:rPr>
              <a:t>Practice Problems on MPEG</a:t>
            </a:r>
            <a:endParaRPr lang="en-US" sz="2200" dirty="0"/>
          </a:p>
        </p:txBody>
      </p:sp>
      <p:pic>
        <p:nvPicPr>
          <p:cNvPr id="3" name="Image 0" descr="/mnt/data/user-1kFy9epRxYXs1pHOCdzQinPw/fc5910e8ff0f429aa4306e1576c19e7d/mnt/data/diu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6960" y="91440"/>
            <a:ext cx="660400" cy="594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77240" y="1097280"/>
            <a:ext cx="3429000" cy="4343400"/>
          </a:xfrm>
          <a:prstGeom prst="roundRect">
            <a:avLst>
              <a:gd name="adj" fmla="val 1600"/>
            </a:avLst>
          </a:prstGeom>
          <a:solidFill>
            <a:srgbClr val="FFF8E8"/>
          </a:solidFill>
          <a:ln w="15240">
            <a:solidFill>
              <a:srgbClr val="F4A26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86968" y="1188720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A4D00"/>
                </a:solidFill>
              </a:rPr>
              <a:t>Problem 1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86968" y="1481328"/>
            <a:ext cx="3209544" cy="3867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Why is MPEG usually better than compressing each frame separately with JPEG?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Expected answer: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Because neighboring frames are similar. MPEG exploits temporal redundancy using prediction and motion compensation.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4370832" y="1097280"/>
            <a:ext cx="3429000" cy="4343400"/>
          </a:xfrm>
          <a:prstGeom prst="roundRect">
            <a:avLst>
              <a:gd name="adj" fmla="val 1600"/>
            </a:avLst>
          </a:prstGeom>
          <a:solidFill>
            <a:srgbClr val="FFF8E8"/>
          </a:solidFill>
          <a:ln w="15240">
            <a:solidFill>
              <a:srgbClr val="F4A2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480560" y="1188720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A4D00"/>
                </a:solidFill>
              </a:rPr>
              <a:t>Problem 2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480560" y="1481328"/>
            <a:ext cx="3209544" cy="3867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A block moves from position (10,12) in one frame to (13,14) in the next.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Find the motion vector.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Answer: (+3, +2)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7973568" y="1097280"/>
            <a:ext cx="3200400" cy="4343400"/>
          </a:xfrm>
          <a:prstGeom prst="roundRect">
            <a:avLst>
              <a:gd name="adj" fmla="val 1714"/>
            </a:avLst>
          </a:prstGeom>
          <a:solidFill>
            <a:srgbClr val="FFF8E8"/>
          </a:solidFill>
          <a:ln w="15240">
            <a:solidFill>
              <a:srgbClr val="F4A2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83296" y="1188720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A4D00"/>
                </a:solidFill>
              </a:rPr>
              <a:t>Problem 3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8083296" y="1481328"/>
            <a:ext cx="2980944" cy="3867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What is the role of an I-frame in a GOP?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Expected answer: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Reference frame, random access point, independently decodable frame.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840480" y="6473952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 of CSE, Daffodil International University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612880" y="63825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ser-1kFy9epRxYXs1pHOCdzQinPw/fc5910e8ff0f429aa4306e1576c19e7d/mnt/data/diu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6960" y="91440"/>
            <a:ext cx="66040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114300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</a:rPr>
              <a:t>6. Summary and Final Practice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1005840" y="1920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62828"/>
                </a:solidFill>
              </a:rPr>
              <a:t>Use these to revise before class test or final exam.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1005840" y="2743200"/>
            <a:ext cx="8778240" cy="0"/>
          </a:xfrm>
          <a:prstGeom prst="line">
            <a:avLst/>
          </a:prstGeom>
          <a:noFill/>
          <a:ln w="25400">
            <a:solidFill>
              <a:srgbClr val="D6282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840480" y="6473952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 of CSE, Daffodil International University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612880" y="63825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</a:rPr>
              <a:t>32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1AD704F-6CC8-9DE3-170B-FF36CF9B19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057" y="3429000"/>
            <a:ext cx="2143125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</a:rPr>
              <a:t>One-Slide Summary</a:t>
            </a:r>
            <a:endParaRPr lang="en-US" sz="2200" dirty="0"/>
          </a:p>
        </p:txBody>
      </p:sp>
      <p:pic>
        <p:nvPicPr>
          <p:cNvPr id="3" name="Image 0" descr="/mnt/data/user-1kFy9epRxYXs1pHOCdzQinPw/fc5910e8ff0f429aa4306e1576c19e7d/mnt/data/diu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6960" y="91440"/>
            <a:ext cx="66040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234440"/>
            <a:ext cx="1024128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Multimedia system = multiple media types + timing + interaction + synchronization.</a:t>
            </a:r>
          </a:p>
          <a:p>
            <a:pPr marL="203200" indent="-203200">
              <a:buSzPct val="100000"/>
              <a:buChar char="•"/>
            </a:pP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Compression reduces data while trying to keep useful information.</a:t>
            </a:r>
          </a:p>
          <a:p>
            <a:pPr marL="203200" indent="-203200">
              <a:buSzPct val="100000"/>
              <a:buChar char="•"/>
            </a:pP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Main redundancy types: coding, spatial/temporal, psychovisual.</a:t>
            </a:r>
          </a:p>
          <a:p>
            <a:pPr marL="203200" indent="-203200">
              <a:buSzPct val="100000"/>
              <a:buChar char="•"/>
            </a:pP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Lossless = exact recovery. Lossy = approximate recovery with higher compression.</a:t>
            </a:r>
          </a:p>
          <a:p>
            <a:pPr marL="203200" indent="-203200">
              <a:buSzPct val="100000"/>
              <a:buChar char="•"/>
            </a:pP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Huffman coding removes coding redundancy using variable-length codes.</a:t>
            </a:r>
          </a:p>
          <a:p>
            <a:pPr marL="203200" indent="-203200">
              <a:buSzPct val="100000"/>
              <a:buChar char="•"/>
            </a:pP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JPEG compresses still images by DCT + quantization + entropy coding.</a:t>
            </a:r>
          </a:p>
          <a:p>
            <a:pPr marL="203200" indent="-203200">
              <a:buSzPct val="100000"/>
              <a:buChar char="•"/>
            </a:pP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MPEG compresses video by combining image compression with motion-based prediction.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868680" y="5486400"/>
            <a:ext cx="10241280" cy="896112"/>
          </a:xfrm>
          <a:prstGeom prst="roundRect">
            <a:avLst>
              <a:gd name="adj" fmla="val 9231"/>
            </a:avLst>
          </a:prstGeom>
          <a:solidFill>
            <a:srgbClr val="FFF8E8"/>
          </a:solidFill>
          <a:ln w="15240">
            <a:solidFill>
              <a:srgbClr val="F4A26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8408" y="5577840"/>
            <a:ext cx="10021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A4D00"/>
                </a:solidFill>
              </a:rPr>
              <a:t>Last-minute revision tip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78408" y="5870448"/>
            <a:ext cx="1002182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</a:rPr>
              <a:t>If you can explain why JPEG is good for images and MPEG is good for video, you already understand the central idea of this lecture.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40480" y="6473952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 of CSE, Daffodil International University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612880" y="63825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</a:rPr>
              <a:t>Mixed Practice Set</a:t>
            </a:r>
            <a:endParaRPr lang="en-US" sz="2200" dirty="0"/>
          </a:p>
        </p:txBody>
      </p:sp>
      <p:pic>
        <p:nvPicPr>
          <p:cNvPr id="3" name="Image 0" descr="/mnt/data/user-1kFy9epRxYXs1pHOCdzQinPw/fc5910e8ff0f429aa4306e1576c19e7d/mnt/data/diu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6960" y="91440"/>
            <a:ext cx="660400" cy="594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77240" y="10972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FFF8E8"/>
          </a:solidFill>
          <a:ln w="15240">
            <a:solidFill>
              <a:srgbClr val="F4A26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86968" y="1188720"/>
            <a:ext cx="5175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A4D00"/>
                </a:solidFill>
              </a:rPr>
              <a:t>Theory questions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86968" y="1481328"/>
            <a:ext cx="5175504" cy="4187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</a:rPr>
              <a:t>1. Define multimedia system with two examples.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</a:rPr>
              <a:t>2. Distinguish between data and information.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</a:rPr>
              <a:t>3. What is redundancy? Name three types.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</a:rPr>
              <a:t>4. Compare lossless and lossy compression.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</a:rPr>
              <a:t>5. Why is Huffman coding lossless?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</a:rPr>
              <a:t>6. Which step of JPEG is lossy and why?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</a:rPr>
              <a:t>7. Why does MPEG need I, P and B frames?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400800" y="1097280"/>
            <a:ext cx="4754880" cy="4663440"/>
          </a:xfrm>
          <a:prstGeom prst="roundRect">
            <a:avLst>
              <a:gd name="adj" fmla="val 1176"/>
            </a:avLst>
          </a:prstGeom>
          <a:solidFill>
            <a:srgbClr val="F2FBF5"/>
          </a:solidFill>
          <a:ln w="13970">
            <a:solidFill>
              <a:srgbClr val="B7D7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10528" y="1170432"/>
            <a:ext cx="4535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4060"/>
                </a:solidFill>
              </a:rPr>
              <a:t>Numerical / algorithmic questions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510528" y="1444752"/>
            <a:ext cx="4535424" cy="4242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1. A 1.2 MB file becomes 0.2 MB. Find C and R.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2. Build a Huffman code for a given frequency table.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3. Quantize a given DCT coefficient using a given Q value.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4. Find a motion vector from two block positions.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</a:rPr>
              <a:t>5. Explain how long zero runs appear in JPEG after quantization.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840480" y="6473952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 of CSE, Daffodil International University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612880" y="63825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mnt/data/user-1kFy9epRxYXs1pHOCdzQinPw/fc5910e8ff0f429aa4306e1576c19e7d/mnt/data/diu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6960" y="91440"/>
            <a:ext cx="660400" cy="594360"/>
          </a:xfrm>
          <a:prstGeom prst="rect">
            <a:avLst/>
          </a:prstGeom>
        </p:spPr>
      </p:pic>
      <p:pic>
        <p:nvPicPr>
          <p:cNvPr id="7" name="Image 1" descr="/mnt/data/user-1kFy9epRxYXs1pHOCdzQinPw/fc5910e8ff0f429aa4306e1576c19e7d/mnt/data/diu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4391" y="5861304"/>
            <a:ext cx="863600" cy="7772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840480" y="6473952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 of CSE, Daffodil International University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612880" y="63825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</a:rPr>
              <a:t>35</a:t>
            </a:r>
            <a:endParaRPr lang="en-US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4C7D474-5EC6-D299-D27C-85B52CA2E0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466727"/>
            <a:ext cx="7620000" cy="53149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</TotalTime>
  <Words>5941</Words>
  <Application>Microsoft Office PowerPoint</Application>
  <PresentationFormat>Widescreen</PresentationFormat>
  <Paragraphs>908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8" baseType="lpstr">
      <vt:lpstr>Aptos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Graphics: Multimedia Systems, Data Compression, Huffman Coding, JPEG and MPEG</dc:title>
  <dc:subject>Computer Graphics - Multimedia Systems and Compression</dc:subject>
  <dc:creator>OpenAI</dc:creator>
  <cp:lastModifiedBy>Mehefujur R Mubin</cp:lastModifiedBy>
  <cp:revision>25</cp:revision>
  <dcterms:created xsi:type="dcterms:W3CDTF">2026-03-30T15:59:24Z</dcterms:created>
  <dcterms:modified xsi:type="dcterms:W3CDTF">2026-04-07T06:55:22Z</dcterms:modified>
</cp:coreProperties>
</file>