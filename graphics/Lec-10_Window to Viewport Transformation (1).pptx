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6858000" cx="9144000"/>
  <p:notesSz cx="9296400" cy="7010400"/>
  <p:embeddedFontLst>
    <p:embeddedFont>
      <p:font typeface="Nunito"/>
      <p:regular r:id="rId16"/>
      <p:bold r:id="rId17"/>
      <p:italic r:id="rId18"/>
      <p:boldItalic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339">
          <p15:clr>
            <a:srgbClr val="000000"/>
          </p15:clr>
        </p15:guide>
        <p15:guide id="2" pos="2879">
          <p15:clr>
            <a:srgbClr val="000000"/>
          </p15:clr>
        </p15:guide>
      </p15:sldGuideLst>
    </p:ext>
    <p:ext uri="GoogleSlidesCustomDataVersion2">
      <go:slidesCustomData xmlns:go="http://customooxmlschemas.google.com/" r:id="rId20" roundtripDataSignature="AMtx7mh9j3EXAC7bgacDs8HSumReYgt7V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339" orient="horz"/>
        <p:guide pos="2879"/>
      </p:guideLst>
    </p:cSldViewPr>
  </p:slideViewPr>
</p:viewPr>
</file>

<file path=ppt/_rels/presentation.xml.rels><?xml version="1.0" encoding="UTF-8" standalone="yes"?><Relationships xmlns="http://schemas.openxmlformats.org/package/2006/relationships"><Relationship Id="rId20"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Nunito-bold.fntdata"/><Relationship Id="rId16" Type="http://schemas.openxmlformats.org/officeDocument/2006/relationships/font" Target="fonts/Nunito-regular.fntdata"/><Relationship Id="rId5" Type="http://schemas.openxmlformats.org/officeDocument/2006/relationships/notesMaster" Target="notesMasters/notesMaster1.xml"/><Relationship Id="rId19" Type="http://schemas.openxmlformats.org/officeDocument/2006/relationships/font" Target="fonts/Nunito-boldItalic.fntdata"/><Relationship Id="rId6" Type="http://schemas.openxmlformats.org/officeDocument/2006/relationships/slide" Target="slides/slide1.xml"/><Relationship Id="rId18" Type="http://schemas.openxmlformats.org/officeDocument/2006/relationships/font" Target="fonts/Nunito-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4029075" cy="350837"/>
          </a:xfrm>
          <a:prstGeom prst="rect">
            <a:avLst/>
          </a:prstGeom>
          <a:noFill/>
          <a:ln>
            <a:noFill/>
          </a:ln>
        </p:spPr>
        <p:txBody>
          <a:bodyPr anchorCtr="0" anchor="t" bIns="46575" lIns="93175" spcFirstLastPara="1" rIns="93175" wrap="square" tIns="46575">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5265737" y="0"/>
            <a:ext cx="4029075" cy="350837"/>
          </a:xfrm>
          <a:prstGeom prst="rect">
            <a:avLst/>
          </a:prstGeom>
          <a:noFill/>
          <a:ln>
            <a:noFill/>
          </a:ln>
        </p:spPr>
        <p:txBody>
          <a:bodyPr anchorCtr="0" anchor="t" bIns="46575" lIns="93175" spcFirstLastPara="1" rIns="93175" wrap="square" tIns="46575">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6" name="Google Shape;6;n"/>
          <p:cNvSpPr txBox="1"/>
          <p:nvPr>
            <p:ph idx="1" type="body"/>
          </p:nvPr>
        </p:nvSpPr>
        <p:spPr>
          <a:xfrm>
            <a:off x="930275" y="3330575"/>
            <a:ext cx="7435850" cy="3154362"/>
          </a:xfrm>
          <a:prstGeom prst="rect">
            <a:avLst/>
          </a:prstGeom>
          <a:noFill/>
          <a:ln>
            <a:noFill/>
          </a:ln>
        </p:spPr>
        <p:txBody>
          <a:bodyPr anchorCtr="0" anchor="t" bIns="46575" lIns="93175" spcFirstLastPara="1" rIns="93175" wrap="square" tIns="46575">
            <a:no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n"/>
          <p:cNvSpPr txBox="1"/>
          <p:nvPr>
            <p:ph idx="11" type="ftr"/>
          </p:nvPr>
        </p:nvSpPr>
        <p:spPr>
          <a:xfrm>
            <a:off x="0" y="6657975"/>
            <a:ext cx="4029075" cy="350837"/>
          </a:xfrm>
          <a:prstGeom prst="rect">
            <a:avLst/>
          </a:prstGeom>
          <a:noFill/>
          <a:ln>
            <a:noFill/>
          </a:ln>
        </p:spPr>
        <p:txBody>
          <a:bodyPr anchorCtr="0" anchor="b" bIns="46575" lIns="93175" spcFirstLastPara="1" rIns="93175" wrap="square" tIns="46575">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5265737" y="6657975"/>
            <a:ext cx="4029075" cy="350837"/>
          </a:xfrm>
          <a:prstGeom prst="rect">
            <a:avLst/>
          </a:prstGeom>
          <a:noFill/>
          <a:ln>
            <a:noFill/>
          </a:ln>
        </p:spPr>
        <p:txBody>
          <a:bodyPr anchorCtr="0" anchor="b" bIns="46575" lIns="93175" spcFirstLastPara="1" rIns="93175" wrap="square" tIns="465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86" name="Google Shape;86;p1:notes"/>
          <p:cNvSpPr txBox="1"/>
          <p:nvPr>
            <p:ph idx="1" type="body"/>
          </p:nvPr>
        </p:nvSpPr>
        <p:spPr>
          <a:xfrm>
            <a:off x="930275" y="3330575"/>
            <a:ext cx="7435850" cy="3154362"/>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87" name="Google Shape;87;p1:notes"/>
          <p:cNvSpPr txBox="1"/>
          <p:nvPr/>
        </p:nvSpPr>
        <p:spPr>
          <a:xfrm>
            <a:off x="5265737" y="6657975"/>
            <a:ext cx="4029075" cy="350837"/>
          </a:xfrm>
          <a:prstGeom prst="rect">
            <a:avLst/>
          </a:prstGeom>
          <a:noFill/>
          <a:ln>
            <a:noFill/>
          </a:ln>
        </p:spPr>
        <p:txBody>
          <a:bodyPr anchorCtr="0" anchor="b" bIns="46575" lIns="93175" spcFirstLastPara="1" rIns="93175" wrap="square" tIns="465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2:notes"/>
          <p:cNvSpPr txBox="1"/>
          <p:nvPr>
            <p:ph idx="1" type="body"/>
          </p:nvPr>
        </p:nvSpPr>
        <p:spPr>
          <a:xfrm>
            <a:off x="930275" y="3330575"/>
            <a:ext cx="7435850" cy="3154362"/>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97" name="Google Shape;97;p2: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e92defc0b2_0_0:notes"/>
          <p:cNvSpPr txBox="1"/>
          <p:nvPr>
            <p:ph idx="1" type="body"/>
          </p:nvPr>
        </p:nvSpPr>
        <p:spPr>
          <a:xfrm>
            <a:off x="930275" y="3330575"/>
            <a:ext cx="7435800" cy="3154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106" name="Google Shape;106;g3e92defc0b2_0_0: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de0e672ba7_0_3:notes"/>
          <p:cNvSpPr txBox="1"/>
          <p:nvPr>
            <p:ph idx="1" type="body"/>
          </p:nvPr>
        </p:nvSpPr>
        <p:spPr>
          <a:xfrm>
            <a:off x="930275" y="3330575"/>
            <a:ext cx="7435800" cy="3154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116" name="Google Shape;116;g3de0e672ba7_0_3: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bb5fbf5691_0_28:notes"/>
          <p:cNvSpPr txBox="1"/>
          <p:nvPr>
            <p:ph idx="1" type="body"/>
          </p:nvPr>
        </p:nvSpPr>
        <p:spPr>
          <a:xfrm>
            <a:off x="930275" y="3330575"/>
            <a:ext cx="7435800" cy="3154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125" name="Google Shape;125;g3bb5fbf5691_0_28: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de3c7386fc_0_4:notes"/>
          <p:cNvSpPr txBox="1"/>
          <p:nvPr>
            <p:ph idx="1" type="body"/>
          </p:nvPr>
        </p:nvSpPr>
        <p:spPr>
          <a:xfrm>
            <a:off x="930275" y="3330575"/>
            <a:ext cx="7435800" cy="3154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134" name="Google Shape;134;g3de3c7386fc_0_4: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de3c7386fc_0_16:notes"/>
          <p:cNvSpPr txBox="1"/>
          <p:nvPr>
            <p:ph idx="1" type="body"/>
          </p:nvPr>
        </p:nvSpPr>
        <p:spPr>
          <a:xfrm>
            <a:off x="930275" y="3330575"/>
            <a:ext cx="7435800" cy="3154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146" name="Google Shape;146;g3de3c7386fc_0_16: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de47650d83_0_8:notes"/>
          <p:cNvSpPr txBox="1"/>
          <p:nvPr>
            <p:ph idx="1" type="body"/>
          </p:nvPr>
        </p:nvSpPr>
        <p:spPr>
          <a:xfrm>
            <a:off x="930275" y="3330575"/>
            <a:ext cx="7435800" cy="3154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159" name="Google Shape;159;g3de47650d83_0_8: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de47650d83_0_31:notes"/>
          <p:cNvSpPr txBox="1"/>
          <p:nvPr>
            <p:ph idx="1" type="body"/>
          </p:nvPr>
        </p:nvSpPr>
        <p:spPr>
          <a:xfrm>
            <a:off x="930275" y="3330575"/>
            <a:ext cx="7435800" cy="3154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175" name="Google Shape;175;g3de47650d83_0_31: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7: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5" name="Google Shape;185;p17:notes"/>
          <p:cNvSpPr txBox="1"/>
          <p:nvPr>
            <p:ph idx="1" type="body"/>
          </p:nvPr>
        </p:nvSpPr>
        <p:spPr>
          <a:xfrm>
            <a:off x="930275" y="3330575"/>
            <a:ext cx="7435850" cy="3154362"/>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186" name="Google Shape;186;p17:notes"/>
          <p:cNvSpPr txBox="1"/>
          <p:nvPr/>
        </p:nvSpPr>
        <p:spPr>
          <a:xfrm>
            <a:off x="5265737" y="6657975"/>
            <a:ext cx="4029075" cy="350837"/>
          </a:xfrm>
          <a:prstGeom prst="rect">
            <a:avLst/>
          </a:prstGeom>
          <a:noFill/>
          <a:ln>
            <a:noFill/>
          </a:ln>
        </p:spPr>
        <p:txBody>
          <a:bodyPr anchorCtr="0" anchor="b" bIns="46575" lIns="93175" spcFirstLastPara="1" rIns="93175" wrap="square" tIns="465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9"/>
          <p:cNvSpPr txBox="1"/>
          <p:nvPr>
            <p:ph type="ctrTitle"/>
          </p:nvPr>
        </p:nvSpPr>
        <p:spPr>
          <a:xfrm>
            <a:off x="1143000" y="1122363"/>
            <a:ext cx="6858000" cy="2387600"/>
          </a:xfrm>
          <a:prstGeom prst="rect">
            <a:avLst/>
          </a:prstGeom>
          <a:noFill/>
          <a:ln>
            <a:noFill/>
          </a:ln>
        </p:spPr>
        <p:txBody>
          <a:bodyPr anchorCtr="0" anchor="b" bIns="45700" lIns="91425" spcFirstLastPara="1" rIns="91425" wrap="square" tIns="45700">
            <a:no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9"/>
          <p:cNvSpPr txBox="1"/>
          <p:nvPr>
            <p:ph idx="1" type="subTitle"/>
          </p:nvPr>
        </p:nvSpPr>
        <p:spPr>
          <a:xfrm>
            <a:off x="1143000" y="3602038"/>
            <a:ext cx="6858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p:txBody>
      </p:sp>
      <p:sp>
        <p:nvSpPr>
          <p:cNvPr id="18" name="Google Shape;18;p19"/>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9"/>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9"/>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0"/>
          <p:cNvSpPr txBox="1"/>
          <p:nvPr>
            <p:ph type="title"/>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0"/>
          <p:cNvSpPr txBox="1"/>
          <p:nvPr>
            <p:ph idx="1" type="body"/>
          </p:nvPr>
        </p:nvSpPr>
        <p:spPr>
          <a:xfrm>
            <a:off x="628650" y="1825625"/>
            <a:ext cx="7886700" cy="4351337"/>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4" name="Google Shape;24;p20"/>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0"/>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0"/>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7" name="Shape 27"/>
        <p:cNvGrpSpPr/>
        <p:nvPr/>
      </p:nvGrpSpPr>
      <p:grpSpPr>
        <a:xfrm>
          <a:off x="0" y="0"/>
          <a:ext cx="0" cy="0"/>
          <a:chOff x="0" y="0"/>
          <a:chExt cx="0" cy="0"/>
        </a:xfrm>
      </p:grpSpPr>
      <p:sp>
        <p:nvSpPr>
          <p:cNvPr id="28" name="Google Shape;28;p21"/>
          <p:cNvSpPr txBox="1"/>
          <p:nvPr>
            <p:ph type="title"/>
          </p:nvPr>
        </p:nvSpPr>
        <p:spPr>
          <a:xfrm rot="5400000">
            <a:off x="4623594" y="2285207"/>
            <a:ext cx="5811838" cy="1971675"/>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1"/>
          <p:cNvSpPr txBox="1"/>
          <p:nvPr>
            <p:ph idx="1" type="body"/>
          </p:nvPr>
        </p:nvSpPr>
        <p:spPr>
          <a:xfrm rot="5400000">
            <a:off x="623094" y="370681"/>
            <a:ext cx="5811838" cy="58007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0" name="Google Shape;30;p21"/>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1"/>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1"/>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33" name="Shape 33"/>
        <p:cNvGrpSpPr/>
        <p:nvPr/>
      </p:nvGrpSpPr>
      <p:grpSpPr>
        <a:xfrm>
          <a:off x="0" y="0"/>
          <a:ext cx="0" cy="0"/>
          <a:chOff x="0" y="0"/>
          <a:chExt cx="0" cy="0"/>
        </a:xfrm>
      </p:grpSpPr>
      <p:sp>
        <p:nvSpPr>
          <p:cNvPr id="34" name="Google Shape;34;p22"/>
          <p:cNvSpPr txBox="1"/>
          <p:nvPr>
            <p:ph type="title"/>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2"/>
          <p:cNvSpPr txBox="1"/>
          <p:nvPr>
            <p:ph idx="1" type="body"/>
          </p:nvPr>
        </p:nvSpPr>
        <p:spPr>
          <a:xfrm rot="5400000">
            <a:off x="2396332" y="57943"/>
            <a:ext cx="4351337" cy="78867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6" name="Google Shape;36;p22"/>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22"/>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2"/>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39" name="Shape 39"/>
        <p:cNvGrpSpPr/>
        <p:nvPr/>
      </p:nvGrpSpPr>
      <p:grpSpPr>
        <a:xfrm>
          <a:off x="0" y="0"/>
          <a:ext cx="0" cy="0"/>
          <a:chOff x="0" y="0"/>
          <a:chExt cx="0" cy="0"/>
        </a:xfrm>
      </p:grpSpPr>
      <p:sp>
        <p:nvSpPr>
          <p:cNvPr id="40" name="Google Shape;40;p23"/>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23"/>
          <p:cNvSpPr/>
          <p:nvPr>
            <p:ph idx="2" type="pic"/>
          </p:nvPr>
        </p:nvSpPr>
        <p:spPr>
          <a:xfrm>
            <a:off x="3887391" y="987426"/>
            <a:ext cx="4629150" cy="4873625"/>
          </a:xfrm>
          <a:prstGeom prst="rect">
            <a:avLst/>
          </a:prstGeom>
          <a:noFill/>
          <a:ln>
            <a:noFill/>
          </a:ln>
        </p:spPr>
      </p:sp>
      <p:sp>
        <p:nvSpPr>
          <p:cNvPr id="42" name="Google Shape;42;p23"/>
          <p:cNvSpPr txBox="1"/>
          <p:nvPr>
            <p:ph idx="1" type="body"/>
          </p:nvPr>
        </p:nvSpPr>
        <p:spPr>
          <a:xfrm>
            <a:off x="629841" y="2057400"/>
            <a:ext cx="2949178"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43" name="Google Shape;43;p23"/>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23"/>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23"/>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6" name="Shape 46"/>
        <p:cNvGrpSpPr/>
        <p:nvPr/>
      </p:nvGrpSpPr>
      <p:grpSpPr>
        <a:xfrm>
          <a:off x="0" y="0"/>
          <a:ext cx="0" cy="0"/>
          <a:chOff x="0" y="0"/>
          <a:chExt cx="0" cy="0"/>
        </a:xfrm>
      </p:grpSpPr>
      <p:sp>
        <p:nvSpPr>
          <p:cNvPr id="47" name="Google Shape;47;p24"/>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4"/>
          <p:cNvSpPr txBox="1"/>
          <p:nvPr>
            <p:ph idx="1" type="body"/>
          </p:nvPr>
        </p:nvSpPr>
        <p:spPr>
          <a:xfrm>
            <a:off x="3887391" y="987426"/>
            <a:ext cx="4629150" cy="4873625"/>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750"/>
              </a:spcBef>
              <a:spcAft>
                <a:spcPts val="0"/>
              </a:spcAft>
              <a:buClr>
                <a:schemeClr val="dk1"/>
              </a:buClr>
              <a:buSzPts val="2400"/>
              <a:buChar char="•"/>
              <a:defRPr sz="2400"/>
            </a:lvl1pPr>
            <a:lvl2pPr indent="-361950" lvl="1" marL="914400" algn="l">
              <a:lnSpc>
                <a:spcPct val="90000"/>
              </a:lnSpc>
              <a:spcBef>
                <a:spcPts val="375"/>
              </a:spcBef>
              <a:spcAft>
                <a:spcPts val="0"/>
              </a:spcAft>
              <a:buClr>
                <a:schemeClr val="dk1"/>
              </a:buClr>
              <a:buSzPts val="2100"/>
              <a:buChar char="•"/>
              <a:defRPr sz="2100"/>
            </a:lvl2pPr>
            <a:lvl3pPr indent="-342900" lvl="2" marL="1371600" algn="l">
              <a:lnSpc>
                <a:spcPct val="90000"/>
              </a:lnSpc>
              <a:spcBef>
                <a:spcPts val="375"/>
              </a:spcBef>
              <a:spcAft>
                <a:spcPts val="0"/>
              </a:spcAft>
              <a:buClr>
                <a:schemeClr val="dk1"/>
              </a:buClr>
              <a:buSzPts val="1800"/>
              <a:buChar char="•"/>
              <a:defRPr sz="1800"/>
            </a:lvl3pPr>
            <a:lvl4pPr indent="-323850" lvl="3" marL="1828800" algn="l">
              <a:lnSpc>
                <a:spcPct val="90000"/>
              </a:lnSpc>
              <a:spcBef>
                <a:spcPts val="375"/>
              </a:spcBef>
              <a:spcAft>
                <a:spcPts val="0"/>
              </a:spcAft>
              <a:buClr>
                <a:schemeClr val="dk1"/>
              </a:buClr>
              <a:buSzPts val="1500"/>
              <a:buChar char="•"/>
              <a:defRPr sz="1500"/>
            </a:lvl4pPr>
            <a:lvl5pPr indent="-323850" lvl="4" marL="2286000" algn="l">
              <a:lnSpc>
                <a:spcPct val="90000"/>
              </a:lnSpc>
              <a:spcBef>
                <a:spcPts val="375"/>
              </a:spcBef>
              <a:spcAft>
                <a:spcPts val="0"/>
              </a:spcAft>
              <a:buClr>
                <a:schemeClr val="dk1"/>
              </a:buClr>
              <a:buSzPts val="1500"/>
              <a:buChar char="•"/>
              <a:defRPr sz="1500"/>
            </a:lvl5pPr>
            <a:lvl6pPr indent="-323850" lvl="5" marL="2743200" algn="l">
              <a:lnSpc>
                <a:spcPct val="90000"/>
              </a:lnSpc>
              <a:spcBef>
                <a:spcPts val="375"/>
              </a:spcBef>
              <a:spcAft>
                <a:spcPts val="0"/>
              </a:spcAft>
              <a:buClr>
                <a:schemeClr val="dk1"/>
              </a:buClr>
              <a:buSzPts val="1500"/>
              <a:buChar char="•"/>
              <a:defRPr sz="1500"/>
            </a:lvl6pPr>
            <a:lvl7pPr indent="-323850" lvl="6" marL="3200400" algn="l">
              <a:lnSpc>
                <a:spcPct val="90000"/>
              </a:lnSpc>
              <a:spcBef>
                <a:spcPts val="375"/>
              </a:spcBef>
              <a:spcAft>
                <a:spcPts val="0"/>
              </a:spcAft>
              <a:buClr>
                <a:schemeClr val="dk1"/>
              </a:buClr>
              <a:buSzPts val="1500"/>
              <a:buChar char="•"/>
              <a:defRPr sz="1500"/>
            </a:lvl7pPr>
            <a:lvl8pPr indent="-323850" lvl="7" marL="3657600" algn="l">
              <a:lnSpc>
                <a:spcPct val="90000"/>
              </a:lnSpc>
              <a:spcBef>
                <a:spcPts val="375"/>
              </a:spcBef>
              <a:spcAft>
                <a:spcPts val="0"/>
              </a:spcAft>
              <a:buClr>
                <a:schemeClr val="dk1"/>
              </a:buClr>
              <a:buSzPts val="1500"/>
              <a:buChar char="•"/>
              <a:defRPr sz="1500"/>
            </a:lvl8pPr>
            <a:lvl9pPr indent="-323850" lvl="8" marL="4114800" algn="l">
              <a:lnSpc>
                <a:spcPct val="90000"/>
              </a:lnSpc>
              <a:spcBef>
                <a:spcPts val="375"/>
              </a:spcBef>
              <a:spcAft>
                <a:spcPts val="0"/>
              </a:spcAft>
              <a:buClr>
                <a:schemeClr val="dk1"/>
              </a:buClr>
              <a:buSzPts val="1500"/>
              <a:buChar char="•"/>
              <a:defRPr sz="1500"/>
            </a:lvl9pPr>
          </a:lstStyle>
          <a:p/>
        </p:txBody>
      </p:sp>
      <p:sp>
        <p:nvSpPr>
          <p:cNvPr id="49" name="Google Shape;49;p24"/>
          <p:cNvSpPr txBox="1"/>
          <p:nvPr>
            <p:ph idx="2" type="body"/>
          </p:nvPr>
        </p:nvSpPr>
        <p:spPr>
          <a:xfrm>
            <a:off x="629841" y="2057400"/>
            <a:ext cx="2949178"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50" name="Google Shape;50;p24"/>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4"/>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4"/>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25"/>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25"/>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7" name="Shape 57"/>
        <p:cNvGrpSpPr/>
        <p:nvPr/>
      </p:nvGrpSpPr>
      <p:grpSpPr>
        <a:xfrm>
          <a:off x="0" y="0"/>
          <a:ext cx="0" cy="0"/>
          <a:chOff x="0" y="0"/>
          <a:chExt cx="0" cy="0"/>
        </a:xfrm>
      </p:grpSpPr>
      <p:sp>
        <p:nvSpPr>
          <p:cNvPr id="58" name="Google Shape;58;p26"/>
          <p:cNvSpPr txBox="1"/>
          <p:nvPr>
            <p:ph type="title"/>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6"/>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6"/>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26"/>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2" name="Shape 62"/>
        <p:cNvGrpSpPr/>
        <p:nvPr/>
      </p:nvGrpSpPr>
      <p:grpSpPr>
        <a:xfrm>
          <a:off x="0" y="0"/>
          <a:ext cx="0" cy="0"/>
          <a:chOff x="0" y="0"/>
          <a:chExt cx="0" cy="0"/>
        </a:xfrm>
      </p:grpSpPr>
      <p:sp>
        <p:nvSpPr>
          <p:cNvPr id="63" name="Google Shape;63;p27"/>
          <p:cNvSpPr txBox="1"/>
          <p:nvPr>
            <p:ph type="title"/>
          </p:nvPr>
        </p:nvSpPr>
        <p:spPr>
          <a:xfrm>
            <a:off x="629841" y="365126"/>
            <a:ext cx="78867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7"/>
          <p:cNvSpPr txBox="1"/>
          <p:nvPr>
            <p:ph idx="1" type="body"/>
          </p:nvPr>
        </p:nvSpPr>
        <p:spPr>
          <a:xfrm>
            <a:off x="629842" y="1681163"/>
            <a:ext cx="3868340"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65" name="Google Shape;65;p27"/>
          <p:cNvSpPr txBox="1"/>
          <p:nvPr>
            <p:ph idx="2" type="body"/>
          </p:nvPr>
        </p:nvSpPr>
        <p:spPr>
          <a:xfrm>
            <a:off x="629842" y="2505075"/>
            <a:ext cx="3868340"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66" name="Google Shape;66;p27"/>
          <p:cNvSpPr txBox="1"/>
          <p:nvPr>
            <p:ph idx="3" type="body"/>
          </p:nvPr>
        </p:nvSpPr>
        <p:spPr>
          <a:xfrm>
            <a:off x="4629150" y="1681163"/>
            <a:ext cx="3887391"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67" name="Google Shape;67;p27"/>
          <p:cNvSpPr txBox="1"/>
          <p:nvPr>
            <p:ph idx="4" type="body"/>
          </p:nvPr>
        </p:nvSpPr>
        <p:spPr>
          <a:xfrm>
            <a:off x="4629150" y="2505075"/>
            <a:ext cx="3887391"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68" name="Google Shape;68;p27"/>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27"/>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7"/>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1" name="Shape 71"/>
        <p:cNvGrpSpPr/>
        <p:nvPr/>
      </p:nvGrpSpPr>
      <p:grpSpPr>
        <a:xfrm>
          <a:off x="0" y="0"/>
          <a:ext cx="0" cy="0"/>
          <a:chOff x="0" y="0"/>
          <a:chExt cx="0" cy="0"/>
        </a:xfrm>
      </p:grpSpPr>
      <p:sp>
        <p:nvSpPr>
          <p:cNvPr id="72" name="Google Shape;72;p28"/>
          <p:cNvSpPr txBox="1"/>
          <p:nvPr>
            <p:ph type="title"/>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8"/>
          <p:cNvSpPr txBox="1"/>
          <p:nvPr>
            <p:ph idx="1" type="body"/>
          </p:nvPr>
        </p:nvSpPr>
        <p:spPr>
          <a:xfrm>
            <a:off x="628650" y="1825625"/>
            <a:ext cx="38862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74" name="Google Shape;74;p28"/>
          <p:cNvSpPr txBox="1"/>
          <p:nvPr>
            <p:ph idx="2" type="body"/>
          </p:nvPr>
        </p:nvSpPr>
        <p:spPr>
          <a:xfrm>
            <a:off x="4629150" y="1825625"/>
            <a:ext cx="38862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75" name="Google Shape;75;p28"/>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8"/>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8"/>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8" name="Shape 78"/>
        <p:cNvGrpSpPr/>
        <p:nvPr/>
      </p:nvGrpSpPr>
      <p:grpSpPr>
        <a:xfrm>
          <a:off x="0" y="0"/>
          <a:ext cx="0" cy="0"/>
          <a:chOff x="0" y="0"/>
          <a:chExt cx="0" cy="0"/>
        </a:xfrm>
      </p:grpSpPr>
      <p:sp>
        <p:nvSpPr>
          <p:cNvPr id="79" name="Google Shape;79;p29"/>
          <p:cNvSpPr txBox="1"/>
          <p:nvPr>
            <p:ph type="title"/>
          </p:nvPr>
        </p:nvSpPr>
        <p:spPr>
          <a:xfrm>
            <a:off x="623888" y="1709739"/>
            <a:ext cx="7886700" cy="2852737"/>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9"/>
          <p:cNvSpPr txBox="1"/>
          <p:nvPr>
            <p:ph idx="1" type="body"/>
          </p:nvPr>
        </p:nvSpPr>
        <p:spPr>
          <a:xfrm>
            <a:off x="623888" y="4589464"/>
            <a:ext cx="78867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rgbClr val="888888"/>
              </a:buClr>
              <a:buSzPts val="1800"/>
              <a:buNone/>
              <a:defRPr sz="1800">
                <a:solidFill>
                  <a:srgbClr val="888888"/>
                </a:solidFill>
              </a:defRPr>
            </a:lvl1pPr>
            <a:lvl2pPr indent="-228600" lvl="1" marL="914400" algn="l">
              <a:lnSpc>
                <a:spcPct val="90000"/>
              </a:lnSpc>
              <a:spcBef>
                <a:spcPts val="375"/>
              </a:spcBef>
              <a:spcAft>
                <a:spcPts val="0"/>
              </a:spcAft>
              <a:buClr>
                <a:srgbClr val="888888"/>
              </a:buClr>
              <a:buSzPts val="1500"/>
              <a:buNone/>
              <a:defRPr sz="1500">
                <a:solidFill>
                  <a:srgbClr val="888888"/>
                </a:solidFill>
              </a:defRPr>
            </a:lvl2pPr>
            <a:lvl3pPr indent="-228600" lvl="2" marL="1371600" algn="l">
              <a:lnSpc>
                <a:spcPct val="90000"/>
              </a:lnSpc>
              <a:spcBef>
                <a:spcPts val="375"/>
              </a:spcBef>
              <a:spcAft>
                <a:spcPts val="0"/>
              </a:spcAft>
              <a:buClr>
                <a:srgbClr val="888888"/>
              </a:buClr>
              <a:buSzPts val="1350"/>
              <a:buNone/>
              <a:defRPr sz="1350">
                <a:solidFill>
                  <a:srgbClr val="888888"/>
                </a:solidFill>
              </a:defRPr>
            </a:lvl3pPr>
            <a:lvl4pPr indent="-228600" lvl="3" marL="1828800" algn="l">
              <a:lnSpc>
                <a:spcPct val="90000"/>
              </a:lnSpc>
              <a:spcBef>
                <a:spcPts val="375"/>
              </a:spcBef>
              <a:spcAft>
                <a:spcPts val="0"/>
              </a:spcAft>
              <a:buClr>
                <a:srgbClr val="888888"/>
              </a:buClr>
              <a:buSzPts val="1200"/>
              <a:buNone/>
              <a:defRPr sz="1200">
                <a:solidFill>
                  <a:srgbClr val="888888"/>
                </a:solidFill>
              </a:defRPr>
            </a:lvl4pPr>
            <a:lvl5pPr indent="-228600" lvl="4" marL="2286000" algn="l">
              <a:lnSpc>
                <a:spcPct val="90000"/>
              </a:lnSpc>
              <a:spcBef>
                <a:spcPts val="375"/>
              </a:spcBef>
              <a:spcAft>
                <a:spcPts val="0"/>
              </a:spcAft>
              <a:buClr>
                <a:srgbClr val="888888"/>
              </a:buClr>
              <a:buSzPts val="1200"/>
              <a:buNone/>
              <a:defRPr sz="1200">
                <a:solidFill>
                  <a:srgbClr val="888888"/>
                </a:solidFill>
              </a:defRPr>
            </a:lvl5pPr>
            <a:lvl6pPr indent="-228600" lvl="5" marL="2743200" algn="l">
              <a:lnSpc>
                <a:spcPct val="90000"/>
              </a:lnSpc>
              <a:spcBef>
                <a:spcPts val="375"/>
              </a:spcBef>
              <a:spcAft>
                <a:spcPts val="0"/>
              </a:spcAft>
              <a:buClr>
                <a:srgbClr val="888888"/>
              </a:buClr>
              <a:buSzPts val="1200"/>
              <a:buNone/>
              <a:defRPr sz="1200">
                <a:solidFill>
                  <a:srgbClr val="888888"/>
                </a:solidFill>
              </a:defRPr>
            </a:lvl6pPr>
            <a:lvl7pPr indent="-228600" lvl="6" marL="3200400" algn="l">
              <a:lnSpc>
                <a:spcPct val="90000"/>
              </a:lnSpc>
              <a:spcBef>
                <a:spcPts val="375"/>
              </a:spcBef>
              <a:spcAft>
                <a:spcPts val="0"/>
              </a:spcAft>
              <a:buClr>
                <a:srgbClr val="888888"/>
              </a:buClr>
              <a:buSzPts val="1200"/>
              <a:buNone/>
              <a:defRPr sz="1200">
                <a:solidFill>
                  <a:srgbClr val="888888"/>
                </a:solidFill>
              </a:defRPr>
            </a:lvl7pPr>
            <a:lvl8pPr indent="-228600" lvl="7" marL="3657600" algn="l">
              <a:lnSpc>
                <a:spcPct val="90000"/>
              </a:lnSpc>
              <a:spcBef>
                <a:spcPts val="375"/>
              </a:spcBef>
              <a:spcAft>
                <a:spcPts val="0"/>
              </a:spcAft>
              <a:buClr>
                <a:srgbClr val="888888"/>
              </a:buClr>
              <a:buSzPts val="1200"/>
              <a:buNone/>
              <a:defRPr sz="1200">
                <a:solidFill>
                  <a:srgbClr val="888888"/>
                </a:solidFill>
              </a:defRPr>
            </a:lvl8pPr>
            <a:lvl9pPr indent="-228600" lvl="8" marL="4114800" algn="l">
              <a:lnSpc>
                <a:spcPct val="90000"/>
              </a:lnSpc>
              <a:spcBef>
                <a:spcPts val="375"/>
              </a:spcBef>
              <a:spcAft>
                <a:spcPts val="0"/>
              </a:spcAft>
              <a:buClr>
                <a:srgbClr val="888888"/>
              </a:buClr>
              <a:buSzPts val="1200"/>
              <a:buNone/>
              <a:defRPr sz="1200">
                <a:solidFill>
                  <a:srgbClr val="888888"/>
                </a:solidFill>
              </a:defRPr>
            </a:lvl9pPr>
          </a:lstStyle>
          <a:p/>
        </p:txBody>
      </p:sp>
      <p:sp>
        <p:nvSpPr>
          <p:cNvPr id="81" name="Google Shape;81;p29"/>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9"/>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9"/>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8"/>
          <p:cNvSpPr txBox="1"/>
          <p:nvPr>
            <p:ph type="title"/>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8"/>
          <p:cNvSpPr txBox="1"/>
          <p:nvPr>
            <p:ph idx="1" type="body"/>
          </p:nvPr>
        </p:nvSpPr>
        <p:spPr>
          <a:xfrm>
            <a:off x="628650" y="1825625"/>
            <a:ext cx="7886700" cy="4351337"/>
          </a:xfrm>
          <a:prstGeom prst="rect">
            <a:avLst/>
          </a:prstGeom>
          <a:noFill/>
          <a:ln>
            <a:noFill/>
          </a:ln>
        </p:spPr>
        <p:txBody>
          <a:bodyPr anchorCtr="0" anchor="t" bIns="45700" lIns="91425" spcFirstLastPara="1" rIns="91425" wrap="square" tIns="45700">
            <a:norm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2" name="Google Shape;12;p18"/>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rgbClr val="898989"/>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18"/>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900" u="none" cap="none" strike="noStrike">
                <a:solidFill>
                  <a:srgbClr val="898989"/>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18"/>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1pPr>
            <a:lvl2pPr indent="0" lvl="1"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2pPr>
            <a:lvl3pPr indent="0" lvl="2"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3pPr>
            <a:lvl4pPr indent="0" lvl="3"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4pPr>
            <a:lvl5pPr indent="0" lvl="4"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5pPr>
            <a:lvl6pPr indent="0" lvl="5"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6pPr>
            <a:lvl7pPr indent="0" lvl="6"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7pPr>
            <a:lvl8pPr indent="0" lvl="7"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8pPr>
            <a:lvl9pPr indent="0" lvl="8"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1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12.png"/><Relationship Id="rId5" Type="http://schemas.openxmlformats.org/officeDocument/2006/relationships/image" Target="../media/image6.png"/><Relationship Id="rId6"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9.png"/><Relationship Id="rId5" Type="http://schemas.openxmlformats.org/officeDocument/2006/relationships/image" Target="../media/image15.png"/><Relationship Id="rId6" Type="http://schemas.openxmlformats.org/officeDocument/2006/relationships/image" Target="../media/image14.png"/><Relationship Id="rId7"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5.png"/><Relationship Id="rId9" Type="http://schemas.openxmlformats.org/officeDocument/2006/relationships/image" Target="../media/image10.png"/><Relationship Id="rId5" Type="http://schemas.openxmlformats.org/officeDocument/2006/relationships/image" Target="../media/image8.png"/><Relationship Id="rId6" Type="http://schemas.openxmlformats.org/officeDocument/2006/relationships/image" Target="../media/image3.png"/><Relationship Id="rId7" Type="http://schemas.openxmlformats.org/officeDocument/2006/relationships/image" Target="../media/image13.png"/><Relationship Id="rId8"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6.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
          <p:cNvSpPr txBox="1"/>
          <p:nvPr>
            <p:ph type="ctrTitle"/>
          </p:nvPr>
        </p:nvSpPr>
        <p:spPr>
          <a:xfrm>
            <a:off x="1055800" y="730200"/>
            <a:ext cx="6838500" cy="1809600"/>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alibri"/>
              <a:buNone/>
            </a:pPr>
            <a:br>
              <a:rPr b="0" i="0" lang="en-US" sz="4100" u="none">
                <a:solidFill>
                  <a:schemeClr val="dk1"/>
                </a:solidFill>
                <a:latin typeface="Calibri"/>
                <a:ea typeface="Calibri"/>
                <a:cs typeface="Calibri"/>
                <a:sym typeface="Calibri"/>
              </a:rPr>
            </a:br>
            <a:r>
              <a:rPr b="1" i="0" lang="en-US" sz="3600" u="none">
                <a:solidFill>
                  <a:schemeClr val="dk1"/>
                </a:solidFill>
                <a:latin typeface="Calibri"/>
                <a:ea typeface="Calibri"/>
                <a:cs typeface="Calibri"/>
                <a:sym typeface="Calibri"/>
              </a:rPr>
              <a:t>Computer Graphics</a:t>
            </a:r>
            <a:br>
              <a:rPr b="1" i="0" lang="en-US" sz="3600" u="none">
                <a:solidFill>
                  <a:schemeClr val="dk1"/>
                </a:solidFill>
                <a:latin typeface="Calibri"/>
                <a:ea typeface="Calibri"/>
                <a:cs typeface="Calibri"/>
                <a:sym typeface="Calibri"/>
              </a:rPr>
            </a:br>
            <a:r>
              <a:rPr b="1" lang="en-US" sz="3266">
                <a:solidFill>
                  <a:srgbClr val="0B5394"/>
                </a:solidFill>
              </a:rPr>
              <a:t>Window to Viewport Transformation </a:t>
            </a:r>
            <a:endParaRPr b="1" sz="3600">
              <a:solidFill>
                <a:srgbClr val="0B5394"/>
              </a:solidFill>
            </a:endParaRPr>
          </a:p>
          <a:p>
            <a:pPr indent="0" lvl="0" marL="0" rtl="0" algn="ctr">
              <a:lnSpc>
                <a:spcPct val="90000"/>
              </a:lnSpc>
              <a:spcBef>
                <a:spcPts val="0"/>
              </a:spcBef>
              <a:spcAft>
                <a:spcPts val="0"/>
              </a:spcAft>
              <a:buClr>
                <a:schemeClr val="dk1"/>
              </a:buClr>
              <a:buSzPct val="136666"/>
              <a:buFont typeface="Calibri"/>
              <a:buNone/>
            </a:pPr>
            <a:r>
              <a:rPr b="1" lang="en-US" sz="3000">
                <a:solidFill>
                  <a:srgbClr val="85200C"/>
                </a:solidFill>
              </a:rPr>
              <a:t>Lecture 10</a:t>
            </a:r>
            <a:endParaRPr>
              <a:solidFill>
                <a:srgbClr val="85200C"/>
              </a:solidFill>
            </a:endParaRPr>
          </a:p>
        </p:txBody>
      </p:sp>
      <p:sp>
        <p:nvSpPr>
          <p:cNvPr id="90" name="Google Shape;90;p1"/>
          <p:cNvSpPr txBox="1"/>
          <p:nvPr>
            <p:ph idx="1" type="subTitle"/>
          </p:nvPr>
        </p:nvSpPr>
        <p:spPr>
          <a:xfrm>
            <a:off x="263800" y="4964425"/>
            <a:ext cx="8422500" cy="1506600"/>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dk1"/>
              </a:buClr>
              <a:buSzPts val="1800"/>
              <a:buNone/>
            </a:pPr>
            <a:r>
              <a:t/>
            </a:r>
            <a:endParaRPr b="0" i="0" sz="1800" u="none">
              <a:solidFill>
                <a:schemeClr val="dk1"/>
              </a:solidFill>
              <a:latin typeface="Calibri"/>
              <a:ea typeface="Calibri"/>
              <a:cs typeface="Calibri"/>
              <a:sym typeface="Calibri"/>
            </a:endParaRPr>
          </a:p>
          <a:p>
            <a:pPr indent="0" lvl="0" marL="0" rtl="0" algn="ctr">
              <a:lnSpc>
                <a:spcPct val="90000"/>
              </a:lnSpc>
              <a:spcBef>
                <a:spcPts val="700"/>
              </a:spcBef>
              <a:spcAft>
                <a:spcPts val="0"/>
              </a:spcAft>
              <a:buClr>
                <a:schemeClr val="dk1"/>
              </a:buClr>
              <a:buSzPts val="1800"/>
              <a:buNone/>
            </a:pPr>
            <a:r>
              <a:rPr b="1" lang="en-US">
                <a:solidFill>
                  <a:srgbClr val="980000"/>
                </a:solidFill>
              </a:rPr>
              <a:t>Tapasy Rabeya</a:t>
            </a:r>
            <a:endParaRPr b="1">
              <a:solidFill>
                <a:srgbClr val="980000"/>
              </a:solidFill>
            </a:endParaRPr>
          </a:p>
          <a:p>
            <a:pPr indent="0" lvl="0" marL="0" rtl="0" algn="ctr">
              <a:lnSpc>
                <a:spcPct val="90000"/>
              </a:lnSpc>
              <a:spcBef>
                <a:spcPts val="700"/>
              </a:spcBef>
              <a:spcAft>
                <a:spcPts val="0"/>
              </a:spcAft>
              <a:buClr>
                <a:schemeClr val="dk1"/>
              </a:buClr>
              <a:buSzPts val="1800"/>
              <a:buNone/>
            </a:pPr>
            <a:r>
              <a:rPr b="1" lang="en-US">
                <a:solidFill>
                  <a:srgbClr val="0B5394"/>
                </a:solidFill>
              </a:rPr>
              <a:t>Senior Lecturer</a:t>
            </a:r>
            <a:br>
              <a:rPr b="1" i="0" lang="en-US" sz="1800" u="none">
                <a:solidFill>
                  <a:srgbClr val="0B5394"/>
                </a:solidFill>
              </a:rPr>
            </a:br>
            <a:r>
              <a:rPr b="1" i="0" lang="en-US" sz="1800" u="none">
                <a:solidFill>
                  <a:srgbClr val="1C4587"/>
                </a:solidFill>
              </a:rPr>
              <a:t>Department of Computer Science and Engineering</a:t>
            </a:r>
            <a:br>
              <a:rPr b="1" i="0" lang="en-US" sz="1800" u="none">
                <a:solidFill>
                  <a:srgbClr val="1C4587"/>
                </a:solidFill>
              </a:rPr>
            </a:br>
            <a:r>
              <a:rPr b="1" i="0" lang="en-US" sz="1800" u="none">
                <a:solidFill>
                  <a:srgbClr val="1C4587"/>
                </a:solidFill>
              </a:rPr>
              <a:t>Daffodil International University, DIU</a:t>
            </a:r>
            <a:endParaRPr b="1">
              <a:solidFill>
                <a:srgbClr val="1C4587"/>
              </a:solidFill>
            </a:endParaRPr>
          </a:p>
        </p:txBody>
      </p:sp>
      <p:sp>
        <p:nvSpPr>
          <p:cNvPr descr="Diu Logo PNG Images - CleanPNG" id="91" name="Google Shape;91;p1"/>
          <p:cNvSpPr txBox="1"/>
          <p:nvPr/>
        </p:nvSpPr>
        <p:spPr>
          <a:xfrm>
            <a:off x="155575" y="-144462"/>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id="92" name="Google Shape;92;p1"/>
          <p:cNvPicPr preferRelativeResize="0"/>
          <p:nvPr/>
        </p:nvPicPr>
        <p:blipFill rotWithShape="1">
          <a:blip r:embed="rId3">
            <a:alphaModFix/>
          </a:blip>
          <a:srcRect b="0" l="0" r="0" t="0"/>
          <a:stretch/>
        </p:blipFill>
        <p:spPr>
          <a:xfrm>
            <a:off x="3789250" y="160350"/>
            <a:ext cx="1371600" cy="685800"/>
          </a:xfrm>
          <a:prstGeom prst="rect">
            <a:avLst/>
          </a:prstGeom>
          <a:noFill/>
          <a:ln>
            <a:noFill/>
          </a:ln>
        </p:spPr>
      </p:pic>
      <p:sp>
        <p:nvSpPr>
          <p:cNvPr id="93" name="Google Shape;93;p1"/>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pic>
        <p:nvPicPr>
          <p:cNvPr id="94" name="Google Shape;94;p1"/>
          <p:cNvPicPr preferRelativeResize="0"/>
          <p:nvPr/>
        </p:nvPicPr>
        <p:blipFill rotWithShape="1">
          <a:blip r:embed="rId4">
            <a:alphaModFix/>
          </a:blip>
          <a:srcRect b="0" l="0" r="0" t="0"/>
          <a:stretch/>
        </p:blipFill>
        <p:spPr>
          <a:xfrm>
            <a:off x="2490375" y="2844600"/>
            <a:ext cx="4163259" cy="21198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8" name="Shape 98"/>
        <p:cNvGrpSpPr/>
        <p:nvPr/>
      </p:nvGrpSpPr>
      <p:grpSpPr>
        <a:xfrm>
          <a:off x="0" y="0"/>
          <a:ext cx="0" cy="0"/>
          <a:chOff x="0" y="0"/>
          <a:chExt cx="0" cy="0"/>
        </a:xfrm>
      </p:grpSpPr>
      <p:sp>
        <p:nvSpPr>
          <p:cNvPr id="99" name="Google Shape;99;p2"/>
          <p:cNvSpPr txBox="1"/>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1" i="0" lang="en-US" sz="900" u="none" cap="none" strike="noStrike">
                <a:solidFill>
                  <a:srgbClr val="0B5394"/>
                </a:solidFill>
                <a:latin typeface="Arial"/>
                <a:ea typeface="Arial"/>
                <a:cs typeface="Arial"/>
                <a:sym typeface="Arial"/>
              </a:rPr>
              <a:t>Department of CSE, Daffodil International University</a:t>
            </a:r>
            <a:endParaRPr b="1" i="0" sz="1400" u="none" cap="none" strike="noStrike">
              <a:solidFill>
                <a:srgbClr val="0B5394"/>
              </a:solidFill>
              <a:latin typeface="Arial"/>
              <a:ea typeface="Arial"/>
              <a:cs typeface="Arial"/>
              <a:sym typeface="Arial"/>
            </a:endParaRPr>
          </a:p>
        </p:txBody>
      </p:sp>
      <p:sp>
        <p:nvSpPr>
          <p:cNvPr id="100" name="Google Shape;100;p2"/>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pic>
        <p:nvPicPr>
          <p:cNvPr id="101" name="Google Shape;101;p2"/>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803"/>
              </a:srgbClr>
            </a:outerShdw>
          </a:effectLst>
        </p:spPr>
      </p:pic>
      <p:sp>
        <p:nvSpPr>
          <p:cNvPr id="102" name="Google Shape;102;p2"/>
          <p:cNvSpPr txBox="1"/>
          <p:nvPr/>
        </p:nvSpPr>
        <p:spPr>
          <a:xfrm>
            <a:off x="363825" y="168125"/>
            <a:ext cx="7789500" cy="8004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4400"/>
              <a:buFont typeface="Calibri"/>
              <a:buNone/>
            </a:pPr>
            <a:r>
              <a:rPr b="0" i="0" lang="en-US" sz="4000" u="none" cap="none" strike="noStrike">
                <a:solidFill>
                  <a:schemeClr val="lt1"/>
                </a:solidFill>
                <a:latin typeface="Calibri"/>
                <a:ea typeface="Calibri"/>
                <a:cs typeface="Calibri"/>
                <a:sym typeface="Calibri"/>
              </a:rPr>
              <a:t>Window to Viewport Transformation </a:t>
            </a:r>
            <a:endParaRPr b="0" i="0" sz="4000" u="none" cap="none" strike="noStrike">
              <a:solidFill>
                <a:schemeClr val="lt1"/>
              </a:solidFill>
              <a:latin typeface="Calibri"/>
              <a:ea typeface="Calibri"/>
              <a:cs typeface="Calibri"/>
              <a:sym typeface="Calibri"/>
            </a:endParaRPr>
          </a:p>
        </p:txBody>
      </p:sp>
      <p:sp>
        <p:nvSpPr>
          <p:cNvPr id="103" name="Google Shape;103;p2"/>
          <p:cNvSpPr txBox="1"/>
          <p:nvPr/>
        </p:nvSpPr>
        <p:spPr>
          <a:xfrm>
            <a:off x="152400" y="1128675"/>
            <a:ext cx="8624700" cy="3150300"/>
          </a:xfrm>
          <a:prstGeom prst="rect">
            <a:avLst/>
          </a:prstGeom>
          <a:noFill/>
          <a:ln>
            <a:noFill/>
          </a:ln>
        </p:spPr>
        <p:txBody>
          <a:bodyPr anchorCtr="0" anchor="t" bIns="91425" lIns="91425" spcFirstLastPara="1" rIns="91425" wrap="square" tIns="91425">
            <a:spAutoFit/>
          </a:bodyPr>
          <a:lstStyle/>
          <a:p>
            <a:pPr indent="-368300" lvl="0" marL="457200" marR="0" rtl="0" algn="just">
              <a:lnSpc>
                <a:spcPct val="100000"/>
              </a:lnSpc>
              <a:spcBef>
                <a:spcPts val="1000"/>
              </a:spcBef>
              <a:spcAft>
                <a:spcPts val="0"/>
              </a:spcAft>
              <a:buClr>
                <a:srgbClr val="0B5394"/>
              </a:buClr>
              <a:buSzPts val="2200"/>
              <a:buFont typeface="Times New Roman"/>
              <a:buChar char="■"/>
            </a:pPr>
            <a:r>
              <a:rPr b="0" i="0" lang="en-US" sz="2200" u="none" cap="none" strike="noStrike">
                <a:solidFill>
                  <a:srgbClr val="000000"/>
                </a:solidFill>
                <a:latin typeface="Times New Roman"/>
                <a:ea typeface="Times New Roman"/>
                <a:cs typeface="Times New Roman"/>
                <a:sym typeface="Times New Roman"/>
              </a:rPr>
              <a:t>It is the process of transforming 2D world-coordinate objects to device coordinates. Objects inside the world or clipping window are mapped to the viewport, which is the area on the screen where world coordinates are mapped to be displayed.</a:t>
            </a:r>
            <a:endParaRPr b="0" i="0" sz="2200" u="none" cap="none" strike="noStrike">
              <a:solidFill>
                <a:srgbClr val="000000"/>
              </a:solidFill>
              <a:latin typeface="Times New Roman"/>
              <a:ea typeface="Times New Roman"/>
              <a:cs typeface="Times New Roman"/>
              <a:sym typeface="Times New Roman"/>
            </a:endParaRPr>
          </a:p>
          <a:p>
            <a:pPr indent="-368300" lvl="0" marL="457200" marR="0" rtl="0" algn="just">
              <a:lnSpc>
                <a:spcPct val="100000"/>
              </a:lnSpc>
              <a:spcBef>
                <a:spcPts val="1000"/>
              </a:spcBef>
              <a:spcAft>
                <a:spcPts val="0"/>
              </a:spcAft>
              <a:buClr>
                <a:srgbClr val="0B5394"/>
              </a:buClr>
              <a:buSzPts val="2200"/>
              <a:buFont typeface="Times New Roman"/>
              <a:buChar char="■"/>
            </a:pPr>
            <a:r>
              <a:rPr b="0" i="0" lang="en-US" sz="2200" u="none" cap="none" strike="noStrike">
                <a:solidFill>
                  <a:srgbClr val="000000"/>
                </a:solidFill>
                <a:latin typeface="Times New Roman"/>
                <a:ea typeface="Times New Roman"/>
                <a:cs typeface="Times New Roman"/>
                <a:sym typeface="Times New Roman"/>
              </a:rPr>
              <a:t>In other words, the clipping window is used to select the part of the scene that is to be displayed. The viewport is used to display selected portion of window on the output device.</a:t>
            </a:r>
            <a:endParaRPr b="0" i="0" sz="2200" u="none" cap="none" strike="noStrike">
              <a:solidFill>
                <a:srgbClr val="000000"/>
              </a:solidFill>
              <a:latin typeface="Times New Roman"/>
              <a:ea typeface="Times New Roman"/>
              <a:cs typeface="Times New Roman"/>
              <a:sym typeface="Times New Roman"/>
            </a:endParaRPr>
          </a:p>
          <a:p>
            <a:pPr indent="0" lvl="0" marL="457200" marR="0" rtl="0" algn="just">
              <a:lnSpc>
                <a:spcPct val="100000"/>
              </a:lnSpc>
              <a:spcBef>
                <a:spcPts val="1000"/>
              </a:spcBef>
              <a:spcAft>
                <a:spcPts val="0"/>
              </a:spcAft>
              <a:buClr>
                <a:srgbClr val="000000"/>
              </a:buClr>
              <a:buSzPts val="2200"/>
              <a:buFont typeface="Arial"/>
              <a:buNone/>
            </a:pPr>
            <a:r>
              <a:t/>
            </a:r>
            <a:endParaRPr b="0" i="0" sz="22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07" name="Shape 107"/>
        <p:cNvGrpSpPr/>
        <p:nvPr/>
      </p:nvGrpSpPr>
      <p:grpSpPr>
        <a:xfrm>
          <a:off x="0" y="0"/>
          <a:ext cx="0" cy="0"/>
          <a:chOff x="0" y="0"/>
          <a:chExt cx="0" cy="0"/>
        </a:xfrm>
      </p:grpSpPr>
      <p:sp>
        <p:nvSpPr>
          <p:cNvPr id="108" name="Google Shape;108;g3e92defc0b2_0_0"/>
          <p:cNvSpPr txBox="1"/>
          <p:nvPr/>
        </p:nvSpPr>
        <p:spPr>
          <a:xfrm>
            <a:off x="3028950" y="6356350"/>
            <a:ext cx="30861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1" i="0" lang="en-US" sz="900" u="none" cap="none" strike="noStrike">
                <a:solidFill>
                  <a:srgbClr val="0B5394"/>
                </a:solidFill>
                <a:latin typeface="Arial"/>
                <a:ea typeface="Arial"/>
                <a:cs typeface="Arial"/>
                <a:sym typeface="Arial"/>
              </a:rPr>
              <a:t>Department of CSE, Daffodil International University</a:t>
            </a:r>
            <a:endParaRPr b="1" i="0" sz="1400" u="none" cap="none" strike="noStrike">
              <a:solidFill>
                <a:srgbClr val="0B5394"/>
              </a:solidFill>
              <a:latin typeface="Arial"/>
              <a:ea typeface="Arial"/>
              <a:cs typeface="Arial"/>
              <a:sym typeface="Arial"/>
            </a:endParaRPr>
          </a:p>
        </p:txBody>
      </p:sp>
      <p:sp>
        <p:nvSpPr>
          <p:cNvPr id="109" name="Google Shape;109;g3e92defc0b2_0_0"/>
          <p:cNvSpPr txBox="1"/>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pic>
        <p:nvPicPr>
          <p:cNvPr id="110" name="Google Shape;110;g3e92defc0b2_0_0"/>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800"/>
              </a:srgbClr>
            </a:outerShdw>
          </a:effectLst>
        </p:spPr>
      </p:pic>
      <p:sp>
        <p:nvSpPr>
          <p:cNvPr id="111" name="Google Shape;111;g3e92defc0b2_0_0"/>
          <p:cNvSpPr txBox="1"/>
          <p:nvPr/>
        </p:nvSpPr>
        <p:spPr>
          <a:xfrm>
            <a:off x="363825" y="168125"/>
            <a:ext cx="7789500" cy="8004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800"/>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4400"/>
              <a:buFont typeface="Calibri"/>
              <a:buNone/>
            </a:pPr>
            <a:r>
              <a:rPr lang="en-US" sz="4000">
                <a:solidFill>
                  <a:schemeClr val="lt1"/>
                </a:solidFill>
                <a:latin typeface="Calibri"/>
                <a:ea typeface="Calibri"/>
                <a:cs typeface="Calibri"/>
                <a:sym typeface="Calibri"/>
              </a:rPr>
              <a:t>2D Viewing Transformation Pipeline</a:t>
            </a:r>
            <a:endParaRPr b="0" i="0" sz="4000" u="none" cap="none" strike="noStrike">
              <a:solidFill>
                <a:schemeClr val="lt1"/>
              </a:solidFill>
              <a:latin typeface="Calibri"/>
              <a:ea typeface="Calibri"/>
              <a:cs typeface="Calibri"/>
              <a:sym typeface="Calibri"/>
            </a:endParaRPr>
          </a:p>
        </p:txBody>
      </p:sp>
      <p:sp>
        <p:nvSpPr>
          <p:cNvPr id="112" name="Google Shape;112;g3e92defc0b2_0_0"/>
          <p:cNvSpPr txBox="1"/>
          <p:nvPr/>
        </p:nvSpPr>
        <p:spPr>
          <a:xfrm>
            <a:off x="152400" y="1128675"/>
            <a:ext cx="8624700" cy="523200"/>
          </a:xfrm>
          <a:prstGeom prst="rect">
            <a:avLst/>
          </a:prstGeom>
          <a:noFill/>
          <a:ln>
            <a:noFill/>
          </a:ln>
        </p:spPr>
        <p:txBody>
          <a:bodyPr anchorCtr="0" anchor="t" bIns="91425" lIns="91425" spcFirstLastPara="1" rIns="91425" wrap="square" tIns="91425">
            <a:spAutoFit/>
          </a:bodyPr>
          <a:lstStyle/>
          <a:p>
            <a:pPr indent="0" lvl="0" marL="457200" marR="0" rtl="0" algn="just">
              <a:lnSpc>
                <a:spcPct val="100000"/>
              </a:lnSpc>
              <a:spcBef>
                <a:spcPts val="1000"/>
              </a:spcBef>
              <a:spcAft>
                <a:spcPts val="0"/>
              </a:spcAft>
              <a:buClr>
                <a:srgbClr val="000000"/>
              </a:buClr>
              <a:buSzPts val="2200"/>
              <a:buFont typeface="Arial"/>
              <a:buNone/>
            </a:pPr>
            <a:r>
              <a:t/>
            </a:r>
            <a:endParaRPr b="0" i="0" sz="2200" u="none" cap="none" strike="noStrike">
              <a:solidFill>
                <a:srgbClr val="000000"/>
              </a:solidFill>
              <a:latin typeface="Times New Roman"/>
              <a:ea typeface="Times New Roman"/>
              <a:cs typeface="Times New Roman"/>
              <a:sym typeface="Times New Roman"/>
            </a:endParaRPr>
          </a:p>
        </p:txBody>
      </p:sp>
      <p:pic>
        <p:nvPicPr>
          <p:cNvPr id="113" name="Google Shape;113;g3e92defc0b2_0_0"/>
          <p:cNvPicPr preferRelativeResize="0"/>
          <p:nvPr/>
        </p:nvPicPr>
        <p:blipFill>
          <a:blip r:embed="rId4">
            <a:alphaModFix/>
          </a:blip>
          <a:stretch>
            <a:fillRect/>
          </a:stretch>
        </p:blipFill>
        <p:spPr>
          <a:xfrm>
            <a:off x="51425" y="1812025"/>
            <a:ext cx="8826650" cy="29747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17" name="Shape 117"/>
        <p:cNvGrpSpPr/>
        <p:nvPr/>
      </p:nvGrpSpPr>
      <p:grpSpPr>
        <a:xfrm>
          <a:off x="0" y="0"/>
          <a:ext cx="0" cy="0"/>
          <a:chOff x="0" y="0"/>
          <a:chExt cx="0" cy="0"/>
        </a:xfrm>
      </p:grpSpPr>
      <p:sp>
        <p:nvSpPr>
          <p:cNvPr id="118" name="Google Shape;118;g3de0e672ba7_0_3"/>
          <p:cNvSpPr txBox="1"/>
          <p:nvPr/>
        </p:nvSpPr>
        <p:spPr>
          <a:xfrm>
            <a:off x="3028950" y="6356350"/>
            <a:ext cx="30861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1" i="0" lang="en-US" sz="900" u="none" cap="none" strike="noStrike">
                <a:solidFill>
                  <a:srgbClr val="0B5394"/>
                </a:solidFill>
                <a:latin typeface="Arial"/>
                <a:ea typeface="Arial"/>
                <a:cs typeface="Arial"/>
                <a:sym typeface="Arial"/>
              </a:rPr>
              <a:t>Department of CSE, Daffodil International University</a:t>
            </a:r>
            <a:endParaRPr b="1" i="0" sz="1400" u="none" cap="none" strike="noStrike">
              <a:solidFill>
                <a:srgbClr val="0B5394"/>
              </a:solidFill>
              <a:latin typeface="Arial"/>
              <a:ea typeface="Arial"/>
              <a:cs typeface="Arial"/>
              <a:sym typeface="Arial"/>
            </a:endParaRPr>
          </a:p>
        </p:txBody>
      </p:sp>
      <p:sp>
        <p:nvSpPr>
          <p:cNvPr id="119" name="Google Shape;119;g3de0e672ba7_0_3"/>
          <p:cNvSpPr txBox="1"/>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pic>
        <p:nvPicPr>
          <p:cNvPr id="120" name="Google Shape;120;g3de0e672ba7_0_3"/>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803"/>
              </a:srgbClr>
            </a:outerShdw>
          </a:effectLst>
        </p:spPr>
      </p:pic>
      <p:sp>
        <p:nvSpPr>
          <p:cNvPr id="121" name="Google Shape;121;g3de0e672ba7_0_3"/>
          <p:cNvSpPr txBox="1"/>
          <p:nvPr/>
        </p:nvSpPr>
        <p:spPr>
          <a:xfrm>
            <a:off x="363825" y="168125"/>
            <a:ext cx="7789500" cy="8004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4400"/>
              <a:buFont typeface="Calibri"/>
              <a:buNone/>
            </a:pPr>
            <a:r>
              <a:rPr b="0" i="0" lang="en-US" sz="4000" u="none" cap="none" strike="noStrike">
                <a:solidFill>
                  <a:schemeClr val="lt1"/>
                </a:solidFill>
                <a:latin typeface="Calibri"/>
                <a:ea typeface="Calibri"/>
                <a:cs typeface="Calibri"/>
                <a:sym typeface="Calibri"/>
              </a:rPr>
              <a:t>Window to Viewport Transformation </a:t>
            </a:r>
            <a:endParaRPr b="0" i="0" sz="4000" u="none" cap="none" strike="noStrike">
              <a:solidFill>
                <a:schemeClr val="lt1"/>
              </a:solidFill>
              <a:latin typeface="Calibri"/>
              <a:ea typeface="Calibri"/>
              <a:cs typeface="Calibri"/>
              <a:sym typeface="Calibri"/>
            </a:endParaRPr>
          </a:p>
        </p:txBody>
      </p:sp>
      <p:pic>
        <p:nvPicPr>
          <p:cNvPr id="122" name="Google Shape;122;g3de0e672ba7_0_3"/>
          <p:cNvPicPr preferRelativeResize="0"/>
          <p:nvPr/>
        </p:nvPicPr>
        <p:blipFill rotWithShape="1">
          <a:blip r:embed="rId4">
            <a:alphaModFix/>
          </a:blip>
          <a:srcRect b="0" l="0" r="0" t="0"/>
          <a:stretch/>
        </p:blipFill>
        <p:spPr>
          <a:xfrm>
            <a:off x="887250" y="1749100"/>
            <a:ext cx="7628100" cy="38266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26" name="Shape 126"/>
        <p:cNvGrpSpPr/>
        <p:nvPr/>
      </p:nvGrpSpPr>
      <p:grpSpPr>
        <a:xfrm>
          <a:off x="0" y="0"/>
          <a:ext cx="0" cy="0"/>
          <a:chOff x="0" y="0"/>
          <a:chExt cx="0" cy="0"/>
        </a:xfrm>
      </p:grpSpPr>
      <p:sp>
        <p:nvSpPr>
          <p:cNvPr id="127" name="Google Shape;127;g3bb5fbf5691_0_28"/>
          <p:cNvSpPr txBox="1"/>
          <p:nvPr/>
        </p:nvSpPr>
        <p:spPr>
          <a:xfrm>
            <a:off x="3028950" y="6356350"/>
            <a:ext cx="30861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1" i="0" lang="en-US" sz="900" u="none" cap="none" strike="noStrike">
                <a:solidFill>
                  <a:srgbClr val="898989"/>
                </a:solidFill>
                <a:latin typeface="Arial"/>
                <a:ea typeface="Arial"/>
                <a:cs typeface="Arial"/>
                <a:sym typeface="Arial"/>
              </a:rPr>
              <a:t>Department of CSE, Daffodil International University</a:t>
            </a:r>
            <a:endParaRPr b="1" i="0" sz="1400" u="none" cap="none" strike="noStrike">
              <a:solidFill>
                <a:srgbClr val="000000"/>
              </a:solidFill>
              <a:latin typeface="Arial"/>
              <a:ea typeface="Arial"/>
              <a:cs typeface="Arial"/>
              <a:sym typeface="Arial"/>
            </a:endParaRPr>
          </a:p>
        </p:txBody>
      </p:sp>
      <p:sp>
        <p:nvSpPr>
          <p:cNvPr id="128" name="Google Shape;128;g3bb5fbf5691_0_28"/>
          <p:cNvSpPr txBox="1"/>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29" name="Google Shape;129;g3bb5fbf5691_0_28"/>
          <p:cNvSpPr txBox="1"/>
          <p:nvPr/>
        </p:nvSpPr>
        <p:spPr>
          <a:xfrm>
            <a:off x="363825" y="168125"/>
            <a:ext cx="7789500" cy="8004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4400"/>
              <a:buFont typeface="Calibri"/>
              <a:buNone/>
            </a:pPr>
            <a:r>
              <a:rPr b="0" i="0" lang="en-US" sz="4000" u="none" cap="none" strike="noStrike">
                <a:solidFill>
                  <a:schemeClr val="lt1"/>
                </a:solidFill>
                <a:latin typeface="Calibri"/>
                <a:ea typeface="Calibri"/>
                <a:cs typeface="Calibri"/>
                <a:sym typeface="Calibri"/>
              </a:rPr>
              <a:t>Window to Viewport Transformation </a:t>
            </a:r>
            <a:endParaRPr b="0" i="0" sz="3800" u="none" cap="none" strike="noStrike">
              <a:solidFill>
                <a:schemeClr val="lt1"/>
              </a:solidFill>
              <a:latin typeface="Calibri"/>
              <a:ea typeface="Calibri"/>
              <a:cs typeface="Calibri"/>
              <a:sym typeface="Calibri"/>
            </a:endParaRPr>
          </a:p>
        </p:txBody>
      </p:sp>
      <p:pic>
        <p:nvPicPr>
          <p:cNvPr id="130" name="Google Shape;130;g3bb5fbf5691_0_28"/>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803"/>
              </a:srgbClr>
            </a:outerShdw>
          </a:effectLst>
        </p:spPr>
      </p:pic>
      <p:sp>
        <p:nvSpPr>
          <p:cNvPr id="131" name="Google Shape;131;g3bb5fbf5691_0_28"/>
          <p:cNvSpPr txBox="1"/>
          <p:nvPr/>
        </p:nvSpPr>
        <p:spPr>
          <a:xfrm>
            <a:off x="472350" y="1426100"/>
            <a:ext cx="8043000" cy="4930800"/>
          </a:xfrm>
          <a:prstGeom prst="rect">
            <a:avLst/>
          </a:prstGeom>
          <a:noFill/>
          <a:ln>
            <a:noFill/>
          </a:ln>
        </p:spPr>
        <p:txBody>
          <a:bodyPr anchorCtr="0" anchor="t" bIns="91425" lIns="91425" spcFirstLastPara="1" rIns="91425" wrap="square" tIns="91425">
            <a:spAutoFit/>
          </a:bodyPr>
          <a:lstStyle/>
          <a:p>
            <a:pPr indent="-387350" lvl="0" marL="457200" marR="0" rtl="0" algn="l">
              <a:lnSpc>
                <a:spcPct val="100000"/>
              </a:lnSpc>
              <a:spcBef>
                <a:spcPts val="1000"/>
              </a:spcBef>
              <a:spcAft>
                <a:spcPts val="0"/>
              </a:spcAft>
              <a:buClr>
                <a:srgbClr val="0B5394"/>
              </a:buClr>
              <a:buSzPts val="2500"/>
              <a:buFont typeface="Times New Roman"/>
              <a:buChar char="■"/>
            </a:pPr>
            <a:r>
              <a:rPr b="1" i="0" lang="en-US" sz="2500" u="none" cap="none" strike="noStrike">
                <a:solidFill>
                  <a:srgbClr val="5B0F00"/>
                </a:solidFill>
                <a:latin typeface="Times New Roman"/>
                <a:ea typeface="Times New Roman"/>
                <a:cs typeface="Times New Roman"/>
                <a:sym typeface="Times New Roman"/>
              </a:rPr>
              <a:t>World coordinate</a:t>
            </a:r>
            <a:r>
              <a:rPr b="0" i="0" lang="en-US" sz="2500" u="none" cap="none" strike="noStrike">
                <a:solidFill>
                  <a:srgbClr val="000000"/>
                </a:solidFill>
                <a:latin typeface="Times New Roman"/>
                <a:ea typeface="Times New Roman"/>
                <a:cs typeface="Times New Roman"/>
                <a:sym typeface="Times New Roman"/>
              </a:rPr>
              <a:t> - It is the Cartesian coordinate w.r.t. which we define the diagram, like Xwmin, Xwmax, Ywmin, Ywmax</a:t>
            </a:r>
            <a:endParaRPr b="0" i="0" sz="2500" u="none" cap="none" strike="noStrike">
              <a:solidFill>
                <a:srgbClr val="000000"/>
              </a:solidFill>
              <a:latin typeface="Times New Roman"/>
              <a:ea typeface="Times New Roman"/>
              <a:cs typeface="Times New Roman"/>
              <a:sym typeface="Times New Roman"/>
            </a:endParaRPr>
          </a:p>
          <a:p>
            <a:pPr indent="-387350" lvl="0" marL="457200" marR="0" rtl="0" algn="l">
              <a:lnSpc>
                <a:spcPct val="100000"/>
              </a:lnSpc>
              <a:spcBef>
                <a:spcPts val="1000"/>
              </a:spcBef>
              <a:spcAft>
                <a:spcPts val="0"/>
              </a:spcAft>
              <a:buClr>
                <a:srgbClr val="0B5394"/>
              </a:buClr>
              <a:buSzPts val="2500"/>
              <a:buFont typeface="Times New Roman"/>
              <a:buChar char="■"/>
            </a:pPr>
            <a:r>
              <a:rPr b="1" i="0" lang="en-US" sz="2500" u="none" cap="none" strike="noStrike">
                <a:solidFill>
                  <a:srgbClr val="5B0F00"/>
                </a:solidFill>
                <a:latin typeface="Times New Roman"/>
                <a:ea typeface="Times New Roman"/>
                <a:cs typeface="Times New Roman"/>
                <a:sym typeface="Times New Roman"/>
              </a:rPr>
              <a:t>Device Coordinate</a:t>
            </a:r>
            <a:r>
              <a:rPr b="0" i="0" lang="en-US" sz="2500" u="none" cap="none" strike="noStrike">
                <a:solidFill>
                  <a:srgbClr val="000000"/>
                </a:solidFill>
                <a:latin typeface="Times New Roman"/>
                <a:ea typeface="Times New Roman"/>
                <a:cs typeface="Times New Roman"/>
                <a:sym typeface="Times New Roman"/>
              </a:rPr>
              <a:t>—It is the screen coordinate where the objects are to be displayed, like Xvmin, Xvmax, Yvmin, Yvmax</a:t>
            </a:r>
            <a:endParaRPr b="0" i="0" sz="2500" u="none" cap="none" strike="noStrike">
              <a:solidFill>
                <a:srgbClr val="000000"/>
              </a:solidFill>
              <a:latin typeface="Times New Roman"/>
              <a:ea typeface="Times New Roman"/>
              <a:cs typeface="Times New Roman"/>
              <a:sym typeface="Times New Roman"/>
            </a:endParaRPr>
          </a:p>
          <a:p>
            <a:pPr indent="-387350" lvl="0" marL="457200" marR="0" rtl="0" algn="l">
              <a:lnSpc>
                <a:spcPct val="100000"/>
              </a:lnSpc>
              <a:spcBef>
                <a:spcPts val="1000"/>
              </a:spcBef>
              <a:spcAft>
                <a:spcPts val="0"/>
              </a:spcAft>
              <a:buClr>
                <a:srgbClr val="0B5394"/>
              </a:buClr>
              <a:buSzPts val="2500"/>
              <a:buFont typeface="Times New Roman"/>
              <a:buChar char="■"/>
            </a:pPr>
            <a:r>
              <a:rPr b="1" i="0" lang="en-US" sz="2500" u="none" cap="none" strike="noStrike">
                <a:solidFill>
                  <a:srgbClr val="5B0F00"/>
                </a:solidFill>
                <a:latin typeface="Times New Roman"/>
                <a:ea typeface="Times New Roman"/>
                <a:cs typeface="Times New Roman"/>
                <a:sym typeface="Times New Roman"/>
              </a:rPr>
              <a:t>Window</a:t>
            </a:r>
            <a:r>
              <a:rPr b="0" i="0" lang="en-US" sz="2500" u="none" cap="none" strike="noStrike">
                <a:solidFill>
                  <a:srgbClr val="000000"/>
                </a:solidFill>
                <a:latin typeface="Times New Roman"/>
                <a:ea typeface="Times New Roman"/>
                <a:cs typeface="Times New Roman"/>
                <a:sym typeface="Times New Roman"/>
              </a:rPr>
              <a:t>—It is the area on the world coordinate selected for display.</a:t>
            </a:r>
            <a:endParaRPr b="0" i="0" sz="2500" u="none" cap="none" strike="noStrike">
              <a:solidFill>
                <a:srgbClr val="000000"/>
              </a:solidFill>
              <a:latin typeface="Times New Roman"/>
              <a:ea typeface="Times New Roman"/>
              <a:cs typeface="Times New Roman"/>
              <a:sym typeface="Times New Roman"/>
            </a:endParaRPr>
          </a:p>
          <a:p>
            <a:pPr indent="-387350" lvl="0" marL="457200" marR="0" rtl="0" algn="l">
              <a:lnSpc>
                <a:spcPct val="100000"/>
              </a:lnSpc>
              <a:spcBef>
                <a:spcPts val="1000"/>
              </a:spcBef>
              <a:spcAft>
                <a:spcPts val="0"/>
              </a:spcAft>
              <a:buClr>
                <a:srgbClr val="0B5394"/>
              </a:buClr>
              <a:buSzPts val="2500"/>
              <a:buFont typeface="Times New Roman"/>
              <a:buChar char="■"/>
            </a:pPr>
            <a:r>
              <a:rPr b="1" i="0" lang="en-US" sz="2500" u="none" cap="none" strike="noStrike">
                <a:solidFill>
                  <a:srgbClr val="5B0F00"/>
                </a:solidFill>
                <a:latin typeface="Times New Roman"/>
                <a:ea typeface="Times New Roman"/>
                <a:cs typeface="Times New Roman"/>
                <a:sym typeface="Times New Roman"/>
              </a:rPr>
              <a:t>Viewport</a:t>
            </a:r>
            <a:r>
              <a:rPr b="0" i="0" lang="en-US" sz="2500" u="none" cap="none" strike="noStrike">
                <a:solidFill>
                  <a:srgbClr val="000000"/>
                </a:solidFill>
                <a:latin typeface="Times New Roman"/>
                <a:ea typeface="Times New Roman"/>
                <a:cs typeface="Times New Roman"/>
                <a:sym typeface="Times New Roman"/>
              </a:rPr>
              <a:t>—It is the area on the device coordinate where graphics is to be displayed</a:t>
            </a:r>
            <a:endParaRPr b="0" i="0" sz="2500" u="none" cap="none" strike="noStrike">
              <a:solidFill>
                <a:srgbClr val="000000"/>
              </a:solidFill>
              <a:latin typeface="Times New Roman"/>
              <a:ea typeface="Times New Roman"/>
              <a:cs typeface="Times New Roman"/>
              <a:sym typeface="Times New Roman"/>
            </a:endParaRPr>
          </a:p>
          <a:p>
            <a:pPr indent="0" lvl="0" marL="457200" marR="0" rtl="0" algn="l">
              <a:lnSpc>
                <a:spcPct val="100000"/>
              </a:lnSpc>
              <a:spcBef>
                <a:spcPts val="1000"/>
              </a:spcBef>
              <a:spcAft>
                <a:spcPts val="1000"/>
              </a:spcAft>
              <a:buClr>
                <a:srgbClr val="000000"/>
              </a:buClr>
              <a:buSzPts val="2500"/>
              <a:buFont typeface="Arial"/>
              <a:buNone/>
            </a:pPr>
            <a:r>
              <a:t/>
            </a:r>
            <a:endParaRPr b="0" i="0" sz="25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35" name="Shape 135"/>
        <p:cNvGrpSpPr/>
        <p:nvPr/>
      </p:nvGrpSpPr>
      <p:grpSpPr>
        <a:xfrm>
          <a:off x="0" y="0"/>
          <a:ext cx="0" cy="0"/>
          <a:chOff x="0" y="0"/>
          <a:chExt cx="0" cy="0"/>
        </a:xfrm>
      </p:grpSpPr>
      <p:sp>
        <p:nvSpPr>
          <p:cNvPr id="136" name="Google Shape;136;g3de3c7386fc_0_4"/>
          <p:cNvSpPr txBox="1"/>
          <p:nvPr/>
        </p:nvSpPr>
        <p:spPr>
          <a:xfrm>
            <a:off x="3028950" y="6356350"/>
            <a:ext cx="30861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1" i="0" lang="en-US" sz="900" u="none" cap="none" strike="noStrike">
                <a:solidFill>
                  <a:srgbClr val="898989"/>
                </a:solidFill>
                <a:latin typeface="Arial"/>
                <a:ea typeface="Arial"/>
                <a:cs typeface="Arial"/>
                <a:sym typeface="Arial"/>
              </a:rPr>
              <a:t>Department of CSE, Daffodil International University</a:t>
            </a:r>
            <a:endParaRPr b="1" i="0" sz="1400" u="none" cap="none" strike="noStrike">
              <a:solidFill>
                <a:srgbClr val="000000"/>
              </a:solidFill>
              <a:latin typeface="Arial"/>
              <a:ea typeface="Arial"/>
              <a:cs typeface="Arial"/>
              <a:sym typeface="Arial"/>
            </a:endParaRPr>
          </a:p>
        </p:txBody>
      </p:sp>
      <p:sp>
        <p:nvSpPr>
          <p:cNvPr id="137" name="Google Shape;137;g3de3c7386fc_0_4"/>
          <p:cNvSpPr txBox="1"/>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38" name="Google Shape;138;g3de3c7386fc_0_4"/>
          <p:cNvSpPr txBox="1"/>
          <p:nvPr/>
        </p:nvSpPr>
        <p:spPr>
          <a:xfrm>
            <a:off x="363825" y="168125"/>
            <a:ext cx="7789500" cy="8004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4400"/>
              <a:buFont typeface="Calibri"/>
              <a:buNone/>
            </a:pPr>
            <a:r>
              <a:rPr b="0" i="0" lang="en-US" sz="4000" u="none" cap="none" strike="noStrike">
                <a:solidFill>
                  <a:schemeClr val="lt1"/>
                </a:solidFill>
                <a:latin typeface="Calibri"/>
                <a:ea typeface="Calibri"/>
                <a:cs typeface="Calibri"/>
                <a:sym typeface="Calibri"/>
              </a:rPr>
              <a:t>Window to Viewport Transformation </a:t>
            </a:r>
            <a:endParaRPr b="0" i="0" sz="3800" u="none" cap="none" strike="noStrike">
              <a:solidFill>
                <a:schemeClr val="lt1"/>
              </a:solidFill>
              <a:latin typeface="Calibri"/>
              <a:ea typeface="Calibri"/>
              <a:cs typeface="Calibri"/>
              <a:sym typeface="Calibri"/>
            </a:endParaRPr>
          </a:p>
        </p:txBody>
      </p:sp>
      <p:pic>
        <p:nvPicPr>
          <p:cNvPr id="139" name="Google Shape;139;g3de3c7386fc_0_4"/>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803"/>
              </a:srgbClr>
            </a:outerShdw>
          </a:effectLst>
        </p:spPr>
      </p:pic>
      <p:sp>
        <p:nvSpPr>
          <p:cNvPr id="140" name="Google Shape;140;g3de3c7386fc_0_4"/>
          <p:cNvSpPr txBox="1"/>
          <p:nvPr/>
        </p:nvSpPr>
        <p:spPr>
          <a:xfrm>
            <a:off x="363825" y="1076525"/>
            <a:ext cx="8043000" cy="25581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chemeClr val="dk1"/>
              </a:buClr>
              <a:buSzPts val="1100"/>
              <a:buFont typeface="Arial"/>
              <a:buNone/>
            </a:pPr>
            <a:r>
              <a:rPr b="0" i="0" lang="en-US" sz="1600" u="none" cap="none" strike="noStrike">
                <a:solidFill>
                  <a:srgbClr val="273239"/>
                </a:solidFill>
                <a:latin typeface="Times New Roman"/>
                <a:ea typeface="Times New Roman"/>
                <a:cs typeface="Times New Roman"/>
                <a:sym typeface="Times New Roman"/>
              </a:rPr>
              <a:t>It may be possible that the size of the Viewport is much smaller or greater than the Window. In these cases, we have to increase or decrease the size of the Window according to the Viewport and for this, we need some mathematical calculations.</a:t>
            </a:r>
            <a:endParaRPr b="0" i="0" sz="1600" u="none" cap="none" strike="noStrike">
              <a:solidFill>
                <a:srgbClr val="273239"/>
              </a:solidFill>
              <a:latin typeface="Times New Roman"/>
              <a:ea typeface="Times New Roman"/>
              <a:cs typeface="Times New Roman"/>
              <a:sym typeface="Times New Roman"/>
            </a:endParaRPr>
          </a:p>
          <a:p>
            <a:pPr indent="0" lvl="0" marL="0" marR="0" rtl="0" algn="l">
              <a:lnSpc>
                <a:spcPct val="115000"/>
              </a:lnSpc>
              <a:spcBef>
                <a:spcPts val="800"/>
              </a:spcBef>
              <a:spcAft>
                <a:spcPts val="0"/>
              </a:spcAft>
              <a:buClr>
                <a:srgbClr val="000000"/>
              </a:buClr>
              <a:buSzPts val="1600"/>
              <a:buFont typeface="Arial"/>
              <a:buNone/>
            </a:pPr>
            <a:r>
              <a:rPr b="1" i="0" lang="en-US" sz="1600" u="none" cap="none" strike="noStrike">
                <a:solidFill>
                  <a:srgbClr val="980000"/>
                </a:solidFill>
                <a:latin typeface="Times New Roman"/>
                <a:ea typeface="Times New Roman"/>
                <a:cs typeface="Times New Roman"/>
                <a:sym typeface="Times New Roman"/>
              </a:rPr>
              <a:t>(xw, yw): A point on the window,  and (xv, yv): Corresponding  point on the viewport</a:t>
            </a:r>
            <a:endParaRPr b="1" i="0" sz="1600" u="none" cap="none" strike="noStrike">
              <a:solidFill>
                <a:srgbClr val="980000"/>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rgbClr val="000000"/>
              </a:buClr>
              <a:buSzPts val="1350"/>
              <a:buFont typeface="Arial"/>
              <a:buNone/>
            </a:pPr>
            <a:r>
              <a:rPr b="0" i="0" lang="en-US" sz="1350" u="none" cap="none" strike="noStrike">
                <a:solidFill>
                  <a:srgbClr val="273239"/>
                </a:solidFill>
                <a:latin typeface="Nunito"/>
                <a:ea typeface="Nunito"/>
                <a:cs typeface="Nunito"/>
                <a:sym typeface="Nunito"/>
              </a:rPr>
              <a:t>We have to calculate the point </a:t>
            </a:r>
            <a:r>
              <a:rPr b="1" i="0" lang="en-US" sz="1350" u="none" cap="none" strike="noStrike">
                <a:solidFill>
                  <a:srgbClr val="273239"/>
                </a:solidFill>
                <a:latin typeface="Nunito"/>
                <a:ea typeface="Nunito"/>
                <a:cs typeface="Nunito"/>
                <a:sym typeface="Nunito"/>
              </a:rPr>
              <a:t>(x</a:t>
            </a:r>
            <a:r>
              <a:rPr b="1" i="0" lang="en-US" sz="1000" u="none" cap="none" strike="noStrike">
                <a:solidFill>
                  <a:srgbClr val="273239"/>
                </a:solidFill>
                <a:latin typeface="Nunito"/>
                <a:ea typeface="Nunito"/>
                <a:cs typeface="Nunito"/>
                <a:sym typeface="Nunito"/>
              </a:rPr>
              <a:t>v</a:t>
            </a:r>
            <a:r>
              <a:rPr b="1" i="0" lang="en-US" sz="1350" u="none" cap="none" strike="noStrike">
                <a:solidFill>
                  <a:srgbClr val="273239"/>
                </a:solidFill>
                <a:latin typeface="Nunito"/>
                <a:ea typeface="Nunito"/>
                <a:cs typeface="Nunito"/>
                <a:sym typeface="Nunito"/>
              </a:rPr>
              <a:t>, y</a:t>
            </a:r>
            <a:r>
              <a:rPr b="1" i="0" lang="en-US" sz="1000" u="none" cap="none" strike="noStrike">
                <a:solidFill>
                  <a:srgbClr val="273239"/>
                </a:solidFill>
                <a:latin typeface="Nunito"/>
                <a:ea typeface="Nunito"/>
                <a:cs typeface="Nunito"/>
                <a:sym typeface="Nunito"/>
              </a:rPr>
              <a:t>v</a:t>
            </a:r>
            <a:r>
              <a:rPr b="1" i="0" lang="en-US" sz="1350" u="none" cap="none" strike="noStrike">
                <a:solidFill>
                  <a:srgbClr val="273239"/>
                </a:solidFill>
                <a:latin typeface="Nunito"/>
                <a:ea typeface="Nunito"/>
                <a:cs typeface="Nunito"/>
                <a:sym typeface="Nunito"/>
              </a:rPr>
              <a:t>)</a:t>
            </a:r>
            <a:endParaRPr b="1" i="0" sz="1350" u="none" cap="none" strike="noStrike">
              <a:solidFill>
                <a:srgbClr val="273239"/>
              </a:solidFill>
              <a:latin typeface="Nunito"/>
              <a:ea typeface="Nunito"/>
              <a:cs typeface="Nunito"/>
              <a:sym typeface="Nunito"/>
            </a:endParaRPr>
          </a:p>
          <a:p>
            <a:pPr indent="0" lvl="0" marL="0" marR="0" rtl="0" algn="l">
              <a:lnSpc>
                <a:spcPct val="115000"/>
              </a:lnSpc>
              <a:spcBef>
                <a:spcPts val="800"/>
              </a:spcBef>
              <a:spcAft>
                <a:spcPts val="0"/>
              </a:spcAft>
              <a:buClr>
                <a:schemeClr val="dk1"/>
              </a:buClr>
              <a:buSzPts val="1100"/>
              <a:buFont typeface="Arial"/>
              <a:buNone/>
            </a:pPr>
            <a:r>
              <a:t/>
            </a:r>
            <a:endParaRPr b="1" i="0" sz="1600" u="none" cap="none" strike="noStrike">
              <a:solidFill>
                <a:srgbClr val="980000"/>
              </a:solidFill>
              <a:latin typeface="Times New Roman"/>
              <a:ea typeface="Times New Roman"/>
              <a:cs typeface="Times New Roman"/>
              <a:sym typeface="Times New Roman"/>
            </a:endParaRPr>
          </a:p>
          <a:p>
            <a:pPr indent="0" lvl="0" marL="0" marR="0" rtl="0" algn="l">
              <a:lnSpc>
                <a:spcPct val="100000"/>
              </a:lnSpc>
              <a:spcBef>
                <a:spcPts val="1000"/>
              </a:spcBef>
              <a:spcAft>
                <a:spcPts val="1000"/>
              </a:spcAft>
              <a:buClr>
                <a:srgbClr val="000000"/>
              </a:buClr>
              <a:buSzPts val="2500"/>
              <a:buFont typeface="Arial"/>
              <a:buNone/>
            </a:pPr>
            <a:r>
              <a:t/>
            </a:r>
            <a:endParaRPr b="0" i="0" sz="2500" u="none" cap="none" strike="noStrike">
              <a:solidFill>
                <a:srgbClr val="000000"/>
              </a:solidFill>
              <a:latin typeface="Times New Roman"/>
              <a:ea typeface="Times New Roman"/>
              <a:cs typeface="Times New Roman"/>
              <a:sym typeface="Times New Roman"/>
            </a:endParaRPr>
          </a:p>
        </p:txBody>
      </p:sp>
      <p:pic>
        <p:nvPicPr>
          <p:cNvPr id="141" name="Google Shape;141;g3de3c7386fc_0_4"/>
          <p:cNvPicPr preferRelativeResize="0"/>
          <p:nvPr/>
        </p:nvPicPr>
        <p:blipFill rotWithShape="1">
          <a:blip r:embed="rId4">
            <a:alphaModFix/>
          </a:blip>
          <a:srcRect b="0" l="0" r="0" t="0"/>
          <a:stretch/>
        </p:blipFill>
        <p:spPr>
          <a:xfrm>
            <a:off x="71975" y="5025900"/>
            <a:ext cx="4570425" cy="1032578"/>
          </a:xfrm>
          <a:prstGeom prst="rect">
            <a:avLst/>
          </a:prstGeom>
          <a:noFill/>
          <a:ln>
            <a:noFill/>
          </a:ln>
        </p:spPr>
      </p:pic>
      <p:pic>
        <p:nvPicPr>
          <p:cNvPr id="142" name="Google Shape;142;g3de3c7386fc_0_4"/>
          <p:cNvPicPr preferRelativeResize="0"/>
          <p:nvPr/>
        </p:nvPicPr>
        <p:blipFill rotWithShape="1">
          <a:blip r:embed="rId5">
            <a:alphaModFix/>
          </a:blip>
          <a:srcRect b="0" l="0" r="0" t="0"/>
          <a:stretch/>
        </p:blipFill>
        <p:spPr>
          <a:xfrm>
            <a:off x="4774200" y="5070826"/>
            <a:ext cx="4570425" cy="1022234"/>
          </a:xfrm>
          <a:prstGeom prst="rect">
            <a:avLst/>
          </a:prstGeom>
          <a:noFill/>
          <a:ln>
            <a:noFill/>
          </a:ln>
        </p:spPr>
      </p:pic>
      <p:pic>
        <p:nvPicPr>
          <p:cNvPr id="143" name="Google Shape;143;g3de3c7386fc_0_4" title="Gemini_Generated_Image_g5i0psg5i0psg5i0.png"/>
          <p:cNvPicPr preferRelativeResize="0"/>
          <p:nvPr/>
        </p:nvPicPr>
        <p:blipFill rotWithShape="1">
          <a:blip r:embed="rId6">
            <a:alphaModFix/>
          </a:blip>
          <a:srcRect b="3645" l="0" r="0" t="6797"/>
          <a:stretch/>
        </p:blipFill>
        <p:spPr>
          <a:xfrm>
            <a:off x="1225700" y="2743350"/>
            <a:ext cx="6319252" cy="22825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47" name="Shape 147"/>
        <p:cNvGrpSpPr/>
        <p:nvPr/>
      </p:nvGrpSpPr>
      <p:grpSpPr>
        <a:xfrm>
          <a:off x="0" y="0"/>
          <a:ext cx="0" cy="0"/>
          <a:chOff x="0" y="0"/>
          <a:chExt cx="0" cy="0"/>
        </a:xfrm>
      </p:grpSpPr>
      <p:sp>
        <p:nvSpPr>
          <p:cNvPr id="148" name="Google Shape;148;g3de3c7386fc_0_16"/>
          <p:cNvSpPr txBox="1"/>
          <p:nvPr/>
        </p:nvSpPr>
        <p:spPr>
          <a:xfrm>
            <a:off x="3028950" y="6356350"/>
            <a:ext cx="30861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1" i="0" lang="en-US" sz="900" u="none" cap="none" strike="noStrike">
                <a:solidFill>
                  <a:srgbClr val="898989"/>
                </a:solidFill>
                <a:latin typeface="Arial"/>
                <a:ea typeface="Arial"/>
                <a:cs typeface="Arial"/>
                <a:sym typeface="Arial"/>
              </a:rPr>
              <a:t>Department of CSE, Daffodil International University</a:t>
            </a:r>
            <a:endParaRPr b="1" i="0" sz="1400" u="none" cap="none" strike="noStrike">
              <a:solidFill>
                <a:srgbClr val="000000"/>
              </a:solidFill>
              <a:latin typeface="Arial"/>
              <a:ea typeface="Arial"/>
              <a:cs typeface="Arial"/>
              <a:sym typeface="Arial"/>
            </a:endParaRPr>
          </a:p>
        </p:txBody>
      </p:sp>
      <p:sp>
        <p:nvSpPr>
          <p:cNvPr id="149" name="Google Shape;149;g3de3c7386fc_0_16"/>
          <p:cNvSpPr txBox="1"/>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50" name="Google Shape;150;g3de3c7386fc_0_16"/>
          <p:cNvSpPr txBox="1"/>
          <p:nvPr/>
        </p:nvSpPr>
        <p:spPr>
          <a:xfrm>
            <a:off x="363825" y="168125"/>
            <a:ext cx="7789500" cy="8004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4400"/>
              <a:buFont typeface="Calibri"/>
              <a:buNone/>
            </a:pPr>
            <a:r>
              <a:rPr b="0" i="0" lang="en-US" sz="4000" u="none" cap="none" strike="noStrike">
                <a:solidFill>
                  <a:schemeClr val="lt1"/>
                </a:solidFill>
                <a:latin typeface="Calibri"/>
                <a:ea typeface="Calibri"/>
                <a:cs typeface="Calibri"/>
                <a:sym typeface="Calibri"/>
              </a:rPr>
              <a:t>Window to Viewport Transformation </a:t>
            </a:r>
            <a:endParaRPr b="0" i="0" sz="3800" u="none" cap="none" strike="noStrike">
              <a:solidFill>
                <a:schemeClr val="lt1"/>
              </a:solidFill>
              <a:latin typeface="Calibri"/>
              <a:ea typeface="Calibri"/>
              <a:cs typeface="Calibri"/>
              <a:sym typeface="Calibri"/>
            </a:endParaRPr>
          </a:p>
        </p:txBody>
      </p:sp>
      <p:pic>
        <p:nvPicPr>
          <p:cNvPr id="151" name="Google Shape;151;g3de3c7386fc_0_16"/>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803"/>
              </a:srgbClr>
            </a:outerShdw>
          </a:effectLst>
        </p:spPr>
      </p:pic>
      <p:sp>
        <p:nvSpPr>
          <p:cNvPr id="152" name="Google Shape;152;g3de3c7386fc_0_16"/>
          <p:cNvSpPr txBox="1"/>
          <p:nvPr/>
        </p:nvSpPr>
        <p:spPr>
          <a:xfrm>
            <a:off x="472350" y="1426100"/>
            <a:ext cx="8043000" cy="3169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800"/>
              <a:buFont typeface="Arial"/>
              <a:buNone/>
            </a:pPr>
            <a:r>
              <a:rPr b="0" i="0" lang="en-US" sz="1800" u="none" cap="none" strike="noStrike">
                <a:solidFill>
                  <a:srgbClr val="273239"/>
                </a:solidFill>
                <a:latin typeface="Times New Roman"/>
                <a:ea typeface="Times New Roman"/>
                <a:cs typeface="Times New Roman"/>
                <a:sym typeface="Times New Roman"/>
              </a:rPr>
              <a:t>Now the relative positions of the object in the window and viewport are same.</a:t>
            </a:r>
            <a:endParaRPr b="0" i="0" sz="1800" u="none" cap="none" strike="noStrike">
              <a:solidFill>
                <a:srgbClr val="273239"/>
              </a:solidFill>
              <a:latin typeface="Times New Roman"/>
              <a:ea typeface="Times New Roman"/>
              <a:cs typeface="Times New Roman"/>
              <a:sym typeface="Times New Roman"/>
            </a:endParaRPr>
          </a:p>
          <a:p>
            <a:pPr indent="0" lvl="0" marL="0" marR="0" rtl="0" algn="l">
              <a:lnSpc>
                <a:spcPct val="115000"/>
              </a:lnSpc>
              <a:spcBef>
                <a:spcPts val="80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For x coordinate, </a:t>
            </a:r>
            <a:r>
              <a:rPr b="0" i="0" lang="en-US" sz="1200" u="none" cap="none" strike="noStrike">
                <a:solidFill>
                  <a:schemeClr val="dk1"/>
                </a:solidFill>
                <a:latin typeface="Courier New"/>
                <a:ea typeface="Courier New"/>
                <a:cs typeface="Courier New"/>
                <a:sym typeface="Courier New"/>
              </a:rPr>
              <a:t>                      </a:t>
            </a:r>
            <a:endParaRPr b="0" i="0" sz="1200" u="none" cap="none" strike="noStrike">
              <a:solidFill>
                <a:schemeClr val="dk1"/>
              </a:solidFill>
              <a:latin typeface="Courier New"/>
              <a:ea typeface="Courier New"/>
              <a:cs typeface="Courier New"/>
              <a:sym typeface="Courier New"/>
            </a:endParaRPr>
          </a:p>
          <a:p>
            <a:pPr indent="0" lvl="0" marL="0" marR="0" rtl="0" algn="l">
              <a:lnSpc>
                <a:spcPct val="115000"/>
              </a:lnSpc>
              <a:spcBef>
                <a:spcPts val="800"/>
              </a:spcBef>
              <a:spcAft>
                <a:spcPts val="0"/>
              </a:spcAft>
              <a:buClr>
                <a:srgbClr val="000000"/>
              </a:buClr>
              <a:buSzPts val="1600"/>
              <a:buFont typeface="Arial"/>
              <a:buNone/>
            </a:pPr>
            <a:r>
              <a:t/>
            </a:r>
            <a:endParaRPr b="0" i="0" sz="1600" u="none" cap="none" strike="noStrike">
              <a:solidFill>
                <a:srgbClr val="273239"/>
              </a:solidFill>
              <a:latin typeface="Times New Roman"/>
              <a:ea typeface="Times New Roman"/>
              <a:cs typeface="Times New Roman"/>
              <a:sym typeface="Times New Roman"/>
            </a:endParaRPr>
          </a:p>
          <a:p>
            <a:pPr indent="0" lvl="0" marL="0" marR="0" rtl="0" algn="l">
              <a:lnSpc>
                <a:spcPct val="115000"/>
              </a:lnSpc>
              <a:spcBef>
                <a:spcPts val="800"/>
              </a:spcBef>
              <a:spcAft>
                <a:spcPts val="0"/>
              </a:spcAft>
              <a:buClr>
                <a:srgbClr val="000000"/>
              </a:buClr>
              <a:buSzPts val="1600"/>
              <a:buFont typeface="Arial"/>
              <a:buNone/>
            </a:pPr>
            <a:r>
              <a:t/>
            </a:r>
            <a:endParaRPr b="1" i="0" sz="1600" u="none" cap="none" strike="noStrike">
              <a:solidFill>
                <a:srgbClr val="980000"/>
              </a:solidFill>
              <a:latin typeface="Times New Roman"/>
              <a:ea typeface="Times New Roman"/>
              <a:cs typeface="Times New Roman"/>
              <a:sym typeface="Times New Roman"/>
            </a:endParaRPr>
          </a:p>
          <a:p>
            <a:pPr indent="0" lvl="0" marL="0" marR="0" rtl="0" algn="l">
              <a:lnSpc>
                <a:spcPct val="100000"/>
              </a:lnSpc>
              <a:spcBef>
                <a:spcPts val="1000"/>
              </a:spcBef>
              <a:spcAft>
                <a:spcPts val="0"/>
              </a:spcAft>
              <a:buClr>
                <a:srgbClr val="000000"/>
              </a:buClr>
              <a:buSzPts val="2500"/>
              <a:buFont typeface="Arial"/>
              <a:buNone/>
            </a:pPr>
            <a:r>
              <a:t/>
            </a:r>
            <a:endParaRPr b="0" i="0" sz="2500" u="none" cap="none" strike="noStrike">
              <a:solidFill>
                <a:srgbClr val="000000"/>
              </a:solidFill>
              <a:latin typeface="Times New Roman"/>
              <a:ea typeface="Times New Roman"/>
              <a:cs typeface="Times New Roman"/>
              <a:sym typeface="Times New Roman"/>
            </a:endParaRPr>
          </a:p>
          <a:p>
            <a:pPr indent="0" lvl="0" marL="0" marR="0" rtl="0" algn="l">
              <a:lnSpc>
                <a:spcPct val="115000"/>
              </a:lnSpc>
              <a:spcBef>
                <a:spcPts val="1000"/>
              </a:spcBef>
              <a:spcAft>
                <a:spcPts val="0"/>
              </a:spcAft>
              <a:buClr>
                <a:schemeClr val="dk1"/>
              </a:buClr>
              <a:buSzPts val="1100"/>
              <a:buFont typeface="Arial"/>
              <a:buNone/>
            </a:pPr>
            <a:r>
              <a:rPr b="0" i="0" lang="en-US" sz="1800" u="none" cap="none" strike="noStrike">
                <a:solidFill>
                  <a:schemeClr val="dk1"/>
                </a:solidFill>
                <a:latin typeface="Times New Roman"/>
                <a:ea typeface="Times New Roman"/>
                <a:cs typeface="Times New Roman"/>
                <a:sym typeface="Times New Roman"/>
              </a:rPr>
              <a:t>For the y-coordinate,</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1000"/>
              </a:spcBef>
              <a:spcAft>
                <a:spcPts val="1000"/>
              </a:spcAft>
              <a:buClr>
                <a:srgbClr val="000000"/>
              </a:buClr>
              <a:buSzPts val="2500"/>
              <a:buFont typeface="Arial"/>
              <a:buNone/>
            </a:pPr>
            <a:r>
              <a:t/>
            </a:r>
            <a:endParaRPr b="0" i="0" sz="2500" u="none" cap="none" strike="noStrike">
              <a:solidFill>
                <a:srgbClr val="000000"/>
              </a:solidFill>
              <a:latin typeface="Times New Roman"/>
              <a:ea typeface="Times New Roman"/>
              <a:cs typeface="Times New Roman"/>
              <a:sym typeface="Times New Roman"/>
            </a:endParaRPr>
          </a:p>
        </p:txBody>
      </p:sp>
      <p:pic>
        <p:nvPicPr>
          <p:cNvPr id="153" name="Google Shape;153;g3de3c7386fc_0_16"/>
          <p:cNvPicPr preferRelativeResize="0"/>
          <p:nvPr/>
        </p:nvPicPr>
        <p:blipFill rotWithShape="1">
          <a:blip r:embed="rId4">
            <a:alphaModFix/>
          </a:blip>
          <a:srcRect b="0" l="0" r="0" t="0"/>
          <a:stretch/>
        </p:blipFill>
        <p:spPr>
          <a:xfrm>
            <a:off x="1211425" y="2465800"/>
            <a:ext cx="2924175" cy="838200"/>
          </a:xfrm>
          <a:prstGeom prst="rect">
            <a:avLst/>
          </a:prstGeom>
          <a:noFill/>
          <a:ln>
            <a:noFill/>
          </a:ln>
        </p:spPr>
      </p:pic>
      <p:pic>
        <p:nvPicPr>
          <p:cNvPr id="154" name="Google Shape;154;g3de3c7386fc_0_16"/>
          <p:cNvPicPr preferRelativeResize="0"/>
          <p:nvPr/>
        </p:nvPicPr>
        <p:blipFill rotWithShape="1">
          <a:blip r:embed="rId5">
            <a:alphaModFix/>
          </a:blip>
          <a:srcRect b="0" l="0" r="0" t="0"/>
          <a:stretch/>
        </p:blipFill>
        <p:spPr>
          <a:xfrm>
            <a:off x="1345100" y="4357675"/>
            <a:ext cx="2924175" cy="838200"/>
          </a:xfrm>
          <a:prstGeom prst="rect">
            <a:avLst/>
          </a:prstGeom>
          <a:noFill/>
          <a:ln>
            <a:noFill/>
          </a:ln>
        </p:spPr>
      </p:pic>
      <p:pic>
        <p:nvPicPr>
          <p:cNvPr id="155" name="Google Shape;155;g3de3c7386fc_0_16"/>
          <p:cNvPicPr preferRelativeResize="0"/>
          <p:nvPr/>
        </p:nvPicPr>
        <p:blipFill rotWithShape="1">
          <a:blip r:embed="rId6">
            <a:alphaModFix/>
          </a:blip>
          <a:srcRect b="0" l="0" r="0" t="0"/>
          <a:stretch/>
        </p:blipFill>
        <p:spPr>
          <a:xfrm>
            <a:off x="4084950" y="2662075"/>
            <a:ext cx="2433750" cy="485900"/>
          </a:xfrm>
          <a:prstGeom prst="rect">
            <a:avLst/>
          </a:prstGeom>
          <a:noFill/>
          <a:ln>
            <a:noFill/>
          </a:ln>
        </p:spPr>
      </p:pic>
      <p:pic>
        <p:nvPicPr>
          <p:cNvPr id="156" name="Google Shape;156;g3de3c7386fc_0_16"/>
          <p:cNvPicPr preferRelativeResize="0"/>
          <p:nvPr/>
        </p:nvPicPr>
        <p:blipFill rotWithShape="1">
          <a:blip r:embed="rId7">
            <a:alphaModFix/>
          </a:blip>
          <a:srcRect b="0" l="0" r="0" t="0"/>
          <a:stretch/>
        </p:blipFill>
        <p:spPr>
          <a:xfrm>
            <a:off x="4273125" y="4485025"/>
            <a:ext cx="2433750" cy="4091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60" name="Shape 160"/>
        <p:cNvGrpSpPr/>
        <p:nvPr/>
      </p:nvGrpSpPr>
      <p:grpSpPr>
        <a:xfrm>
          <a:off x="0" y="0"/>
          <a:ext cx="0" cy="0"/>
          <a:chOff x="0" y="0"/>
          <a:chExt cx="0" cy="0"/>
        </a:xfrm>
      </p:grpSpPr>
      <p:sp>
        <p:nvSpPr>
          <p:cNvPr id="161" name="Google Shape;161;g3de47650d83_0_8"/>
          <p:cNvSpPr txBox="1"/>
          <p:nvPr/>
        </p:nvSpPr>
        <p:spPr>
          <a:xfrm>
            <a:off x="3028950" y="6356350"/>
            <a:ext cx="30861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1" i="0" lang="en-US" sz="900" u="none" cap="none" strike="noStrike">
                <a:solidFill>
                  <a:srgbClr val="898989"/>
                </a:solidFill>
                <a:latin typeface="Arial"/>
                <a:ea typeface="Arial"/>
                <a:cs typeface="Arial"/>
                <a:sym typeface="Arial"/>
              </a:rPr>
              <a:t>Department of CSE, Daffodil International University</a:t>
            </a:r>
            <a:endParaRPr b="1" i="0" sz="1400" u="none" cap="none" strike="noStrike">
              <a:solidFill>
                <a:srgbClr val="000000"/>
              </a:solidFill>
              <a:latin typeface="Arial"/>
              <a:ea typeface="Arial"/>
              <a:cs typeface="Arial"/>
              <a:sym typeface="Arial"/>
            </a:endParaRPr>
          </a:p>
        </p:txBody>
      </p:sp>
      <p:sp>
        <p:nvSpPr>
          <p:cNvPr id="162" name="Google Shape;162;g3de47650d83_0_8"/>
          <p:cNvSpPr txBox="1"/>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63" name="Google Shape;163;g3de47650d83_0_8"/>
          <p:cNvSpPr txBox="1"/>
          <p:nvPr/>
        </p:nvSpPr>
        <p:spPr>
          <a:xfrm>
            <a:off x="363825" y="168125"/>
            <a:ext cx="7789500" cy="8004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4400"/>
              <a:buFont typeface="Calibri"/>
              <a:buNone/>
            </a:pPr>
            <a:r>
              <a:rPr b="0" i="0" lang="en-US" sz="4000" u="none" cap="none" strike="noStrike">
                <a:solidFill>
                  <a:schemeClr val="lt1"/>
                </a:solidFill>
                <a:latin typeface="Calibri"/>
                <a:ea typeface="Calibri"/>
                <a:cs typeface="Calibri"/>
                <a:sym typeface="Calibri"/>
              </a:rPr>
              <a:t>Window to Viewport Transformation </a:t>
            </a:r>
            <a:endParaRPr b="0" i="0" sz="3800" u="none" cap="none" strike="noStrike">
              <a:solidFill>
                <a:schemeClr val="lt1"/>
              </a:solidFill>
              <a:latin typeface="Calibri"/>
              <a:ea typeface="Calibri"/>
              <a:cs typeface="Calibri"/>
              <a:sym typeface="Calibri"/>
            </a:endParaRPr>
          </a:p>
        </p:txBody>
      </p:sp>
      <p:pic>
        <p:nvPicPr>
          <p:cNvPr id="164" name="Google Shape;164;g3de47650d83_0_8"/>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803"/>
              </a:srgbClr>
            </a:outerShdw>
          </a:effectLst>
        </p:spPr>
      </p:pic>
      <p:sp>
        <p:nvSpPr>
          <p:cNvPr id="165" name="Google Shape;165;g3de47650d83_0_8"/>
          <p:cNvSpPr txBox="1"/>
          <p:nvPr/>
        </p:nvSpPr>
        <p:spPr>
          <a:xfrm>
            <a:off x="472350" y="1426100"/>
            <a:ext cx="8043000" cy="2580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600"/>
              <a:buFont typeface="Arial"/>
              <a:buNone/>
            </a:pPr>
            <a:r>
              <a:rPr b="0" i="0" lang="en-US" sz="1600" u="none" cap="none" strike="noStrike">
                <a:solidFill>
                  <a:srgbClr val="273239"/>
                </a:solidFill>
                <a:latin typeface="Nunito"/>
                <a:ea typeface="Nunito"/>
                <a:cs typeface="Nunito"/>
                <a:sym typeface="Nunito"/>
              </a:rPr>
              <a:t>From </a:t>
            </a:r>
            <a:r>
              <a:rPr b="0" i="0" lang="en-US" sz="1600" u="none" cap="none" strike="noStrike">
                <a:solidFill>
                  <a:schemeClr val="dk1"/>
                </a:solidFill>
                <a:latin typeface="Courier New"/>
                <a:ea typeface="Courier New"/>
                <a:cs typeface="Courier New"/>
                <a:sym typeface="Courier New"/>
              </a:rPr>
              <a:t>       and     , </a:t>
            </a:r>
            <a:r>
              <a:rPr b="0" i="0" lang="en-US" sz="1600" u="none" cap="none" strike="noStrike">
                <a:solidFill>
                  <a:srgbClr val="273239"/>
                </a:solidFill>
                <a:latin typeface="Nunito"/>
                <a:ea typeface="Nunito"/>
                <a:cs typeface="Nunito"/>
                <a:sym typeface="Nunito"/>
              </a:rPr>
              <a:t>after calculating for x and y coordinate, we get</a:t>
            </a:r>
            <a:endParaRPr b="0" i="0" sz="1600" u="none" cap="none" strike="noStrike">
              <a:solidFill>
                <a:srgbClr val="273239"/>
              </a:solidFill>
              <a:latin typeface="Nunito"/>
              <a:ea typeface="Nunito"/>
              <a:cs typeface="Nunito"/>
              <a:sym typeface="Nunito"/>
            </a:endParaRPr>
          </a:p>
          <a:p>
            <a:pPr indent="0" lvl="0" marL="0" marR="0" rtl="0" algn="l">
              <a:lnSpc>
                <a:spcPct val="115000"/>
              </a:lnSpc>
              <a:spcBef>
                <a:spcPts val="800"/>
              </a:spcBef>
              <a:spcAft>
                <a:spcPts val="0"/>
              </a:spcAft>
              <a:buClr>
                <a:srgbClr val="000000"/>
              </a:buClr>
              <a:buSzPts val="1200"/>
              <a:buFont typeface="Arial"/>
              <a:buNone/>
            </a:pPr>
            <a:r>
              <a:t/>
            </a:r>
            <a:endParaRPr b="0" i="0" sz="1200" u="none" cap="none" strike="noStrike">
              <a:solidFill>
                <a:schemeClr val="dk1"/>
              </a:solidFill>
              <a:latin typeface="Courier New"/>
              <a:ea typeface="Courier New"/>
              <a:cs typeface="Courier New"/>
              <a:sym typeface="Courier New"/>
            </a:endParaRPr>
          </a:p>
          <a:p>
            <a:pPr indent="0" lvl="0" marL="0" marR="0" rtl="0" algn="l">
              <a:lnSpc>
                <a:spcPct val="115000"/>
              </a:lnSpc>
              <a:spcBef>
                <a:spcPts val="800"/>
              </a:spcBef>
              <a:spcAft>
                <a:spcPts val="0"/>
              </a:spcAft>
              <a:buClr>
                <a:srgbClr val="000000"/>
              </a:buClr>
              <a:buSzPts val="1600"/>
              <a:buFont typeface="Arial"/>
              <a:buNone/>
            </a:pPr>
            <a:r>
              <a:t/>
            </a:r>
            <a:endParaRPr b="0" i="0" sz="1600" u="none" cap="none" strike="noStrike">
              <a:solidFill>
                <a:srgbClr val="273239"/>
              </a:solidFill>
              <a:latin typeface="Times New Roman"/>
              <a:ea typeface="Times New Roman"/>
              <a:cs typeface="Times New Roman"/>
              <a:sym typeface="Times New Roman"/>
            </a:endParaRPr>
          </a:p>
          <a:p>
            <a:pPr indent="0" lvl="0" marL="0" marR="0" rtl="0" algn="l">
              <a:lnSpc>
                <a:spcPct val="115000"/>
              </a:lnSpc>
              <a:spcBef>
                <a:spcPts val="800"/>
              </a:spcBef>
              <a:spcAft>
                <a:spcPts val="0"/>
              </a:spcAft>
              <a:buClr>
                <a:srgbClr val="000000"/>
              </a:buClr>
              <a:buSzPts val="1600"/>
              <a:buFont typeface="Arial"/>
              <a:buNone/>
            </a:pPr>
            <a:r>
              <a:t/>
            </a:r>
            <a:endParaRPr b="1" i="0" sz="1600" u="none" cap="none" strike="noStrike">
              <a:solidFill>
                <a:srgbClr val="980000"/>
              </a:solidFill>
              <a:latin typeface="Times New Roman"/>
              <a:ea typeface="Times New Roman"/>
              <a:cs typeface="Times New Roman"/>
              <a:sym typeface="Times New Roman"/>
            </a:endParaRPr>
          </a:p>
          <a:p>
            <a:pPr indent="0" lvl="0" marL="0" marR="0" rtl="0" algn="l">
              <a:lnSpc>
                <a:spcPct val="100000"/>
              </a:lnSpc>
              <a:spcBef>
                <a:spcPts val="1000"/>
              </a:spcBef>
              <a:spcAft>
                <a:spcPts val="0"/>
              </a:spcAft>
              <a:buClr>
                <a:srgbClr val="000000"/>
              </a:buClr>
              <a:buSzPts val="2500"/>
              <a:buFont typeface="Arial"/>
              <a:buNone/>
            </a:pPr>
            <a:r>
              <a:t/>
            </a:r>
            <a:endParaRPr b="0" i="0" sz="25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1000"/>
              </a:spcBef>
              <a:spcAft>
                <a:spcPts val="1000"/>
              </a:spcAft>
              <a:buClr>
                <a:srgbClr val="000000"/>
              </a:buClr>
              <a:buSzPts val="2500"/>
              <a:buFont typeface="Arial"/>
              <a:buNone/>
            </a:pPr>
            <a:r>
              <a:t/>
            </a:r>
            <a:endParaRPr b="0" i="0" sz="2500" u="none" cap="none" strike="noStrike">
              <a:solidFill>
                <a:srgbClr val="000000"/>
              </a:solidFill>
              <a:latin typeface="Times New Roman"/>
              <a:ea typeface="Times New Roman"/>
              <a:cs typeface="Times New Roman"/>
              <a:sym typeface="Times New Roman"/>
            </a:endParaRPr>
          </a:p>
        </p:txBody>
      </p:sp>
      <p:pic>
        <p:nvPicPr>
          <p:cNvPr id="166" name="Google Shape;166;g3de47650d83_0_8"/>
          <p:cNvPicPr preferRelativeResize="0"/>
          <p:nvPr/>
        </p:nvPicPr>
        <p:blipFill rotWithShape="1">
          <a:blip r:embed="rId4">
            <a:alphaModFix/>
          </a:blip>
          <a:srcRect b="0" l="0" r="0" t="0"/>
          <a:stretch/>
        </p:blipFill>
        <p:spPr>
          <a:xfrm>
            <a:off x="1243425" y="1493600"/>
            <a:ext cx="534287" cy="365100"/>
          </a:xfrm>
          <a:prstGeom prst="rect">
            <a:avLst/>
          </a:prstGeom>
          <a:noFill/>
          <a:ln>
            <a:noFill/>
          </a:ln>
        </p:spPr>
      </p:pic>
      <p:pic>
        <p:nvPicPr>
          <p:cNvPr id="167" name="Google Shape;167;g3de47650d83_0_8"/>
          <p:cNvPicPr preferRelativeResize="0"/>
          <p:nvPr/>
        </p:nvPicPr>
        <p:blipFill rotWithShape="1">
          <a:blip r:embed="rId5">
            <a:alphaModFix/>
          </a:blip>
          <a:srcRect b="0" l="0" r="0" t="0"/>
          <a:stretch/>
        </p:blipFill>
        <p:spPr>
          <a:xfrm>
            <a:off x="767475" y="2083550"/>
            <a:ext cx="2933700" cy="828675"/>
          </a:xfrm>
          <a:prstGeom prst="rect">
            <a:avLst/>
          </a:prstGeom>
          <a:noFill/>
          <a:ln>
            <a:noFill/>
          </a:ln>
        </p:spPr>
      </p:pic>
      <p:pic>
        <p:nvPicPr>
          <p:cNvPr id="168" name="Google Shape;168;g3de47650d83_0_8"/>
          <p:cNvPicPr preferRelativeResize="0"/>
          <p:nvPr/>
        </p:nvPicPr>
        <p:blipFill rotWithShape="1">
          <a:blip r:embed="rId6">
            <a:alphaModFix/>
          </a:blip>
          <a:srcRect b="0" l="0" r="0" t="0"/>
          <a:stretch/>
        </p:blipFill>
        <p:spPr>
          <a:xfrm>
            <a:off x="4066150" y="2020050"/>
            <a:ext cx="2933700" cy="828675"/>
          </a:xfrm>
          <a:prstGeom prst="rect">
            <a:avLst/>
          </a:prstGeom>
          <a:noFill/>
          <a:ln>
            <a:noFill/>
          </a:ln>
        </p:spPr>
      </p:pic>
      <p:sp>
        <p:nvSpPr>
          <p:cNvPr id="169" name="Google Shape;169;g3de47650d83_0_8"/>
          <p:cNvSpPr txBox="1"/>
          <p:nvPr/>
        </p:nvSpPr>
        <p:spPr>
          <a:xfrm>
            <a:off x="734325" y="3325850"/>
            <a:ext cx="79641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800"/>
              </a:spcAft>
              <a:buClr>
                <a:srgbClr val="000000"/>
              </a:buClr>
              <a:buSzPts val="1600"/>
              <a:buFont typeface="Arial"/>
              <a:buNone/>
            </a:pPr>
            <a:r>
              <a:rPr b="0" i="0" lang="en-US" sz="1600" u="none" cap="none" strike="noStrike">
                <a:solidFill>
                  <a:srgbClr val="273239"/>
                </a:solidFill>
                <a:latin typeface="Times New Roman"/>
                <a:ea typeface="Times New Roman"/>
                <a:cs typeface="Times New Roman"/>
                <a:sym typeface="Times New Roman"/>
              </a:rPr>
              <a:t>Where sx is the scaling factor of x coordinate and sy is the scaling factor of y coordinate</a:t>
            </a:r>
            <a:endParaRPr b="0" i="0" sz="1600" u="none" cap="none" strike="noStrike">
              <a:solidFill>
                <a:srgbClr val="273239"/>
              </a:solidFill>
              <a:latin typeface="Times New Roman"/>
              <a:ea typeface="Times New Roman"/>
              <a:cs typeface="Times New Roman"/>
              <a:sym typeface="Times New Roman"/>
            </a:endParaRPr>
          </a:p>
        </p:txBody>
      </p:sp>
      <p:pic>
        <p:nvPicPr>
          <p:cNvPr id="170" name="Google Shape;170;g3de47650d83_0_8"/>
          <p:cNvPicPr preferRelativeResize="0"/>
          <p:nvPr/>
        </p:nvPicPr>
        <p:blipFill rotWithShape="1">
          <a:blip r:embed="rId7">
            <a:alphaModFix/>
          </a:blip>
          <a:srcRect b="0" l="0" r="0" t="0"/>
          <a:stretch/>
        </p:blipFill>
        <p:spPr>
          <a:xfrm>
            <a:off x="767475" y="4027250"/>
            <a:ext cx="2438400" cy="838200"/>
          </a:xfrm>
          <a:prstGeom prst="rect">
            <a:avLst/>
          </a:prstGeom>
          <a:noFill/>
          <a:ln>
            <a:noFill/>
          </a:ln>
        </p:spPr>
      </p:pic>
      <p:pic>
        <p:nvPicPr>
          <p:cNvPr id="171" name="Google Shape;171;g3de47650d83_0_8"/>
          <p:cNvPicPr preferRelativeResize="0"/>
          <p:nvPr/>
        </p:nvPicPr>
        <p:blipFill rotWithShape="1">
          <a:blip r:embed="rId8">
            <a:alphaModFix/>
          </a:blip>
          <a:srcRect b="0" l="0" r="0" t="0"/>
          <a:stretch/>
        </p:blipFill>
        <p:spPr>
          <a:xfrm>
            <a:off x="3937275" y="4027238"/>
            <a:ext cx="2438400" cy="838200"/>
          </a:xfrm>
          <a:prstGeom prst="rect">
            <a:avLst/>
          </a:prstGeom>
          <a:noFill/>
          <a:ln>
            <a:noFill/>
          </a:ln>
        </p:spPr>
      </p:pic>
      <p:pic>
        <p:nvPicPr>
          <p:cNvPr id="172" name="Google Shape;172;g3de47650d83_0_8"/>
          <p:cNvPicPr preferRelativeResize="0"/>
          <p:nvPr/>
        </p:nvPicPr>
        <p:blipFill rotWithShape="1">
          <a:blip r:embed="rId9">
            <a:alphaModFix/>
          </a:blip>
          <a:srcRect b="0" l="10626" r="16889" t="0"/>
          <a:stretch/>
        </p:blipFill>
        <p:spPr>
          <a:xfrm>
            <a:off x="2380050" y="1415825"/>
            <a:ext cx="483250" cy="4666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76" name="Shape 176"/>
        <p:cNvGrpSpPr/>
        <p:nvPr/>
      </p:nvGrpSpPr>
      <p:grpSpPr>
        <a:xfrm>
          <a:off x="0" y="0"/>
          <a:ext cx="0" cy="0"/>
          <a:chOff x="0" y="0"/>
          <a:chExt cx="0" cy="0"/>
        </a:xfrm>
      </p:grpSpPr>
      <p:sp>
        <p:nvSpPr>
          <p:cNvPr id="177" name="Google Shape;177;g3de47650d83_0_31"/>
          <p:cNvSpPr txBox="1"/>
          <p:nvPr/>
        </p:nvSpPr>
        <p:spPr>
          <a:xfrm>
            <a:off x="3028950" y="6356350"/>
            <a:ext cx="30861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1" i="0" lang="en-US" sz="900" u="none" cap="none" strike="noStrike">
                <a:solidFill>
                  <a:srgbClr val="898989"/>
                </a:solidFill>
                <a:latin typeface="Arial"/>
                <a:ea typeface="Arial"/>
                <a:cs typeface="Arial"/>
                <a:sym typeface="Arial"/>
              </a:rPr>
              <a:t>Department of CSE, Daffodil International University</a:t>
            </a:r>
            <a:endParaRPr b="1" i="0" sz="1400" u="none" cap="none" strike="noStrike">
              <a:solidFill>
                <a:srgbClr val="000000"/>
              </a:solidFill>
              <a:latin typeface="Arial"/>
              <a:ea typeface="Arial"/>
              <a:cs typeface="Arial"/>
              <a:sym typeface="Arial"/>
            </a:endParaRPr>
          </a:p>
        </p:txBody>
      </p:sp>
      <p:sp>
        <p:nvSpPr>
          <p:cNvPr id="178" name="Google Shape;178;g3de47650d83_0_31"/>
          <p:cNvSpPr txBox="1"/>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79" name="Google Shape;179;g3de47650d83_0_31"/>
          <p:cNvSpPr txBox="1"/>
          <p:nvPr/>
        </p:nvSpPr>
        <p:spPr>
          <a:xfrm>
            <a:off x="363825" y="168125"/>
            <a:ext cx="7789500" cy="8004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4400"/>
              <a:buFont typeface="Calibri"/>
              <a:buNone/>
            </a:pPr>
            <a:r>
              <a:rPr b="0" i="0" lang="en-US" sz="4000" u="none" cap="none" strike="noStrike">
                <a:solidFill>
                  <a:schemeClr val="lt1"/>
                </a:solidFill>
                <a:latin typeface="Calibri"/>
                <a:ea typeface="Calibri"/>
                <a:cs typeface="Calibri"/>
                <a:sym typeface="Calibri"/>
              </a:rPr>
              <a:t>Example</a:t>
            </a:r>
            <a:endParaRPr b="0" i="0" sz="3800" u="none" cap="none" strike="noStrike">
              <a:solidFill>
                <a:schemeClr val="lt1"/>
              </a:solidFill>
              <a:latin typeface="Calibri"/>
              <a:ea typeface="Calibri"/>
              <a:cs typeface="Calibri"/>
              <a:sym typeface="Calibri"/>
            </a:endParaRPr>
          </a:p>
        </p:txBody>
      </p:sp>
      <p:pic>
        <p:nvPicPr>
          <p:cNvPr id="180" name="Google Shape;180;g3de47650d83_0_31"/>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803"/>
              </a:srgbClr>
            </a:outerShdw>
          </a:effectLst>
        </p:spPr>
      </p:pic>
      <p:sp>
        <p:nvSpPr>
          <p:cNvPr id="181" name="Google Shape;181;g3de47650d83_0_31"/>
          <p:cNvSpPr txBox="1"/>
          <p:nvPr/>
        </p:nvSpPr>
        <p:spPr>
          <a:xfrm>
            <a:off x="277600" y="1138200"/>
            <a:ext cx="8605800" cy="57054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chemeClr val="dk1"/>
              </a:buClr>
              <a:buSzPts val="1100"/>
              <a:buFont typeface="Arial"/>
              <a:buNone/>
            </a:pPr>
            <a:r>
              <a:rPr b="0" i="0" lang="en-US" sz="1600" u="none" cap="none" strike="noStrike">
                <a:solidFill>
                  <a:schemeClr val="dk1"/>
                </a:solidFill>
                <a:latin typeface="Times New Roman"/>
                <a:ea typeface="Times New Roman"/>
                <a:cs typeface="Times New Roman"/>
                <a:sym typeface="Times New Roman"/>
              </a:rPr>
              <a:t>Example: Let us assume:</a:t>
            </a:r>
            <a:endParaRPr b="0" i="0" sz="16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1100"/>
              <a:buFont typeface="Arial"/>
              <a:buNone/>
            </a:pPr>
            <a:r>
              <a:t/>
            </a:r>
            <a:endParaRPr b="0" i="0" sz="1600" u="none" cap="none" strike="noStrike">
              <a:solidFill>
                <a:schemeClr val="dk1"/>
              </a:solidFill>
              <a:latin typeface="Times New Roman"/>
              <a:ea typeface="Times New Roman"/>
              <a:cs typeface="Times New Roman"/>
              <a:sym typeface="Times New Roman"/>
            </a:endParaRPr>
          </a:p>
          <a:p>
            <a:pPr indent="-330200" lvl="0" marL="457200" marR="0" rtl="0" algn="l">
              <a:lnSpc>
                <a:spcPct val="115000"/>
              </a:lnSpc>
              <a:spcBef>
                <a:spcPts val="0"/>
              </a:spcBef>
              <a:spcAft>
                <a:spcPts val="0"/>
              </a:spcAft>
              <a:buClr>
                <a:schemeClr val="dk1"/>
              </a:buClr>
              <a:buSzPts val="1600"/>
              <a:buFont typeface="Times New Roman"/>
              <a:buChar char="●"/>
            </a:pPr>
            <a:r>
              <a:rPr b="0" i="0" lang="en-US" sz="1600" u="none" cap="none" strike="noStrike">
                <a:solidFill>
                  <a:schemeClr val="dk1"/>
                </a:solidFill>
                <a:latin typeface="Times New Roman"/>
                <a:ea typeface="Times New Roman"/>
                <a:cs typeface="Times New Roman"/>
                <a:sym typeface="Times New Roman"/>
              </a:rPr>
              <a:t>for window,</a:t>
            </a:r>
            <a:endParaRPr b="0" i="0" sz="1600" u="none" cap="none" strike="noStrike">
              <a:solidFill>
                <a:schemeClr val="dk1"/>
              </a:solidFill>
              <a:latin typeface="Times New Roman"/>
              <a:ea typeface="Times New Roman"/>
              <a:cs typeface="Times New Roman"/>
              <a:sym typeface="Times New Roman"/>
            </a:endParaRPr>
          </a:p>
          <a:p>
            <a:pPr indent="0" lvl="0" marL="457200" marR="0" rtl="0" algn="l">
              <a:lnSpc>
                <a:spcPct val="115000"/>
              </a:lnSpc>
              <a:spcBef>
                <a:spcPts val="0"/>
              </a:spcBef>
              <a:spcAft>
                <a:spcPts val="0"/>
              </a:spcAft>
              <a:buClr>
                <a:schemeClr val="dk1"/>
              </a:buClr>
              <a:buSzPts val="1100"/>
              <a:buFont typeface="Arial"/>
              <a:buNone/>
            </a:pPr>
            <a:r>
              <a:rPr b="0" i="0" lang="en-US" sz="1600" u="none" cap="none" strike="noStrike">
                <a:solidFill>
                  <a:schemeClr val="dk1"/>
                </a:solidFill>
                <a:latin typeface="Times New Roman"/>
                <a:ea typeface="Times New Roman"/>
                <a:cs typeface="Times New Roman"/>
                <a:sym typeface="Times New Roman"/>
              </a:rPr>
              <a:t> Xwmin = 20, Xwmax = 80,</a:t>
            </a:r>
            <a:endParaRPr b="0" i="0" sz="1600" u="none" cap="none" strike="noStrike">
              <a:solidFill>
                <a:schemeClr val="dk1"/>
              </a:solidFill>
              <a:latin typeface="Times New Roman"/>
              <a:ea typeface="Times New Roman"/>
              <a:cs typeface="Times New Roman"/>
              <a:sym typeface="Times New Roman"/>
            </a:endParaRPr>
          </a:p>
          <a:p>
            <a:pPr indent="0" lvl="0" marL="457200" marR="0" rtl="0" algn="l">
              <a:lnSpc>
                <a:spcPct val="115000"/>
              </a:lnSpc>
              <a:spcBef>
                <a:spcPts val="0"/>
              </a:spcBef>
              <a:spcAft>
                <a:spcPts val="0"/>
              </a:spcAft>
              <a:buClr>
                <a:schemeClr val="dk1"/>
              </a:buClr>
              <a:buSzPts val="1100"/>
              <a:buFont typeface="Arial"/>
              <a:buNone/>
            </a:pPr>
            <a:r>
              <a:rPr b="0" i="0" lang="en-US" sz="1600" u="none" cap="none" strike="noStrike">
                <a:solidFill>
                  <a:schemeClr val="dk1"/>
                </a:solidFill>
                <a:latin typeface="Times New Roman"/>
                <a:ea typeface="Times New Roman"/>
                <a:cs typeface="Times New Roman"/>
                <a:sym typeface="Times New Roman"/>
              </a:rPr>
              <a:t> Ywmin = 40, Ywmax = 80.</a:t>
            </a:r>
            <a:endParaRPr b="0" i="0" sz="1600" u="none" cap="none" strike="noStrike">
              <a:solidFill>
                <a:schemeClr val="dk1"/>
              </a:solidFill>
              <a:latin typeface="Times New Roman"/>
              <a:ea typeface="Times New Roman"/>
              <a:cs typeface="Times New Roman"/>
              <a:sym typeface="Times New Roman"/>
            </a:endParaRPr>
          </a:p>
          <a:p>
            <a:pPr indent="0" lvl="0" marL="457200" marR="0" rtl="0" algn="l">
              <a:lnSpc>
                <a:spcPct val="115000"/>
              </a:lnSpc>
              <a:spcBef>
                <a:spcPts val="0"/>
              </a:spcBef>
              <a:spcAft>
                <a:spcPts val="0"/>
              </a:spcAft>
              <a:buClr>
                <a:schemeClr val="dk1"/>
              </a:buClr>
              <a:buSzPts val="1100"/>
              <a:buFont typeface="Arial"/>
              <a:buNone/>
            </a:pPr>
            <a:r>
              <a:t/>
            </a:r>
            <a:endParaRPr b="0" i="0" sz="16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rgbClr val="000000"/>
              </a:buClr>
              <a:buSzPts val="1600"/>
              <a:buFont typeface="Arial"/>
              <a:buNone/>
            </a:pPr>
            <a:r>
              <a:rPr b="0" i="0" lang="en-US" sz="1600" u="none" cap="none" strike="noStrike">
                <a:solidFill>
                  <a:schemeClr val="dk1"/>
                </a:solidFill>
                <a:latin typeface="Times New Roman"/>
                <a:ea typeface="Times New Roman"/>
                <a:cs typeface="Times New Roman"/>
                <a:sym typeface="Times New Roman"/>
              </a:rPr>
              <a:t>Now a point ( Xw, Yw ) be ( 30, 80 ) on the window. We have to calculate that point on the viewport i.e ( Xv, Yv ).</a:t>
            </a:r>
            <a:endParaRPr b="0" i="0" sz="16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1000"/>
              </a:spcBef>
              <a:spcAft>
                <a:spcPts val="0"/>
              </a:spcAft>
              <a:buClr>
                <a:srgbClr val="000000"/>
              </a:buClr>
              <a:buSzPts val="1600"/>
              <a:buFont typeface="Arial"/>
              <a:buNone/>
            </a:pPr>
            <a:r>
              <a:rPr b="1" i="0" lang="en-US" sz="1600" u="none" cap="none" strike="noStrike">
                <a:solidFill>
                  <a:srgbClr val="990000"/>
                </a:solidFill>
                <a:latin typeface="Times New Roman"/>
                <a:ea typeface="Times New Roman"/>
                <a:cs typeface="Times New Roman"/>
                <a:sym typeface="Times New Roman"/>
              </a:rPr>
              <a:t>Solution:</a:t>
            </a:r>
            <a:endParaRPr b="1" i="0" sz="1600" u="none" cap="none" strike="noStrike">
              <a:solidFill>
                <a:srgbClr val="990000"/>
              </a:solidFill>
              <a:latin typeface="Times New Roman"/>
              <a:ea typeface="Times New Roman"/>
              <a:cs typeface="Times New Roman"/>
              <a:sym typeface="Times New Roman"/>
            </a:endParaRPr>
          </a:p>
          <a:p>
            <a:pPr indent="0" lvl="0" marL="0" marR="0" rtl="0" algn="l">
              <a:lnSpc>
                <a:spcPct val="115000"/>
              </a:lnSpc>
              <a:spcBef>
                <a:spcPts val="1000"/>
              </a:spcBef>
              <a:spcAft>
                <a:spcPts val="0"/>
              </a:spcAft>
              <a:buClr>
                <a:srgbClr val="000000"/>
              </a:buClr>
              <a:buSzPts val="1600"/>
              <a:buFont typeface="Arial"/>
              <a:buNone/>
            </a:pPr>
            <a:r>
              <a:rPr b="0" i="0" lang="en-US" sz="1600" u="none" cap="none" strike="noStrike">
                <a:solidFill>
                  <a:schemeClr val="dk1"/>
                </a:solidFill>
                <a:latin typeface="Times New Roman"/>
                <a:ea typeface="Times New Roman"/>
                <a:cs typeface="Times New Roman"/>
                <a:sym typeface="Times New Roman"/>
              </a:rPr>
              <a:t>First of all, calculate the scaling factor of x coordinate Sx and the scaling factor of y coordinate Sy using the above-mentioned formula.</a:t>
            </a:r>
            <a:endParaRPr b="0" i="0" sz="16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1000"/>
              </a:spcBef>
              <a:spcAft>
                <a:spcPts val="0"/>
              </a:spcAft>
              <a:buClr>
                <a:srgbClr val="000000"/>
              </a:buClr>
              <a:buSzPts val="1600"/>
              <a:buFont typeface="Arial"/>
              <a:buNone/>
            </a:pPr>
            <a:r>
              <a:rPr b="0" i="0" lang="en-US" sz="1600" u="none" cap="none" strike="noStrike">
                <a:solidFill>
                  <a:schemeClr val="dk1"/>
                </a:solidFill>
                <a:latin typeface="Times New Roman"/>
                <a:ea typeface="Times New Roman"/>
                <a:cs typeface="Times New Roman"/>
                <a:sym typeface="Times New Roman"/>
              </a:rPr>
              <a:t>Sx = ( 60 - 30 ) / ( 80 - 20 ) = 30 / 60 ,       Sy = ( 60 - 40 ) / ( 80 - 40 ) = 20 / 40</a:t>
            </a:r>
            <a:endParaRPr b="0" i="0" sz="16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1000"/>
              </a:spcBef>
              <a:spcAft>
                <a:spcPts val="0"/>
              </a:spcAft>
              <a:buClr>
                <a:srgbClr val="000000"/>
              </a:buClr>
              <a:buSzPts val="1600"/>
              <a:buFont typeface="Arial"/>
              <a:buNone/>
            </a:pPr>
            <a:r>
              <a:rPr b="0" i="0" lang="en-US" sz="1600" u="none" cap="none" strike="noStrike">
                <a:solidFill>
                  <a:schemeClr val="dk1"/>
                </a:solidFill>
                <a:latin typeface="Times New Roman"/>
                <a:ea typeface="Times New Roman"/>
                <a:cs typeface="Times New Roman"/>
                <a:sym typeface="Times New Roman"/>
              </a:rPr>
              <a:t>Now calculate the point on the viewport ( Xv, Yv ).</a:t>
            </a:r>
            <a:endParaRPr b="0" i="0" sz="16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rgbClr val="000000"/>
              </a:buClr>
              <a:buSzPts val="1600"/>
              <a:buFont typeface="Arial"/>
              <a:buNone/>
            </a:pPr>
            <a:r>
              <a:rPr b="0" i="0" lang="en-US" sz="1600" u="none" cap="none" strike="noStrike">
                <a:solidFill>
                  <a:schemeClr val="dk1"/>
                </a:solidFill>
                <a:latin typeface="Times New Roman"/>
                <a:ea typeface="Times New Roman"/>
                <a:cs typeface="Times New Roman"/>
                <a:sym typeface="Times New Roman"/>
              </a:rPr>
              <a:t>Xv = 30 + ( 30 - 20 ) * ( 30 / 60 ) = 35 ,     Yv = 40 + ( 80 - 40 ) * ( 20 / 40 ) = 60</a:t>
            </a:r>
            <a:endParaRPr b="0" i="0" sz="16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rgbClr val="000000"/>
              </a:buClr>
              <a:buSzPts val="1600"/>
              <a:buFont typeface="Arial"/>
              <a:buNone/>
            </a:pPr>
            <a:r>
              <a:t/>
            </a:r>
            <a:endParaRPr b="0" i="0" sz="16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rgbClr val="000000"/>
              </a:buClr>
              <a:buSzPts val="1600"/>
              <a:buFont typeface="Arial"/>
              <a:buNone/>
            </a:pPr>
            <a:r>
              <a:rPr b="0" i="0" lang="en-US" sz="1600" u="none" cap="none" strike="noStrike">
                <a:solidFill>
                  <a:schemeClr val="dk1"/>
                </a:solidFill>
                <a:latin typeface="Times New Roman"/>
                <a:ea typeface="Times New Roman"/>
                <a:cs typeface="Times New Roman"/>
                <a:sym typeface="Times New Roman"/>
              </a:rPr>
              <a:t>So, the point on window ( Xw, Yw ) = ( 30, 80 ) will be ( Xv, Yv) = ( 35, 60 ) on viewport</a:t>
            </a:r>
            <a:endParaRPr b="0" i="0" sz="23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1000"/>
              </a:spcBef>
              <a:spcAft>
                <a:spcPts val="1000"/>
              </a:spcAft>
              <a:buClr>
                <a:srgbClr val="000000"/>
              </a:buClr>
              <a:buSzPts val="2500"/>
              <a:buFont typeface="Arial"/>
              <a:buNone/>
            </a:pPr>
            <a:r>
              <a:t/>
            </a:r>
            <a:endParaRPr b="0" i="0" sz="2500" u="none" cap="none" strike="noStrike">
              <a:solidFill>
                <a:srgbClr val="000000"/>
              </a:solidFill>
              <a:latin typeface="Times New Roman"/>
              <a:ea typeface="Times New Roman"/>
              <a:cs typeface="Times New Roman"/>
              <a:sym typeface="Times New Roman"/>
            </a:endParaRPr>
          </a:p>
        </p:txBody>
      </p:sp>
      <p:sp>
        <p:nvSpPr>
          <p:cNvPr id="182" name="Google Shape;182;g3de47650d83_0_31"/>
          <p:cNvSpPr txBox="1"/>
          <p:nvPr/>
        </p:nvSpPr>
        <p:spPr>
          <a:xfrm>
            <a:off x="4395650" y="1768500"/>
            <a:ext cx="3860700" cy="9975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15000"/>
              </a:lnSpc>
              <a:spcBef>
                <a:spcPts val="0"/>
              </a:spcBef>
              <a:spcAft>
                <a:spcPts val="0"/>
              </a:spcAft>
              <a:buClr>
                <a:schemeClr val="dk1"/>
              </a:buClr>
              <a:buSzPts val="1600"/>
              <a:buFont typeface="Times New Roman"/>
              <a:buChar char="●"/>
            </a:pPr>
            <a:r>
              <a:rPr b="0" i="0" lang="en-US" sz="1600" u="none" cap="none" strike="noStrike">
                <a:solidFill>
                  <a:schemeClr val="dk1"/>
                </a:solidFill>
                <a:latin typeface="Times New Roman"/>
                <a:ea typeface="Times New Roman"/>
                <a:cs typeface="Times New Roman"/>
                <a:sym typeface="Times New Roman"/>
              </a:rPr>
              <a:t>for viewport, </a:t>
            </a:r>
            <a:endParaRPr b="0" i="0" sz="1600" u="none" cap="none" strike="noStrike">
              <a:solidFill>
                <a:schemeClr val="dk1"/>
              </a:solidFill>
              <a:latin typeface="Times New Roman"/>
              <a:ea typeface="Times New Roman"/>
              <a:cs typeface="Times New Roman"/>
              <a:sym typeface="Times New Roman"/>
            </a:endParaRPr>
          </a:p>
          <a:p>
            <a:pPr indent="0" lvl="0" marL="457200" marR="0" rtl="0" algn="l">
              <a:lnSpc>
                <a:spcPct val="115000"/>
              </a:lnSpc>
              <a:spcBef>
                <a:spcPts val="0"/>
              </a:spcBef>
              <a:spcAft>
                <a:spcPts val="0"/>
              </a:spcAft>
              <a:buClr>
                <a:srgbClr val="000000"/>
              </a:buClr>
              <a:buSzPts val="1600"/>
              <a:buFont typeface="Arial"/>
              <a:buNone/>
            </a:pPr>
            <a:r>
              <a:rPr b="0" i="0" lang="en-US" sz="1600" u="none" cap="none" strike="noStrike">
                <a:solidFill>
                  <a:schemeClr val="dk1"/>
                </a:solidFill>
                <a:latin typeface="Times New Roman"/>
                <a:ea typeface="Times New Roman"/>
                <a:cs typeface="Times New Roman"/>
                <a:sym typeface="Times New Roman"/>
              </a:rPr>
              <a:t>Xvmin = 30, Xvmax = 60,</a:t>
            </a:r>
            <a:endParaRPr b="0" i="0" sz="1600" u="none" cap="none" strike="noStrike">
              <a:solidFill>
                <a:schemeClr val="dk1"/>
              </a:solidFill>
              <a:latin typeface="Times New Roman"/>
              <a:ea typeface="Times New Roman"/>
              <a:cs typeface="Times New Roman"/>
              <a:sym typeface="Times New Roman"/>
            </a:endParaRPr>
          </a:p>
          <a:p>
            <a:pPr indent="0" lvl="0" marL="457200" marR="0" rtl="0" algn="l">
              <a:lnSpc>
                <a:spcPct val="115000"/>
              </a:lnSpc>
              <a:spcBef>
                <a:spcPts val="0"/>
              </a:spcBef>
              <a:spcAft>
                <a:spcPts val="0"/>
              </a:spcAft>
              <a:buClr>
                <a:srgbClr val="000000"/>
              </a:buClr>
              <a:buSzPts val="1600"/>
              <a:buFont typeface="Arial"/>
              <a:buNone/>
            </a:pPr>
            <a:r>
              <a:rPr b="0" i="0" lang="en-US" sz="1600" u="none" cap="none" strike="noStrike">
                <a:solidFill>
                  <a:schemeClr val="dk1"/>
                </a:solidFill>
                <a:latin typeface="Times New Roman"/>
                <a:ea typeface="Times New Roman"/>
                <a:cs typeface="Times New Roman"/>
                <a:sym typeface="Times New Roman"/>
              </a:rPr>
              <a:t> Yvmin = 40, Yvmax = 60.</a:t>
            </a:r>
            <a:endParaRPr b="0" i="0" sz="16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17"/>
          <p:cNvSpPr txBox="1"/>
          <p:nvPr>
            <p:ph type="title"/>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3300"/>
              <a:buFont typeface="Calibri"/>
              <a:buNone/>
            </a:pPr>
            <a:r>
              <a:rPr b="0" i="0" lang="en-US" sz="3300" u="none">
                <a:solidFill>
                  <a:schemeClr val="dk1"/>
                </a:solidFill>
                <a:latin typeface="Calibri"/>
                <a:ea typeface="Calibri"/>
                <a:cs typeface="Calibri"/>
                <a:sym typeface="Calibri"/>
              </a:rPr>
              <a:t> </a:t>
            </a:r>
            <a:endParaRPr/>
          </a:p>
        </p:txBody>
      </p:sp>
      <p:pic>
        <p:nvPicPr>
          <p:cNvPr id="189" name="Google Shape;189;p17"/>
          <p:cNvPicPr preferRelativeResize="0"/>
          <p:nvPr>
            <p:ph idx="1" type="body"/>
          </p:nvPr>
        </p:nvPicPr>
        <p:blipFill rotWithShape="1">
          <a:blip r:embed="rId3">
            <a:alphaModFix/>
          </a:blip>
          <a:srcRect b="0" l="0" r="0" t="0"/>
          <a:stretch/>
        </p:blipFill>
        <p:spPr>
          <a:xfrm>
            <a:off x="1671637" y="1295400"/>
            <a:ext cx="5800725" cy="4351337"/>
          </a:xfrm>
          <a:prstGeom prst="rect">
            <a:avLst/>
          </a:prstGeom>
          <a:noFill/>
          <a:ln>
            <a:noFill/>
          </a:ln>
        </p:spPr>
      </p:pic>
      <p:pic>
        <p:nvPicPr>
          <p:cNvPr id="190" name="Google Shape;190;p17"/>
          <p:cNvPicPr preferRelativeResize="0"/>
          <p:nvPr/>
        </p:nvPicPr>
        <p:blipFill rotWithShape="1">
          <a:blip r:embed="rId4">
            <a:alphaModFix/>
          </a:blip>
          <a:srcRect b="0" l="0" r="0" t="0"/>
          <a:stretch/>
        </p:blipFill>
        <p:spPr>
          <a:xfrm>
            <a:off x="8077200" y="22225"/>
            <a:ext cx="1371600" cy="685800"/>
          </a:xfrm>
          <a:prstGeom prst="rect">
            <a:avLst/>
          </a:prstGeom>
          <a:noFill/>
          <a:ln>
            <a:noFill/>
          </a:ln>
        </p:spPr>
      </p:pic>
      <p:sp>
        <p:nvSpPr>
          <p:cNvPr id="191" name="Google Shape;191;p17"/>
          <p:cNvSpPr txBox="1"/>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cap="none" strike="noStrike">
                <a:solidFill>
                  <a:srgbClr val="898989"/>
                </a:solidFill>
                <a:latin typeface="Arial"/>
                <a:ea typeface="Arial"/>
                <a:cs typeface="Arial"/>
                <a:sym typeface="Arial"/>
              </a:rPr>
              <a:t>Department of CSE, Daffodil International University</a:t>
            </a:r>
            <a:endParaRPr b="0" i="0" sz="1400" u="none" cap="none" strike="noStrike">
              <a:solidFill>
                <a:srgbClr val="000000"/>
              </a:solidFill>
              <a:latin typeface="Arial"/>
              <a:ea typeface="Arial"/>
              <a:cs typeface="Arial"/>
              <a:sym typeface="Arial"/>
            </a:endParaRPr>
          </a:p>
        </p:txBody>
      </p:sp>
      <p:sp>
        <p:nvSpPr>
          <p:cNvPr id="192" name="Google Shape;192;p17"/>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89"/>
                                        </p:tgtEl>
                                        <p:attrNameLst>
                                          <p:attrName>style.visibility</p:attrName>
                                        </p:attrNameLst>
                                      </p:cBhvr>
                                      <p:to>
                                        <p:strVal val="visible"/>
                                      </p:to>
                                    </p:set>
                                    <p:anim calcmode="lin" valueType="num">
                                      <p:cBhvr additive="base">
                                        <p:cTn dur="1000"/>
                                        <p:tgtEl>
                                          <p:spTgt spid="189"/>
                                        </p:tgtEl>
                                        <p:attrNameLst>
                                          <p:attrName>ppt_w</p:attrName>
                                        </p:attrNameLst>
                                      </p:cBhvr>
                                      <p:tavLst>
                                        <p:tav fmla="" tm="0">
                                          <p:val>
                                            <p:strVal val="0"/>
                                          </p:val>
                                        </p:tav>
                                        <p:tav fmla="" tm="100000">
                                          <p:val>
                                            <p:strVal val="#ppt_w"/>
                                          </p:val>
                                        </p:tav>
                                      </p:tavLst>
                                    </p:anim>
                                    <p:anim calcmode="lin" valueType="num">
                                      <p:cBhvr additive="base">
                                        <p:cTn dur="1000"/>
                                        <p:tgtEl>
                                          <p:spTgt spid="189"/>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2006-08-22T08:27:31Z</dcterms:created>
  <dc:creator>Brian Mac Namee</dc:creator>
</cp:coreProperties>
</file>