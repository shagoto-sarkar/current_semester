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6858000" cx="9144000"/>
  <p:notesSz cx="9296400" cy="7010400"/>
  <p:embeddedFontLst>
    <p:embeddedFont>
      <p:font typeface="Roboto"/>
      <p:regular r:id="rId24"/>
      <p:bold r:id="rId25"/>
      <p:italic r:id="rId26"/>
      <p:boldItalic r:id="rId27"/>
    </p:embeddedFont>
    <p:embeddedFont>
      <p:font typeface="Nova Mono"/>
      <p:regular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39">
          <p15:clr>
            <a:srgbClr val="000000"/>
          </p15:clr>
        </p15:guide>
        <p15:guide id="2" pos="2879">
          <p15:clr>
            <a:srgbClr val="000000"/>
          </p15:clr>
        </p15:guide>
      </p15:sldGuideLst>
    </p:ext>
    <p:ext uri="GoogleSlidesCustomDataVersion2">
      <go:slidesCustomData xmlns:go="http://customooxmlschemas.google.com/" r:id="rId29" roundtripDataSignature="AMtx7mh9FMzpeXtZ2ddmxakxruMKiUVL9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39" orient="horz"/>
        <p:guide pos="2879"/>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Roboto-regular.fntdata"/><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italic.fntdata"/><Relationship Id="rId25" Type="http://schemas.openxmlformats.org/officeDocument/2006/relationships/font" Target="fonts/Roboto-bold.fntdata"/><Relationship Id="rId28" Type="http://schemas.openxmlformats.org/officeDocument/2006/relationships/font" Target="fonts/NovaMono-regular.fntdata"/><Relationship Id="rId27" Type="http://schemas.openxmlformats.org/officeDocument/2006/relationships/font" Target="fonts/Roboto-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4029075" cy="350837"/>
          </a:xfrm>
          <a:prstGeom prst="rect">
            <a:avLst/>
          </a:prstGeom>
          <a:noFill/>
          <a:ln>
            <a:noFill/>
          </a:ln>
        </p:spPr>
        <p:txBody>
          <a:bodyPr anchorCtr="0" anchor="t" bIns="46575" lIns="93175" spcFirstLastPara="1" rIns="93175" wrap="square" tIns="4657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5265737" y="0"/>
            <a:ext cx="4029075" cy="350837"/>
          </a:xfrm>
          <a:prstGeom prst="rect">
            <a:avLst/>
          </a:prstGeom>
          <a:noFill/>
          <a:ln>
            <a:noFill/>
          </a:ln>
        </p:spPr>
        <p:txBody>
          <a:bodyPr anchorCtr="0" anchor="t" bIns="46575" lIns="93175" spcFirstLastPara="1" rIns="93175" wrap="square" tIns="4657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930275" y="3330575"/>
            <a:ext cx="7435850" cy="3154362"/>
          </a:xfrm>
          <a:prstGeom prst="rect">
            <a:avLst/>
          </a:prstGeom>
          <a:noFill/>
          <a:ln>
            <a:noFill/>
          </a:ln>
        </p:spPr>
        <p:txBody>
          <a:bodyPr anchorCtr="0" anchor="t" bIns="46575" lIns="93175" spcFirstLastPara="1" rIns="93175" wrap="square" tIns="46575">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6657975"/>
            <a:ext cx="4029075" cy="350837"/>
          </a:xfrm>
          <a:prstGeom prst="rect">
            <a:avLst/>
          </a:prstGeom>
          <a:noFill/>
          <a:ln>
            <a:noFill/>
          </a:ln>
        </p:spPr>
        <p:txBody>
          <a:bodyPr anchorCtr="0" anchor="b" bIns="46575" lIns="93175" spcFirstLastPara="1" rIns="93175" wrap="square" tIns="46575">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5265737" y="6657975"/>
            <a:ext cx="4029075" cy="350837"/>
          </a:xfrm>
          <a:prstGeom prst="rect">
            <a:avLst/>
          </a:prstGeom>
          <a:noFill/>
          <a:ln>
            <a:noFill/>
          </a:ln>
        </p:spPr>
        <p:txBody>
          <a:bodyPr anchorCtr="0" anchor="b" bIns="46575" lIns="93175" spcFirstLastPara="1" rIns="93175" wrap="square" tIns="465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6" name="Google Shape;86;p1:notes"/>
          <p:cNvSpPr txBox="1"/>
          <p:nvPr>
            <p:ph idx="1" type="body"/>
          </p:nvPr>
        </p:nvSpPr>
        <p:spPr>
          <a:xfrm>
            <a:off x="930275" y="3330575"/>
            <a:ext cx="7435850" cy="3154362"/>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87" name="Google Shape;87;p1:notes"/>
          <p:cNvSpPr txBox="1"/>
          <p:nvPr/>
        </p:nvSpPr>
        <p:spPr>
          <a:xfrm>
            <a:off x="5265737" y="6657975"/>
            <a:ext cx="4029075" cy="350837"/>
          </a:xfrm>
          <a:prstGeom prst="rect">
            <a:avLst/>
          </a:prstGeom>
          <a:noFill/>
          <a:ln>
            <a:noFill/>
          </a:ln>
        </p:spPr>
        <p:txBody>
          <a:bodyPr anchorCtr="0" anchor="b" bIns="46575" lIns="93175" spcFirstLastPara="1" rIns="93175" wrap="square" tIns="465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2:notes"/>
          <p:cNvSpPr txBox="1"/>
          <p:nvPr>
            <p:ph idx="1" type="body"/>
          </p:nvPr>
        </p:nvSpPr>
        <p:spPr>
          <a:xfrm>
            <a:off x="930275" y="3330575"/>
            <a:ext cx="7435850" cy="3154362"/>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97" name="Google Shape;97;p2: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bb5fbf5691_0_28: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06" name="Google Shape;106;g3bb5fbf5691_0_28: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4:notes"/>
          <p:cNvSpPr txBox="1"/>
          <p:nvPr>
            <p:ph idx="1" type="body"/>
          </p:nvPr>
        </p:nvSpPr>
        <p:spPr>
          <a:xfrm>
            <a:off x="930275" y="3330575"/>
            <a:ext cx="7435850" cy="3154362"/>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15" name="Google Shape;115;p4: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bb5fbf5691_0_52: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26" name="Google Shape;126;g3bb5fbf5691_0_52: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cc01153d18_0_26: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37" name="Google Shape;137;g3cc01153d18_0_26: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bb5fbf5691_0_101: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46" name="Google Shape;146;g3bb5fbf5691_0_101: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cc01153d18_0_38: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56" name="Google Shape;156;g3cc01153d18_0_38: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cc01153d18_0_58: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68" name="Google Shape;168;g3cc01153d18_0_58: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bb5fbf5691_0_190: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79" name="Google Shape;179;g3bb5fbf5691_0_190: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cc01153d18_0_79: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88" name="Google Shape;188;g3cc01153d18_0_79: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bbe9322812_0_104: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198" name="Google Shape;198;g3bbe9322812_0_104: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cc01153d18_0_100: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08" name="Google Shape;208;g3cc01153d18_0_100: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cc01153d18_0_120: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17" name="Google Shape;217;g3cc01153d18_0_120: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cc01153d18_0_135: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26" name="Google Shape;226;g3cc01153d18_0_135: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cc01153d18_0_146: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35" name="Google Shape;235;g3cc01153d18_0_146: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cc01153d18_0_154:notes"/>
          <p:cNvSpPr txBox="1"/>
          <p:nvPr>
            <p:ph idx="1" type="body"/>
          </p:nvPr>
        </p:nvSpPr>
        <p:spPr>
          <a:xfrm>
            <a:off x="930275" y="3330575"/>
            <a:ext cx="7435800" cy="3154500"/>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44" name="Google Shape;244;g3cc01153d18_0_154: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7:notes"/>
          <p:cNvSpPr/>
          <p:nvPr>
            <p:ph idx="2" type="sldImg"/>
          </p:nvPr>
        </p:nvSpPr>
        <p:spPr>
          <a:xfrm>
            <a:off x="2895600" y="525462"/>
            <a:ext cx="3505200" cy="2628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4" name="Google Shape;254;p17:notes"/>
          <p:cNvSpPr txBox="1"/>
          <p:nvPr>
            <p:ph idx="1" type="body"/>
          </p:nvPr>
        </p:nvSpPr>
        <p:spPr>
          <a:xfrm>
            <a:off x="930275" y="3330575"/>
            <a:ext cx="7435850" cy="3154362"/>
          </a:xfrm>
          <a:prstGeom prst="rect">
            <a:avLst/>
          </a:prstGeom>
          <a:noFill/>
          <a:ln>
            <a:noFill/>
          </a:ln>
        </p:spPr>
        <p:txBody>
          <a:bodyPr anchorCtr="0" anchor="t" bIns="46575" lIns="93175" spcFirstLastPara="1" rIns="93175" wrap="square" tIns="46575">
            <a:noAutofit/>
          </a:bodyPr>
          <a:lstStyle/>
          <a:p>
            <a:pPr indent="0" lvl="0" marL="0" rtl="0" algn="l">
              <a:lnSpc>
                <a:spcPct val="100000"/>
              </a:lnSpc>
              <a:spcBef>
                <a:spcPts val="0"/>
              </a:spcBef>
              <a:spcAft>
                <a:spcPts val="0"/>
              </a:spcAft>
              <a:buSzPts val="1400"/>
              <a:buNone/>
            </a:pPr>
            <a:r>
              <a:t/>
            </a:r>
            <a:endParaRPr/>
          </a:p>
        </p:txBody>
      </p:sp>
      <p:sp>
        <p:nvSpPr>
          <p:cNvPr id="255" name="Google Shape;255;p17:notes"/>
          <p:cNvSpPr txBox="1"/>
          <p:nvPr/>
        </p:nvSpPr>
        <p:spPr>
          <a:xfrm>
            <a:off x="5265737" y="6657975"/>
            <a:ext cx="4029075" cy="350837"/>
          </a:xfrm>
          <a:prstGeom prst="rect">
            <a:avLst/>
          </a:prstGeom>
          <a:noFill/>
          <a:ln>
            <a:noFill/>
          </a:ln>
        </p:spPr>
        <p:txBody>
          <a:bodyPr anchorCtr="0" anchor="b" bIns="46575" lIns="93175" spcFirstLastPara="1" rIns="93175" wrap="square" tIns="4657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9"/>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9"/>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18" name="Google Shape;18;p19"/>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9"/>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9"/>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0"/>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0"/>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4" name="Google Shape;24;p20"/>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0"/>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0"/>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7" name="Shape 27"/>
        <p:cNvGrpSpPr/>
        <p:nvPr/>
      </p:nvGrpSpPr>
      <p:grpSpPr>
        <a:xfrm>
          <a:off x="0" y="0"/>
          <a:ext cx="0" cy="0"/>
          <a:chOff x="0" y="0"/>
          <a:chExt cx="0" cy="0"/>
        </a:xfrm>
      </p:grpSpPr>
      <p:sp>
        <p:nvSpPr>
          <p:cNvPr id="28" name="Google Shape;28;p21"/>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1"/>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0" name="Google Shape;30;p21"/>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1"/>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1"/>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33" name="Shape 33"/>
        <p:cNvGrpSpPr/>
        <p:nvPr/>
      </p:nvGrpSpPr>
      <p:grpSpPr>
        <a:xfrm>
          <a:off x="0" y="0"/>
          <a:ext cx="0" cy="0"/>
          <a:chOff x="0" y="0"/>
          <a:chExt cx="0" cy="0"/>
        </a:xfrm>
      </p:grpSpPr>
      <p:sp>
        <p:nvSpPr>
          <p:cNvPr id="34" name="Google Shape;34;p22"/>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2"/>
          <p:cNvSpPr txBox="1"/>
          <p:nvPr>
            <p:ph idx="1" type="body"/>
          </p:nvPr>
        </p:nvSpPr>
        <p:spPr>
          <a:xfrm rot="5400000">
            <a:off x="2396332" y="57943"/>
            <a:ext cx="4351337"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6" name="Google Shape;36;p22"/>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22"/>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2"/>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9" name="Shape 39"/>
        <p:cNvGrpSpPr/>
        <p:nvPr/>
      </p:nvGrpSpPr>
      <p:grpSpPr>
        <a:xfrm>
          <a:off x="0" y="0"/>
          <a:ext cx="0" cy="0"/>
          <a:chOff x="0" y="0"/>
          <a:chExt cx="0" cy="0"/>
        </a:xfrm>
      </p:grpSpPr>
      <p:sp>
        <p:nvSpPr>
          <p:cNvPr id="40" name="Google Shape;40;p23"/>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3"/>
          <p:cNvSpPr/>
          <p:nvPr>
            <p:ph idx="2" type="pic"/>
          </p:nvPr>
        </p:nvSpPr>
        <p:spPr>
          <a:xfrm>
            <a:off x="3887391" y="987426"/>
            <a:ext cx="4629150" cy="4873625"/>
          </a:xfrm>
          <a:prstGeom prst="rect">
            <a:avLst/>
          </a:prstGeom>
          <a:noFill/>
          <a:ln>
            <a:noFill/>
          </a:ln>
        </p:spPr>
      </p:sp>
      <p:sp>
        <p:nvSpPr>
          <p:cNvPr id="42" name="Google Shape;42;p23"/>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43" name="Google Shape;43;p23"/>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3"/>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23"/>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6" name="Shape 46"/>
        <p:cNvGrpSpPr/>
        <p:nvPr/>
      </p:nvGrpSpPr>
      <p:grpSpPr>
        <a:xfrm>
          <a:off x="0" y="0"/>
          <a:ext cx="0" cy="0"/>
          <a:chOff x="0" y="0"/>
          <a:chExt cx="0" cy="0"/>
        </a:xfrm>
      </p:grpSpPr>
      <p:sp>
        <p:nvSpPr>
          <p:cNvPr id="47" name="Google Shape;47;p24"/>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4"/>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49" name="Google Shape;49;p24"/>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50" name="Google Shape;50;p24"/>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4"/>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4"/>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25"/>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5"/>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26"/>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6"/>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6"/>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26"/>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27"/>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7"/>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65" name="Google Shape;65;p27"/>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6" name="Google Shape;66;p27"/>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67" name="Google Shape;67;p27"/>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68" name="Google Shape;68;p27"/>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27"/>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7"/>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1" name="Shape 71"/>
        <p:cNvGrpSpPr/>
        <p:nvPr/>
      </p:nvGrpSpPr>
      <p:grpSpPr>
        <a:xfrm>
          <a:off x="0" y="0"/>
          <a:ext cx="0" cy="0"/>
          <a:chOff x="0" y="0"/>
          <a:chExt cx="0" cy="0"/>
        </a:xfrm>
      </p:grpSpPr>
      <p:sp>
        <p:nvSpPr>
          <p:cNvPr id="72" name="Google Shape;72;p28"/>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8"/>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4" name="Google Shape;74;p28"/>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5" name="Google Shape;75;p28"/>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8"/>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8"/>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8" name="Shape 78"/>
        <p:cNvGrpSpPr/>
        <p:nvPr/>
      </p:nvGrpSpPr>
      <p:grpSpPr>
        <a:xfrm>
          <a:off x="0" y="0"/>
          <a:ext cx="0" cy="0"/>
          <a:chOff x="0" y="0"/>
          <a:chExt cx="0" cy="0"/>
        </a:xfrm>
      </p:grpSpPr>
      <p:sp>
        <p:nvSpPr>
          <p:cNvPr id="79" name="Google Shape;79;p29"/>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9"/>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81" name="Google Shape;81;p29"/>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9"/>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900">
                <a:solidFill>
                  <a:srgbClr val="89898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9"/>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8"/>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8"/>
          <p:cNvSpPr txBox="1"/>
          <p:nvPr>
            <p:ph idx="1" type="body"/>
          </p:nvPr>
        </p:nvSpPr>
        <p:spPr>
          <a:xfrm>
            <a:off x="628650" y="1825625"/>
            <a:ext cx="7886700" cy="4351337"/>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 name="Google Shape;12;p18"/>
          <p:cNvSpPr txBox="1"/>
          <p:nvPr>
            <p:ph idx="10" type="dt"/>
          </p:nvPr>
        </p:nvSpPr>
        <p:spPr>
          <a:xfrm>
            <a:off x="628650" y="6356350"/>
            <a:ext cx="20574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rgbClr val="898989"/>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8"/>
          <p:cNvSpPr txBox="1"/>
          <p:nvPr>
            <p:ph idx="11" type="ftr"/>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900" u="none" cap="none" strike="noStrike">
                <a:solidFill>
                  <a:srgbClr val="898989"/>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8"/>
          <p:cNvSpPr txBox="1"/>
          <p:nvPr>
            <p:ph idx="12" type="sldNum"/>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1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0.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ctrTitle"/>
          </p:nvPr>
        </p:nvSpPr>
        <p:spPr>
          <a:xfrm>
            <a:off x="1055800" y="730200"/>
            <a:ext cx="6838500" cy="18096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00000"/>
              <a:buFont typeface="Calibri"/>
              <a:buNone/>
            </a:pPr>
            <a:br>
              <a:rPr b="0" i="0" lang="en-US" sz="4100" u="none">
                <a:solidFill>
                  <a:schemeClr val="dk1"/>
                </a:solidFill>
                <a:latin typeface="Calibri"/>
                <a:ea typeface="Calibri"/>
                <a:cs typeface="Calibri"/>
                <a:sym typeface="Calibri"/>
              </a:rPr>
            </a:br>
            <a:r>
              <a:rPr b="1" i="0" lang="en-US" sz="3600" u="none">
                <a:solidFill>
                  <a:schemeClr val="dk1"/>
                </a:solidFill>
                <a:latin typeface="Calibri"/>
                <a:ea typeface="Calibri"/>
                <a:cs typeface="Calibri"/>
                <a:sym typeface="Calibri"/>
              </a:rPr>
              <a:t>Computer Graphics</a:t>
            </a:r>
            <a:br>
              <a:rPr b="1" i="0" lang="en-US" sz="3600" u="none">
                <a:solidFill>
                  <a:schemeClr val="dk1"/>
                </a:solidFill>
                <a:latin typeface="Calibri"/>
                <a:ea typeface="Calibri"/>
                <a:cs typeface="Calibri"/>
                <a:sym typeface="Calibri"/>
              </a:rPr>
            </a:br>
            <a:r>
              <a:rPr b="1" lang="en-US" sz="3266">
                <a:solidFill>
                  <a:srgbClr val="0B5394"/>
                </a:solidFill>
              </a:rPr>
              <a:t>Line Clipping</a:t>
            </a:r>
            <a:endParaRPr b="1" sz="3600">
              <a:solidFill>
                <a:srgbClr val="0B5394"/>
              </a:solidFill>
            </a:endParaRPr>
          </a:p>
          <a:p>
            <a:pPr indent="0" lvl="0" marL="0" rtl="0" algn="ctr">
              <a:lnSpc>
                <a:spcPct val="90000"/>
              </a:lnSpc>
              <a:spcBef>
                <a:spcPts val="0"/>
              </a:spcBef>
              <a:spcAft>
                <a:spcPts val="0"/>
              </a:spcAft>
              <a:buClr>
                <a:schemeClr val="dk1"/>
              </a:buClr>
              <a:buSzPct val="136666"/>
              <a:buFont typeface="Calibri"/>
              <a:buNone/>
            </a:pPr>
            <a:r>
              <a:rPr b="1" lang="en-US" sz="3000">
                <a:solidFill>
                  <a:srgbClr val="85200C"/>
                </a:solidFill>
              </a:rPr>
              <a:t>Lecture 11</a:t>
            </a:r>
            <a:endParaRPr>
              <a:solidFill>
                <a:srgbClr val="85200C"/>
              </a:solidFill>
            </a:endParaRPr>
          </a:p>
        </p:txBody>
      </p:sp>
      <p:sp>
        <p:nvSpPr>
          <p:cNvPr id="90" name="Google Shape;90;p1"/>
          <p:cNvSpPr txBox="1"/>
          <p:nvPr>
            <p:ph idx="1" type="subTitle"/>
          </p:nvPr>
        </p:nvSpPr>
        <p:spPr>
          <a:xfrm>
            <a:off x="263800" y="4964425"/>
            <a:ext cx="8422500" cy="15066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chemeClr val="dk1"/>
              </a:buClr>
              <a:buSzPts val="1800"/>
              <a:buNone/>
            </a:pPr>
            <a:r>
              <a:t/>
            </a:r>
            <a:endParaRPr b="0" i="0" sz="1800" u="none">
              <a:solidFill>
                <a:schemeClr val="dk1"/>
              </a:solidFill>
              <a:latin typeface="Calibri"/>
              <a:ea typeface="Calibri"/>
              <a:cs typeface="Calibri"/>
              <a:sym typeface="Calibri"/>
            </a:endParaRPr>
          </a:p>
          <a:p>
            <a:pPr indent="0" lvl="0" marL="0" rtl="0" algn="ctr">
              <a:lnSpc>
                <a:spcPct val="90000"/>
              </a:lnSpc>
              <a:spcBef>
                <a:spcPts val="700"/>
              </a:spcBef>
              <a:spcAft>
                <a:spcPts val="0"/>
              </a:spcAft>
              <a:buClr>
                <a:schemeClr val="dk1"/>
              </a:buClr>
              <a:buSzPts val="1800"/>
              <a:buNone/>
            </a:pPr>
            <a:r>
              <a:rPr b="1" lang="en-US">
                <a:solidFill>
                  <a:srgbClr val="980000"/>
                </a:solidFill>
              </a:rPr>
              <a:t>Syada Tasmia Alvi</a:t>
            </a:r>
            <a:endParaRPr b="1">
              <a:solidFill>
                <a:srgbClr val="980000"/>
              </a:solidFill>
            </a:endParaRPr>
          </a:p>
          <a:p>
            <a:pPr indent="0" lvl="0" marL="0" rtl="0" algn="ctr">
              <a:lnSpc>
                <a:spcPct val="90000"/>
              </a:lnSpc>
              <a:spcBef>
                <a:spcPts val="700"/>
              </a:spcBef>
              <a:spcAft>
                <a:spcPts val="0"/>
              </a:spcAft>
              <a:buClr>
                <a:schemeClr val="dk1"/>
              </a:buClr>
              <a:buSzPts val="1800"/>
              <a:buNone/>
            </a:pPr>
            <a:r>
              <a:rPr b="1" lang="en-US">
                <a:solidFill>
                  <a:srgbClr val="0B5394"/>
                </a:solidFill>
              </a:rPr>
              <a:t>Senior Lecturer</a:t>
            </a:r>
            <a:br>
              <a:rPr b="1" i="0" lang="en-US" sz="1800" u="none">
                <a:solidFill>
                  <a:srgbClr val="0B5394"/>
                </a:solidFill>
              </a:rPr>
            </a:br>
            <a:r>
              <a:rPr b="1" i="0" lang="en-US" sz="1800" u="none">
                <a:solidFill>
                  <a:srgbClr val="1C4587"/>
                </a:solidFill>
              </a:rPr>
              <a:t>Department of Computer Science and Engineering</a:t>
            </a:r>
            <a:br>
              <a:rPr b="1" i="0" lang="en-US" sz="1800" u="none">
                <a:solidFill>
                  <a:srgbClr val="1C4587"/>
                </a:solidFill>
              </a:rPr>
            </a:br>
            <a:r>
              <a:rPr b="1" i="0" lang="en-US" sz="1800" u="none">
                <a:solidFill>
                  <a:srgbClr val="1C4587"/>
                </a:solidFill>
              </a:rPr>
              <a:t>Daffodil International University, DIU</a:t>
            </a:r>
            <a:endParaRPr b="1">
              <a:solidFill>
                <a:srgbClr val="1C4587"/>
              </a:solidFill>
            </a:endParaRPr>
          </a:p>
        </p:txBody>
      </p:sp>
      <p:sp>
        <p:nvSpPr>
          <p:cNvPr descr="Diu Logo PNG Images - CleanPNG" id="91" name="Google Shape;91;p1"/>
          <p:cNvSpPr txBox="1"/>
          <p:nvPr/>
        </p:nvSpPr>
        <p:spPr>
          <a:xfrm>
            <a:off x="155575" y="-144462"/>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pic>
        <p:nvPicPr>
          <p:cNvPr id="92" name="Google Shape;92;p1"/>
          <p:cNvPicPr preferRelativeResize="0"/>
          <p:nvPr/>
        </p:nvPicPr>
        <p:blipFill rotWithShape="1">
          <a:blip r:embed="rId3">
            <a:alphaModFix/>
          </a:blip>
          <a:srcRect b="0" l="0" r="0" t="0"/>
          <a:stretch/>
        </p:blipFill>
        <p:spPr>
          <a:xfrm>
            <a:off x="3789250" y="160350"/>
            <a:ext cx="1371600" cy="685800"/>
          </a:xfrm>
          <a:prstGeom prst="rect">
            <a:avLst/>
          </a:prstGeom>
          <a:noFill/>
          <a:ln>
            <a:noFill/>
          </a:ln>
        </p:spPr>
      </p:pic>
      <p:sp>
        <p:nvSpPr>
          <p:cNvPr id="93" name="Google Shape;93;p1"/>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pic>
        <p:nvPicPr>
          <p:cNvPr id="94" name="Google Shape;94;p1"/>
          <p:cNvPicPr preferRelativeResize="0"/>
          <p:nvPr/>
        </p:nvPicPr>
        <p:blipFill rotWithShape="1">
          <a:blip r:embed="rId4">
            <a:alphaModFix/>
          </a:blip>
          <a:srcRect b="0" l="0" r="0" t="0"/>
          <a:stretch/>
        </p:blipFill>
        <p:spPr>
          <a:xfrm>
            <a:off x="2650850" y="2672025"/>
            <a:ext cx="3842299" cy="234904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8" name="Shape 98"/>
        <p:cNvGrpSpPr/>
        <p:nvPr/>
      </p:nvGrpSpPr>
      <p:grpSpPr>
        <a:xfrm>
          <a:off x="0" y="0"/>
          <a:ext cx="0" cy="0"/>
          <a:chOff x="0" y="0"/>
          <a:chExt cx="0" cy="0"/>
        </a:xfrm>
      </p:grpSpPr>
      <p:sp>
        <p:nvSpPr>
          <p:cNvPr id="99" name="Google Shape;99;p2"/>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1" i="0" lang="en-US" sz="900" u="none" cap="none" strike="noStrike">
                <a:solidFill>
                  <a:srgbClr val="0B5394"/>
                </a:solidFill>
                <a:latin typeface="Arial"/>
                <a:ea typeface="Arial"/>
                <a:cs typeface="Arial"/>
                <a:sym typeface="Arial"/>
              </a:rPr>
              <a:t>Department of CSE, Daffodil International University</a:t>
            </a:r>
            <a:endParaRPr b="1" i="0" sz="1400" u="none" cap="none" strike="noStrike">
              <a:solidFill>
                <a:srgbClr val="0B5394"/>
              </a:solidFill>
              <a:latin typeface="Arial"/>
              <a:ea typeface="Arial"/>
              <a:cs typeface="Arial"/>
              <a:sym typeface="Arial"/>
            </a:endParaRPr>
          </a:p>
        </p:txBody>
      </p:sp>
      <p:sp>
        <p:nvSpPr>
          <p:cNvPr id="100" name="Google Shape;100;p2"/>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pic>
        <p:nvPicPr>
          <p:cNvPr id="101" name="Google Shape;101;p2"/>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102" name="Google Shape;102;p2"/>
          <p:cNvSpPr txBox="1"/>
          <p:nvPr/>
        </p:nvSpPr>
        <p:spPr>
          <a:xfrm>
            <a:off x="363825" y="168125"/>
            <a:ext cx="7789500" cy="8004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4400"/>
              <a:buFont typeface="Calibri"/>
              <a:buNone/>
            </a:pPr>
            <a:r>
              <a:rPr b="0" i="0" lang="en-US" sz="4000" u="none" cap="none" strike="noStrike">
                <a:solidFill>
                  <a:schemeClr val="lt1"/>
                </a:solidFill>
                <a:latin typeface="Calibri"/>
                <a:ea typeface="Calibri"/>
                <a:cs typeface="Calibri"/>
                <a:sym typeface="Calibri"/>
              </a:rPr>
              <a:t>Clipping</a:t>
            </a:r>
            <a:endParaRPr b="0" i="0" sz="4000" u="none" cap="none" strike="noStrike">
              <a:solidFill>
                <a:schemeClr val="lt1"/>
              </a:solidFill>
              <a:latin typeface="Calibri"/>
              <a:ea typeface="Calibri"/>
              <a:cs typeface="Calibri"/>
              <a:sym typeface="Calibri"/>
            </a:endParaRPr>
          </a:p>
        </p:txBody>
      </p:sp>
      <p:sp>
        <p:nvSpPr>
          <p:cNvPr id="103" name="Google Shape;103;p2"/>
          <p:cNvSpPr txBox="1"/>
          <p:nvPr/>
        </p:nvSpPr>
        <p:spPr>
          <a:xfrm>
            <a:off x="152400" y="1128675"/>
            <a:ext cx="8624700" cy="3360600"/>
          </a:xfrm>
          <a:prstGeom prst="rect">
            <a:avLst/>
          </a:prstGeom>
          <a:noFill/>
          <a:ln>
            <a:noFill/>
          </a:ln>
        </p:spPr>
        <p:txBody>
          <a:bodyPr anchorCtr="0" anchor="t" bIns="91425" lIns="91425" spcFirstLastPara="1" rIns="91425" wrap="square" tIns="91425">
            <a:spAutoFit/>
          </a:bodyPr>
          <a:lstStyle/>
          <a:p>
            <a:pPr indent="-368300" lvl="0" marL="457200" marR="0" rtl="0" algn="just">
              <a:lnSpc>
                <a:spcPct val="100000"/>
              </a:lnSpc>
              <a:spcBef>
                <a:spcPts val="1000"/>
              </a:spcBef>
              <a:spcAft>
                <a:spcPts val="0"/>
              </a:spcAft>
              <a:buClr>
                <a:srgbClr val="0B5394"/>
              </a:buClr>
              <a:buSzPts val="2200"/>
              <a:buFont typeface="Times New Roman"/>
              <a:buChar char="■"/>
            </a:pPr>
            <a:r>
              <a:rPr b="0" i="0" lang="en-US" sz="2200" u="none" cap="none" strike="noStrike">
                <a:solidFill>
                  <a:srgbClr val="000000"/>
                </a:solidFill>
                <a:latin typeface="Times New Roman"/>
                <a:ea typeface="Times New Roman"/>
                <a:cs typeface="Times New Roman"/>
                <a:sym typeface="Times New Roman"/>
              </a:rPr>
              <a:t>When we have to display a large portion of the picture, then not only scaling &amp; translation are necessary, but also the visible part of the picture is identified. This process is not easy. Certain parts of the image are inside, while others are partially inside.</a:t>
            </a:r>
            <a:endParaRPr b="0" i="0" sz="2200" u="none" cap="none" strike="noStrike">
              <a:solidFill>
                <a:srgbClr val="000000"/>
              </a:solidFill>
              <a:latin typeface="Times New Roman"/>
              <a:ea typeface="Times New Roman"/>
              <a:cs typeface="Times New Roman"/>
              <a:sym typeface="Times New Roman"/>
            </a:endParaRPr>
          </a:p>
          <a:p>
            <a:pPr indent="-368300" lvl="0" marL="457200" marR="0" rtl="0" algn="just">
              <a:lnSpc>
                <a:spcPct val="100000"/>
              </a:lnSpc>
              <a:spcBef>
                <a:spcPts val="1000"/>
              </a:spcBef>
              <a:spcAft>
                <a:spcPts val="0"/>
              </a:spcAft>
              <a:buClr>
                <a:srgbClr val="0B5394"/>
              </a:buClr>
              <a:buSzPts val="2200"/>
              <a:buFont typeface="Times New Roman"/>
              <a:buChar char="■"/>
            </a:pPr>
            <a:r>
              <a:rPr b="0" i="0" lang="en-US" sz="2200" u="none" cap="none" strike="noStrike">
                <a:solidFill>
                  <a:srgbClr val="000000"/>
                </a:solidFill>
                <a:latin typeface="Times New Roman"/>
                <a:ea typeface="Times New Roman"/>
                <a:cs typeface="Times New Roman"/>
                <a:sym typeface="Times New Roman"/>
              </a:rPr>
              <a:t>For deciding the visible and invisible portion, a particular process called clipping is used. Clipping determines each element's visible and invisible portion. The visible portion is selected. An invisible portion is discarded.</a:t>
            </a:r>
            <a:endParaRPr b="0" i="0" sz="2200" u="none" cap="none" strike="noStrike">
              <a:solidFill>
                <a:srgbClr val="000000"/>
              </a:solidFill>
              <a:latin typeface="Times New Roman"/>
              <a:ea typeface="Times New Roman"/>
              <a:cs typeface="Times New Roman"/>
              <a:sym typeface="Times New Roman"/>
            </a:endParaRPr>
          </a:p>
          <a:p>
            <a:pPr indent="0" lvl="0" marL="457200" marR="0" rtl="0" algn="just">
              <a:lnSpc>
                <a:spcPct val="100000"/>
              </a:lnSpc>
              <a:spcBef>
                <a:spcPts val="0"/>
              </a:spcBef>
              <a:spcAft>
                <a:spcPts val="0"/>
              </a:spcAft>
              <a:buClr>
                <a:srgbClr val="000000"/>
              </a:buClr>
              <a:buSzPts val="2200"/>
              <a:buFont typeface="Arial"/>
              <a:buNone/>
            </a:pPr>
            <a:r>
              <a:t/>
            </a:r>
            <a:endParaRPr b="0" i="0" sz="22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7" name="Shape 107"/>
        <p:cNvGrpSpPr/>
        <p:nvPr/>
      </p:nvGrpSpPr>
      <p:grpSpPr>
        <a:xfrm>
          <a:off x="0" y="0"/>
          <a:ext cx="0" cy="0"/>
          <a:chOff x="0" y="0"/>
          <a:chExt cx="0" cy="0"/>
        </a:xfrm>
      </p:grpSpPr>
      <p:sp>
        <p:nvSpPr>
          <p:cNvPr id="108" name="Google Shape;108;g3bb5fbf5691_0_28"/>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1" i="0" lang="en-US" sz="900" u="none" cap="none" strike="noStrike">
                <a:solidFill>
                  <a:srgbClr val="898989"/>
                </a:solidFill>
                <a:latin typeface="Arial"/>
                <a:ea typeface="Arial"/>
                <a:cs typeface="Arial"/>
                <a:sym typeface="Arial"/>
              </a:rPr>
              <a:t>Department of CSE, Daffodil International University</a:t>
            </a:r>
            <a:endParaRPr b="1" i="0" sz="1400" u="none" cap="none" strike="noStrike">
              <a:solidFill>
                <a:srgbClr val="000000"/>
              </a:solidFill>
              <a:latin typeface="Arial"/>
              <a:ea typeface="Arial"/>
              <a:cs typeface="Arial"/>
              <a:sym typeface="Arial"/>
            </a:endParaRPr>
          </a:p>
        </p:txBody>
      </p:sp>
      <p:sp>
        <p:nvSpPr>
          <p:cNvPr id="109" name="Google Shape;109;g3bb5fbf5691_0_28"/>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10" name="Google Shape;110;g3bb5fbf5691_0_28"/>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Calibri"/>
                <a:ea typeface="Calibri"/>
                <a:cs typeface="Calibri"/>
                <a:sym typeface="Calibri"/>
              </a:rPr>
              <a:t>Types of Clipping:</a:t>
            </a:r>
            <a:endParaRPr b="0" i="0" sz="3800" u="none" cap="none" strike="noStrike">
              <a:solidFill>
                <a:schemeClr val="lt1"/>
              </a:solidFill>
              <a:latin typeface="Calibri"/>
              <a:ea typeface="Calibri"/>
              <a:cs typeface="Calibri"/>
              <a:sym typeface="Calibri"/>
            </a:endParaRPr>
          </a:p>
        </p:txBody>
      </p:sp>
      <p:pic>
        <p:nvPicPr>
          <p:cNvPr id="111" name="Google Shape;111;g3bb5fbf5691_0_28"/>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112" name="Google Shape;112;g3bb5fbf5691_0_28"/>
          <p:cNvSpPr txBox="1"/>
          <p:nvPr/>
        </p:nvSpPr>
        <p:spPr>
          <a:xfrm>
            <a:off x="472350" y="1426100"/>
            <a:ext cx="8043000" cy="3135000"/>
          </a:xfrm>
          <a:prstGeom prst="rect">
            <a:avLst/>
          </a:prstGeom>
          <a:noFill/>
          <a:ln>
            <a:noFill/>
          </a:ln>
        </p:spPr>
        <p:txBody>
          <a:bodyPr anchorCtr="0" anchor="t" bIns="91425" lIns="91425" spcFirstLastPara="1" rIns="91425" wrap="square" tIns="91425">
            <a:spAutoFit/>
          </a:bodyPr>
          <a:lstStyle/>
          <a:p>
            <a:pPr indent="-387350" lvl="0" marL="457200" marR="0" rtl="0" algn="l">
              <a:lnSpc>
                <a:spcPct val="100000"/>
              </a:lnSpc>
              <a:spcBef>
                <a:spcPts val="1000"/>
              </a:spcBef>
              <a:spcAft>
                <a:spcPts val="0"/>
              </a:spcAft>
              <a:buClr>
                <a:srgbClr val="0B5394"/>
              </a:buClr>
              <a:buSzPts val="2500"/>
              <a:buFont typeface="Times New Roman"/>
              <a:buChar char="■"/>
            </a:pPr>
            <a:r>
              <a:rPr b="0" i="0" lang="en-US" sz="2500" u="none" cap="none" strike="noStrike">
                <a:solidFill>
                  <a:srgbClr val="000000"/>
                </a:solidFill>
                <a:latin typeface="Times New Roman"/>
                <a:ea typeface="Times New Roman"/>
                <a:cs typeface="Times New Roman"/>
                <a:sym typeface="Times New Roman"/>
              </a:rPr>
              <a:t>Point Clipping</a:t>
            </a:r>
            <a:endParaRPr b="0" i="0" sz="2500" u="none" cap="none" strike="noStrike">
              <a:solidFill>
                <a:srgbClr val="000000"/>
              </a:solidFill>
              <a:latin typeface="Times New Roman"/>
              <a:ea typeface="Times New Roman"/>
              <a:cs typeface="Times New Roman"/>
              <a:sym typeface="Times New Roman"/>
            </a:endParaRPr>
          </a:p>
          <a:p>
            <a:pPr indent="-387350" lvl="0" marL="457200" marR="0" rtl="0" algn="l">
              <a:lnSpc>
                <a:spcPct val="100000"/>
              </a:lnSpc>
              <a:spcBef>
                <a:spcPts val="1000"/>
              </a:spcBef>
              <a:spcAft>
                <a:spcPts val="0"/>
              </a:spcAft>
              <a:buClr>
                <a:srgbClr val="0B5394"/>
              </a:buClr>
              <a:buSzPts val="2500"/>
              <a:buFont typeface="Times New Roman"/>
              <a:buChar char="■"/>
            </a:pPr>
            <a:r>
              <a:rPr b="0" i="0" lang="en-US" sz="2500" u="none" cap="none" strike="noStrike">
                <a:solidFill>
                  <a:srgbClr val="000000"/>
                </a:solidFill>
                <a:latin typeface="Times New Roman"/>
                <a:ea typeface="Times New Roman"/>
                <a:cs typeface="Times New Roman"/>
                <a:sym typeface="Times New Roman"/>
              </a:rPr>
              <a:t>Line Clipping</a:t>
            </a:r>
            <a:endParaRPr b="0" i="0" sz="2500" u="none" cap="none" strike="noStrike">
              <a:solidFill>
                <a:srgbClr val="000000"/>
              </a:solidFill>
              <a:latin typeface="Times New Roman"/>
              <a:ea typeface="Times New Roman"/>
              <a:cs typeface="Times New Roman"/>
              <a:sym typeface="Times New Roman"/>
            </a:endParaRPr>
          </a:p>
          <a:p>
            <a:pPr indent="-387350" lvl="0" marL="457200" marR="0" rtl="0" algn="l">
              <a:lnSpc>
                <a:spcPct val="100000"/>
              </a:lnSpc>
              <a:spcBef>
                <a:spcPts val="1000"/>
              </a:spcBef>
              <a:spcAft>
                <a:spcPts val="0"/>
              </a:spcAft>
              <a:buClr>
                <a:srgbClr val="0B5394"/>
              </a:buClr>
              <a:buSzPts val="2500"/>
              <a:buFont typeface="Times New Roman"/>
              <a:buChar char="■"/>
            </a:pPr>
            <a:r>
              <a:rPr b="0" i="0" lang="en-US" sz="2500" u="none" cap="none" strike="noStrike">
                <a:solidFill>
                  <a:srgbClr val="000000"/>
                </a:solidFill>
                <a:latin typeface="Times New Roman"/>
                <a:ea typeface="Times New Roman"/>
                <a:cs typeface="Times New Roman"/>
                <a:sym typeface="Times New Roman"/>
              </a:rPr>
              <a:t>Area Clipping (Polygon)</a:t>
            </a:r>
            <a:endParaRPr b="0" i="0" sz="2500" u="none" cap="none" strike="noStrike">
              <a:solidFill>
                <a:srgbClr val="000000"/>
              </a:solidFill>
              <a:latin typeface="Times New Roman"/>
              <a:ea typeface="Times New Roman"/>
              <a:cs typeface="Times New Roman"/>
              <a:sym typeface="Times New Roman"/>
            </a:endParaRPr>
          </a:p>
          <a:p>
            <a:pPr indent="-387350" lvl="0" marL="457200" marR="0" rtl="0" algn="l">
              <a:lnSpc>
                <a:spcPct val="100000"/>
              </a:lnSpc>
              <a:spcBef>
                <a:spcPts val="1000"/>
              </a:spcBef>
              <a:spcAft>
                <a:spcPts val="0"/>
              </a:spcAft>
              <a:buClr>
                <a:srgbClr val="0B5394"/>
              </a:buClr>
              <a:buSzPts val="2500"/>
              <a:buFont typeface="Times New Roman"/>
              <a:buChar char="■"/>
            </a:pPr>
            <a:r>
              <a:rPr b="0" i="0" lang="en-US" sz="2500" u="none" cap="none" strike="noStrike">
                <a:solidFill>
                  <a:srgbClr val="000000"/>
                </a:solidFill>
                <a:latin typeface="Times New Roman"/>
                <a:ea typeface="Times New Roman"/>
                <a:cs typeface="Times New Roman"/>
                <a:sym typeface="Times New Roman"/>
              </a:rPr>
              <a:t>Curve Clipping</a:t>
            </a:r>
            <a:endParaRPr b="0" i="0" sz="2500" u="none" cap="none" strike="noStrike">
              <a:solidFill>
                <a:srgbClr val="000000"/>
              </a:solidFill>
              <a:latin typeface="Times New Roman"/>
              <a:ea typeface="Times New Roman"/>
              <a:cs typeface="Times New Roman"/>
              <a:sym typeface="Times New Roman"/>
            </a:endParaRPr>
          </a:p>
          <a:p>
            <a:pPr indent="-387350" lvl="0" marL="457200" marR="0" rtl="0" algn="l">
              <a:lnSpc>
                <a:spcPct val="100000"/>
              </a:lnSpc>
              <a:spcBef>
                <a:spcPts val="1000"/>
              </a:spcBef>
              <a:spcAft>
                <a:spcPts val="0"/>
              </a:spcAft>
              <a:buClr>
                <a:srgbClr val="0B5394"/>
              </a:buClr>
              <a:buSzPts val="2500"/>
              <a:buFont typeface="Times New Roman"/>
              <a:buChar char="■"/>
            </a:pPr>
            <a:r>
              <a:rPr b="0" i="0" lang="en-US" sz="2500" u="none" cap="none" strike="noStrike">
                <a:solidFill>
                  <a:srgbClr val="000000"/>
                </a:solidFill>
                <a:latin typeface="Times New Roman"/>
                <a:ea typeface="Times New Roman"/>
                <a:cs typeface="Times New Roman"/>
                <a:sym typeface="Times New Roman"/>
              </a:rPr>
              <a:t>Text Clipping</a:t>
            </a:r>
            <a:endParaRPr b="0" i="0" sz="2500" u="none" cap="none" strike="noStrike">
              <a:solidFill>
                <a:srgbClr val="000000"/>
              </a:solidFill>
              <a:latin typeface="Times New Roman"/>
              <a:ea typeface="Times New Roman"/>
              <a:cs typeface="Times New Roman"/>
              <a:sym typeface="Times New Roman"/>
            </a:endParaRPr>
          </a:p>
          <a:p>
            <a:pPr indent="-387350" lvl="0" marL="457200" marR="0" rtl="0" algn="l">
              <a:lnSpc>
                <a:spcPct val="100000"/>
              </a:lnSpc>
              <a:spcBef>
                <a:spcPts val="1000"/>
              </a:spcBef>
              <a:spcAft>
                <a:spcPts val="1000"/>
              </a:spcAft>
              <a:buClr>
                <a:srgbClr val="0B5394"/>
              </a:buClr>
              <a:buSzPts val="2500"/>
              <a:buFont typeface="Times New Roman"/>
              <a:buChar char="■"/>
            </a:pPr>
            <a:r>
              <a:rPr b="0" i="0" lang="en-US" sz="2500" u="none" cap="none" strike="noStrike">
                <a:solidFill>
                  <a:srgbClr val="000000"/>
                </a:solidFill>
                <a:latin typeface="Times New Roman"/>
                <a:ea typeface="Times New Roman"/>
                <a:cs typeface="Times New Roman"/>
                <a:sym typeface="Times New Roman"/>
              </a:rPr>
              <a:t>Exterior Clipping</a:t>
            </a:r>
            <a:endParaRPr b="0" i="0" sz="25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16" name="Shape 116"/>
        <p:cNvGrpSpPr/>
        <p:nvPr/>
      </p:nvGrpSpPr>
      <p:grpSpPr>
        <a:xfrm>
          <a:off x="0" y="0"/>
          <a:ext cx="0" cy="0"/>
          <a:chOff x="0" y="0"/>
          <a:chExt cx="0" cy="0"/>
        </a:xfrm>
      </p:grpSpPr>
      <p:sp>
        <p:nvSpPr>
          <p:cNvPr id="117" name="Google Shape;117;p4"/>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118" name="Google Shape;118;p4"/>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19" name="Google Shape;119;p4"/>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Calibri"/>
                <a:ea typeface="Calibri"/>
                <a:cs typeface="Calibri"/>
                <a:sym typeface="Calibri"/>
              </a:rPr>
              <a:t>Point Clipping</a:t>
            </a:r>
            <a:endParaRPr b="0" i="0" sz="3800" u="none" cap="none" strike="noStrike">
              <a:solidFill>
                <a:schemeClr val="lt1"/>
              </a:solidFill>
              <a:latin typeface="Calibri"/>
              <a:ea typeface="Calibri"/>
              <a:cs typeface="Calibri"/>
              <a:sym typeface="Calibri"/>
            </a:endParaRPr>
          </a:p>
        </p:txBody>
      </p:sp>
      <p:pic>
        <p:nvPicPr>
          <p:cNvPr id="120" name="Google Shape;120;p4"/>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121" name="Google Shape;121;p4"/>
          <p:cNvSpPr txBox="1"/>
          <p:nvPr/>
        </p:nvSpPr>
        <p:spPr>
          <a:xfrm>
            <a:off x="133725" y="1233000"/>
            <a:ext cx="8725200" cy="2544900"/>
          </a:xfrm>
          <a:prstGeom prst="rect">
            <a:avLst/>
          </a:prstGeom>
          <a:noFill/>
          <a:ln>
            <a:noFill/>
          </a:ln>
        </p:spPr>
        <p:txBody>
          <a:bodyPr anchorCtr="0" anchor="t" bIns="91425" lIns="91425" spcFirstLastPara="1" rIns="91425" wrap="square" tIns="91425">
            <a:spAutoFit/>
          </a:bodyPr>
          <a:lstStyle/>
          <a:p>
            <a:pPr indent="-355600" lvl="0" marL="457200" marR="0" rtl="0" algn="just">
              <a:lnSpc>
                <a:spcPct val="100000"/>
              </a:lnSpc>
              <a:spcBef>
                <a:spcPts val="1000"/>
              </a:spcBef>
              <a:spcAft>
                <a:spcPts val="0"/>
              </a:spcAft>
              <a:buClr>
                <a:srgbClr val="0B5394"/>
              </a:buClr>
              <a:buSzPts val="2000"/>
              <a:buFont typeface="Times New Roman"/>
              <a:buChar char="■"/>
            </a:pPr>
            <a:r>
              <a:rPr b="0" i="0" lang="en-US" sz="2000" u="none" cap="none" strike="noStrike">
                <a:solidFill>
                  <a:srgbClr val="333333"/>
                </a:solidFill>
                <a:latin typeface="Times New Roman"/>
                <a:ea typeface="Times New Roman"/>
                <a:cs typeface="Times New Roman"/>
                <a:sym typeface="Times New Roman"/>
              </a:rPr>
              <a:t>Point clipping is used to determine whether the point is inside the window or not. For this the following conditions are checked.</a:t>
            </a:r>
            <a:endParaRPr b="0" i="0" sz="2000" u="none" cap="none" strike="noStrike">
              <a:solidFill>
                <a:srgbClr val="333333"/>
              </a:solidFill>
              <a:latin typeface="Times New Roman"/>
              <a:ea typeface="Times New Roman"/>
              <a:cs typeface="Times New Roman"/>
              <a:sym typeface="Times New Roman"/>
            </a:endParaRPr>
          </a:p>
          <a:p>
            <a:pPr indent="-355600" lvl="1" marL="914400" marR="0" rtl="0" algn="just">
              <a:lnSpc>
                <a:spcPct val="100000"/>
              </a:lnSpc>
              <a:spcBef>
                <a:spcPts val="1000"/>
              </a:spcBef>
              <a:spcAft>
                <a:spcPts val="0"/>
              </a:spcAft>
              <a:buClr>
                <a:srgbClr val="000000"/>
              </a:buClr>
              <a:buSzPts val="2000"/>
              <a:buFont typeface="Times New Roman"/>
              <a:buAutoNum type="romanLcPeriod"/>
            </a:pPr>
            <a:r>
              <a:rPr b="0" i="0" lang="en-US" sz="2000" u="none" cap="none" strike="noStrike">
                <a:solidFill>
                  <a:srgbClr val="333333"/>
                </a:solidFill>
                <a:latin typeface="Times New Roman"/>
                <a:ea typeface="Times New Roman"/>
                <a:cs typeface="Times New Roman"/>
                <a:sym typeface="Times New Roman"/>
              </a:rPr>
              <a:t>x ≤ xmax</a:t>
            </a:r>
            <a:endParaRPr b="0" i="0" sz="2000" u="none" cap="none" strike="noStrike">
              <a:solidFill>
                <a:srgbClr val="333333"/>
              </a:solidFill>
              <a:latin typeface="Times New Roman"/>
              <a:ea typeface="Times New Roman"/>
              <a:cs typeface="Times New Roman"/>
              <a:sym typeface="Times New Roman"/>
            </a:endParaRPr>
          </a:p>
          <a:p>
            <a:pPr indent="-355600" lvl="1" marL="914400" marR="0" rtl="0" algn="just">
              <a:lnSpc>
                <a:spcPct val="100000"/>
              </a:lnSpc>
              <a:spcBef>
                <a:spcPts val="1000"/>
              </a:spcBef>
              <a:spcAft>
                <a:spcPts val="0"/>
              </a:spcAft>
              <a:buClr>
                <a:srgbClr val="000000"/>
              </a:buClr>
              <a:buSzPts val="2000"/>
              <a:buFont typeface="Times New Roman"/>
              <a:buAutoNum type="romanLcPeriod"/>
            </a:pPr>
            <a:r>
              <a:rPr b="0" i="0" lang="en-US" sz="2000" u="none" cap="none" strike="noStrike">
                <a:solidFill>
                  <a:srgbClr val="333333"/>
                </a:solidFill>
                <a:latin typeface="Times New Roman"/>
                <a:ea typeface="Times New Roman"/>
                <a:cs typeface="Times New Roman"/>
                <a:sym typeface="Times New Roman"/>
              </a:rPr>
              <a:t>x ≥ xmin</a:t>
            </a:r>
            <a:endParaRPr b="0" i="0" sz="2000" u="none" cap="none" strike="noStrike">
              <a:solidFill>
                <a:srgbClr val="333333"/>
              </a:solidFill>
              <a:latin typeface="Times New Roman"/>
              <a:ea typeface="Times New Roman"/>
              <a:cs typeface="Times New Roman"/>
              <a:sym typeface="Times New Roman"/>
            </a:endParaRPr>
          </a:p>
          <a:p>
            <a:pPr indent="-355600" lvl="1" marL="914400" marR="0" rtl="0" algn="just">
              <a:lnSpc>
                <a:spcPct val="100000"/>
              </a:lnSpc>
              <a:spcBef>
                <a:spcPts val="1000"/>
              </a:spcBef>
              <a:spcAft>
                <a:spcPts val="0"/>
              </a:spcAft>
              <a:buClr>
                <a:srgbClr val="000000"/>
              </a:buClr>
              <a:buSzPts val="2000"/>
              <a:buFont typeface="Times New Roman"/>
              <a:buAutoNum type="romanLcPeriod"/>
            </a:pPr>
            <a:r>
              <a:rPr b="0" i="0" lang="en-US" sz="2000" u="none" cap="none" strike="noStrike">
                <a:solidFill>
                  <a:srgbClr val="333333"/>
                </a:solidFill>
                <a:latin typeface="Times New Roman"/>
                <a:ea typeface="Times New Roman"/>
                <a:cs typeface="Times New Roman"/>
                <a:sym typeface="Times New Roman"/>
              </a:rPr>
              <a:t>y ≤ ymax</a:t>
            </a:r>
            <a:endParaRPr b="0" i="0" sz="2000" u="none" cap="none" strike="noStrike">
              <a:solidFill>
                <a:srgbClr val="333333"/>
              </a:solidFill>
              <a:latin typeface="Times New Roman"/>
              <a:ea typeface="Times New Roman"/>
              <a:cs typeface="Times New Roman"/>
              <a:sym typeface="Times New Roman"/>
            </a:endParaRPr>
          </a:p>
          <a:p>
            <a:pPr indent="-355600" lvl="1" marL="914400" marR="0" rtl="0" algn="just">
              <a:lnSpc>
                <a:spcPct val="100000"/>
              </a:lnSpc>
              <a:spcBef>
                <a:spcPts val="1000"/>
              </a:spcBef>
              <a:spcAft>
                <a:spcPts val="0"/>
              </a:spcAft>
              <a:buClr>
                <a:srgbClr val="000000"/>
              </a:buClr>
              <a:buSzPts val="2000"/>
              <a:buFont typeface="Times New Roman"/>
              <a:buAutoNum type="romanLcPeriod"/>
            </a:pPr>
            <a:r>
              <a:rPr b="0" i="0" lang="en-US" sz="2000" u="none" cap="none" strike="noStrike">
                <a:solidFill>
                  <a:srgbClr val="333333"/>
                </a:solidFill>
                <a:latin typeface="Times New Roman"/>
                <a:ea typeface="Times New Roman"/>
                <a:cs typeface="Times New Roman"/>
                <a:sym typeface="Times New Roman"/>
              </a:rPr>
              <a:t>y ≥ ymin</a:t>
            </a:r>
            <a:endParaRPr b="1" i="0" sz="2000" u="none" cap="none" strike="noStrike">
              <a:solidFill>
                <a:srgbClr val="980000"/>
              </a:solidFill>
              <a:latin typeface="Times New Roman"/>
              <a:ea typeface="Times New Roman"/>
              <a:cs typeface="Times New Roman"/>
              <a:sym typeface="Times New Roman"/>
            </a:endParaRPr>
          </a:p>
        </p:txBody>
      </p:sp>
      <p:pic>
        <p:nvPicPr>
          <p:cNvPr descr="Point Clipping" id="122" name="Google Shape;122;p4"/>
          <p:cNvPicPr preferRelativeResize="0"/>
          <p:nvPr/>
        </p:nvPicPr>
        <p:blipFill rotWithShape="1">
          <a:blip r:embed="rId4">
            <a:alphaModFix/>
          </a:blip>
          <a:srcRect b="0" l="0" r="0" t="0"/>
          <a:stretch/>
        </p:blipFill>
        <p:spPr>
          <a:xfrm>
            <a:off x="5325150" y="2173525"/>
            <a:ext cx="3533775" cy="2295525"/>
          </a:xfrm>
          <a:prstGeom prst="rect">
            <a:avLst/>
          </a:prstGeom>
          <a:noFill/>
          <a:ln>
            <a:noFill/>
          </a:ln>
        </p:spPr>
      </p:pic>
      <p:sp>
        <p:nvSpPr>
          <p:cNvPr id="123" name="Google Shape;123;p4"/>
          <p:cNvSpPr txBox="1"/>
          <p:nvPr/>
        </p:nvSpPr>
        <p:spPr>
          <a:xfrm>
            <a:off x="363825" y="4741550"/>
            <a:ext cx="83472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The ( x, y) is the coordinate of the point. If any one of the above inequalities is false, then the point will fall outside the window and will not be considered to be visible.</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7" name="Shape 127"/>
        <p:cNvGrpSpPr/>
        <p:nvPr/>
      </p:nvGrpSpPr>
      <p:grpSpPr>
        <a:xfrm>
          <a:off x="0" y="0"/>
          <a:ext cx="0" cy="0"/>
          <a:chOff x="0" y="0"/>
          <a:chExt cx="0" cy="0"/>
        </a:xfrm>
      </p:grpSpPr>
      <p:sp>
        <p:nvSpPr>
          <p:cNvPr id="128" name="Google Shape;128;g3bb5fbf5691_0_52"/>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129" name="Google Shape;129;g3bb5fbf5691_0_52"/>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30" name="Google Shape;130;g3bb5fbf5691_0_52"/>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Calibri"/>
                <a:ea typeface="Calibri"/>
                <a:cs typeface="Calibri"/>
                <a:sym typeface="Calibri"/>
              </a:rPr>
              <a:t>Line Clipping</a:t>
            </a:r>
            <a:endParaRPr b="0" i="0" sz="3800" u="none" cap="none" strike="noStrike">
              <a:solidFill>
                <a:schemeClr val="lt1"/>
              </a:solidFill>
              <a:latin typeface="Calibri"/>
              <a:ea typeface="Calibri"/>
              <a:cs typeface="Calibri"/>
              <a:sym typeface="Calibri"/>
            </a:endParaRPr>
          </a:p>
        </p:txBody>
      </p:sp>
      <p:pic>
        <p:nvPicPr>
          <p:cNvPr id="131" name="Google Shape;131;g3bb5fbf5691_0_52"/>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132" name="Google Shape;132;g3bb5fbf5691_0_52"/>
          <p:cNvSpPr txBox="1"/>
          <p:nvPr/>
        </p:nvSpPr>
        <p:spPr>
          <a:xfrm>
            <a:off x="118250" y="1255200"/>
            <a:ext cx="5613300" cy="5136000"/>
          </a:xfrm>
          <a:prstGeom prst="rect">
            <a:avLst/>
          </a:prstGeom>
          <a:noFill/>
          <a:ln>
            <a:noFill/>
          </a:ln>
        </p:spPr>
        <p:txBody>
          <a:bodyPr anchorCtr="0" anchor="t" bIns="91425" lIns="91425" spcFirstLastPara="1" rIns="91425" wrap="square" tIns="91425">
            <a:spAutoFit/>
          </a:bodyPr>
          <a:lstStyle/>
          <a:p>
            <a:pPr indent="-355600" lvl="0" marL="457200" marR="0" rtl="0" algn="just">
              <a:lnSpc>
                <a:spcPct val="100000"/>
              </a:lnSpc>
              <a:spcBef>
                <a:spcPts val="1000"/>
              </a:spcBef>
              <a:spcAft>
                <a:spcPts val="0"/>
              </a:spcAft>
              <a:buClr>
                <a:srgbClr val="0B5394"/>
              </a:buClr>
              <a:buSzPts val="2000"/>
              <a:buFont typeface="Times New Roman"/>
              <a:buChar char="■"/>
            </a:pPr>
            <a:r>
              <a:rPr b="0" i="0" lang="en-US" sz="2000" u="none" cap="none" strike="noStrike">
                <a:solidFill>
                  <a:srgbClr val="434343"/>
                </a:solidFill>
                <a:latin typeface="Times New Roman"/>
                <a:ea typeface="Times New Roman"/>
                <a:cs typeface="Times New Roman"/>
                <a:sym typeface="Times New Roman"/>
              </a:rPr>
              <a:t>The concept of line clipping is the same as point clipping. In line clipping, we will cut the portion of the line that is outside of the window and keep only the portion that is inside the window.</a:t>
            </a:r>
            <a:endParaRPr b="0" i="0" sz="2000" u="none" cap="none" strike="noStrike">
              <a:solidFill>
                <a:srgbClr val="434343"/>
              </a:solidFill>
              <a:latin typeface="Times New Roman"/>
              <a:ea typeface="Times New Roman"/>
              <a:cs typeface="Times New Roman"/>
              <a:sym typeface="Times New Roman"/>
            </a:endParaRPr>
          </a:p>
          <a:p>
            <a:pPr indent="-355600" lvl="0" marL="457200" marR="0" rtl="0" algn="just">
              <a:lnSpc>
                <a:spcPct val="100000"/>
              </a:lnSpc>
              <a:spcBef>
                <a:spcPts val="1000"/>
              </a:spcBef>
              <a:spcAft>
                <a:spcPts val="0"/>
              </a:spcAft>
              <a:buClr>
                <a:srgbClr val="0B5394"/>
              </a:buClr>
              <a:buSzPts val="2000"/>
              <a:buFont typeface="Times New Roman"/>
              <a:buChar char="■"/>
            </a:pPr>
            <a:r>
              <a:rPr b="0" i="0" lang="en-US" sz="2000" u="none" cap="none" strike="noStrike">
                <a:solidFill>
                  <a:srgbClr val="434343"/>
                </a:solidFill>
                <a:latin typeface="Times New Roman"/>
                <a:ea typeface="Times New Roman"/>
                <a:cs typeface="Times New Roman"/>
                <a:sym typeface="Times New Roman"/>
              </a:rPr>
              <a:t>Lines are of three types:</a:t>
            </a:r>
            <a:endParaRPr b="0" i="0" sz="2000" u="none" cap="none" strike="noStrike">
              <a:solidFill>
                <a:srgbClr val="434343"/>
              </a:solidFill>
              <a:latin typeface="Times New Roman"/>
              <a:ea typeface="Times New Roman"/>
              <a:cs typeface="Times New Roman"/>
              <a:sym typeface="Times New Roman"/>
            </a:endParaRPr>
          </a:p>
          <a:p>
            <a:pPr indent="-355600" lvl="1" marL="914400" marR="0" rtl="0" algn="just">
              <a:lnSpc>
                <a:spcPct val="100000"/>
              </a:lnSpc>
              <a:spcBef>
                <a:spcPts val="1000"/>
              </a:spcBef>
              <a:spcAft>
                <a:spcPts val="0"/>
              </a:spcAft>
              <a:buClr>
                <a:srgbClr val="000000"/>
              </a:buClr>
              <a:buSzPts val="2000"/>
              <a:buFont typeface="Times New Roman"/>
              <a:buChar char="○"/>
            </a:pPr>
            <a:r>
              <a:rPr b="1" i="0" lang="en-US" sz="2000" u="none" cap="none" strike="noStrike">
                <a:solidFill>
                  <a:srgbClr val="980000"/>
                </a:solidFill>
                <a:latin typeface="Times New Roman"/>
                <a:ea typeface="Times New Roman"/>
                <a:cs typeface="Times New Roman"/>
                <a:sym typeface="Times New Roman"/>
              </a:rPr>
              <a:t>Visible:</a:t>
            </a:r>
            <a:r>
              <a:rPr b="0" i="0" lang="en-US" sz="2000" u="none" cap="none" strike="noStrike">
                <a:solidFill>
                  <a:srgbClr val="434343"/>
                </a:solidFill>
                <a:latin typeface="Times New Roman"/>
                <a:ea typeface="Times New Roman"/>
                <a:cs typeface="Times New Roman"/>
                <a:sym typeface="Times New Roman"/>
              </a:rPr>
              <a:t> A line or lines entirely inside the window is considered visible</a:t>
            </a:r>
            <a:endParaRPr b="0" i="0" sz="2000" u="none" cap="none" strike="noStrike">
              <a:solidFill>
                <a:srgbClr val="434343"/>
              </a:solidFill>
              <a:latin typeface="Times New Roman"/>
              <a:ea typeface="Times New Roman"/>
              <a:cs typeface="Times New Roman"/>
              <a:sym typeface="Times New Roman"/>
            </a:endParaRPr>
          </a:p>
          <a:p>
            <a:pPr indent="-355600" lvl="1" marL="914400" marR="0" rtl="0" algn="just">
              <a:lnSpc>
                <a:spcPct val="100000"/>
              </a:lnSpc>
              <a:spcBef>
                <a:spcPts val="1000"/>
              </a:spcBef>
              <a:spcAft>
                <a:spcPts val="0"/>
              </a:spcAft>
              <a:buClr>
                <a:srgbClr val="000000"/>
              </a:buClr>
              <a:buSzPts val="2000"/>
              <a:buFont typeface="Times New Roman"/>
              <a:buChar char="○"/>
            </a:pPr>
            <a:r>
              <a:rPr b="1" i="0" lang="en-US" sz="2000" u="none" cap="none" strike="noStrike">
                <a:solidFill>
                  <a:srgbClr val="980000"/>
                </a:solidFill>
                <a:latin typeface="Times New Roman"/>
                <a:ea typeface="Times New Roman"/>
                <a:cs typeface="Times New Roman"/>
                <a:sym typeface="Times New Roman"/>
              </a:rPr>
              <a:t>Invisible:</a:t>
            </a:r>
            <a:r>
              <a:rPr b="0" i="0" lang="en-US" sz="2000" u="none" cap="none" strike="noStrike">
                <a:solidFill>
                  <a:srgbClr val="434343"/>
                </a:solidFill>
                <a:latin typeface="Times New Roman"/>
                <a:ea typeface="Times New Roman"/>
                <a:cs typeface="Times New Roman"/>
                <a:sym typeface="Times New Roman"/>
              </a:rPr>
              <a:t> A line entirely outside the window is considered invisible</a:t>
            </a:r>
            <a:endParaRPr b="0" i="0" sz="2000" u="none" cap="none" strike="noStrike">
              <a:solidFill>
                <a:srgbClr val="434343"/>
              </a:solidFill>
              <a:latin typeface="Times New Roman"/>
              <a:ea typeface="Times New Roman"/>
              <a:cs typeface="Times New Roman"/>
              <a:sym typeface="Times New Roman"/>
            </a:endParaRPr>
          </a:p>
          <a:p>
            <a:pPr indent="-355600" lvl="1" marL="914400" marR="0" rtl="0" algn="just">
              <a:lnSpc>
                <a:spcPct val="100000"/>
              </a:lnSpc>
              <a:spcBef>
                <a:spcPts val="1000"/>
              </a:spcBef>
              <a:spcAft>
                <a:spcPts val="0"/>
              </a:spcAft>
              <a:buClr>
                <a:srgbClr val="000000"/>
              </a:buClr>
              <a:buSzPts val="2000"/>
              <a:buFont typeface="Times New Roman"/>
              <a:buChar char="○"/>
            </a:pPr>
            <a:r>
              <a:rPr b="1" i="0" lang="en-US" sz="2000" u="none" cap="none" strike="noStrike">
                <a:solidFill>
                  <a:srgbClr val="980000"/>
                </a:solidFill>
                <a:latin typeface="Times New Roman"/>
                <a:ea typeface="Times New Roman"/>
                <a:cs typeface="Times New Roman"/>
                <a:sym typeface="Times New Roman"/>
              </a:rPr>
              <a:t>Clipped:</a:t>
            </a:r>
            <a:r>
              <a:rPr b="0" i="0" lang="en-US" sz="2000" u="none" cap="none" strike="noStrike">
                <a:solidFill>
                  <a:srgbClr val="434343"/>
                </a:solidFill>
                <a:latin typeface="Times New Roman"/>
                <a:ea typeface="Times New Roman"/>
                <a:cs typeface="Times New Roman"/>
                <a:sym typeface="Times New Roman"/>
              </a:rPr>
              <a:t> A line partially inside the window and partially outside is clipped. For clipping point of intersection of a line with the window is determined.</a:t>
            </a:r>
            <a:endParaRPr b="0" i="0" sz="2000" u="none" cap="none" strike="noStrike">
              <a:solidFill>
                <a:srgbClr val="434343"/>
              </a:solidFill>
              <a:latin typeface="Times New Roman"/>
              <a:ea typeface="Times New Roman"/>
              <a:cs typeface="Times New Roman"/>
              <a:sym typeface="Times New Roman"/>
            </a:endParaRPr>
          </a:p>
          <a:p>
            <a:pPr indent="0" lvl="0" marL="457200" marR="0" rtl="0" algn="just">
              <a:lnSpc>
                <a:spcPct val="100000"/>
              </a:lnSpc>
              <a:spcBef>
                <a:spcPts val="1000"/>
              </a:spcBef>
              <a:spcAft>
                <a:spcPts val="0"/>
              </a:spcAft>
              <a:buClr>
                <a:srgbClr val="000000"/>
              </a:buClr>
              <a:buSzPts val="2000"/>
              <a:buFont typeface="Arial"/>
              <a:buNone/>
            </a:pPr>
            <a:r>
              <a:t/>
            </a:r>
            <a:endParaRPr b="0" i="0" sz="2000" u="none" cap="none" strike="noStrike">
              <a:solidFill>
                <a:srgbClr val="434343"/>
              </a:solidFill>
              <a:latin typeface="Times New Roman"/>
              <a:ea typeface="Times New Roman"/>
              <a:cs typeface="Times New Roman"/>
              <a:sym typeface="Times New Roman"/>
            </a:endParaRPr>
          </a:p>
        </p:txBody>
      </p:sp>
      <p:pic>
        <p:nvPicPr>
          <p:cNvPr id="133" name="Google Shape;133;g3bb5fbf5691_0_52"/>
          <p:cNvPicPr preferRelativeResize="0"/>
          <p:nvPr/>
        </p:nvPicPr>
        <p:blipFill rotWithShape="1">
          <a:blip r:embed="rId4">
            <a:alphaModFix/>
          </a:blip>
          <a:srcRect b="0" l="0" r="0" t="0"/>
          <a:stretch/>
        </p:blipFill>
        <p:spPr>
          <a:xfrm>
            <a:off x="5889025" y="1255200"/>
            <a:ext cx="3254975" cy="2475439"/>
          </a:xfrm>
          <a:prstGeom prst="rect">
            <a:avLst/>
          </a:prstGeom>
          <a:noFill/>
          <a:ln>
            <a:noFill/>
          </a:ln>
        </p:spPr>
      </p:pic>
      <p:pic>
        <p:nvPicPr>
          <p:cNvPr id="134" name="Google Shape;134;g3bb5fbf5691_0_52"/>
          <p:cNvPicPr preferRelativeResize="0"/>
          <p:nvPr/>
        </p:nvPicPr>
        <p:blipFill rotWithShape="1">
          <a:blip r:embed="rId5">
            <a:alphaModFix/>
          </a:blip>
          <a:srcRect b="3276" l="7655" r="4747" t="6200"/>
          <a:stretch/>
        </p:blipFill>
        <p:spPr>
          <a:xfrm>
            <a:off x="6412900" y="3824125"/>
            <a:ext cx="2102449" cy="20165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38" name="Shape 138"/>
        <p:cNvGrpSpPr/>
        <p:nvPr/>
      </p:nvGrpSpPr>
      <p:grpSpPr>
        <a:xfrm>
          <a:off x="0" y="0"/>
          <a:ext cx="0" cy="0"/>
          <a:chOff x="0" y="0"/>
          <a:chExt cx="0" cy="0"/>
        </a:xfrm>
      </p:grpSpPr>
      <p:sp>
        <p:nvSpPr>
          <p:cNvPr id="139" name="Google Shape;139;g3cc01153d18_0_26"/>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140" name="Google Shape;140;g3cc01153d18_0_26"/>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41" name="Google Shape;141;g3cc01153d18_0_26"/>
          <p:cNvSpPr txBox="1"/>
          <p:nvPr/>
        </p:nvSpPr>
        <p:spPr>
          <a:xfrm>
            <a:off x="363825" y="168125"/>
            <a:ext cx="7789500" cy="7695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0" i="0" lang="en-US" sz="3800" u="none" cap="none" strike="noStrike">
                <a:solidFill>
                  <a:schemeClr val="lt1"/>
                </a:solidFill>
                <a:latin typeface="Calibri"/>
                <a:ea typeface="Calibri"/>
                <a:cs typeface="Calibri"/>
                <a:sym typeface="Calibri"/>
              </a:rPr>
              <a:t>Line clipping algorithms</a:t>
            </a:r>
            <a:endParaRPr b="0" i="0" sz="3800" u="none" cap="none" strike="noStrike">
              <a:solidFill>
                <a:schemeClr val="lt1"/>
              </a:solidFill>
              <a:latin typeface="Calibri"/>
              <a:ea typeface="Calibri"/>
              <a:cs typeface="Calibri"/>
              <a:sym typeface="Calibri"/>
            </a:endParaRPr>
          </a:p>
        </p:txBody>
      </p:sp>
      <p:pic>
        <p:nvPicPr>
          <p:cNvPr id="142" name="Google Shape;142;g3cc01153d18_0_26"/>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143" name="Google Shape;143;g3cc01153d18_0_26"/>
          <p:cNvSpPr txBox="1"/>
          <p:nvPr/>
        </p:nvSpPr>
        <p:spPr>
          <a:xfrm>
            <a:off x="881575" y="1535100"/>
            <a:ext cx="7020900" cy="210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The line clipping algorithms are:</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rgbClr val="000000"/>
              </a:solidFill>
              <a:latin typeface="Times New Roman"/>
              <a:ea typeface="Times New Roman"/>
              <a:cs typeface="Times New Roman"/>
              <a:sym typeface="Times New Roman"/>
            </a:endParaRPr>
          </a:p>
          <a:p>
            <a:pPr indent="-355600" lvl="0" marL="457200" marR="0" rtl="0" algn="l">
              <a:lnSpc>
                <a:spcPct val="100000"/>
              </a:lnSpc>
              <a:spcBef>
                <a:spcPts val="1000"/>
              </a:spcBef>
              <a:spcAft>
                <a:spcPts val="0"/>
              </a:spcAft>
              <a:buClr>
                <a:srgbClr val="0B5394"/>
              </a:buClr>
              <a:buSzPts val="2000"/>
              <a:buFont typeface="Times New Roman"/>
              <a:buChar char="■"/>
            </a:pPr>
            <a:r>
              <a:rPr b="0" i="0" lang="en-US" sz="2000" u="none" cap="none" strike="noStrike">
                <a:solidFill>
                  <a:srgbClr val="000000"/>
                </a:solidFill>
                <a:latin typeface="Times New Roman"/>
                <a:ea typeface="Times New Roman"/>
                <a:cs typeface="Times New Roman"/>
                <a:sym typeface="Times New Roman"/>
              </a:rPr>
              <a:t>Cohen-Sutherland Line Clipping Algorithm</a:t>
            </a:r>
            <a:endParaRPr b="0" i="0" sz="2000" u="none" cap="none" strike="noStrike">
              <a:solidFill>
                <a:srgbClr val="000000"/>
              </a:solidFill>
              <a:latin typeface="Times New Roman"/>
              <a:ea typeface="Times New Roman"/>
              <a:cs typeface="Times New Roman"/>
              <a:sym typeface="Times New Roman"/>
            </a:endParaRPr>
          </a:p>
          <a:p>
            <a:pPr indent="-355600" lvl="0" marL="457200" marR="0" rtl="0" algn="l">
              <a:lnSpc>
                <a:spcPct val="100000"/>
              </a:lnSpc>
              <a:spcBef>
                <a:spcPts val="1000"/>
              </a:spcBef>
              <a:spcAft>
                <a:spcPts val="0"/>
              </a:spcAft>
              <a:buClr>
                <a:srgbClr val="0B5394"/>
              </a:buClr>
              <a:buSzPts val="2000"/>
              <a:buFont typeface="Times New Roman"/>
              <a:buChar char="■"/>
            </a:pPr>
            <a:r>
              <a:rPr b="0" i="0" lang="en-US" sz="2000" u="none" cap="none" strike="noStrike">
                <a:solidFill>
                  <a:srgbClr val="000000"/>
                </a:solidFill>
                <a:latin typeface="Times New Roman"/>
                <a:ea typeface="Times New Roman"/>
                <a:cs typeface="Times New Roman"/>
                <a:sym typeface="Times New Roman"/>
              </a:rPr>
              <a:t>Midpoint Subdivision Line Clipping Algorithm</a:t>
            </a:r>
            <a:endParaRPr b="0" i="0" sz="2000" u="none" cap="none" strike="noStrike">
              <a:solidFill>
                <a:srgbClr val="000000"/>
              </a:solidFill>
              <a:latin typeface="Times New Roman"/>
              <a:ea typeface="Times New Roman"/>
              <a:cs typeface="Times New Roman"/>
              <a:sym typeface="Times New Roman"/>
            </a:endParaRPr>
          </a:p>
          <a:p>
            <a:pPr indent="-355600" lvl="0" marL="457200" marR="0" rtl="0" algn="l">
              <a:lnSpc>
                <a:spcPct val="100000"/>
              </a:lnSpc>
              <a:spcBef>
                <a:spcPts val="1000"/>
              </a:spcBef>
              <a:spcAft>
                <a:spcPts val="0"/>
              </a:spcAft>
              <a:buClr>
                <a:srgbClr val="0B5394"/>
              </a:buClr>
              <a:buSzPts val="2000"/>
              <a:buFont typeface="Times New Roman"/>
              <a:buChar char="■"/>
            </a:pPr>
            <a:r>
              <a:rPr b="0" i="0" lang="en-US" sz="2000" u="none" cap="none" strike="noStrike">
                <a:solidFill>
                  <a:srgbClr val="000000"/>
                </a:solidFill>
                <a:latin typeface="Times New Roman"/>
                <a:ea typeface="Times New Roman"/>
                <a:cs typeface="Times New Roman"/>
                <a:sym typeface="Times New Roman"/>
              </a:rPr>
              <a:t>Liang-Barsky Line Clipping Algorithm</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47" name="Shape 147"/>
        <p:cNvGrpSpPr/>
        <p:nvPr/>
      </p:nvGrpSpPr>
      <p:grpSpPr>
        <a:xfrm>
          <a:off x="0" y="0"/>
          <a:ext cx="0" cy="0"/>
          <a:chOff x="0" y="0"/>
          <a:chExt cx="0" cy="0"/>
        </a:xfrm>
      </p:grpSpPr>
      <p:sp>
        <p:nvSpPr>
          <p:cNvPr id="148" name="Google Shape;148;g3bb5fbf5691_0_101"/>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149" name="Google Shape;149;g3bb5fbf5691_0_101"/>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50" name="Google Shape;150;g3bb5fbf5691_0_101"/>
          <p:cNvSpPr txBox="1"/>
          <p:nvPr/>
        </p:nvSpPr>
        <p:spPr>
          <a:xfrm>
            <a:off x="363825" y="168125"/>
            <a:ext cx="7789500" cy="7080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400"/>
              <a:buFont typeface="Arial"/>
              <a:buNone/>
            </a:pPr>
            <a:r>
              <a:rPr b="0" i="0" lang="en-US" sz="3400" u="none" cap="none" strike="noStrike">
                <a:solidFill>
                  <a:schemeClr val="lt1"/>
                </a:solidFill>
                <a:latin typeface="Calibri"/>
                <a:ea typeface="Calibri"/>
                <a:cs typeface="Calibri"/>
                <a:sym typeface="Calibri"/>
              </a:rPr>
              <a:t>Cohen-Sutherland Line Clipping Algorithm</a:t>
            </a:r>
            <a:endParaRPr b="0" i="0" sz="3400" u="none" cap="none" strike="noStrike">
              <a:solidFill>
                <a:schemeClr val="lt1"/>
              </a:solidFill>
              <a:latin typeface="Calibri"/>
              <a:ea typeface="Calibri"/>
              <a:cs typeface="Calibri"/>
              <a:sym typeface="Calibri"/>
            </a:endParaRPr>
          </a:p>
        </p:txBody>
      </p:sp>
      <p:pic>
        <p:nvPicPr>
          <p:cNvPr id="151" name="Google Shape;151;g3bb5fbf5691_0_101"/>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152" name="Google Shape;152;g3bb5fbf5691_0_101"/>
          <p:cNvSpPr txBox="1"/>
          <p:nvPr/>
        </p:nvSpPr>
        <p:spPr>
          <a:xfrm>
            <a:off x="454650" y="1144525"/>
            <a:ext cx="8492700" cy="1108200"/>
          </a:xfrm>
          <a:prstGeom prst="rect">
            <a:avLst/>
          </a:prstGeom>
          <a:noFill/>
          <a:ln>
            <a:noFill/>
          </a:ln>
        </p:spPr>
        <p:txBody>
          <a:bodyPr anchorCtr="0" anchor="t" bIns="91425" lIns="91425" spcFirstLastPara="1" rIns="91425" wrap="square" tIns="91425">
            <a:spAutoFit/>
          </a:bodyPr>
          <a:lstStyle/>
          <a:p>
            <a:pPr indent="-355600" lvl="0" marL="457200" marR="0" rtl="0" algn="l">
              <a:lnSpc>
                <a:spcPct val="100000"/>
              </a:lnSpc>
              <a:spcBef>
                <a:spcPts val="0"/>
              </a:spcBef>
              <a:spcAft>
                <a:spcPts val="0"/>
              </a:spcAft>
              <a:buClr>
                <a:srgbClr val="0B5394"/>
              </a:buClr>
              <a:buSzPts val="2000"/>
              <a:buFont typeface="Times New Roman"/>
              <a:buChar char="■"/>
            </a:pPr>
            <a:r>
              <a:rPr b="0" i="0" lang="en-US" sz="2000" u="none" cap="none" strike="noStrike">
                <a:solidFill>
                  <a:srgbClr val="000000"/>
                </a:solidFill>
                <a:latin typeface="Times New Roman"/>
                <a:ea typeface="Times New Roman"/>
                <a:cs typeface="Times New Roman"/>
                <a:sym typeface="Times New Roman"/>
              </a:rPr>
              <a:t>Cohen-Sutherland Method [Widely used].</a:t>
            </a:r>
            <a:endParaRPr b="0" i="0" sz="2000" u="none" cap="none" strike="noStrike">
              <a:solidFill>
                <a:srgbClr val="000000"/>
              </a:solidFill>
              <a:latin typeface="Times New Roman"/>
              <a:ea typeface="Times New Roman"/>
              <a:cs typeface="Times New Roman"/>
              <a:sym typeface="Times New Roman"/>
            </a:endParaRPr>
          </a:p>
          <a:p>
            <a:pPr indent="-355600" lvl="0" marL="457200" marR="0" rtl="0" algn="l">
              <a:lnSpc>
                <a:spcPct val="100000"/>
              </a:lnSpc>
              <a:spcBef>
                <a:spcPts val="0"/>
              </a:spcBef>
              <a:spcAft>
                <a:spcPts val="0"/>
              </a:spcAft>
              <a:buClr>
                <a:srgbClr val="0B5394"/>
              </a:buClr>
              <a:buSzPts val="2000"/>
              <a:buFont typeface="Times New Roman"/>
              <a:buChar char="■"/>
            </a:pPr>
            <a:r>
              <a:rPr b="0" i="0" lang="en-US" sz="2000" u="none" cap="none" strike="noStrike">
                <a:solidFill>
                  <a:srgbClr val="000000"/>
                </a:solidFill>
                <a:latin typeface="Times New Roman"/>
                <a:ea typeface="Times New Roman"/>
                <a:cs typeface="Times New Roman"/>
                <a:sym typeface="Times New Roman"/>
              </a:rPr>
              <a:t>In this method, region codes are used to identify the position of line endpoints relative to the rectangular clipping window.</a:t>
            </a:r>
            <a:endParaRPr b="0" i="0" sz="2000" u="none" cap="none" strike="noStrike">
              <a:solidFill>
                <a:srgbClr val="000000"/>
              </a:solidFill>
              <a:latin typeface="Times New Roman"/>
              <a:ea typeface="Times New Roman"/>
              <a:cs typeface="Times New Roman"/>
              <a:sym typeface="Times New Roman"/>
            </a:endParaRPr>
          </a:p>
        </p:txBody>
      </p:sp>
      <p:pic>
        <p:nvPicPr>
          <p:cNvPr id="153" name="Google Shape;153;g3bb5fbf5691_0_101"/>
          <p:cNvPicPr preferRelativeResize="0"/>
          <p:nvPr/>
        </p:nvPicPr>
        <p:blipFill rotWithShape="1">
          <a:blip r:embed="rId4">
            <a:alphaModFix/>
          </a:blip>
          <a:srcRect b="0" l="0" r="0" t="0"/>
          <a:stretch/>
        </p:blipFill>
        <p:spPr>
          <a:xfrm>
            <a:off x="1853025" y="2658100"/>
            <a:ext cx="5068550" cy="37731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7" name="Shape 157"/>
        <p:cNvGrpSpPr/>
        <p:nvPr/>
      </p:nvGrpSpPr>
      <p:grpSpPr>
        <a:xfrm>
          <a:off x="0" y="0"/>
          <a:ext cx="0" cy="0"/>
          <a:chOff x="0" y="0"/>
          <a:chExt cx="0" cy="0"/>
        </a:xfrm>
      </p:grpSpPr>
      <p:sp>
        <p:nvSpPr>
          <p:cNvPr id="158" name="Google Shape;158;g3cc01153d18_0_38"/>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159" name="Google Shape;159;g3cc01153d18_0_38"/>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60" name="Google Shape;160;g3cc01153d18_0_38"/>
          <p:cNvSpPr txBox="1"/>
          <p:nvPr/>
        </p:nvSpPr>
        <p:spPr>
          <a:xfrm>
            <a:off x="363825" y="168125"/>
            <a:ext cx="7789500" cy="7080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400"/>
              <a:buFont typeface="Arial"/>
              <a:buNone/>
            </a:pPr>
            <a:r>
              <a:rPr b="0" i="0" lang="en-US" sz="3400" u="none" cap="none" strike="noStrike">
                <a:solidFill>
                  <a:schemeClr val="lt1"/>
                </a:solidFill>
                <a:latin typeface="Calibri"/>
                <a:ea typeface="Calibri"/>
                <a:cs typeface="Calibri"/>
                <a:sym typeface="Calibri"/>
              </a:rPr>
              <a:t>Cohen-Sutherland Line Clipping Algorithm</a:t>
            </a:r>
            <a:endParaRPr b="0" i="0" sz="3400" u="none" cap="none" strike="noStrike">
              <a:solidFill>
                <a:schemeClr val="lt1"/>
              </a:solidFill>
              <a:latin typeface="Calibri"/>
              <a:ea typeface="Calibri"/>
              <a:cs typeface="Calibri"/>
              <a:sym typeface="Calibri"/>
            </a:endParaRPr>
          </a:p>
        </p:txBody>
      </p:sp>
      <p:pic>
        <p:nvPicPr>
          <p:cNvPr id="161" name="Google Shape;161;g3cc01153d18_0_38"/>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162" name="Google Shape;162;g3cc01153d18_0_38"/>
          <p:cNvSpPr txBox="1"/>
          <p:nvPr/>
        </p:nvSpPr>
        <p:spPr>
          <a:xfrm>
            <a:off x="417825" y="1098063"/>
            <a:ext cx="7085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980000"/>
                </a:solidFill>
                <a:latin typeface="Arial"/>
                <a:ea typeface="Arial"/>
                <a:cs typeface="Arial"/>
                <a:sym typeface="Arial"/>
              </a:rPr>
              <a:t>Problem 1: </a:t>
            </a:r>
            <a:r>
              <a:rPr b="0" i="0" lang="en-US" sz="1400" u="none" cap="none" strike="noStrike">
                <a:solidFill>
                  <a:srgbClr val="000000"/>
                </a:solidFill>
                <a:latin typeface="Arial"/>
                <a:ea typeface="Arial"/>
                <a:cs typeface="Arial"/>
                <a:sym typeface="Arial"/>
              </a:rPr>
              <a:t>The following figure show lines of various types</a:t>
            </a:r>
            <a:endParaRPr b="0" i="0" sz="1400" u="none" cap="none" strike="noStrike">
              <a:solidFill>
                <a:srgbClr val="000000"/>
              </a:solidFill>
              <a:latin typeface="Arial"/>
              <a:ea typeface="Arial"/>
              <a:cs typeface="Arial"/>
              <a:sym typeface="Arial"/>
            </a:endParaRPr>
          </a:p>
        </p:txBody>
      </p:sp>
      <p:pic>
        <p:nvPicPr>
          <p:cNvPr id="163" name="Google Shape;163;g3cc01153d18_0_38"/>
          <p:cNvPicPr preferRelativeResize="0"/>
          <p:nvPr/>
        </p:nvPicPr>
        <p:blipFill rotWithShape="1">
          <a:blip r:embed="rId4">
            <a:alphaModFix/>
          </a:blip>
          <a:srcRect b="0" l="50102" r="0" t="0"/>
          <a:stretch/>
        </p:blipFill>
        <p:spPr>
          <a:xfrm>
            <a:off x="5738075" y="2104225"/>
            <a:ext cx="3086100" cy="2854525"/>
          </a:xfrm>
          <a:prstGeom prst="rect">
            <a:avLst/>
          </a:prstGeom>
          <a:noFill/>
          <a:ln>
            <a:noFill/>
          </a:ln>
        </p:spPr>
      </p:pic>
      <p:pic>
        <p:nvPicPr>
          <p:cNvPr descr="Line Clipping" id="164" name="Google Shape;164;g3cc01153d18_0_38"/>
          <p:cNvPicPr preferRelativeResize="0"/>
          <p:nvPr/>
        </p:nvPicPr>
        <p:blipFill rotWithShape="1">
          <a:blip r:embed="rId5">
            <a:alphaModFix/>
          </a:blip>
          <a:srcRect b="0" l="0" r="0" t="0"/>
          <a:stretch/>
        </p:blipFill>
        <p:spPr>
          <a:xfrm>
            <a:off x="1112850" y="1602125"/>
            <a:ext cx="3457575" cy="2118900"/>
          </a:xfrm>
          <a:prstGeom prst="rect">
            <a:avLst/>
          </a:prstGeom>
          <a:noFill/>
          <a:ln>
            <a:noFill/>
          </a:ln>
        </p:spPr>
      </p:pic>
      <p:sp>
        <p:nvSpPr>
          <p:cNvPr id="165" name="Google Shape;165;g3cc01153d18_0_38"/>
          <p:cNvSpPr txBox="1"/>
          <p:nvPr/>
        </p:nvSpPr>
        <p:spPr>
          <a:xfrm>
            <a:off x="790250" y="4197600"/>
            <a:ext cx="5395500" cy="21189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1000"/>
              </a:spcBef>
              <a:spcAft>
                <a:spcPts val="0"/>
              </a:spcAft>
              <a:buClr>
                <a:srgbClr val="000000"/>
              </a:buClr>
              <a:buSzPts val="1400"/>
              <a:buFont typeface="Arial"/>
              <a:buAutoNum type="romanLcPeriod"/>
            </a:pPr>
            <a:r>
              <a:rPr b="0" i="0" lang="en-US" sz="1400" u="none" cap="none" strike="noStrike">
                <a:solidFill>
                  <a:srgbClr val="000000"/>
                </a:solidFill>
                <a:latin typeface="Arial"/>
                <a:ea typeface="Arial"/>
                <a:cs typeface="Arial"/>
                <a:sym typeface="Arial"/>
              </a:rPr>
              <a:t>Line AB is the visible case</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1000"/>
              </a:spcBef>
              <a:spcAft>
                <a:spcPts val="0"/>
              </a:spcAft>
              <a:buClr>
                <a:srgbClr val="000000"/>
              </a:buClr>
              <a:buSzPts val="1400"/>
              <a:buFont typeface="Arial"/>
              <a:buAutoNum type="romanLcPeriod"/>
            </a:pPr>
            <a:r>
              <a:rPr b="0" i="0" lang="en-US" sz="1400" u="none" cap="none" strike="noStrike">
                <a:solidFill>
                  <a:srgbClr val="000000"/>
                </a:solidFill>
                <a:latin typeface="Arial"/>
                <a:ea typeface="Arial"/>
                <a:cs typeface="Arial"/>
                <a:sym typeface="Arial"/>
              </a:rPr>
              <a:t>Line OP is an invisible case</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1000"/>
              </a:spcBef>
              <a:spcAft>
                <a:spcPts val="0"/>
              </a:spcAft>
              <a:buClr>
                <a:srgbClr val="000000"/>
              </a:buClr>
              <a:buSzPts val="1400"/>
              <a:buFont typeface="Arial"/>
              <a:buAutoNum type="romanLcPeriod"/>
            </a:pPr>
            <a:r>
              <a:rPr b="0" i="0" lang="en-US" sz="1400" u="none" cap="none" strike="noStrike">
                <a:solidFill>
                  <a:srgbClr val="000000"/>
                </a:solidFill>
                <a:latin typeface="Arial"/>
                <a:ea typeface="Arial"/>
                <a:cs typeface="Arial"/>
                <a:sym typeface="Arial"/>
              </a:rPr>
              <a:t>Line PQ is an invisible line</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1000"/>
              </a:spcBef>
              <a:spcAft>
                <a:spcPts val="0"/>
              </a:spcAft>
              <a:buClr>
                <a:srgbClr val="000000"/>
              </a:buClr>
              <a:buSzPts val="1400"/>
              <a:buFont typeface="Arial"/>
              <a:buAutoNum type="romanLcPeriod"/>
            </a:pPr>
            <a:r>
              <a:rPr b="0" i="0" lang="en-US" sz="1400" u="none" cap="none" strike="noStrike">
                <a:solidFill>
                  <a:srgbClr val="000000"/>
                </a:solidFill>
                <a:latin typeface="Arial"/>
                <a:ea typeface="Arial"/>
                <a:cs typeface="Arial"/>
                <a:sym typeface="Arial"/>
              </a:rPr>
              <a:t>Line IJ are clipping candidates</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1000"/>
              </a:spcBef>
              <a:spcAft>
                <a:spcPts val="0"/>
              </a:spcAft>
              <a:buClr>
                <a:srgbClr val="000000"/>
              </a:buClr>
              <a:buSzPts val="1400"/>
              <a:buFont typeface="Arial"/>
              <a:buAutoNum type="romanLcPeriod"/>
            </a:pPr>
            <a:r>
              <a:rPr b="0" i="0" lang="en-US" sz="1400" u="none" cap="none" strike="noStrike">
                <a:solidFill>
                  <a:srgbClr val="000000"/>
                </a:solidFill>
                <a:latin typeface="Arial"/>
                <a:ea typeface="Arial"/>
                <a:cs typeface="Arial"/>
                <a:sym typeface="Arial"/>
              </a:rPr>
              <a:t>Line MN are clipping candidate</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1000"/>
              </a:spcBef>
              <a:spcAft>
                <a:spcPts val="0"/>
              </a:spcAft>
              <a:buClr>
                <a:srgbClr val="000000"/>
              </a:buClr>
              <a:buSzPts val="1400"/>
              <a:buFont typeface="Arial"/>
              <a:buAutoNum type="romanLcPeriod"/>
            </a:pPr>
            <a:r>
              <a:rPr b="0" i="0" lang="en-US" sz="1400" u="none" cap="none" strike="noStrike">
                <a:solidFill>
                  <a:srgbClr val="000000"/>
                </a:solidFill>
                <a:latin typeface="Arial"/>
                <a:ea typeface="Arial"/>
                <a:cs typeface="Arial"/>
                <a:sym typeface="Arial"/>
              </a:rPr>
              <a:t>Line CD are clipping candidate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69" name="Shape 169"/>
        <p:cNvGrpSpPr/>
        <p:nvPr/>
      </p:nvGrpSpPr>
      <p:grpSpPr>
        <a:xfrm>
          <a:off x="0" y="0"/>
          <a:ext cx="0" cy="0"/>
          <a:chOff x="0" y="0"/>
          <a:chExt cx="0" cy="0"/>
        </a:xfrm>
      </p:grpSpPr>
      <p:sp>
        <p:nvSpPr>
          <p:cNvPr id="170" name="Google Shape;170;g3cc01153d18_0_58"/>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171" name="Google Shape;171;g3cc01153d18_0_58"/>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72" name="Google Shape;172;g3cc01153d18_0_58"/>
          <p:cNvSpPr txBox="1"/>
          <p:nvPr/>
        </p:nvSpPr>
        <p:spPr>
          <a:xfrm>
            <a:off x="363825" y="168125"/>
            <a:ext cx="7789500" cy="7080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400"/>
              <a:buFont typeface="Arial"/>
              <a:buNone/>
            </a:pPr>
            <a:r>
              <a:rPr b="0" i="0" lang="en-US" sz="3400" u="none" cap="none" strike="noStrike">
                <a:solidFill>
                  <a:schemeClr val="lt1"/>
                </a:solidFill>
                <a:latin typeface="Calibri"/>
                <a:ea typeface="Calibri"/>
                <a:cs typeface="Calibri"/>
                <a:sym typeface="Calibri"/>
              </a:rPr>
              <a:t>Cohen-Sutherland Line Clipping Algorithm</a:t>
            </a:r>
            <a:endParaRPr b="0" i="0" sz="3400" u="none" cap="none" strike="noStrike">
              <a:solidFill>
                <a:schemeClr val="lt1"/>
              </a:solidFill>
              <a:latin typeface="Calibri"/>
              <a:ea typeface="Calibri"/>
              <a:cs typeface="Calibri"/>
              <a:sym typeface="Calibri"/>
            </a:endParaRPr>
          </a:p>
        </p:txBody>
      </p:sp>
      <p:pic>
        <p:nvPicPr>
          <p:cNvPr id="173" name="Google Shape;173;g3cc01153d18_0_58"/>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174" name="Google Shape;174;g3cc01153d18_0_58"/>
          <p:cNvSpPr txBox="1"/>
          <p:nvPr/>
        </p:nvSpPr>
        <p:spPr>
          <a:xfrm>
            <a:off x="417825" y="1098075"/>
            <a:ext cx="84021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980000"/>
                </a:solidFill>
                <a:latin typeface="Arial"/>
                <a:ea typeface="Arial"/>
                <a:cs typeface="Arial"/>
                <a:sym typeface="Arial"/>
              </a:rPr>
              <a:t>Problem 2: </a:t>
            </a:r>
            <a:r>
              <a:rPr b="0" i="0" lang="en-US" sz="1400" u="none" cap="none" strike="noStrike">
                <a:solidFill>
                  <a:srgbClr val="434343"/>
                </a:solidFill>
                <a:latin typeface="Arial"/>
                <a:ea typeface="Arial"/>
                <a:cs typeface="Arial"/>
                <a:sym typeface="Arial"/>
              </a:rPr>
              <a:t> In the below-mentioned example, we have different lines. The different category of the line—</a:t>
            </a:r>
            <a:endParaRPr b="0" i="0" sz="14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980000"/>
              </a:solidFill>
              <a:latin typeface="Arial"/>
              <a:ea typeface="Arial"/>
              <a:cs typeface="Arial"/>
              <a:sym typeface="Arial"/>
            </a:endParaRPr>
          </a:p>
        </p:txBody>
      </p:sp>
      <p:sp>
        <p:nvSpPr>
          <p:cNvPr id="175" name="Google Shape;175;g3cc01153d18_0_58"/>
          <p:cNvSpPr txBox="1"/>
          <p:nvPr/>
        </p:nvSpPr>
        <p:spPr>
          <a:xfrm>
            <a:off x="4916025" y="2244675"/>
            <a:ext cx="3903900" cy="24627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1000"/>
              </a:spcBef>
              <a:spcAft>
                <a:spcPts val="0"/>
              </a:spcAft>
              <a:buClr>
                <a:srgbClr val="000000"/>
              </a:buClr>
              <a:buSzPts val="1400"/>
              <a:buFont typeface="Arial"/>
              <a:buAutoNum type="romanLcPeriod"/>
            </a:pPr>
            <a:r>
              <a:rPr b="0" i="0" lang="en-US" sz="1400" u="none" cap="none" strike="noStrike">
                <a:solidFill>
                  <a:srgbClr val="000000"/>
                </a:solidFill>
                <a:latin typeface="Arial"/>
                <a:ea typeface="Arial"/>
                <a:cs typeface="Arial"/>
                <a:sym typeface="Arial"/>
              </a:rPr>
              <a:t>Line AB is a clipped case.</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1000"/>
              </a:spcBef>
              <a:spcAft>
                <a:spcPts val="0"/>
              </a:spcAft>
              <a:buClr>
                <a:srgbClr val="000000"/>
              </a:buClr>
              <a:buSzPts val="1400"/>
              <a:buFont typeface="Arial"/>
              <a:buAutoNum type="romanLcPeriod"/>
            </a:pPr>
            <a:r>
              <a:rPr b="0" i="0" lang="en-US" sz="1400" u="none" cap="none" strike="noStrike">
                <a:solidFill>
                  <a:srgbClr val="000000"/>
                </a:solidFill>
                <a:latin typeface="Arial"/>
                <a:ea typeface="Arial"/>
                <a:cs typeface="Arial"/>
                <a:sym typeface="Arial"/>
              </a:rPr>
              <a:t>The line CD is completely visible.</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1000"/>
              </a:spcBef>
              <a:spcAft>
                <a:spcPts val="0"/>
              </a:spcAft>
              <a:buClr>
                <a:srgbClr val="000000"/>
              </a:buClr>
              <a:buSzPts val="1400"/>
              <a:buFont typeface="Arial"/>
              <a:buAutoNum type="romanLcPeriod"/>
            </a:pPr>
            <a:r>
              <a:rPr b="0" i="0" lang="en-US" sz="1400" u="none" cap="none" strike="noStrike">
                <a:solidFill>
                  <a:srgbClr val="000000"/>
                </a:solidFill>
                <a:latin typeface="Arial"/>
                <a:ea typeface="Arial"/>
                <a:cs typeface="Arial"/>
                <a:sym typeface="Arial"/>
              </a:rPr>
              <a:t>Line EF is completely invisible.</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1000"/>
              </a:spcBef>
              <a:spcAft>
                <a:spcPts val="0"/>
              </a:spcAft>
              <a:buClr>
                <a:srgbClr val="000000"/>
              </a:buClr>
              <a:buSzPts val="1400"/>
              <a:buFont typeface="Arial"/>
              <a:buAutoNum type="romanLcPeriod"/>
            </a:pPr>
            <a:r>
              <a:rPr b="0" i="0" lang="en-US" sz="1400" u="none" cap="none" strike="noStrike">
                <a:solidFill>
                  <a:srgbClr val="000000"/>
                </a:solidFill>
                <a:latin typeface="Arial"/>
                <a:ea typeface="Arial"/>
                <a:cs typeface="Arial"/>
                <a:sym typeface="Arial"/>
              </a:rPr>
              <a:t>Line GH is a clipped case.</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1000"/>
              </a:spcBef>
              <a:spcAft>
                <a:spcPts val="0"/>
              </a:spcAft>
              <a:buClr>
                <a:srgbClr val="000000"/>
              </a:buClr>
              <a:buSzPts val="1400"/>
              <a:buFont typeface="Arial"/>
              <a:buAutoNum type="romanLcPeriod"/>
            </a:pPr>
            <a:r>
              <a:rPr b="0" i="0" lang="en-US" sz="1400" u="none" cap="none" strike="noStrike">
                <a:solidFill>
                  <a:srgbClr val="000000"/>
                </a:solidFill>
                <a:latin typeface="Arial"/>
                <a:ea typeface="Arial"/>
                <a:cs typeface="Arial"/>
                <a:sym typeface="Arial"/>
              </a:rPr>
              <a:t>Line KL is completely invisible.</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1000"/>
              </a:spcBef>
              <a:spcAft>
                <a:spcPts val="0"/>
              </a:spcAft>
              <a:buClr>
                <a:srgbClr val="000000"/>
              </a:buClr>
              <a:buSzPts val="1400"/>
              <a:buFont typeface="Arial"/>
              <a:buAutoNum type="romanLcPeriod"/>
            </a:pPr>
            <a:r>
              <a:rPr b="0" i="0" lang="en-US" sz="1400" u="none" cap="none" strike="noStrike">
                <a:solidFill>
                  <a:srgbClr val="000000"/>
                </a:solidFill>
                <a:latin typeface="Arial"/>
                <a:ea typeface="Arial"/>
                <a:cs typeface="Arial"/>
                <a:sym typeface="Arial"/>
              </a:rPr>
              <a:t>Line IJ is a clipped case.</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10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76" name="Google Shape;176;g3cc01153d18_0_58"/>
          <p:cNvPicPr preferRelativeResize="0"/>
          <p:nvPr/>
        </p:nvPicPr>
        <p:blipFill rotWithShape="1">
          <a:blip r:embed="rId4">
            <a:alphaModFix/>
          </a:blip>
          <a:srcRect b="0" l="0" r="0" t="0"/>
          <a:stretch/>
        </p:blipFill>
        <p:spPr>
          <a:xfrm>
            <a:off x="612325" y="2173313"/>
            <a:ext cx="3820400" cy="2885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0" name="Shape 180"/>
        <p:cNvGrpSpPr/>
        <p:nvPr/>
      </p:nvGrpSpPr>
      <p:grpSpPr>
        <a:xfrm>
          <a:off x="0" y="0"/>
          <a:ext cx="0" cy="0"/>
          <a:chOff x="0" y="0"/>
          <a:chExt cx="0" cy="0"/>
        </a:xfrm>
      </p:grpSpPr>
      <p:sp>
        <p:nvSpPr>
          <p:cNvPr id="181" name="Google Shape;181;g3bb5fbf5691_0_190"/>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182" name="Google Shape;182;g3bb5fbf5691_0_190"/>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83" name="Google Shape;183;g3bb5fbf5691_0_190"/>
          <p:cNvSpPr txBox="1"/>
          <p:nvPr/>
        </p:nvSpPr>
        <p:spPr>
          <a:xfrm>
            <a:off x="363825" y="168125"/>
            <a:ext cx="7789500" cy="6927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0" i="0" lang="en-US" sz="3300" u="none" cap="none" strike="noStrike">
                <a:solidFill>
                  <a:schemeClr val="lt1"/>
                </a:solidFill>
                <a:latin typeface="Times New Roman"/>
                <a:ea typeface="Times New Roman"/>
                <a:cs typeface="Times New Roman"/>
                <a:sym typeface="Times New Roman"/>
              </a:rPr>
              <a:t>Cohen-Sutherland Line Clipping Algorithm</a:t>
            </a:r>
            <a:endParaRPr b="0" i="0" sz="3300" u="none" cap="none" strike="noStrike">
              <a:solidFill>
                <a:schemeClr val="lt1"/>
              </a:solidFill>
              <a:latin typeface="Times New Roman"/>
              <a:ea typeface="Times New Roman"/>
              <a:cs typeface="Times New Roman"/>
              <a:sym typeface="Times New Roman"/>
            </a:endParaRPr>
          </a:p>
        </p:txBody>
      </p:sp>
      <p:pic>
        <p:nvPicPr>
          <p:cNvPr id="184" name="Google Shape;184;g3bb5fbf5691_0_190"/>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185" name="Google Shape;185;g3bb5fbf5691_0_190"/>
          <p:cNvSpPr txBox="1"/>
          <p:nvPr/>
        </p:nvSpPr>
        <p:spPr>
          <a:xfrm>
            <a:off x="445100" y="1153600"/>
            <a:ext cx="7975200" cy="57720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1000"/>
              </a:spcBef>
              <a:spcAft>
                <a:spcPts val="0"/>
              </a:spcAft>
              <a:buClr>
                <a:srgbClr val="000000"/>
              </a:buClr>
              <a:buSzPts val="1400"/>
              <a:buFont typeface="Arial"/>
              <a:buChar char="●"/>
            </a:pPr>
            <a:r>
              <a:rPr b="1" i="0" lang="en-US" sz="1400" u="none" cap="none" strike="noStrike">
                <a:solidFill>
                  <a:srgbClr val="980000"/>
                </a:solidFill>
                <a:latin typeface="Arial"/>
                <a:ea typeface="Arial"/>
                <a:cs typeface="Arial"/>
                <a:sym typeface="Arial"/>
              </a:rPr>
              <a:t>Step 1: </a:t>
            </a:r>
            <a:r>
              <a:rPr b="0" i="0" lang="en-US" sz="1400" u="none" cap="none" strike="noStrike">
                <a:solidFill>
                  <a:srgbClr val="000000"/>
                </a:solidFill>
                <a:latin typeface="Arial"/>
                <a:ea typeface="Arial"/>
                <a:cs typeface="Arial"/>
                <a:sym typeface="Arial"/>
              </a:rPr>
              <a:t>Calculate positions of both endpoints of the line</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1000"/>
              </a:spcBef>
              <a:spcAft>
                <a:spcPts val="0"/>
              </a:spcAft>
              <a:buClr>
                <a:srgbClr val="000000"/>
              </a:buClr>
              <a:buSzPts val="1400"/>
              <a:buFont typeface="Arial"/>
              <a:buChar char="●"/>
            </a:pPr>
            <a:r>
              <a:rPr b="1" i="0" lang="en-US" sz="1400" u="none" cap="none" strike="noStrike">
                <a:solidFill>
                  <a:srgbClr val="980000"/>
                </a:solidFill>
                <a:latin typeface="Arial"/>
                <a:ea typeface="Arial"/>
                <a:cs typeface="Arial"/>
                <a:sym typeface="Arial"/>
              </a:rPr>
              <a:t>Step 2: </a:t>
            </a:r>
            <a:r>
              <a:rPr b="0" i="0" lang="en-US" sz="1400" u="none" cap="none" strike="noStrike">
                <a:solidFill>
                  <a:srgbClr val="000000"/>
                </a:solidFill>
                <a:latin typeface="Arial"/>
                <a:ea typeface="Arial"/>
                <a:cs typeface="Arial"/>
                <a:sym typeface="Arial"/>
              </a:rPr>
              <a:t>Perform OR operation on both of these end-points</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1000"/>
              </a:spcBef>
              <a:spcAft>
                <a:spcPts val="0"/>
              </a:spcAft>
              <a:buClr>
                <a:srgbClr val="000000"/>
              </a:buClr>
              <a:buSzPts val="1400"/>
              <a:buFont typeface="Arial"/>
              <a:buChar char="●"/>
            </a:pPr>
            <a:r>
              <a:rPr b="1" i="0" lang="en-US" sz="1400" u="none" cap="none" strike="noStrike">
                <a:solidFill>
                  <a:srgbClr val="980000"/>
                </a:solidFill>
                <a:latin typeface="Arial"/>
                <a:ea typeface="Arial"/>
                <a:cs typeface="Arial"/>
                <a:sym typeface="Arial"/>
              </a:rPr>
              <a:t>Step 3:</a:t>
            </a:r>
            <a:r>
              <a:rPr b="0" i="0" lang="en-US" sz="1400" u="none" cap="none" strike="noStrike">
                <a:solidFill>
                  <a:srgbClr val="000000"/>
                </a:solidFill>
                <a:latin typeface="Arial"/>
                <a:ea typeface="Arial"/>
                <a:cs typeface="Arial"/>
                <a:sym typeface="Arial"/>
              </a:rPr>
              <a:t> If the OR operation gives 0000</a:t>
            </a:r>
            <a:endParaRPr b="0" i="0" sz="1400" u="none" cap="none" strike="noStrike">
              <a:solidFill>
                <a:srgbClr val="000000"/>
              </a:solidFill>
              <a:latin typeface="Arial"/>
              <a:ea typeface="Arial"/>
              <a:cs typeface="Arial"/>
              <a:sym typeface="Arial"/>
            </a:endParaRPr>
          </a:p>
          <a:p>
            <a:pPr indent="0" lvl="0" marL="914400" marR="0" rtl="0" algn="l">
              <a:lnSpc>
                <a:spcPct val="100000"/>
              </a:lnSpc>
              <a:spcBef>
                <a:spcPts val="100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Then</a:t>
            </a:r>
            <a:endParaRPr b="0" i="0" sz="1400" u="none" cap="none" strike="noStrike">
              <a:solidFill>
                <a:srgbClr val="000000"/>
              </a:solidFill>
              <a:latin typeface="Arial"/>
              <a:ea typeface="Arial"/>
              <a:cs typeface="Arial"/>
              <a:sym typeface="Arial"/>
            </a:endParaRPr>
          </a:p>
          <a:p>
            <a:pPr indent="0" lvl="0" marL="914400" marR="0" rtl="0" algn="l">
              <a:lnSpc>
                <a:spcPct val="100000"/>
              </a:lnSpc>
              <a:spcBef>
                <a:spcPts val="100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line is considered to be visible</a:t>
            </a:r>
            <a:endParaRPr b="0" i="0" sz="1400" u="none" cap="none" strike="noStrike">
              <a:solidFill>
                <a:srgbClr val="000000"/>
              </a:solidFill>
              <a:latin typeface="Arial"/>
              <a:ea typeface="Arial"/>
              <a:cs typeface="Arial"/>
              <a:sym typeface="Arial"/>
            </a:endParaRPr>
          </a:p>
          <a:p>
            <a:pPr indent="0" lvl="0" marL="914400" marR="0" rtl="0" algn="l">
              <a:lnSpc>
                <a:spcPct val="100000"/>
              </a:lnSpc>
              <a:spcBef>
                <a:spcPts val="100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else</a:t>
            </a:r>
            <a:endParaRPr b="0" i="0" sz="1400" u="none" cap="none" strike="noStrike">
              <a:solidFill>
                <a:srgbClr val="000000"/>
              </a:solidFill>
              <a:latin typeface="Arial"/>
              <a:ea typeface="Arial"/>
              <a:cs typeface="Arial"/>
              <a:sym typeface="Arial"/>
            </a:endParaRPr>
          </a:p>
          <a:p>
            <a:pPr indent="0" lvl="0" marL="914400" marR="0" rtl="0" algn="l">
              <a:lnSpc>
                <a:spcPct val="100000"/>
              </a:lnSpc>
              <a:spcBef>
                <a:spcPts val="100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Perform AND operation on both endpoints</a:t>
            </a:r>
            <a:endParaRPr b="0" i="0" sz="1400" u="none" cap="none" strike="noStrike">
              <a:solidFill>
                <a:srgbClr val="000000"/>
              </a:solidFill>
              <a:latin typeface="Arial"/>
              <a:ea typeface="Arial"/>
              <a:cs typeface="Arial"/>
              <a:sym typeface="Arial"/>
            </a:endParaRPr>
          </a:p>
          <a:p>
            <a:pPr indent="0" lvl="0" marL="914400" marR="0" rtl="0" algn="l">
              <a:lnSpc>
                <a:spcPct val="100000"/>
              </a:lnSpc>
              <a:spcBef>
                <a:spcPts val="100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If And ≠ 0000</a:t>
            </a:r>
            <a:endParaRPr b="0" i="0" sz="1400" u="none" cap="none" strike="noStrike">
              <a:solidFill>
                <a:srgbClr val="000000"/>
              </a:solidFill>
              <a:latin typeface="Arial"/>
              <a:ea typeface="Arial"/>
              <a:cs typeface="Arial"/>
              <a:sym typeface="Arial"/>
            </a:endParaRPr>
          </a:p>
          <a:p>
            <a:pPr indent="0" lvl="0" marL="914400" marR="0" rtl="0" algn="l">
              <a:lnSpc>
                <a:spcPct val="100000"/>
              </a:lnSpc>
              <a:spcBef>
                <a:spcPts val="100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then the line is invisible</a:t>
            </a:r>
            <a:endParaRPr b="0" i="0" sz="1400" u="none" cap="none" strike="noStrike">
              <a:solidFill>
                <a:srgbClr val="000000"/>
              </a:solidFill>
              <a:latin typeface="Arial"/>
              <a:ea typeface="Arial"/>
              <a:cs typeface="Arial"/>
              <a:sym typeface="Arial"/>
            </a:endParaRPr>
          </a:p>
          <a:p>
            <a:pPr indent="0" lvl="0" marL="914400" marR="0" rtl="0" algn="l">
              <a:lnSpc>
                <a:spcPct val="100000"/>
              </a:lnSpc>
              <a:spcBef>
                <a:spcPts val="100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else</a:t>
            </a:r>
            <a:endParaRPr b="0" i="0" sz="1400" u="none" cap="none" strike="noStrike">
              <a:solidFill>
                <a:srgbClr val="000000"/>
              </a:solidFill>
              <a:latin typeface="Arial"/>
              <a:ea typeface="Arial"/>
              <a:cs typeface="Arial"/>
              <a:sym typeface="Arial"/>
            </a:endParaRPr>
          </a:p>
          <a:p>
            <a:pPr indent="0" lvl="0" marL="914400" marR="0" rtl="0" algn="l">
              <a:lnSpc>
                <a:spcPct val="100000"/>
              </a:lnSpc>
              <a:spcBef>
                <a:spcPts val="100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And=0000</a:t>
            </a:r>
            <a:endParaRPr b="0" i="0" sz="1400" u="none" cap="none" strike="noStrike">
              <a:solidFill>
                <a:srgbClr val="000000"/>
              </a:solidFill>
              <a:latin typeface="Arial"/>
              <a:ea typeface="Arial"/>
              <a:cs typeface="Arial"/>
              <a:sym typeface="Arial"/>
            </a:endParaRPr>
          </a:p>
          <a:p>
            <a:pPr indent="0" lvl="0" marL="914400" marR="0" rtl="0" algn="l">
              <a:lnSpc>
                <a:spcPct val="100000"/>
              </a:lnSpc>
              <a:spcBef>
                <a:spcPts val="100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Line is considered the clipped case.</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1000"/>
              </a:spcBef>
              <a:spcAft>
                <a:spcPts val="0"/>
              </a:spcAft>
              <a:buClr>
                <a:srgbClr val="000000"/>
              </a:buClr>
              <a:buSzPts val="1400"/>
              <a:buFont typeface="Arial"/>
              <a:buChar char="●"/>
            </a:pPr>
            <a:r>
              <a:rPr b="1" i="0" lang="en-US" sz="1400" u="none" cap="none" strike="noStrike">
                <a:solidFill>
                  <a:srgbClr val="980000"/>
                </a:solidFill>
                <a:latin typeface="Arial"/>
                <a:ea typeface="Arial"/>
                <a:cs typeface="Arial"/>
                <a:sym typeface="Arial"/>
              </a:rPr>
              <a:t>Step 4: </a:t>
            </a:r>
            <a:r>
              <a:rPr b="0" i="0" lang="en-US" sz="1400" u="none" cap="none" strike="noStrike">
                <a:solidFill>
                  <a:srgbClr val="000000"/>
                </a:solidFill>
                <a:latin typeface="Arial"/>
                <a:ea typeface="Arial"/>
                <a:cs typeface="Arial"/>
                <a:sym typeface="Arial"/>
              </a:rPr>
              <a:t>If a line needs to be clipped, first find an intersection point of all boundaries with the following formula:</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100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m = (y2-y1) (x2-x1)</a:t>
            </a:r>
            <a:endParaRPr b="0" i="0" sz="1400" u="none" cap="none" strike="noStrike">
              <a:solidFill>
                <a:srgbClr val="000000"/>
              </a:solidFill>
              <a:latin typeface="Arial"/>
              <a:ea typeface="Arial"/>
              <a:cs typeface="Arial"/>
              <a:sym typeface="Arial"/>
            </a:endParaRPr>
          </a:p>
          <a:p>
            <a:pPr indent="0" lvl="0" marL="457200" marR="0" rtl="0" algn="l">
              <a:lnSpc>
                <a:spcPct val="100000"/>
              </a:lnSpc>
              <a:spcBef>
                <a:spcPts val="10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914400" marR="0" rtl="0" algn="l">
              <a:lnSpc>
                <a:spcPct val="100000"/>
              </a:lnSpc>
              <a:spcBef>
                <a:spcPts val="10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89" name="Shape 189"/>
        <p:cNvGrpSpPr/>
        <p:nvPr/>
      </p:nvGrpSpPr>
      <p:grpSpPr>
        <a:xfrm>
          <a:off x="0" y="0"/>
          <a:ext cx="0" cy="0"/>
          <a:chOff x="0" y="0"/>
          <a:chExt cx="0" cy="0"/>
        </a:xfrm>
      </p:grpSpPr>
      <p:sp>
        <p:nvSpPr>
          <p:cNvPr id="190" name="Google Shape;190;g3cc01153d18_0_79"/>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191" name="Google Shape;191;g3cc01153d18_0_79"/>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192" name="Google Shape;192;g3cc01153d18_0_79"/>
          <p:cNvSpPr txBox="1"/>
          <p:nvPr/>
        </p:nvSpPr>
        <p:spPr>
          <a:xfrm>
            <a:off x="363825" y="168125"/>
            <a:ext cx="7789500" cy="6927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0" i="0" lang="en-US" sz="3300" u="none" cap="none" strike="noStrike">
                <a:solidFill>
                  <a:schemeClr val="lt1"/>
                </a:solidFill>
                <a:latin typeface="Times New Roman"/>
                <a:ea typeface="Times New Roman"/>
                <a:cs typeface="Times New Roman"/>
                <a:sym typeface="Times New Roman"/>
              </a:rPr>
              <a:t>Cohen-Sutherland Line Clipping Algorithm</a:t>
            </a:r>
            <a:endParaRPr b="0" i="0" sz="3300" u="none" cap="none" strike="noStrike">
              <a:solidFill>
                <a:schemeClr val="lt1"/>
              </a:solidFill>
              <a:latin typeface="Times New Roman"/>
              <a:ea typeface="Times New Roman"/>
              <a:cs typeface="Times New Roman"/>
              <a:sym typeface="Times New Roman"/>
            </a:endParaRPr>
          </a:p>
        </p:txBody>
      </p:sp>
      <p:pic>
        <p:nvPicPr>
          <p:cNvPr id="193" name="Google Shape;193;g3cc01153d18_0_79"/>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194" name="Google Shape;194;g3cc01153d18_0_79"/>
          <p:cNvSpPr txBox="1"/>
          <p:nvPr/>
        </p:nvSpPr>
        <p:spPr>
          <a:xfrm>
            <a:off x="426925" y="1062775"/>
            <a:ext cx="6167700" cy="5410500"/>
          </a:xfrm>
          <a:prstGeom prst="rect">
            <a:avLst/>
          </a:prstGeom>
          <a:noFill/>
          <a:ln>
            <a:noFill/>
          </a:ln>
        </p:spPr>
        <p:txBody>
          <a:bodyPr anchorCtr="0" anchor="t" bIns="91425" lIns="91425" spcFirstLastPara="1" rIns="91425" wrap="square" tIns="91425">
            <a:spAutoFit/>
          </a:bodyPr>
          <a:lstStyle/>
          <a:p>
            <a:pPr indent="-317500" lvl="0" marL="457200" marR="0" rtl="0" algn="l">
              <a:lnSpc>
                <a:spcPct val="100000"/>
              </a:lnSpc>
              <a:spcBef>
                <a:spcPts val="1000"/>
              </a:spcBef>
              <a:spcAft>
                <a:spcPts val="0"/>
              </a:spcAft>
              <a:buClr>
                <a:srgbClr val="000000"/>
              </a:buClr>
              <a:buSzPts val="1400"/>
              <a:buFont typeface="Arial"/>
              <a:buChar char="●"/>
            </a:pPr>
            <a:r>
              <a:rPr b="1" i="0" lang="en-US" sz="1400" u="none" cap="none" strike="noStrike">
                <a:solidFill>
                  <a:srgbClr val="980000"/>
                </a:solidFill>
                <a:latin typeface="Arial"/>
                <a:ea typeface="Arial"/>
                <a:cs typeface="Arial"/>
                <a:sym typeface="Arial"/>
              </a:rPr>
              <a:t>Step 5: </a:t>
            </a:r>
            <a:r>
              <a:rPr b="0" i="0" lang="en-US" sz="1400" u="none" cap="none" strike="noStrike">
                <a:solidFill>
                  <a:srgbClr val="303030"/>
                </a:solidFill>
                <a:latin typeface="Arial"/>
                <a:ea typeface="Arial"/>
                <a:cs typeface="Arial"/>
                <a:sym typeface="Arial"/>
              </a:rPr>
              <a:t> Finding intersection points </a:t>
            </a:r>
            <a:endParaRPr b="0" i="0" sz="1400" u="none" cap="none" strike="noStrike">
              <a:solidFill>
                <a:srgbClr val="303030"/>
              </a:solidFill>
              <a:latin typeface="Arial"/>
              <a:ea typeface="Arial"/>
              <a:cs typeface="Arial"/>
              <a:sym typeface="Arial"/>
            </a:endParaRPr>
          </a:p>
          <a:p>
            <a:pPr indent="0" lvl="0" marL="914400" marR="0" rtl="0" algn="l">
              <a:lnSpc>
                <a:spcPct val="100000"/>
              </a:lnSpc>
              <a:spcBef>
                <a:spcPts val="0"/>
              </a:spcBef>
              <a:spcAft>
                <a:spcPts val="0"/>
              </a:spcAft>
              <a:buClr>
                <a:srgbClr val="000000"/>
              </a:buClr>
              <a:buSzPts val="1400"/>
              <a:buFont typeface="Arial"/>
              <a:buNone/>
            </a:pPr>
            <a:r>
              <a:rPr b="0" i="0" lang="en-US" sz="1400" u="none" cap="none" strike="noStrike">
                <a:solidFill>
                  <a:srgbClr val="303030"/>
                </a:solidFill>
                <a:latin typeface="Arial"/>
                <a:ea typeface="Arial"/>
                <a:cs typeface="Arial"/>
                <a:sym typeface="Arial"/>
              </a:rPr>
              <a:t>i) y value of vertical line : </a:t>
            </a:r>
            <a:endParaRPr b="0" i="0" sz="1400" u="none" cap="none" strike="noStrike">
              <a:solidFill>
                <a:srgbClr val="303030"/>
              </a:solidFill>
              <a:latin typeface="Arial"/>
              <a:ea typeface="Arial"/>
              <a:cs typeface="Arial"/>
              <a:sym typeface="Arial"/>
            </a:endParaRPr>
          </a:p>
          <a:p>
            <a:pPr indent="0" lvl="0" marL="9144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303030"/>
              </a:solidFill>
              <a:latin typeface="Arial"/>
              <a:ea typeface="Arial"/>
              <a:cs typeface="Arial"/>
              <a:sym typeface="Arial"/>
            </a:endParaRPr>
          </a:p>
          <a:p>
            <a:pPr indent="0" lvl="0" marL="914400" marR="0" rtl="0" algn="l">
              <a:lnSpc>
                <a:spcPct val="115000"/>
              </a:lnSpc>
              <a:spcBef>
                <a:spcPts val="0"/>
              </a:spcBef>
              <a:spcAft>
                <a:spcPts val="0"/>
              </a:spcAft>
              <a:buClr>
                <a:srgbClr val="000000"/>
              </a:buClr>
              <a:buSzPts val="1400"/>
              <a:buFont typeface="Arial"/>
              <a:buNone/>
            </a:pPr>
            <a:r>
              <a:rPr b="0" i="0" lang="en-US" sz="1400" u="none" cap="none" strike="noStrike">
                <a:solidFill>
                  <a:srgbClr val="303030"/>
                </a:solidFill>
                <a:latin typeface="Arial"/>
                <a:ea typeface="Arial"/>
                <a:cs typeface="Arial"/>
                <a:sym typeface="Arial"/>
              </a:rPr>
              <a:t>When the line intersects the left-side boundary of the window port.</a:t>
            </a:r>
            <a:endParaRPr b="0" i="0" sz="1400" u="none" cap="none" strike="noStrike">
              <a:solidFill>
                <a:srgbClr val="303030"/>
              </a:solidFill>
              <a:latin typeface="Arial"/>
              <a:ea typeface="Arial"/>
              <a:cs typeface="Arial"/>
              <a:sym typeface="Arial"/>
            </a:endParaRPr>
          </a:p>
          <a:p>
            <a:pPr indent="0" lvl="0" marL="914400" marR="0" rtl="0" algn="l">
              <a:lnSpc>
                <a:spcPct val="115000"/>
              </a:lnSpc>
              <a:spcBef>
                <a:spcPts val="0"/>
              </a:spcBef>
              <a:spcAft>
                <a:spcPts val="0"/>
              </a:spcAft>
              <a:buClr>
                <a:srgbClr val="000000"/>
              </a:buClr>
              <a:buSzPts val="1400"/>
              <a:buFont typeface="Arial"/>
              <a:buNone/>
            </a:pPr>
            <a:r>
              <a:rPr b="0" i="0" lang="en-US" sz="1400" u="none" cap="none" strike="noStrike">
                <a:solidFill>
                  <a:srgbClr val="303030"/>
                </a:solidFill>
                <a:latin typeface="Arial"/>
                <a:ea typeface="Arial"/>
                <a:cs typeface="Arial"/>
                <a:sym typeface="Arial"/>
              </a:rPr>
              <a:t>            	y = y1 + m(x - x1)</a:t>
            </a:r>
            <a:endParaRPr b="0" i="0" sz="1400" u="none" cap="none" strike="noStrike">
              <a:solidFill>
                <a:srgbClr val="303030"/>
              </a:solidFill>
              <a:latin typeface="Arial"/>
              <a:ea typeface="Arial"/>
              <a:cs typeface="Arial"/>
              <a:sym typeface="Arial"/>
            </a:endParaRPr>
          </a:p>
          <a:p>
            <a:pPr indent="0" lvl="0" marL="914400" marR="0" rtl="0" algn="l">
              <a:lnSpc>
                <a:spcPct val="115000"/>
              </a:lnSpc>
              <a:spcBef>
                <a:spcPts val="0"/>
              </a:spcBef>
              <a:spcAft>
                <a:spcPts val="0"/>
              </a:spcAft>
              <a:buClr>
                <a:srgbClr val="000000"/>
              </a:buClr>
              <a:buSzPts val="1400"/>
              <a:buFont typeface="Arial"/>
              <a:buNone/>
            </a:pPr>
            <a:r>
              <a:rPr b="0" i="0" lang="en-US" sz="1400" u="none" cap="none" strike="noStrike">
                <a:solidFill>
                  <a:srgbClr val="303030"/>
                </a:solidFill>
                <a:latin typeface="Arial"/>
                <a:ea typeface="Arial"/>
                <a:cs typeface="Arial"/>
                <a:sym typeface="Arial"/>
              </a:rPr>
              <a:t>           	Here x = xmin (Minimum value of x coordinate)  </a:t>
            </a:r>
            <a:endParaRPr b="0" i="0" sz="1400" u="none" cap="none" strike="noStrike">
              <a:solidFill>
                <a:srgbClr val="303030"/>
              </a:solidFill>
              <a:latin typeface="Arial"/>
              <a:ea typeface="Arial"/>
              <a:cs typeface="Arial"/>
              <a:sym typeface="Arial"/>
            </a:endParaRPr>
          </a:p>
          <a:p>
            <a:pPr indent="0" lvl="0" marL="914400" marR="0" rtl="0" algn="l">
              <a:lnSpc>
                <a:spcPct val="115000"/>
              </a:lnSpc>
              <a:spcBef>
                <a:spcPts val="0"/>
              </a:spcBef>
              <a:spcAft>
                <a:spcPts val="0"/>
              </a:spcAft>
              <a:buClr>
                <a:srgbClr val="000000"/>
              </a:buClr>
              <a:buSzPts val="1400"/>
              <a:buFont typeface="Arial"/>
              <a:buNone/>
            </a:pPr>
            <a:r>
              <a:rPr b="0" i="0" lang="en-US" sz="1400" u="none" cap="none" strike="noStrike">
                <a:solidFill>
                  <a:srgbClr val="303030"/>
                </a:solidFill>
                <a:latin typeface="Arial"/>
                <a:ea typeface="Arial"/>
                <a:cs typeface="Arial"/>
                <a:sym typeface="Arial"/>
              </a:rPr>
              <a:t>When the line intersects the right-side boundary of the window port.</a:t>
            </a:r>
            <a:endParaRPr b="0" i="0" sz="1400" u="none" cap="none" strike="noStrike">
              <a:solidFill>
                <a:srgbClr val="303030"/>
              </a:solidFill>
              <a:latin typeface="Arial"/>
              <a:ea typeface="Arial"/>
              <a:cs typeface="Arial"/>
              <a:sym typeface="Arial"/>
            </a:endParaRPr>
          </a:p>
          <a:p>
            <a:pPr indent="0" lvl="0" marL="914400" marR="0" rtl="0" algn="l">
              <a:lnSpc>
                <a:spcPct val="115000"/>
              </a:lnSpc>
              <a:spcBef>
                <a:spcPts val="0"/>
              </a:spcBef>
              <a:spcAft>
                <a:spcPts val="0"/>
              </a:spcAft>
              <a:buClr>
                <a:srgbClr val="000000"/>
              </a:buClr>
              <a:buSzPts val="1400"/>
              <a:buFont typeface="Arial"/>
              <a:buNone/>
            </a:pPr>
            <a:r>
              <a:rPr b="0" i="0" lang="en-US" sz="1400" u="none" cap="none" strike="noStrike">
                <a:solidFill>
                  <a:srgbClr val="303030"/>
                </a:solidFill>
                <a:latin typeface="Arial"/>
                <a:ea typeface="Arial"/>
                <a:cs typeface="Arial"/>
                <a:sym typeface="Arial"/>
              </a:rPr>
              <a:t>            	y = y1 + m(x - x1)</a:t>
            </a:r>
            <a:endParaRPr b="0" i="0" sz="1400" u="none" cap="none" strike="noStrike">
              <a:solidFill>
                <a:srgbClr val="303030"/>
              </a:solidFill>
              <a:latin typeface="Arial"/>
              <a:ea typeface="Arial"/>
              <a:cs typeface="Arial"/>
              <a:sym typeface="Arial"/>
            </a:endParaRPr>
          </a:p>
          <a:p>
            <a:pPr indent="0" lvl="0" marL="914400" marR="0" rtl="0" algn="l">
              <a:lnSpc>
                <a:spcPct val="115000"/>
              </a:lnSpc>
              <a:spcBef>
                <a:spcPts val="0"/>
              </a:spcBef>
              <a:spcAft>
                <a:spcPts val="0"/>
              </a:spcAft>
              <a:buClr>
                <a:srgbClr val="000000"/>
              </a:buClr>
              <a:buSzPts val="1400"/>
              <a:buFont typeface="Arial"/>
              <a:buNone/>
            </a:pPr>
            <a:r>
              <a:rPr b="0" i="0" lang="en-US" sz="1400" u="none" cap="none" strike="noStrike">
                <a:solidFill>
                  <a:srgbClr val="303030"/>
                </a:solidFill>
                <a:latin typeface="Arial"/>
                <a:ea typeface="Arial"/>
                <a:cs typeface="Arial"/>
                <a:sym typeface="Arial"/>
              </a:rPr>
              <a:t>           	Here x = xmax (Maximum value of x coordinate)</a:t>
            </a:r>
            <a:endParaRPr b="0" i="0" sz="1400" u="none" cap="none" strike="noStrike">
              <a:solidFill>
                <a:srgbClr val="303030"/>
              </a:solidFill>
              <a:latin typeface="Arial"/>
              <a:ea typeface="Arial"/>
              <a:cs typeface="Arial"/>
              <a:sym typeface="Arial"/>
            </a:endParaRPr>
          </a:p>
          <a:p>
            <a:pPr indent="0" lvl="0" marL="9144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303030"/>
              </a:solidFill>
              <a:latin typeface="Arial"/>
              <a:ea typeface="Arial"/>
              <a:cs typeface="Arial"/>
              <a:sym typeface="Arial"/>
            </a:endParaRPr>
          </a:p>
          <a:p>
            <a:pPr indent="0" lvl="0" marL="914400" marR="0" rtl="0" algn="l">
              <a:lnSpc>
                <a:spcPct val="100000"/>
              </a:lnSpc>
              <a:spcBef>
                <a:spcPts val="0"/>
              </a:spcBef>
              <a:spcAft>
                <a:spcPts val="0"/>
              </a:spcAft>
              <a:buClr>
                <a:srgbClr val="000000"/>
              </a:buClr>
              <a:buSzPts val="1400"/>
              <a:buFont typeface="Arial"/>
              <a:buNone/>
            </a:pPr>
            <a:r>
              <a:rPr b="0" i="0" lang="en-US" sz="1400" u="none" cap="none" strike="noStrike">
                <a:solidFill>
                  <a:srgbClr val="303030"/>
                </a:solidFill>
                <a:latin typeface="Arial"/>
                <a:ea typeface="Arial"/>
                <a:cs typeface="Arial"/>
                <a:sym typeface="Arial"/>
              </a:rPr>
              <a:t>ii) x value of horizontal line:</a:t>
            </a:r>
            <a:endParaRPr b="0" i="0" sz="1400" u="none" cap="none" strike="noStrike">
              <a:solidFill>
                <a:srgbClr val="303030"/>
              </a:solidFill>
              <a:latin typeface="Arial"/>
              <a:ea typeface="Arial"/>
              <a:cs typeface="Arial"/>
              <a:sym typeface="Arial"/>
            </a:endParaRPr>
          </a:p>
          <a:p>
            <a:pPr indent="0" lvl="0" marL="91440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303030"/>
              </a:solidFill>
              <a:latin typeface="Arial"/>
              <a:ea typeface="Arial"/>
              <a:cs typeface="Arial"/>
              <a:sym typeface="Arial"/>
            </a:endParaRPr>
          </a:p>
          <a:p>
            <a:pPr indent="0" lvl="0" marL="914400" marR="0" rtl="0" algn="l">
              <a:lnSpc>
                <a:spcPct val="115000"/>
              </a:lnSpc>
              <a:spcBef>
                <a:spcPts val="0"/>
              </a:spcBef>
              <a:spcAft>
                <a:spcPts val="0"/>
              </a:spcAft>
              <a:buClr>
                <a:srgbClr val="000000"/>
              </a:buClr>
              <a:buSzPts val="1400"/>
              <a:buFont typeface="Arial"/>
              <a:buNone/>
            </a:pPr>
            <a:r>
              <a:rPr b="0" i="0" lang="en-US" sz="1400" u="none" cap="none" strike="noStrike">
                <a:solidFill>
                  <a:srgbClr val="303030"/>
                </a:solidFill>
                <a:latin typeface="Arial"/>
                <a:ea typeface="Arial"/>
                <a:cs typeface="Arial"/>
                <a:sym typeface="Arial"/>
              </a:rPr>
              <a:t>When the line intersects Top side boundary of the window port.      </a:t>
            </a:r>
            <a:endParaRPr b="0" i="0" sz="1400" u="none" cap="none" strike="noStrike">
              <a:solidFill>
                <a:srgbClr val="303030"/>
              </a:solidFill>
              <a:latin typeface="Arial"/>
              <a:ea typeface="Arial"/>
              <a:cs typeface="Arial"/>
              <a:sym typeface="Arial"/>
            </a:endParaRPr>
          </a:p>
          <a:p>
            <a:pPr indent="0" lvl="0" marL="914400" marR="0" rtl="0" algn="l">
              <a:lnSpc>
                <a:spcPct val="115000"/>
              </a:lnSpc>
              <a:spcBef>
                <a:spcPts val="0"/>
              </a:spcBef>
              <a:spcAft>
                <a:spcPts val="0"/>
              </a:spcAft>
              <a:buClr>
                <a:srgbClr val="000000"/>
              </a:buClr>
              <a:buSzPts val="1400"/>
              <a:buFont typeface="Arial"/>
              <a:buNone/>
            </a:pPr>
            <a:r>
              <a:rPr b="0" i="0" lang="en-US" sz="1400" u="none" cap="none" strike="noStrike">
                <a:solidFill>
                  <a:srgbClr val="303030"/>
                </a:solidFill>
                <a:latin typeface="Arial"/>
                <a:ea typeface="Arial"/>
                <a:cs typeface="Arial"/>
                <a:sym typeface="Arial"/>
              </a:rPr>
              <a:t>                x = x1 + (y - y1)/m                    </a:t>
            </a:r>
            <a:endParaRPr b="0" i="0" sz="1400" u="none" cap="none" strike="noStrike">
              <a:solidFill>
                <a:srgbClr val="303030"/>
              </a:solidFill>
              <a:latin typeface="Arial"/>
              <a:ea typeface="Arial"/>
              <a:cs typeface="Arial"/>
              <a:sym typeface="Arial"/>
            </a:endParaRPr>
          </a:p>
          <a:p>
            <a:pPr indent="0" lvl="0" marL="914400" marR="0" rtl="0" algn="l">
              <a:lnSpc>
                <a:spcPct val="115000"/>
              </a:lnSpc>
              <a:spcBef>
                <a:spcPts val="0"/>
              </a:spcBef>
              <a:spcAft>
                <a:spcPts val="0"/>
              </a:spcAft>
              <a:buClr>
                <a:srgbClr val="000000"/>
              </a:buClr>
              <a:buSzPts val="1400"/>
              <a:buFont typeface="Arial"/>
              <a:buNone/>
            </a:pPr>
            <a:r>
              <a:rPr b="0" i="0" lang="en-US" sz="1400" u="none" cap="none" strike="noStrike">
                <a:solidFill>
                  <a:srgbClr val="303030"/>
                </a:solidFill>
                <a:latin typeface="Arial"/>
                <a:ea typeface="Arial"/>
                <a:cs typeface="Arial"/>
                <a:sym typeface="Arial"/>
              </a:rPr>
              <a:t>                Here y = ymax (Maximum value of y coordinate)</a:t>
            </a:r>
            <a:endParaRPr b="0" i="0" sz="1400" u="none" cap="none" strike="noStrike">
              <a:solidFill>
                <a:srgbClr val="303030"/>
              </a:solidFill>
              <a:latin typeface="Arial"/>
              <a:ea typeface="Arial"/>
              <a:cs typeface="Arial"/>
              <a:sym typeface="Arial"/>
            </a:endParaRPr>
          </a:p>
          <a:p>
            <a:pPr indent="0" lvl="0" marL="914400" marR="0" rtl="0" algn="l">
              <a:lnSpc>
                <a:spcPct val="115000"/>
              </a:lnSpc>
              <a:spcBef>
                <a:spcPts val="0"/>
              </a:spcBef>
              <a:spcAft>
                <a:spcPts val="0"/>
              </a:spcAft>
              <a:buClr>
                <a:srgbClr val="000000"/>
              </a:buClr>
              <a:buSzPts val="1400"/>
              <a:buFont typeface="Arial"/>
              <a:buNone/>
            </a:pPr>
            <a:r>
              <a:rPr b="0" i="0" lang="en-US" sz="1400" u="none" cap="none" strike="noStrike">
                <a:solidFill>
                  <a:srgbClr val="303030"/>
                </a:solidFill>
                <a:latin typeface="Arial"/>
                <a:ea typeface="Arial"/>
                <a:cs typeface="Arial"/>
                <a:sym typeface="Arial"/>
              </a:rPr>
              <a:t>When the line intersects the bottom side boundary of the window port.                       </a:t>
            </a:r>
            <a:endParaRPr b="0" i="0" sz="1400" u="none" cap="none" strike="noStrike">
              <a:solidFill>
                <a:srgbClr val="303030"/>
              </a:solidFill>
              <a:latin typeface="Arial"/>
              <a:ea typeface="Arial"/>
              <a:cs typeface="Arial"/>
              <a:sym typeface="Arial"/>
            </a:endParaRPr>
          </a:p>
          <a:p>
            <a:pPr indent="0" lvl="0" marL="914400" marR="0" rtl="0" algn="l">
              <a:lnSpc>
                <a:spcPct val="115000"/>
              </a:lnSpc>
              <a:spcBef>
                <a:spcPts val="0"/>
              </a:spcBef>
              <a:spcAft>
                <a:spcPts val="0"/>
              </a:spcAft>
              <a:buClr>
                <a:srgbClr val="000000"/>
              </a:buClr>
              <a:buSzPts val="1400"/>
              <a:buFont typeface="Arial"/>
              <a:buNone/>
            </a:pPr>
            <a:r>
              <a:rPr b="0" i="0" lang="en-US" sz="1400" u="none" cap="none" strike="noStrike">
                <a:solidFill>
                  <a:srgbClr val="303030"/>
                </a:solidFill>
                <a:latin typeface="Arial"/>
                <a:ea typeface="Arial"/>
                <a:cs typeface="Arial"/>
                <a:sym typeface="Arial"/>
              </a:rPr>
              <a:t>                 x = x1 + (y - y1)/m</a:t>
            </a:r>
            <a:endParaRPr b="0" i="0" sz="1400" u="none" cap="none" strike="noStrike">
              <a:solidFill>
                <a:srgbClr val="303030"/>
              </a:solidFill>
              <a:latin typeface="Arial"/>
              <a:ea typeface="Arial"/>
              <a:cs typeface="Arial"/>
              <a:sym typeface="Arial"/>
            </a:endParaRPr>
          </a:p>
          <a:p>
            <a:pPr indent="0" lvl="0" marL="914400" marR="0" rtl="0" algn="l">
              <a:lnSpc>
                <a:spcPct val="115000"/>
              </a:lnSpc>
              <a:spcBef>
                <a:spcPts val="0"/>
              </a:spcBef>
              <a:spcAft>
                <a:spcPts val="0"/>
              </a:spcAft>
              <a:buClr>
                <a:srgbClr val="000000"/>
              </a:buClr>
              <a:buSzPts val="1400"/>
              <a:buFont typeface="Arial"/>
              <a:buNone/>
            </a:pPr>
            <a:r>
              <a:rPr b="0" i="0" lang="en-US" sz="1400" u="none" cap="none" strike="noStrike">
                <a:solidFill>
                  <a:srgbClr val="303030"/>
                </a:solidFill>
                <a:latin typeface="Arial"/>
                <a:ea typeface="Arial"/>
                <a:cs typeface="Arial"/>
                <a:sym typeface="Arial"/>
              </a:rPr>
              <a:t>                 Here y = ymin (Minimum value of y coordinate)</a:t>
            </a:r>
            <a:endParaRPr b="0" i="0" sz="1400" u="none" cap="none" strike="noStrike">
              <a:solidFill>
                <a:srgbClr val="30303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5" name="Google Shape;195;g3cc01153d18_0_79"/>
          <p:cNvPicPr preferRelativeResize="0"/>
          <p:nvPr/>
        </p:nvPicPr>
        <p:blipFill rotWithShape="1">
          <a:blip r:embed="rId4">
            <a:alphaModFix/>
          </a:blip>
          <a:srcRect b="0" l="0" r="16991" t="0"/>
          <a:stretch/>
        </p:blipFill>
        <p:spPr>
          <a:xfrm>
            <a:off x="6676325" y="1957700"/>
            <a:ext cx="2220299" cy="34742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99" name="Shape 199"/>
        <p:cNvGrpSpPr/>
        <p:nvPr/>
      </p:nvGrpSpPr>
      <p:grpSpPr>
        <a:xfrm>
          <a:off x="0" y="0"/>
          <a:ext cx="0" cy="0"/>
          <a:chOff x="0" y="0"/>
          <a:chExt cx="0" cy="0"/>
        </a:xfrm>
      </p:grpSpPr>
      <p:sp>
        <p:nvSpPr>
          <p:cNvPr id="200" name="Google Shape;200;g3bbe9322812_0_104"/>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201" name="Google Shape;201;g3bbe9322812_0_104"/>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02" name="Google Shape;202;g3bbe9322812_0_104"/>
          <p:cNvSpPr txBox="1"/>
          <p:nvPr/>
        </p:nvSpPr>
        <p:spPr>
          <a:xfrm>
            <a:off x="363825" y="168125"/>
            <a:ext cx="7789500" cy="5850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0" i="0" lang="en-US" sz="2600" u="none" cap="none" strike="noStrike">
                <a:solidFill>
                  <a:schemeClr val="lt1"/>
                </a:solidFill>
                <a:latin typeface="Times New Roman"/>
                <a:ea typeface="Times New Roman"/>
                <a:cs typeface="Times New Roman"/>
                <a:sym typeface="Times New Roman"/>
              </a:rPr>
              <a:t>Example of Cohen-Sutherland Line Clipping Algorithm:</a:t>
            </a:r>
            <a:endParaRPr b="0" i="0" sz="2600" u="none" cap="none" strike="noStrike">
              <a:solidFill>
                <a:schemeClr val="lt1"/>
              </a:solidFill>
              <a:latin typeface="Times New Roman"/>
              <a:ea typeface="Times New Roman"/>
              <a:cs typeface="Times New Roman"/>
              <a:sym typeface="Times New Roman"/>
            </a:endParaRPr>
          </a:p>
        </p:txBody>
      </p:sp>
      <p:pic>
        <p:nvPicPr>
          <p:cNvPr id="203" name="Google Shape;203;g3bbe9322812_0_104"/>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204" name="Google Shape;204;g3bbe9322812_0_104"/>
          <p:cNvSpPr txBox="1"/>
          <p:nvPr/>
        </p:nvSpPr>
        <p:spPr>
          <a:xfrm>
            <a:off x="481425" y="1099100"/>
            <a:ext cx="78753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Let R be the rectangular window whose lower left-hand corner is at L (-3, 1) and whose upper right-hand corner is at R (2, 6). Find the region codes for the endpoints in fig.</a:t>
            </a:r>
            <a:endParaRPr b="0" i="0" sz="1400" u="none" cap="none" strike="noStrike">
              <a:solidFill>
                <a:srgbClr val="000000"/>
              </a:solidFill>
              <a:latin typeface="Arial"/>
              <a:ea typeface="Arial"/>
              <a:cs typeface="Arial"/>
              <a:sym typeface="Arial"/>
            </a:endParaRPr>
          </a:p>
        </p:txBody>
      </p:sp>
      <p:pic>
        <p:nvPicPr>
          <p:cNvPr descr="Line Clipping" id="205" name="Google Shape;205;g3bbe9322812_0_104"/>
          <p:cNvPicPr preferRelativeResize="0"/>
          <p:nvPr/>
        </p:nvPicPr>
        <p:blipFill rotWithShape="1">
          <a:blip r:embed="rId4">
            <a:alphaModFix/>
          </a:blip>
          <a:srcRect b="0" l="0" r="0" t="0"/>
          <a:stretch/>
        </p:blipFill>
        <p:spPr>
          <a:xfrm>
            <a:off x="2327313" y="1936847"/>
            <a:ext cx="4486225" cy="34149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09" name="Shape 209"/>
        <p:cNvGrpSpPr/>
        <p:nvPr/>
      </p:nvGrpSpPr>
      <p:grpSpPr>
        <a:xfrm>
          <a:off x="0" y="0"/>
          <a:ext cx="0" cy="0"/>
          <a:chOff x="0" y="0"/>
          <a:chExt cx="0" cy="0"/>
        </a:xfrm>
      </p:grpSpPr>
      <p:sp>
        <p:nvSpPr>
          <p:cNvPr id="210" name="Google Shape;210;g3cc01153d18_0_100"/>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211" name="Google Shape;211;g3cc01153d18_0_100"/>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12" name="Google Shape;212;g3cc01153d18_0_100"/>
          <p:cNvSpPr txBox="1"/>
          <p:nvPr/>
        </p:nvSpPr>
        <p:spPr>
          <a:xfrm>
            <a:off x="363825" y="168125"/>
            <a:ext cx="7789500" cy="5850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0" i="0" lang="en-US" sz="2600" u="none" cap="none" strike="noStrike">
                <a:solidFill>
                  <a:schemeClr val="lt1"/>
                </a:solidFill>
                <a:latin typeface="Times New Roman"/>
                <a:ea typeface="Times New Roman"/>
                <a:cs typeface="Times New Roman"/>
                <a:sym typeface="Times New Roman"/>
              </a:rPr>
              <a:t>Example of Cohen-Sutherland Line Clipping Algorithm:</a:t>
            </a:r>
            <a:endParaRPr b="0" i="0" sz="2600" u="none" cap="none" strike="noStrike">
              <a:solidFill>
                <a:schemeClr val="lt1"/>
              </a:solidFill>
              <a:latin typeface="Times New Roman"/>
              <a:ea typeface="Times New Roman"/>
              <a:cs typeface="Times New Roman"/>
              <a:sym typeface="Times New Roman"/>
            </a:endParaRPr>
          </a:p>
        </p:txBody>
      </p:sp>
      <p:pic>
        <p:nvPicPr>
          <p:cNvPr id="213" name="Google Shape;213;g3cc01153d18_0_100"/>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214" name="Google Shape;214;g3cc01153d18_0_100"/>
          <p:cNvSpPr txBox="1"/>
          <p:nvPr/>
        </p:nvSpPr>
        <p:spPr>
          <a:xfrm>
            <a:off x="572750" y="1037075"/>
            <a:ext cx="7789500" cy="42636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200"/>
              </a:spcBef>
              <a:spcAft>
                <a:spcPts val="0"/>
              </a:spcAft>
              <a:buClr>
                <a:srgbClr val="000000"/>
              </a:buClr>
              <a:buSzPts val="1400"/>
              <a:buFont typeface="Arial"/>
              <a:buNone/>
            </a:pPr>
            <a:r>
              <a:rPr b="0" i="0" lang="en-US" sz="1400" u="none" cap="none" strike="noStrike">
                <a:solidFill>
                  <a:srgbClr val="333333"/>
                </a:solidFill>
                <a:latin typeface="Roboto"/>
                <a:ea typeface="Roboto"/>
                <a:cs typeface="Roboto"/>
                <a:sym typeface="Roboto"/>
              </a:rPr>
              <a:t>The region code for point (x, y) y) is set according to the scheme</a:t>
            </a:r>
            <a:endParaRPr b="0" i="0" sz="1400" u="none" cap="none" strike="noStrike">
              <a:solidFill>
                <a:srgbClr val="333333"/>
              </a:solidFill>
              <a:latin typeface="Roboto"/>
              <a:ea typeface="Roboto"/>
              <a:cs typeface="Roboto"/>
              <a:sym typeface="Roboto"/>
            </a:endParaRPr>
          </a:p>
          <a:p>
            <a:pPr indent="0" lvl="0" marL="0" marR="0" rtl="0" algn="just">
              <a:lnSpc>
                <a:spcPct val="115000"/>
              </a:lnSpc>
              <a:spcBef>
                <a:spcPts val="1200"/>
              </a:spcBef>
              <a:spcAft>
                <a:spcPts val="0"/>
              </a:spcAft>
              <a:buClr>
                <a:srgbClr val="000000"/>
              </a:buClr>
              <a:buSzPts val="1400"/>
              <a:buFont typeface="Arial"/>
              <a:buNone/>
            </a:pPr>
            <a:r>
              <a:rPr b="0" i="0" lang="en-US" sz="1400" u="none" cap="none" strike="noStrike">
                <a:solidFill>
                  <a:srgbClr val="333333"/>
                </a:solidFill>
                <a:latin typeface="Nova Mono"/>
                <a:ea typeface="Nova Mono"/>
                <a:cs typeface="Nova Mono"/>
                <a:sym typeface="Nova Mono"/>
              </a:rPr>
              <a:t>                A (-4, 2)→ 0001          F (1, 2)→ 0000</a:t>
            </a:r>
            <a:endParaRPr b="0" i="0" sz="1400" u="none" cap="none" strike="noStrike">
              <a:solidFill>
                <a:srgbClr val="333333"/>
              </a:solidFill>
              <a:latin typeface="Roboto"/>
              <a:ea typeface="Roboto"/>
              <a:cs typeface="Roboto"/>
              <a:sym typeface="Roboto"/>
            </a:endParaRPr>
          </a:p>
          <a:p>
            <a:pPr indent="0" lvl="0" marL="0" marR="0" rtl="0" algn="just">
              <a:lnSpc>
                <a:spcPct val="115000"/>
              </a:lnSpc>
              <a:spcBef>
                <a:spcPts val="1200"/>
              </a:spcBef>
              <a:spcAft>
                <a:spcPts val="0"/>
              </a:spcAft>
              <a:buClr>
                <a:srgbClr val="000000"/>
              </a:buClr>
              <a:buSzPts val="1400"/>
              <a:buFont typeface="Arial"/>
              <a:buNone/>
            </a:pPr>
            <a:r>
              <a:rPr b="0" i="0" lang="en-US" sz="1400" u="none" cap="none" strike="noStrike">
                <a:solidFill>
                  <a:srgbClr val="333333"/>
                </a:solidFill>
                <a:latin typeface="Nova Mono"/>
                <a:ea typeface="Nova Mono"/>
                <a:cs typeface="Nova Mono"/>
                <a:sym typeface="Nova Mono"/>
              </a:rPr>
              <a:t>                B (-1, 7) → 1000         G (1, -2) → 0100</a:t>
            </a:r>
            <a:endParaRPr b="0" i="0" sz="1400" u="none" cap="none" strike="noStrike">
              <a:solidFill>
                <a:srgbClr val="333333"/>
              </a:solidFill>
              <a:latin typeface="Roboto"/>
              <a:ea typeface="Roboto"/>
              <a:cs typeface="Roboto"/>
              <a:sym typeface="Roboto"/>
            </a:endParaRPr>
          </a:p>
          <a:p>
            <a:pPr indent="0" lvl="0" marL="0" marR="0" rtl="0" algn="just">
              <a:lnSpc>
                <a:spcPct val="115000"/>
              </a:lnSpc>
              <a:spcBef>
                <a:spcPts val="1200"/>
              </a:spcBef>
              <a:spcAft>
                <a:spcPts val="0"/>
              </a:spcAft>
              <a:buClr>
                <a:srgbClr val="000000"/>
              </a:buClr>
              <a:buSzPts val="1400"/>
              <a:buFont typeface="Arial"/>
              <a:buNone/>
            </a:pPr>
            <a:r>
              <a:rPr b="0" i="0" lang="en-US" sz="1400" u="none" cap="none" strike="noStrike">
                <a:solidFill>
                  <a:srgbClr val="333333"/>
                </a:solidFill>
                <a:latin typeface="Nova Mono"/>
                <a:ea typeface="Nova Mono"/>
                <a:cs typeface="Nova Mono"/>
                <a:sym typeface="Nova Mono"/>
              </a:rPr>
              <a:t>                C (-1, 5) → 0000         H (3, 3) → 0010</a:t>
            </a:r>
            <a:endParaRPr b="0" i="0" sz="1400" u="none" cap="none" strike="noStrike">
              <a:solidFill>
                <a:srgbClr val="333333"/>
              </a:solidFill>
              <a:latin typeface="Roboto"/>
              <a:ea typeface="Roboto"/>
              <a:cs typeface="Roboto"/>
              <a:sym typeface="Roboto"/>
            </a:endParaRPr>
          </a:p>
          <a:p>
            <a:pPr indent="0" lvl="0" marL="0" marR="0" rtl="0" algn="just">
              <a:lnSpc>
                <a:spcPct val="115000"/>
              </a:lnSpc>
              <a:spcBef>
                <a:spcPts val="1200"/>
              </a:spcBef>
              <a:spcAft>
                <a:spcPts val="0"/>
              </a:spcAft>
              <a:buClr>
                <a:srgbClr val="000000"/>
              </a:buClr>
              <a:buSzPts val="1400"/>
              <a:buFont typeface="Arial"/>
              <a:buNone/>
            </a:pPr>
            <a:r>
              <a:rPr b="0" i="0" lang="en-US" sz="1400" u="none" cap="none" strike="noStrike">
                <a:solidFill>
                  <a:srgbClr val="333333"/>
                </a:solidFill>
                <a:latin typeface="Nova Mono"/>
                <a:ea typeface="Nova Mono"/>
                <a:cs typeface="Nova Mono"/>
                <a:sym typeface="Nova Mono"/>
              </a:rPr>
              <a:t>                D (3, 8) → 1010          I (-4, 7) → 1001</a:t>
            </a:r>
            <a:endParaRPr b="0" i="0" sz="1400" u="none" cap="none" strike="noStrike">
              <a:solidFill>
                <a:srgbClr val="333333"/>
              </a:solidFill>
              <a:latin typeface="Roboto"/>
              <a:ea typeface="Roboto"/>
              <a:cs typeface="Roboto"/>
              <a:sym typeface="Roboto"/>
            </a:endParaRPr>
          </a:p>
          <a:p>
            <a:pPr indent="0" lvl="0" marL="0" marR="0" rtl="0" algn="just">
              <a:lnSpc>
                <a:spcPct val="115000"/>
              </a:lnSpc>
              <a:spcBef>
                <a:spcPts val="1200"/>
              </a:spcBef>
              <a:spcAft>
                <a:spcPts val="0"/>
              </a:spcAft>
              <a:buClr>
                <a:srgbClr val="000000"/>
              </a:buClr>
              <a:buSzPts val="1400"/>
              <a:buFont typeface="Arial"/>
              <a:buNone/>
            </a:pPr>
            <a:r>
              <a:rPr b="0" i="0" lang="en-US" sz="1400" u="none" cap="none" strike="noStrike">
                <a:solidFill>
                  <a:srgbClr val="333333"/>
                </a:solidFill>
                <a:latin typeface="Nova Mono"/>
                <a:ea typeface="Nova Mono"/>
                <a:cs typeface="Nova Mono"/>
                <a:sym typeface="Nova Mono"/>
              </a:rPr>
              <a:t>                E (-2, 3) → 0000         J (-2, 10) → 1000</a:t>
            </a:r>
            <a:endParaRPr b="0" i="0" sz="1400" u="none" cap="none" strike="noStrike">
              <a:solidFill>
                <a:srgbClr val="333333"/>
              </a:solidFill>
              <a:latin typeface="Roboto"/>
              <a:ea typeface="Roboto"/>
              <a:cs typeface="Roboto"/>
              <a:sym typeface="Roboto"/>
            </a:endParaRPr>
          </a:p>
          <a:p>
            <a:pPr indent="0" lvl="0" marL="0" marR="0" rtl="0" algn="just">
              <a:lnSpc>
                <a:spcPct val="115000"/>
              </a:lnSpc>
              <a:spcBef>
                <a:spcPts val="1200"/>
              </a:spcBef>
              <a:spcAft>
                <a:spcPts val="0"/>
              </a:spcAft>
              <a:buClr>
                <a:srgbClr val="000000"/>
              </a:buClr>
              <a:buSzPts val="1400"/>
              <a:buFont typeface="Arial"/>
              <a:buNone/>
            </a:pPr>
            <a:r>
              <a:rPr b="0" i="0" lang="en-US" sz="1400" u="none" cap="none" strike="noStrike">
                <a:solidFill>
                  <a:srgbClr val="333333"/>
                </a:solidFill>
                <a:latin typeface="Roboto"/>
                <a:ea typeface="Roboto"/>
                <a:cs typeface="Roboto"/>
                <a:sym typeface="Roboto"/>
              </a:rPr>
              <a:t>We place the line segments in their appropriate categories by testing the region codes found in the problem.</a:t>
            </a:r>
            <a:endParaRPr b="0" i="0" sz="1400" u="none" cap="none" strike="noStrike">
              <a:solidFill>
                <a:srgbClr val="333333"/>
              </a:solidFill>
              <a:latin typeface="Roboto"/>
              <a:ea typeface="Roboto"/>
              <a:cs typeface="Roboto"/>
              <a:sym typeface="Roboto"/>
            </a:endParaRPr>
          </a:p>
          <a:p>
            <a:pPr indent="0" lvl="0" marL="0" marR="0" rtl="0" algn="just">
              <a:lnSpc>
                <a:spcPct val="115000"/>
              </a:lnSpc>
              <a:spcBef>
                <a:spcPts val="1200"/>
              </a:spcBef>
              <a:spcAft>
                <a:spcPts val="0"/>
              </a:spcAft>
              <a:buClr>
                <a:srgbClr val="000000"/>
              </a:buClr>
              <a:buSzPts val="1400"/>
              <a:buFont typeface="Arial"/>
              <a:buNone/>
            </a:pPr>
            <a:r>
              <a:rPr b="1" i="0" lang="en-US" sz="1400" u="none" cap="none" strike="noStrike">
                <a:solidFill>
                  <a:srgbClr val="333333"/>
                </a:solidFill>
                <a:latin typeface="Roboto"/>
                <a:ea typeface="Roboto"/>
                <a:cs typeface="Roboto"/>
                <a:sym typeface="Roboto"/>
              </a:rPr>
              <a:t>Category 1 (visible):</a:t>
            </a:r>
            <a:r>
              <a:rPr b="0" i="0" lang="en-US" sz="1400" u="none" cap="none" strike="noStrike">
                <a:solidFill>
                  <a:srgbClr val="333333"/>
                </a:solidFill>
                <a:latin typeface="Roboto"/>
                <a:ea typeface="Roboto"/>
                <a:cs typeface="Roboto"/>
                <a:sym typeface="Roboto"/>
              </a:rPr>
              <a:t> EF since the region code for both endpoints is 0000.</a:t>
            </a:r>
            <a:endParaRPr b="0" i="0" sz="1400" u="none" cap="none" strike="noStrike">
              <a:solidFill>
                <a:srgbClr val="333333"/>
              </a:solidFill>
              <a:latin typeface="Roboto"/>
              <a:ea typeface="Roboto"/>
              <a:cs typeface="Roboto"/>
              <a:sym typeface="Roboto"/>
            </a:endParaRPr>
          </a:p>
          <a:p>
            <a:pPr indent="0" lvl="0" marL="0" marR="0" rtl="0" algn="just">
              <a:lnSpc>
                <a:spcPct val="115000"/>
              </a:lnSpc>
              <a:spcBef>
                <a:spcPts val="1200"/>
              </a:spcBef>
              <a:spcAft>
                <a:spcPts val="0"/>
              </a:spcAft>
              <a:buClr>
                <a:srgbClr val="000000"/>
              </a:buClr>
              <a:buSzPts val="1400"/>
              <a:buFont typeface="Arial"/>
              <a:buNone/>
            </a:pPr>
            <a:r>
              <a:rPr b="1" i="0" lang="en-US" sz="1400" u="none" cap="none" strike="noStrike">
                <a:solidFill>
                  <a:srgbClr val="333333"/>
                </a:solidFill>
                <a:latin typeface="Roboto"/>
                <a:ea typeface="Roboto"/>
                <a:cs typeface="Roboto"/>
                <a:sym typeface="Roboto"/>
              </a:rPr>
              <a:t>Category 2 (not visible)</a:t>
            </a:r>
            <a:r>
              <a:rPr b="0" i="0" lang="en-US" sz="1400" u="none" cap="none" strike="noStrike">
                <a:solidFill>
                  <a:srgbClr val="333333"/>
                </a:solidFill>
                <a:latin typeface="Roboto"/>
                <a:ea typeface="Roboto"/>
                <a:cs typeface="Roboto"/>
                <a:sym typeface="Roboto"/>
              </a:rPr>
              <a:t>: IJ since (1001) AND (1000) = 1000 (which is not 0000).</a:t>
            </a:r>
            <a:endParaRPr b="0" i="0" sz="1400" u="none" cap="none" strike="noStrike">
              <a:solidFill>
                <a:srgbClr val="333333"/>
              </a:solidFill>
              <a:latin typeface="Roboto"/>
              <a:ea typeface="Roboto"/>
              <a:cs typeface="Roboto"/>
              <a:sym typeface="Roboto"/>
            </a:endParaRPr>
          </a:p>
          <a:p>
            <a:pPr indent="0" lvl="0" marL="0" marR="0" rtl="0" algn="just">
              <a:lnSpc>
                <a:spcPct val="115000"/>
              </a:lnSpc>
              <a:spcBef>
                <a:spcPts val="1200"/>
              </a:spcBef>
              <a:spcAft>
                <a:spcPts val="1200"/>
              </a:spcAft>
              <a:buClr>
                <a:srgbClr val="000000"/>
              </a:buClr>
              <a:buSzPts val="1400"/>
              <a:buFont typeface="Arial"/>
              <a:buNone/>
            </a:pPr>
            <a:r>
              <a:t/>
            </a:r>
            <a:endParaRPr b="0" i="0" sz="1400" u="none" cap="none" strike="noStrike">
              <a:solidFill>
                <a:srgbClr val="333333"/>
              </a:solidFill>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18" name="Shape 218"/>
        <p:cNvGrpSpPr/>
        <p:nvPr/>
      </p:nvGrpSpPr>
      <p:grpSpPr>
        <a:xfrm>
          <a:off x="0" y="0"/>
          <a:ext cx="0" cy="0"/>
          <a:chOff x="0" y="0"/>
          <a:chExt cx="0" cy="0"/>
        </a:xfrm>
      </p:grpSpPr>
      <p:sp>
        <p:nvSpPr>
          <p:cNvPr id="219" name="Google Shape;219;g3cc01153d18_0_120"/>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220" name="Google Shape;220;g3cc01153d18_0_120"/>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21" name="Google Shape;221;g3cc01153d18_0_120"/>
          <p:cNvSpPr txBox="1"/>
          <p:nvPr/>
        </p:nvSpPr>
        <p:spPr>
          <a:xfrm>
            <a:off x="363825" y="168125"/>
            <a:ext cx="7789500" cy="5850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0" i="0" lang="en-US" sz="2600" u="none" cap="none" strike="noStrike">
                <a:solidFill>
                  <a:schemeClr val="lt1"/>
                </a:solidFill>
                <a:latin typeface="Times New Roman"/>
                <a:ea typeface="Times New Roman"/>
                <a:cs typeface="Times New Roman"/>
                <a:sym typeface="Times New Roman"/>
              </a:rPr>
              <a:t>Example of Cohen-Sutherland Line Clipping Algorithm:</a:t>
            </a:r>
            <a:endParaRPr b="0" i="0" sz="2600" u="none" cap="none" strike="noStrike">
              <a:solidFill>
                <a:schemeClr val="lt1"/>
              </a:solidFill>
              <a:latin typeface="Times New Roman"/>
              <a:ea typeface="Times New Roman"/>
              <a:cs typeface="Times New Roman"/>
              <a:sym typeface="Times New Roman"/>
            </a:endParaRPr>
          </a:p>
        </p:txBody>
      </p:sp>
      <p:pic>
        <p:nvPicPr>
          <p:cNvPr id="222" name="Google Shape;222;g3cc01153d18_0_120"/>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223" name="Google Shape;223;g3cc01153d18_0_120"/>
          <p:cNvSpPr txBox="1"/>
          <p:nvPr/>
        </p:nvSpPr>
        <p:spPr>
          <a:xfrm>
            <a:off x="441100" y="1146075"/>
            <a:ext cx="5962800" cy="36141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200"/>
              </a:spcBef>
              <a:spcAft>
                <a:spcPts val="0"/>
              </a:spcAft>
              <a:buClr>
                <a:srgbClr val="000000"/>
              </a:buClr>
              <a:buSzPts val="1400"/>
              <a:buFont typeface="Arial"/>
              <a:buNone/>
            </a:pPr>
            <a:r>
              <a:rPr b="1" i="0" lang="en-US" sz="1400" u="none" cap="none" strike="noStrike">
                <a:solidFill>
                  <a:srgbClr val="333333"/>
                </a:solidFill>
                <a:latin typeface="Roboto"/>
                <a:ea typeface="Roboto"/>
                <a:cs typeface="Roboto"/>
                <a:sym typeface="Roboto"/>
              </a:rPr>
              <a:t>Category 3 (candidate for clipping):</a:t>
            </a:r>
            <a:endParaRPr b="1" i="0" sz="1400" u="none" cap="none" strike="noStrike">
              <a:solidFill>
                <a:srgbClr val="333333"/>
              </a:solidFill>
              <a:latin typeface="Roboto"/>
              <a:ea typeface="Roboto"/>
              <a:cs typeface="Roboto"/>
              <a:sym typeface="Roboto"/>
            </a:endParaRPr>
          </a:p>
          <a:p>
            <a:pPr indent="0" lvl="0" marL="0" marR="0" rtl="0" algn="just">
              <a:lnSpc>
                <a:spcPct val="115000"/>
              </a:lnSpc>
              <a:spcBef>
                <a:spcPts val="1200"/>
              </a:spcBef>
              <a:spcAft>
                <a:spcPts val="0"/>
              </a:spcAft>
              <a:buClr>
                <a:srgbClr val="000000"/>
              </a:buClr>
              <a:buSzPts val="1400"/>
              <a:buFont typeface="Arial"/>
              <a:buNone/>
            </a:pPr>
            <a:r>
              <a:rPr b="0" i="0" lang="en-US" sz="1400" u="none" cap="none" strike="noStrike">
                <a:solidFill>
                  <a:srgbClr val="333333"/>
                </a:solidFill>
                <a:latin typeface="Roboto"/>
                <a:ea typeface="Roboto"/>
                <a:cs typeface="Roboto"/>
                <a:sym typeface="Roboto"/>
              </a:rPr>
              <a:t> AB since,</a:t>
            </a:r>
            <a:endParaRPr b="0" i="0" sz="1400" u="none" cap="none" strike="noStrike">
              <a:solidFill>
                <a:srgbClr val="333333"/>
              </a:solidFill>
              <a:latin typeface="Roboto"/>
              <a:ea typeface="Roboto"/>
              <a:cs typeface="Roboto"/>
              <a:sym typeface="Roboto"/>
            </a:endParaRPr>
          </a:p>
          <a:p>
            <a:pPr indent="0" lvl="0" marL="0" marR="0" rtl="0" algn="just">
              <a:lnSpc>
                <a:spcPct val="115000"/>
              </a:lnSpc>
              <a:spcBef>
                <a:spcPts val="1200"/>
              </a:spcBef>
              <a:spcAft>
                <a:spcPts val="0"/>
              </a:spcAft>
              <a:buClr>
                <a:srgbClr val="000000"/>
              </a:buClr>
              <a:buSzPts val="1400"/>
              <a:buFont typeface="Arial"/>
              <a:buNone/>
            </a:pPr>
            <a:r>
              <a:rPr b="0" i="0" lang="en-US" sz="1400" u="none" cap="none" strike="noStrike">
                <a:solidFill>
                  <a:srgbClr val="333333"/>
                </a:solidFill>
                <a:latin typeface="Roboto"/>
                <a:ea typeface="Roboto"/>
                <a:cs typeface="Roboto"/>
                <a:sym typeface="Roboto"/>
              </a:rPr>
              <a:t> (0001) AND (1000) = 0000, </a:t>
            </a:r>
            <a:endParaRPr b="0" i="0" sz="1400" u="none" cap="none" strike="noStrike">
              <a:solidFill>
                <a:srgbClr val="333333"/>
              </a:solidFill>
              <a:latin typeface="Roboto"/>
              <a:ea typeface="Roboto"/>
              <a:cs typeface="Roboto"/>
              <a:sym typeface="Roboto"/>
            </a:endParaRPr>
          </a:p>
          <a:p>
            <a:pPr indent="0" lvl="0" marL="0" marR="0" rtl="0" algn="just">
              <a:lnSpc>
                <a:spcPct val="115000"/>
              </a:lnSpc>
              <a:spcBef>
                <a:spcPts val="1200"/>
              </a:spcBef>
              <a:spcAft>
                <a:spcPts val="0"/>
              </a:spcAft>
              <a:buClr>
                <a:srgbClr val="000000"/>
              </a:buClr>
              <a:buSzPts val="1400"/>
              <a:buFont typeface="Arial"/>
              <a:buNone/>
            </a:pPr>
            <a:r>
              <a:rPr b="0" i="0" lang="en-US" sz="1400" u="none" cap="none" strike="noStrike">
                <a:solidFill>
                  <a:srgbClr val="333333"/>
                </a:solidFill>
                <a:latin typeface="Roboto"/>
                <a:ea typeface="Roboto"/>
                <a:cs typeface="Roboto"/>
                <a:sym typeface="Roboto"/>
              </a:rPr>
              <a:t>CD since,</a:t>
            </a:r>
            <a:endParaRPr b="0" i="0" sz="1400" u="none" cap="none" strike="noStrike">
              <a:solidFill>
                <a:srgbClr val="333333"/>
              </a:solidFill>
              <a:latin typeface="Roboto"/>
              <a:ea typeface="Roboto"/>
              <a:cs typeface="Roboto"/>
              <a:sym typeface="Roboto"/>
            </a:endParaRPr>
          </a:p>
          <a:p>
            <a:pPr indent="0" lvl="0" marL="0" marR="0" rtl="0" algn="just">
              <a:lnSpc>
                <a:spcPct val="115000"/>
              </a:lnSpc>
              <a:spcBef>
                <a:spcPts val="1200"/>
              </a:spcBef>
              <a:spcAft>
                <a:spcPts val="0"/>
              </a:spcAft>
              <a:buClr>
                <a:srgbClr val="000000"/>
              </a:buClr>
              <a:buSzPts val="1400"/>
              <a:buFont typeface="Arial"/>
              <a:buNone/>
            </a:pPr>
            <a:r>
              <a:rPr b="0" i="0" lang="en-US" sz="1400" u="none" cap="none" strike="noStrike">
                <a:solidFill>
                  <a:srgbClr val="333333"/>
                </a:solidFill>
                <a:latin typeface="Roboto"/>
                <a:ea typeface="Roboto"/>
                <a:cs typeface="Roboto"/>
                <a:sym typeface="Roboto"/>
              </a:rPr>
              <a:t>(0000) AND (1010) =0000, and </a:t>
            </a:r>
            <a:endParaRPr b="0" i="0" sz="1400" u="none" cap="none" strike="noStrike">
              <a:solidFill>
                <a:srgbClr val="333333"/>
              </a:solidFill>
              <a:latin typeface="Roboto"/>
              <a:ea typeface="Roboto"/>
              <a:cs typeface="Roboto"/>
              <a:sym typeface="Roboto"/>
            </a:endParaRPr>
          </a:p>
          <a:p>
            <a:pPr indent="0" lvl="0" marL="0" marR="0" rtl="0" algn="just">
              <a:lnSpc>
                <a:spcPct val="115000"/>
              </a:lnSpc>
              <a:spcBef>
                <a:spcPts val="1200"/>
              </a:spcBef>
              <a:spcAft>
                <a:spcPts val="0"/>
              </a:spcAft>
              <a:buClr>
                <a:srgbClr val="000000"/>
              </a:buClr>
              <a:buSzPts val="1400"/>
              <a:buFont typeface="Arial"/>
              <a:buNone/>
            </a:pPr>
            <a:r>
              <a:rPr b="0" i="0" lang="en-US" sz="1400" u="none" cap="none" strike="noStrike">
                <a:solidFill>
                  <a:srgbClr val="333333"/>
                </a:solidFill>
                <a:latin typeface="Roboto"/>
                <a:ea typeface="Roboto"/>
                <a:cs typeface="Roboto"/>
                <a:sym typeface="Roboto"/>
              </a:rPr>
              <a:t>GH. since (0100) AND (0010) =0000.</a:t>
            </a:r>
            <a:endParaRPr b="0" i="0" sz="1400" u="none" cap="none" strike="noStrike">
              <a:solidFill>
                <a:srgbClr val="333333"/>
              </a:solidFill>
              <a:latin typeface="Roboto"/>
              <a:ea typeface="Roboto"/>
              <a:cs typeface="Roboto"/>
              <a:sym typeface="Roboto"/>
            </a:endParaRPr>
          </a:p>
          <a:p>
            <a:pPr indent="0" lvl="0" marL="0" marR="0" rtl="0" algn="just">
              <a:lnSpc>
                <a:spcPct val="115000"/>
              </a:lnSpc>
              <a:spcBef>
                <a:spcPts val="1200"/>
              </a:spcBef>
              <a:spcAft>
                <a:spcPts val="0"/>
              </a:spcAft>
              <a:buClr>
                <a:srgbClr val="000000"/>
              </a:buClr>
              <a:buSzPts val="1400"/>
              <a:buFont typeface="Arial"/>
              <a:buNone/>
            </a:pPr>
            <a:r>
              <a:rPr b="0" i="0" lang="en-US" sz="1400" u="none" cap="none" strike="noStrike">
                <a:solidFill>
                  <a:srgbClr val="333333"/>
                </a:solidFill>
                <a:latin typeface="Roboto"/>
                <a:ea typeface="Roboto"/>
                <a:cs typeface="Roboto"/>
                <a:sym typeface="Roboto"/>
              </a:rPr>
              <a:t>The candidates for clipping are AB, CD, and GH.</a:t>
            </a:r>
            <a:endParaRPr b="0" i="0" sz="1400" u="none" cap="none" strike="noStrike">
              <a:solidFill>
                <a:srgbClr val="333333"/>
              </a:solidFill>
              <a:latin typeface="Roboto"/>
              <a:ea typeface="Roboto"/>
              <a:cs typeface="Roboto"/>
              <a:sym typeface="Roboto"/>
            </a:endParaRPr>
          </a:p>
          <a:p>
            <a:pPr indent="0" lvl="0" marL="0" marR="0" rtl="0" algn="just">
              <a:lnSpc>
                <a:spcPct val="115000"/>
              </a:lnSpc>
              <a:spcBef>
                <a:spcPts val="1200"/>
              </a:spcBef>
              <a:spcAft>
                <a:spcPts val="0"/>
              </a:spcAft>
              <a:buClr>
                <a:srgbClr val="000000"/>
              </a:buClr>
              <a:buSzPts val="1400"/>
              <a:buFont typeface="Arial"/>
              <a:buNone/>
            </a:pPr>
            <a:r>
              <a:t/>
            </a:r>
            <a:endParaRPr b="0" i="0" sz="1400" u="none" cap="none" strike="noStrike">
              <a:solidFill>
                <a:srgbClr val="333333"/>
              </a:solidFill>
              <a:latin typeface="Roboto"/>
              <a:ea typeface="Roboto"/>
              <a:cs typeface="Roboto"/>
              <a:sym typeface="Roboto"/>
            </a:endParaRPr>
          </a:p>
          <a:p>
            <a:pPr indent="0" lvl="0" marL="0" marR="0" rtl="0" algn="just">
              <a:lnSpc>
                <a:spcPct val="115000"/>
              </a:lnSpc>
              <a:spcBef>
                <a:spcPts val="1200"/>
              </a:spcBef>
              <a:spcAft>
                <a:spcPts val="1200"/>
              </a:spcAft>
              <a:buClr>
                <a:srgbClr val="000000"/>
              </a:buClr>
              <a:buSzPts val="1400"/>
              <a:buFont typeface="Arial"/>
              <a:buNone/>
            </a:pPr>
            <a:r>
              <a:t/>
            </a:r>
            <a:endParaRPr b="0" i="0" sz="1400" u="none" cap="none" strike="noStrike">
              <a:solidFill>
                <a:srgbClr val="333333"/>
              </a:solidFill>
              <a:latin typeface="Roboto"/>
              <a:ea typeface="Roboto"/>
              <a:cs typeface="Roboto"/>
              <a:sym typeface="Robo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27" name="Shape 227"/>
        <p:cNvGrpSpPr/>
        <p:nvPr/>
      </p:nvGrpSpPr>
      <p:grpSpPr>
        <a:xfrm>
          <a:off x="0" y="0"/>
          <a:ext cx="0" cy="0"/>
          <a:chOff x="0" y="0"/>
          <a:chExt cx="0" cy="0"/>
        </a:xfrm>
      </p:grpSpPr>
      <p:sp>
        <p:nvSpPr>
          <p:cNvPr id="228" name="Google Shape;228;g3cc01153d18_0_135"/>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229" name="Google Shape;229;g3cc01153d18_0_135"/>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30" name="Google Shape;230;g3cc01153d18_0_135"/>
          <p:cNvSpPr txBox="1"/>
          <p:nvPr/>
        </p:nvSpPr>
        <p:spPr>
          <a:xfrm>
            <a:off x="363825" y="168125"/>
            <a:ext cx="7789500" cy="5850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0" i="0" lang="en-US" sz="2600" u="none" cap="none" strike="noStrike">
                <a:solidFill>
                  <a:schemeClr val="lt1"/>
                </a:solidFill>
                <a:latin typeface="Times New Roman"/>
                <a:ea typeface="Times New Roman"/>
                <a:cs typeface="Times New Roman"/>
                <a:sym typeface="Times New Roman"/>
              </a:rPr>
              <a:t>Example of Cohen-Sutherland Line Clipping Algorithm:</a:t>
            </a:r>
            <a:endParaRPr b="0" i="0" sz="2600" u="none" cap="none" strike="noStrike">
              <a:solidFill>
                <a:schemeClr val="lt1"/>
              </a:solidFill>
              <a:latin typeface="Times New Roman"/>
              <a:ea typeface="Times New Roman"/>
              <a:cs typeface="Times New Roman"/>
              <a:sym typeface="Times New Roman"/>
            </a:endParaRPr>
          </a:p>
        </p:txBody>
      </p:sp>
      <p:pic>
        <p:nvPicPr>
          <p:cNvPr id="231" name="Google Shape;231;g3cc01153d18_0_135"/>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232" name="Google Shape;232;g3cc01153d18_0_135"/>
          <p:cNvSpPr txBox="1"/>
          <p:nvPr/>
        </p:nvSpPr>
        <p:spPr>
          <a:xfrm>
            <a:off x="218025" y="935575"/>
            <a:ext cx="8608200" cy="504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980000"/>
                </a:solidFill>
                <a:latin typeface="Arial"/>
                <a:ea typeface="Arial"/>
                <a:cs typeface="Arial"/>
                <a:sym typeface="Arial"/>
              </a:rPr>
              <a:t>For Clipping AB,</a:t>
            </a:r>
            <a:endParaRPr b="1" i="0" sz="1400" u="none" cap="none" strike="noStrike">
              <a:solidFill>
                <a:srgbClr val="98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980000"/>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 (-4, 2),  B (-1, 7)</a:t>
            </a:r>
            <a:endParaRPr b="0" i="0" sz="1400" u="none" cap="none" strike="noStrike">
              <a:solidFill>
                <a:srgbClr val="000000"/>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x1= -4, y1= 2</a:t>
            </a:r>
            <a:endParaRPr b="0" i="0" sz="1400" u="none" cap="none" strike="noStrike">
              <a:solidFill>
                <a:srgbClr val="000000"/>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x2= -1, y2= 7</a:t>
            </a:r>
            <a:endParaRPr b="0" i="0" sz="1400" u="none" cap="none" strike="noStrike">
              <a:solidFill>
                <a:srgbClr val="000000"/>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m = (7-2) / (-1+4) = 5/3</a:t>
            </a:r>
            <a:endParaRPr b="0" i="0" sz="1400" u="none" cap="none" strike="noStrike">
              <a:solidFill>
                <a:srgbClr val="000000"/>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1400"/>
              <a:buFont typeface="Arial"/>
              <a:buNone/>
            </a:pPr>
            <a:r>
              <a:rPr b="1" i="0" lang="en-US" sz="1400" u="none" cap="none" strike="noStrike">
                <a:solidFill>
                  <a:srgbClr val="0B5394"/>
                </a:solidFill>
                <a:latin typeface="Arial"/>
                <a:ea typeface="Arial"/>
                <a:cs typeface="Arial"/>
                <a:sym typeface="Arial"/>
              </a:rPr>
              <a:t> In case of A, </a:t>
            </a:r>
            <a:endParaRPr b="1" i="0" sz="1400" u="none" cap="none" strike="noStrike">
              <a:solidFill>
                <a:srgbClr val="0B5394"/>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 is outside the window,  and the line intersects the left-side boundary of the window port.</a:t>
            </a:r>
            <a:endParaRPr b="0" i="0" sz="1400" u="none" cap="none" strike="noStrike">
              <a:solidFill>
                <a:srgbClr val="000000"/>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Here, xmin=-3.</a:t>
            </a:r>
            <a:endParaRPr b="0" i="0" sz="14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y = y1 + m(x-x1) = 2 + 5/3 (-3+4) = 11/3 </a:t>
            </a:r>
            <a:endParaRPr b="0" i="0" sz="1400" u="none" cap="none" strike="noStrike">
              <a:solidFill>
                <a:srgbClr val="000000"/>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The resulting intersection point is I1 (-3,11/3) or (-3,3) </a:t>
            </a:r>
            <a:endParaRPr b="0" i="0" sz="1400" u="none" cap="none" strike="noStrike">
              <a:solidFill>
                <a:srgbClr val="000000"/>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1400"/>
              <a:buFont typeface="Arial"/>
              <a:buNone/>
            </a:pPr>
            <a:r>
              <a:rPr b="1" i="0" lang="en-US" sz="1400" u="none" cap="none" strike="noStrike">
                <a:solidFill>
                  <a:srgbClr val="0B5394"/>
                </a:solidFill>
                <a:latin typeface="Arial"/>
                <a:ea typeface="Arial"/>
                <a:cs typeface="Arial"/>
                <a:sym typeface="Arial"/>
              </a:rPr>
              <a:t>In case of B, </a:t>
            </a:r>
            <a:endParaRPr b="1" i="0" sz="1400" u="none" cap="none" strike="noStrike">
              <a:solidFill>
                <a:srgbClr val="0B5394"/>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B is outside the window (i.e., its code is 1000)</a:t>
            </a:r>
            <a:endParaRPr b="0" i="0" sz="1400" u="none" cap="none" strike="noStrike">
              <a:solidFill>
                <a:srgbClr val="000000"/>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the line that intersects the top-side boundary of the window port.     ymax=6.</a:t>
            </a:r>
            <a:endParaRPr b="0" i="0" sz="1400" u="none" cap="none" strike="noStrike">
              <a:solidFill>
                <a:srgbClr val="000000"/>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x0 = x1+(y-y1)/m   = - 4 +  (6-2)* 3 /5 = -4+12/5 = -8/5 = -1</a:t>
            </a:r>
            <a:endParaRPr b="0" i="0" sz="1400" u="none" cap="none" strike="noStrike">
              <a:solidFill>
                <a:srgbClr val="000000"/>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36" name="Shape 236"/>
        <p:cNvGrpSpPr/>
        <p:nvPr/>
      </p:nvGrpSpPr>
      <p:grpSpPr>
        <a:xfrm>
          <a:off x="0" y="0"/>
          <a:ext cx="0" cy="0"/>
          <a:chOff x="0" y="0"/>
          <a:chExt cx="0" cy="0"/>
        </a:xfrm>
      </p:grpSpPr>
      <p:sp>
        <p:nvSpPr>
          <p:cNvPr id="237" name="Google Shape;237;g3cc01153d18_0_146"/>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238" name="Google Shape;238;g3cc01153d18_0_146"/>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39" name="Google Shape;239;g3cc01153d18_0_146"/>
          <p:cNvSpPr txBox="1"/>
          <p:nvPr/>
        </p:nvSpPr>
        <p:spPr>
          <a:xfrm>
            <a:off x="363825" y="168125"/>
            <a:ext cx="7789500" cy="5850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0" i="0" lang="en-US" sz="2600" u="none" cap="none" strike="noStrike">
                <a:solidFill>
                  <a:schemeClr val="lt1"/>
                </a:solidFill>
                <a:latin typeface="Times New Roman"/>
                <a:ea typeface="Times New Roman"/>
                <a:cs typeface="Times New Roman"/>
                <a:sym typeface="Times New Roman"/>
              </a:rPr>
              <a:t>Example of Cohen-Sutherland Line Clipping Algorithm:</a:t>
            </a:r>
            <a:endParaRPr b="0" i="0" sz="2600" u="none" cap="none" strike="noStrike">
              <a:solidFill>
                <a:schemeClr val="lt1"/>
              </a:solidFill>
              <a:latin typeface="Times New Roman"/>
              <a:ea typeface="Times New Roman"/>
              <a:cs typeface="Times New Roman"/>
              <a:sym typeface="Times New Roman"/>
            </a:endParaRPr>
          </a:p>
        </p:txBody>
      </p:sp>
      <p:pic>
        <p:nvPicPr>
          <p:cNvPr id="240" name="Google Shape;240;g3cc01153d18_0_146"/>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241" name="Google Shape;241;g3cc01153d18_0_146"/>
          <p:cNvSpPr txBox="1"/>
          <p:nvPr/>
        </p:nvSpPr>
        <p:spPr>
          <a:xfrm>
            <a:off x="218025" y="935575"/>
            <a:ext cx="8608200" cy="48333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200"/>
              </a:spcBef>
              <a:spcAft>
                <a:spcPts val="0"/>
              </a:spcAft>
              <a:buClr>
                <a:schemeClr val="dk1"/>
              </a:buClr>
              <a:buSzPts val="1100"/>
              <a:buFont typeface="Arial"/>
              <a:buNone/>
            </a:pPr>
            <a:r>
              <a:rPr b="1" i="0" lang="en-US" sz="1900" u="sng" cap="none" strike="noStrike">
                <a:solidFill>
                  <a:srgbClr val="980000"/>
                </a:solidFill>
                <a:latin typeface="Roboto"/>
                <a:ea typeface="Roboto"/>
                <a:cs typeface="Roboto"/>
                <a:sym typeface="Roboto"/>
              </a:rPr>
              <a:t>For clipping CD, </a:t>
            </a:r>
            <a:endParaRPr b="1" i="0" sz="1900" u="sng" cap="none" strike="noStrike">
              <a:solidFill>
                <a:srgbClr val="980000"/>
              </a:solidFill>
              <a:latin typeface="Roboto"/>
              <a:ea typeface="Roboto"/>
              <a:cs typeface="Roboto"/>
              <a:sym typeface="Roboto"/>
            </a:endParaRPr>
          </a:p>
          <a:p>
            <a:pPr indent="0" lvl="0" marL="0" marR="0" rtl="0" algn="just">
              <a:lnSpc>
                <a:spcPct val="115000"/>
              </a:lnSpc>
              <a:spcBef>
                <a:spcPts val="1200"/>
              </a:spcBef>
              <a:spcAft>
                <a:spcPts val="0"/>
              </a:spcAft>
              <a:buClr>
                <a:schemeClr val="dk1"/>
              </a:buClr>
              <a:buSzPts val="1100"/>
              <a:buFont typeface="Arial"/>
              <a:buNone/>
            </a:pPr>
            <a:r>
              <a:rPr b="0" i="0" lang="en-US" sz="1400" u="none" cap="none" strike="noStrike">
                <a:solidFill>
                  <a:srgbClr val="333333"/>
                </a:solidFill>
                <a:latin typeface="Roboto"/>
                <a:ea typeface="Roboto"/>
                <a:cs typeface="Roboto"/>
                <a:sym typeface="Roboto"/>
              </a:rPr>
              <a:t> C (-1, 5) ,  D (3, 8)</a:t>
            </a:r>
            <a:endParaRPr b="0" i="0" sz="1400" u="none" cap="none" strike="noStrike">
              <a:solidFill>
                <a:srgbClr val="333333"/>
              </a:solidFill>
              <a:latin typeface="Roboto"/>
              <a:ea typeface="Roboto"/>
              <a:cs typeface="Roboto"/>
              <a:sym typeface="Roboto"/>
            </a:endParaRPr>
          </a:p>
          <a:p>
            <a:pPr indent="0" lvl="0" marL="0" marR="0" rtl="0" algn="just">
              <a:lnSpc>
                <a:spcPct val="115000"/>
              </a:lnSpc>
              <a:spcBef>
                <a:spcPts val="1200"/>
              </a:spcBef>
              <a:spcAft>
                <a:spcPts val="0"/>
              </a:spcAft>
              <a:buClr>
                <a:schemeClr val="dk1"/>
              </a:buClr>
              <a:buSzPts val="1100"/>
              <a:buFont typeface="Arial"/>
              <a:buNone/>
            </a:pPr>
            <a:r>
              <a:rPr b="0" i="0" lang="en-US" sz="1400" u="none" cap="none" strike="noStrike">
                <a:solidFill>
                  <a:srgbClr val="333333"/>
                </a:solidFill>
                <a:latin typeface="Roboto"/>
                <a:ea typeface="Roboto"/>
                <a:cs typeface="Roboto"/>
                <a:sym typeface="Roboto"/>
              </a:rPr>
              <a:t>x2=-1 y2=5</a:t>
            </a:r>
            <a:endParaRPr b="0" i="0" sz="1400" u="none" cap="none" strike="noStrike">
              <a:solidFill>
                <a:srgbClr val="333333"/>
              </a:solidFill>
              <a:latin typeface="Roboto"/>
              <a:ea typeface="Roboto"/>
              <a:cs typeface="Roboto"/>
              <a:sym typeface="Roboto"/>
            </a:endParaRPr>
          </a:p>
          <a:p>
            <a:pPr indent="0" lvl="0" marL="0" marR="0" rtl="0" algn="just">
              <a:lnSpc>
                <a:spcPct val="115000"/>
              </a:lnSpc>
              <a:spcBef>
                <a:spcPts val="1200"/>
              </a:spcBef>
              <a:spcAft>
                <a:spcPts val="0"/>
              </a:spcAft>
              <a:buClr>
                <a:schemeClr val="dk1"/>
              </a:buClr>
              <a:buSzPts val="1100"/>
              <a:buFont typeface="Arial"/>
              <a:buNone/>
            </a:pPr>
            <a:r>
              <a:rPr b="0" i="0" lang="en-US" sz="1400" u="none" cap="none" strike="noStrike">
                <a:solidFill>
                  <a:srgbClr val="333333"/>
                </a:solidFill>
                <a:latin typeface="Roboto"/>
                <a:ea typeface="Roboto"/>
                <a:cs typeface="Roboto"/>
                <a:sym typeface="Roboto"/>
              </a:rPr>
              <a:t>x1=3  y1=8</a:t>
            </a:r>
            <a:endParaRPr b="0" i="0" sz="1400" u="none" cap="none" strike="noStrike">
              <a:solidFill>
                <a:srgbClr val="333333"/>
              </a:solidFill>
              <a:latin typeface="Roboto"/>
              <a:ea typeface="Roboto"/>
              <a:cs typeface="Roboto"/>
              <a:sym typeface="Roboto"/>
            </a:endParaRPr>
          </a:p>
          <a:p>
            <a:pPr indent="0" lvl="0" marL="0" marR="0" rtl="0" algn="just">
              <a:lnSpc>
                <a:spcPct val="115000"/>
              </a:lnSpc>
              <a:spcBef>
                <a:spcPts val="1200"/>
              </a:spcBef>
              <a:spcAft>
                <a:spcPts val="0"/>
              </a:spcAft>
              <a:buClr>
                <a:schemeClr val="dk1"/>
              </a:buClr>
              <a:buSzPts val="1100"/>
              <a:buFont typeface="Arial"/>
              <a:buNone/>
            </a:pPr>
            <a:r>
              <a:rPr b="0" i="0" lang="en-US" sz="1400" u="none" cap="none" strike="noStrike">
                <a:solidFill>
                  <a:srgbClr val="333333"/>
                </a:solidFill>
                <a:latin typeface="Roboto"/>
                <a:ea typeface="Roboto"/>
                <a:cs typeface="Roboto"/>
                <a:sym typeface="Roboto"/>
              </a:rPr>
              <a:t>m= (5-8)/(-1-3)= 3/4</a:t>
            </a:r>
            <a:endParaRPr b="0" i="0" sz="1400" u="none" cap="none" strike="noStrike">
              <a:solidFill>
                <a:srgbClr val="333333"/>
              </a:solidFill>
              <a:latin typeface="Roboto"/>
              <a:ea typeface="Roboto"/>
              <a:cs typeface="Roboto"/>
              <a:sym typeface="Roboto"/>
            </a:endParaRPr>
          </a:p>
          <a:p>
            <a:pPr indent="0" lvl="0" marL="0" marR="0" rtl="0" algn="just">
              <a:lnSpc>
                <a:spcPct val="115000"/>
              </a:lnSpc>
              <a:spcBef>
                <a:spcPts val="1200"/>
              </a:spcBef>
              <a:spcAft>
                <a:spcPts val="0"/>
              </a:spcAft>
              <a:buClr>
                <a:schemeClr val="dk1"/>
              </a:buClr>
              <a:buSzPts val="1100"/>
              <a:buFont typeface="Arial"/>
              <a:buNone/>
            </a:pPr>
            <a:r>
              <a:rPr b="0" i="0" lang="en-US" sz="1400" u="none" cap="none" strike="noStrike">
                <a:solidFill>
                  <a:srgbClr val="333333"/>
                </a:solidFill>
                <a:latin typeface="Roboto"/>
                <a:ea typeface="Roboto"/>
                <a:cs typeface="Roboto"/>
                <a:sym typeface="Roboto"/>
              </a:rPr>
              <a:t>we start with D since it is outside the window. Its code is 1010.</a:t>
            </a:r>
            <a:endParaRPr b="0" i="0" sz="1400" u="none" cap="none" strike="noStrike">
              <a:solidFill>
                <a:srgbClr val="333333"/>
              </a:solidFill>
              <a:latin typeface="Roboto"/>
              <a:ea typeface="Roboto"/>
              <a:cs typeface="Roboto"/>
              <a:sym typeface="Roboto"/>
            </a:endParaRPr>
          </a:p>
          <a:p>
            <a:pPr indent="0" lvl="0" marL="0" marR="0" rtl="0" algn="just">
              <a:lnSpc>
                <a:spcPct val="130000"/>
              </a:lnSpc>
              <a:spcBef>
                <a:spcPts val="1200"/>
              </a:spcBef>
              <a:spcAft>
                <a:spcPts val="0"/>
              </a:spcAft>
              <a:buClr>
                <a:schemeClr val="dk1"/>
              </a:buClr>
              <a:buSzPts val="1100"/>
              <a:buFont typeface="Arial"/>
              <a:buNone/>
            </a:pPr>
            <a:r>
              <a:rPr b="0" i="0" lang="en-US" sz="1350" u="none" cap="none" strike="noStrike">
                <a:solidFill>
                  <a:srgbClr val="666666"/>
                </a:solidFill>
                <a:latin typeface="Arial"/>
                <a:ea typeface="Arial"/>
                <a:cs typeface="Arial"/>
                <a:sym typeface="Arial"/>
              </a:rPr>
              <a:t>The line intersects Top side boundary of the window port.     </a:t>
            </a:r>
            <a:r>
              <a:rPr b="0" i="0" lang="en-US" sz="1400" u="none" cap="none" strike="noStrike">
                <a:solidFill>
                  <a:srgbClr val="333333"/>
                </a:solidFill>
                <a:latin typeface="Roboto"/>
                <a:ea typeface="Roboto"/>
                <a:cs typeface="Roboto"/>
                <a:sym typeface="Roboto"/>
              </a:rPr>
              <a:t>y</a:t>
            </a:r>
            <a:r>
              <a:rPr b="0" baseline="-25000" i="0" lang="en-US" sz="1400" u="none" cap="none" strike="noStrike">
                <a:solidFill>
                  <a:srgbClr val="333333"/>
                </a:solidFill>
                <a:latin typeface="Roboto"/>
                <a:ea typeface="Roboto"/>
                <a:cs typeface="Roboto"/>
                <a:sym typeface="Roboto"/>
              </a:rPr>
              <a:t>max</a:t>
            </a:r>
            <a:r>
              <a:rPr b="0" i="0" lang="en-US" sz="1400" u="none" cap="none" strike="noStrike">
                <a:solidFill>
                  <a:srgbClr val="333333"/>
                </a:solidFill>
                <a:latin typeface="Roboto"/>
                <a:ea typeface="Roboto"/>
                <a:cs typeface="Roboto"/>
                <a:sym typeface="Roboto"/>
              </a:rPr>
              <a:t>=6.</a:t>
            </a:r>
            <a:endParaRPr b="0" i="0" sz="1800" u="none" cap="none" strike="noStrike">
              <a:solidFill>
                <a:schemeClr val="dk1"/>
              </a:solidFill>
              <a:latin typeface="Arial"/>
              <a:ea typeface="Arial"/>
              <a:cs typeface="Arial"/>
              <a:sym typeface="Arial"/>
            </a:endParaRPr>
          </a:p>
          <a:p>
            <a:pPr indent="0" lvl="0" marL="0" marR="0" rtl="0" algn="just">
              <a:lnSpc>
                <a:spcPct val="130000"/>
              </a:lnSpc>
              <a:spcBef>
                <a:spcPts val="0"/>
              </a:spcBef>
              <a:spcAft>
                <a:spcPts val="0"/>
              </a:spcAft>
              <a:buClr>
                <a:schemeClr val="dk1"/>
              </a:buClr>
              <a:buSzPts val="1100"/>
              <a:buFont typeface="Arial"/>
              <a:buNone/>
            </a:pPr>
            <a:r>
              <a:rPr b="0" i="0" lang="en-US" sz="1350" u="none" cap="none" strike="noStrike">
                <a:solidFill>
                  <a:srgbClr val="666666"/>
                </a:solidFill>
                <a:latin typeface="Arial"/>
                <a:ea typeface="Arial"/>
                <a:cs typeface="Arial"/>
                <a:sym typeface="Arial"/>
              </a:rPr>
              <a:t> </a:t>
            </a:r>
            <a:endParaRPr b="0" i="0" sz="1350" u="none" cap="none" strike="noStrike">
              <a:solidFill>
                <a:srgbClr val="666666"/>
              </a:solidFill>
              <a:latin typeface="Arial"/>
              <a:ea typeface="Arial"/>
              <a:cs typeface="Arial"/>
              <a:sym typeface="Arial"/>
            </a:endParaRPr>
          </a:p>
          <a:p>
            <a:pPr indent="0" lvl="0" marL="0" marR="0" rtl="0" algn="just">
              <a:lnSpc>
                <a:spcPct val="130000"/>
              </a:lnSpc>
              <a:spcBef>
                <a:spcPts val="0"/>
              </a:spcBef>
              <a:spcAft>
                <a:spcPts val="0"/>
              </a:spcAft>
              <a:buClr>
                <a:schemeClr val="dk1"/>
              </a:buClr>
              <a:buSzPts val="1100"/>
              <a:buFont typeface="Arial"/>
              <a:buNone/>
            </a:pPr>
            <a:r>
              <a:rPr b="1" i="0" lang="en-US" sz="1350" u="none" cap="none" strike="noStrike">
                <a:solidFill>
                  <a:srgbClr val="666666"/>
                </a:solidFill>
                <a:latin typeface="Arial"/>
                <a:ea typeface="Arial"/>
                <a:cs typeface="Arial"/>
                <a:sym typeface="Arial"/>
              </a:rPr>
              <a:t>                </a:t>
            </a:r>
            <a:r>
              <a:rPr b="0" i="0" lang="en-US" sz="1350" u="none" cap="none" strike="noStrike">
                <a:solidFill>
                  <a:srgbClr val="666666"/>
                </a:solidFill>
                <a:latin typeface="Arial"/>
                <a:ea typeface="Arial"/>
                <a:cs typeface="Arial"/>
                <a:sym typeface="Arial"/>
              </a:rPr>
              <a:t>x = x1+(y-y1)/m</a:t>
            </a:r>
            <a:r>
              <a:rPr b="1" i="0" lang="en-US" sz="1350" u="none" cap="none" strike="noStrike">
                <a:solidFill>
                  <a:srgbClr val="666666"/>
                </a:solidFill>
                <a:latin typeface="Arial"/>
                <a:ea typeface="Arial"/>
                <a:cs typeface="Arial"/>
                <a:sym typeface="Arial"/>
              </a:rPr>
              <a:t>   </a:t>
            </a:r>
            <a:r>
              <a:rPr b="0" i="0" lang="en-US" sz="1350" u="none" cap="none" strike="noStrike">
                <a:solidFill>
                  <a:srgbClr val="666666"/>
                </a:solidFill>
                <a:latin typeface="Arial"/>
                <a:ea typeface="Arial"/>
                <a:cs typeface="Arial"/>
                <a:sym typeface="Arial"/>
              </a:rPr>
              <a:t>= 3+(6-8)*4/3 =3-8/3= 9-8/3 = </a:t>
            </a:r>
            <a:r>
              <a:rPr b="0" i="0" lang="en-US" sz="1750" u="none" cap="none" strike="noStrike">
                <a:solidFill>
                  <a:srgbClr val="666666"/>
                </a:solidFill>
                <a:latin typeface="Arial"/>
                <a:ea typeface="Arial"/>
                <a:cs typeface="Arial"/>
                <a:sym typeface="Arial"/>
              </a:rPr>
              <a:t>⅓</a:t>
            </a:r>
            <a:r>
              <a:rPr b="0" i="0" lang="en-US" sz="1350" u="none" cap="none" strike="noStrike">
                <a:solidFill>
                  <a:srgbClr val="666666"/>
                </a:solidFill>
                <a:latin typeface="Arial"/>
                <a:ea typeface="Arial"/>
                <a:cs typeface="Arial"/>
                <a:sym typeface="Arial"/>
              </a:rPr>
              <a:t> </a:t>
            </a:r>
            <a:endParaRPr b="0" i="0" sz="1350" u="none" cap="none" strike="noStrike">
              <a:solidFill>
                <a:srgbClr val="666666"/>
              </a:solidFill>
              <a:latin typeface="Arial"/>
              <a:ea typeface="Arial"/>
              <a:cs typeface="Arial"/>
              <a:sym typeface="Arial"/>
            </a:endParaRPr>
          </a:p>
          <a:p>
            <a:pPr indent="0" lvl="0" marL="0" marR="0" rtl="0" algn="just">
              <a:lnSpc>
                <a:spcPct val="115000"/>
              </a:lnSpc>
              <a:spcBef>
                <a:spcPts val="0"/>
              </a:spcBef>
              <a:spcAft>
                <a:spcPts val="0"/>
              </a:spcAft>
              <a:buClr>
                <a:schemeClr val="dk1"/>
              </a:buClr>
              <a:buSzPts val="1100"/>
              <a:buFont typeface="Arial"/>
              <a:buNone/>
            </a:pPr>
            <a:r>
              <a:t/>
            </a:r>
            <a:endParaRPr b="0" i="0" sz="13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0"/>
              </a:spcAft>
              <a:buClr>
                <a:schemeClr val="dk1"/>
              </a:buClr>
              <a:buSzPts val="1100"/>
              <a:buFont typeface="Arial"/>
              <a:buNone/>
            </a:pPr>
            <a:r>
              <a:rPr b="0" i="0" lang="en-US" sz="1400" u="none" cap="none" strike="noStrike">
                <a:solidFill>
                  <a:srgbClr val="333333"/>
                </a:solidFill>
                <a:latin typeface="Roboto"/>
                <a:ea typeface="Roboto"/>
                <a:cs typeface="Roboto"/>
                <a:sym typeface="Roboto"/>
              </a:rPr>
              <a:t> y</a:t>
            </a:r>
            <a:r>
              <a:rPr b="0" baseline="-25000" i="0" lang="en-US" sz="1400" u="none" cap="none" strike="noStrike">
                <a:solidFill>
                  <a:srgbClr val="333333"/>
                </a:solidFill>
                <a:latin typeface="Roboto"/>
                <a:ea typeface="Roboto"/>
                <a:cs typeface="Roboto"/>
                <a:sym typeface="Roboto"/>
              </a:rPr>
              <a:t>max</a:t>
            </a:r>
            <a:r>
              <a:rPr b="0" i="0" lang="en-US" sz="1400" u="none" cap="none" strike="noStrike">
                <a:solidFill>
                  <a:srgbClr val="333333"/>
                </a:solidFill>
                <a:latin typeface="Roboto"/>
                <a:ea typeface="Roboto"/>
                <a:cs typeface="Roboto"/>
                <a:sym typeface="Roboto"/>
              </a:rPr>
              <a:t>=6. The resulting intersection I</a:t>
            </a:r>
            <a:r>
              <a:rPr b="0" baseline="-25000" i="0" lang="en-US" sz="1400" u="none" cap="none" strike="noStrike">
                <a:solidFill>
                  <a:srgbClr val="333333"/>
                </a:solidFill>
                <a:latin typeface="Roboto"/>
                <a:ea typeface="Roboto"/>
                <a:cs typeface="Roboto"/>
                <a:sym typeface="Roboto"/>
              </a:rPr>
              <a:t>3</a:t>
            </a:r>
            <a:r>
              <a:rPr b="0" i="0" lang="en-US" sz="1400" u="none" cap="none" strike="noStrike">
                <a:solidFill>
                  <a:srgbClr val="333333"/>
                </a:solidFill>
                <a:latin typeface="Roboto"/>
                <a:ea typeface="Roboto"/>
                <a:cs typeface="Roboto"/>
                <a:sym typeface="Roboto"/>
              </a:rPr>
              <a:t> is (1/3,6),and its code is 0000. </a:t>
            </a:r>
            <a:endParaRPr b="0" i="0" sz="1400" u="none" cap="none" strike="noStrike">
              <a:solidFill>
                <a:srgbClr val="333333"/>
              </a:solidFill>
              <a:latin typeface="Roboto"/>
              <a:ea typeface="Roboto"/>
              <a:cs typeface="Roboto"/>
              <a:sym typeface="Roboto"/>
            </a:endParaRPr>
          </a:p>
          <a:p>
            <a:pPr indent="0" lvl="0" marL="457200" marR="0" rtl="0" algn="l">
              <a:lnSpc>
                <a:spcPct val="115000"/>
              </a:lnSpc>
              <a:spcBef>
                <a:spcPts val="1200"/>
              </a:spcBef>
              <a:spcAft>
                <a:spcPts val="0"/>
              </a:spcAft>
              <a:buClr>
                <a:srgbClr val="000000"/>
              </a:buClr>
              <a:buSzPts val="1400"/>
              <a:buFont typeface="Arial"/>
              <a:buNone/>
            </a:pPr>
            <a:r>
              <a:t/>
            </a:r>
            <a:endParaRPr b="1" i="0" sz="1400" u="none" cap="none" strike="noStrike">
              <a:solidFill>
                <a:srgbClr val="980000"/>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45" name="Shape 245"/>
        <p:cNvGrpSpPr/>
        <p:nvPr/>
      </p:nvGrpSpPr>
      <p:grpSpPr>
        <a:xfrm>
          <a:off x="0" y="0"/>
          <a:ext cx="0" cy="0"/>
          <a:chOff x="0" y="0"/>
          <a:chExt cx="0" cy="0"/>
        </a:xfrm>
      </p:grpSpPr>
      <p:sp>
        <p:nvSpPr>
          <p:cNvPr id="246" name="Google Shape;246;g3cc01153d18_0_154"/>
          <p:cNvSpPr txBox="1"/>
          <p:nvPr/>
        </p:nvSpPr>
        <p:spPr>
          <a:xfrm>
            <a:off x="3028950" y="6356350"/>
            <a:ext cx="30861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247" name="Google Shape;247;g3cc01153d18_0_154"/>
          <p:cNvSpPr txBox="1"/>
          <p:nvPr/>
        </p:nvSpPr>
        <p:spPr>
          <a:xfrm>
            <a:off x="6457950" y="6356350"/>
            <a:ext cx="2057400" cy="3651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
        <p:nvSpPr>
          <p:cNvPr id="248" name="Google Shape;248;g3cc01153d18_0_154"/>
          <p:cNvSpPr txBox="1"/>
          <p:nvPr/>
        </p:nvSpPr>
        <p:spPr>
          <a:xfrm>
            <a:off x="363825" y="168125"/>
            <a:ext cx="7789500" cy="585000"/>
          </a:xfrm>
          <a:prstGeom prst="rect">
            <a:avLst/>
          </a:prstGeom>
          <a:solidFill>
            <a:srgbClr val="3D85C6"/>
          </a:solidFill>
          <a:ln cap="flat" cmpd="sng" w="19050">
            <a:solidFill>
              <a:schemeClr val="lt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800"/>
              <a:buFont typeface="Arial"/>
              <a:buNone/>
            </a:pPr>
            <a:r>
              <a:rPr b="0" i="0" lang="en-US" sz="2600" u="none" cap="none" strike="noStrike">
                <a:solidFill>
                  <a:schemeClr val="lt1"/>
                </a:solidFill>
                <a:latin typeface="Times New Roman"/>
                <a:ea typeface="Times New Roman"/>
                <a:cs typeface="Times New Roman"/>
                <a:sym typeface="Times New Roman"/>
              </a:rPr>
              <a:t>Example of Cohen-Sutherland Line Clipping Algorithm:</a:t>
            </a:r>
            <a:endParaRPr b="0" i="0" sz="2600" u="none" cap="none" strike="noStrike">
              <a:solidFill>
                <a:schemeClr val="lt1"/>
              </a:solidFill>
              <a:latin typeface="Times New Roman"/>
              <a:ea typeface="Times New Roman"/>
              <a:cs typeface="Times New Roman"/>
              <a:sym typeface="Times New Roman"/>
            </a:endParaRPr>
          </a:p>
        </p:txBody>
      </p:sp>
      <p:pic>
        <p:nvPicPr>
          <p:cNvPr id="249" name="Google Shape;249;g3cc01153d18_0_154"/>
          <p:cNvPicPr preferRelativeResize="0"/>
          <p:nvPr/>
        </p:nvPicPr>
        <p:blipFill rotWithShape="1">
          <a:blip r:embed="rId3">
            <a:alphaModFix/>
          </a:blip>
          <a:srcRect b="0" l="0" r="0" t="0"/>
          <a:stretch/>
        </p:blipFill>
        <p:spPr>
          <a:xfrm>
            <a:off x="8153225" y="294475"/>
            <a:ext cx="1095400" cy="547700"/>
          </a:xfrm>
          <a:prstGeom prst="rect">
            <a:avLst/>
          </a:prstGeom>
          <a:noFill/>
          <a:ln>
            <a:noFill/>
          </a:ln>
          <a:effectLst>
            <a:outerShdw blurRad="57150" rotWithShape="0" algn="bl" dir="5400000" dist="19050">
              <a:srgbClr val="000000">
                <a:alpha val="49803"/>
              </a:srgbClr>
            </a:outerShdw>
          </a:effectLst>
        </p:spPr>
      </p:pic>
      <p:sp>
        <p:nvSpPr>
          <p:cNvPr id="250" name="Google Shape;250;g3cc01153d18_0_154"/>
          <p:cNvSpPr txBox="1"/>
          <p:nvPr/>
        </p:nvSpPr>
        <p:spPr>
          <a:xfrm>
            <a:off x="218025" y="935575"/>
            <a:ext cx="8608200" cy="56829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200"/>
              </a:spcBef>
              <a:spcAft>
                <a:spcPts val="0"/>
              </a:spcAft>
              <a:buClr>
                <a:srgbClr val="000000"/>
              </a:buClr>
              <a:buSzPts val="1700"/>
              <a:buFont typeface="Arial"/>
              <a:buNone/>
            </a:pPr>
            <a:r>
              <a:rPr b="1" i="0" lang="en-US" sz="1700" u="none" cap="none" strike="noStrike">
                <a:solidFill>
                  <a:srgbClr val="980000"/>
                </a:solidFill>
                <a:latin typeface="Roboto"/>
                <a:ea typeface="Roboto"/>
                <a:cs typeface="Roboto"/>
                <a:sym typeface="Roboto"/>
              </a:rPr>
              <a:t>For clipping GH</a:t>
            </a:r>
            <a:r>
              <a:rPr b="0" i="0" lang="en-US" sz="1400" u="none" cap="none" strike="noStrike">
                <a:solidFill>
                  <a:srgbClr val="980000"/>
                </a:solidFill>
                <a:latin typeface="Roboto"/>
                <a:ea typeface="Roboto"/>
                <a:cs typeface="Roboto"/>
                <a:sym typeface="Roboto"/>
              </a:rPr>
              <a:t>, </a:t>
            </a:r>
            <a:endParaRPr b="0" i="0" sz="1400" u="none" cap="none" strike="noStrike">
              <a:solidFill>
                <a:srgbClr val="980000"/>
              </a:solidFill>
              <a:latin typeface="Roboto"/>
              <a:ea typeface="Roboto"/>
              <a:cs typeface="Roboto"/>
              <a:sym typeface="Roboto"/>
            </a:endParaRPr>
          </a:p>
          <a:p>
            <a:pPr indent="0" lvl="0" marL="0" marR="0" rtl="0" algn="just">
              <a:lnSpc>
                <a:spcPct val="115000"/>
              </a:lnSpc>
              <a:spcBef>
                <a:spcPts val="1200"/>
              </a:spcBef>
              <a:spcAft>
                <a:spcPts val="0"/>
              </a:spcAft>
              <a:buClr>
                <a:srgbClr val="000000"/>
              </a:buClr>
              <a:buSzPts val="1400"/>
              <a:buFont typeface="Arial"/>
              <a:buNone/>
            </a:pPr>
            <a:r>
              <a:rPr b="0" i="0" lang="en-US" sz="1400" u="none" cap="none" strike="noStrike">
                <a:solidFill>
                  <a:srgbClr val="333333"/>
                </a:solidFill>
                <a:latin typeface="Roboto"/>
                <a:ea typeface="Roboto"/>
                <a:cs typeface="Roboto"/>
                <a:sym typeface="Roboto"/>
              </a:rPr>
              <a:t>we can start with either G or H since both are outside the window. </a:t>
            </a:r>
            <a:endParaRPr b="0" i="0" sz="1400" u="none" cap="none" strike="noStrike">
              <a:solidFill>
                <a:srgbClr val="333333"/>
              </a:solidFill>
              <a:latin typeface="Roboto"/>
              <a:ea typeface="Roboto"/>
              <a:cs typeface="Roboto"/>
              <a:sym typeface="Roboto"/>
            </a:endParaRPr>
          </a:p>
          <a:p>
            <a:pPr indent="0" lvl="0" marL="0" marR="0" rtl="0" algn="just">
              <a:lnSpc>
                <a:spcPct val="115000"/>
              </a:lnSpc>
              <a:spcBef>
                <a:spcPts val="1200"/>
              </a:spcBef>
              <a:spcAft>
                <a:spcPts val="0"/>
              </a:spcAft>
              <a:buClr>
                <a:srgbClr val="000000"/>
              </a:buClr>
              <a:buSzPts val="1400"/>
              <a:buFont typeface="Arial"/>
              <a:buNone/>
            </a:pPr>
            <a:r>
              <a:rPr b="0" i="0" lang="en-US" sz="1400" u="none" cap="none" strike="noStrike">
                <a:solidFill>
                  <a:srgbClr val="333333"/>
                </a:solidFill>
                <a:latin typeface="Roboto"/>
                <a:ea typeface="Roboto"/>
                <a:cs typeface="Roboto"/>
                <a:sym typeface="Roboto"/>
              </a:rPr>
              <a:t> G (1, -2) , H(3,3)</a:t>
            </a:r>
            <a:endParaRPr b="0" i="0" sz="1400" u="none" cap="none" strike="noStrike">
              <a:solidFill>
                <a:srgbClr val="333333"/>
              </a:solidFill>
              <a:latin typeface="Roboto"/>
              <a:ea typeface="Roboto"/>
              <a:cs typeface="Roboto"/>
              <a:sym typeface="Roboto"/>
            </a:endParaRPr>
          </a:p>
          <a:p>
            <a:pPr indent="0" lvl="0" marL="0" marR="0" rtl="0" algn="just">
              <a:lnSpc>
                <a:spcPct val="115000"/>
              </a:lnSpc>
              <a:spcBef>
                <a:spcPts val="1200"/>
              </a:spcBef>
              <a:spcAft>
                <a:spcPts val="0"/>
              </a:spcAft>
              <a:buClr>
                <a:srgbClr val="000000"/>
              </a:buClr>
              <a:buSzPts val="1400"/>
              <a:buFont typeface="Arial"/>
              <a:buNone/>
            </a:pPr>
            <a:r>
              <a:rPr b="0" i="0" lang="en-US" sz="1400" u="none" cap="none" strike="noStrike">
                <a:solidFill>
                  <a:srgbClr val="333333"/>
                </a:solidFill>
                <a:latin typeface="Roboto"/>
                <a:ea typeface="Roboto"/>
                <a:cs typeface="Roboto"/>
                <a:sym typeface="Roboto"/>
              </a:rPr>
              <a:t>m= (3+2)/(3-1) = 5/2</a:t>
            </a:r>
            <a:endParaRPr b="0" i="0" sz="1400" u="none" cap="none" strike="noStrike">
              <a:solidFill>
                <a:srgbClr val="333333"/>
              </a:solidFill>
              <a:latin typeface="Roboto"/>
              <a:ea typeface="Roboto"/>
              <a:cs typeface="Roboto"/>
              <a:sym typeface="Roboto"/>
            </a:endParaRPr>
          </a:p>
          <a:p>
            <a:pPr indent="0" lvl="0" marL="0" marR="0" rtl="0" algn="just">
              <a:lnSpc>
                <a:spcPct val="115000"/>
              </a:lnSpc>
              <a:spcBef>
                <a:spcPts val="1200"/>
              </a:spcBef>
              <a:spcAft>
                <a:spcPts val="0"/>
              </a:spcAft>
              <a:buClr>
                <a:srgbClr val="000000"/>
              </a:buClr>
              <a:buSzPts val="1400"/>
              <a:buFont typeface="Arial"/>
              <a:buNone/>
            </a:pPr>
            <a:r>
              <a:rPr b="0" i="0" lang="en-US" sz="1400" u="none" cap="none" strike="noStrike">
                <a:solidFill>
                  <a:srgbClr val="333333"/>
                </a:solidFill>
                <a:latin typeface="Roboto"/>
                <a:ea typeface="Roboto"/>
                <a:cs typeface="Roboto"/>
                <a:sym typeface="Roboto"/>
              </a:rPr>
              <a:t>In case of G,</a:t>
            </a:r>
            <a:endParaRPr b="0" i="0" sz="1400" u="none" cap="none" strike="noStrike">
              <a:solidFill>
                <a:srgbClr val="333333"/>
              </a:solidFill>
              <a:latin typeface="Roboto"/>
              <a:ea typeface="Roboto"/>
              <a:cs typeface="Roboto"/>
              <a:sym typeface="Roboto"/>
            </a:endParaRPr>
          </a:p>
          <a:p>
            <a:pPr indent="0" lvl="0" marL="0" marR="0" rtl="0" algn="just">
              <a:lnSpc>
                <a:spcPct val="115000"/>
              </a:lnSpc>
              <a:spcBef>
                <a:spcPts val="1200"/>
              </a:spcBef>
              <a:spcAft>
                <a:spcPts val="0"/>
              </a:spcAft>
              <a:buClr>
                <a:srgbClr val="000000"/>
              </a:buClr>
              <a:buSzPts val="1400"/>
              <a:buFont typeface="Arial"/>
              <a:buNone/>
            </a:pPr>
            <a:r>
              <a:t/>
            </a:r>
            <a:endParaRPr b="0" i="0" sz="1400" u="none" cap="none" strike="noStrike">
              <a:solidFill>
                <a:srgbClr val="333333"/>
              </a:solidFill>
              <a:latin typeface="Roboto"/>
              <a:ea typeface="Roboto"/>
              <a:cs typeface="Roboto"/>
              <a:sym typeface="Roboto"/>
            </a:endParaRPr>
          </a:p>
          <a:p>
            <a:pPr indent="0" lvl="0" marL="0" marR="0" rtl="0" algn="just">
              <a:lnSpc>
                <a:spcPct val="130000"/>
              </a:lnSpc>
              <a:spcBef>
                <a:spcPts val="1200"/>
              </a:spcBef>
              <a:spcAft>
                <a:spcPts val="0"/>
              </a:spcAft>
              <a:buClr>
                <a:srgbClr val="000000"/>
              </a:buClr>
              <a:buSzPts val="1350"/>
              <a:buFont typeface="Arial"/>
              <a:buNone/>
            </a:pPr>
            <a:r>
              <a:rPr b="0" i="0" lang="en-US" sz="1350" u="none" cap="none" strike="noStrike">
                <a:solidFill>
                  <a:srgbClr val="666666"/>
                </a:solidFill>
                <a:latin typeface="Arial"/>
                <a:ea typeface="Arial"/>
                <a:cs typeface="Arial"/>
                <a:sym typeface="Arial"/>
              </a:rPr>
              <a:t>the line intersects the bottom side boundary of the window port.</a:t>
            </a:r>
            <a:r>
              <a:rPr b="1" i="0" lang="en-US" sz="1350" u="none" cap="none" strike="noStrike">
                <a:solidFill>
                  <a:srgbClr val="666666"/>
                </a:solidFill>
                <a:latin typeface="Arial"/>
                <a:ea typeface="Arial"/>
                <a:cs typeface="Arial"/>
                <a:sym typeface="Arial"/>
              </a:rPr>
              <a:t>     </a:t>
            </a:r>
            <a:endParaRPr b="1" i="0" sz="1350" u="none" cap="none" strike="noStrike">
              <a:solidFill>
                <a:srgbClr val="666666"/>
              </a:solidFill>
              <a:latin typeface="Arial"/>
              <a:ea typeface="Arial"/>
              <a:cs typeface="Arial"/>
              <a:sym typeface="Arial"/>
            </a:endParaRPr>
          </a:p>
          <a:p>
            <a:pPr indent="0" lvl="0" marL="0" marR="0" rtl="0" algn="just">
              <a:lnSpc>
                <a:spcPct val="130000"/>
              </a:lnSpc>
              <a:spcBef>
                <a:spcPts val="0"/>
              </a:spcBef>
              <a:spcAft>
                <a:spcPts val="0"/>
              </a:spcAft>
              <a:buClr>
                <a:srgbClr val="000000"/>
              </a:buClr>
              <a:buSzPts val="1350"/>
              <a:buFont typeface="Arial"/>
              <a:buNone/>
            </a:pPr>
            <a:r>
              <a:rPr b="1" i="0" lang="en-US" sz="1350" u="none" cap="none" strike="noStrike">
                <a:solidFill>
                  <a:srgbClr val="666666"/>
                </a:solidFill>
                <a:latin typeface="Arial"/>
                <a:ea typeface="Arial"/>
                <a:cs typeface="Arial"/>
                <a:sym typeface="Arial"/>
              </a:rPr>
              <a:t>                  </a:t>
            </a:r>
            <a:endParaRPr b="1" i="0" sz="1350" u="none" cap="none" strike="noStrike">
              <a:solidFill>
                <a:srgbClr val="666666"/>
              </a:solidFill>
              <a:latin typeface="Arial"/>
              <a:ea typeface="Arial"/>
              <a:cs typeface="Arial"/>
              <a:sym typeface="Arial"/>
            </a:endParaRPr>
          </a:p>
          <a:p>
            <a:pPr indent="0" lvl="0" marL="0" marR="0" rtl="0" algn="just">
              <a:lnSpc>
                <a:spcPct val="130000"/>
              </a:lnSpc>
              <a:spcBef>
                <a:spcPts val="0"/>
              </a:spcBef>
              <a:spcAft>
                <a:spcPts val="0"/>
              </a:spcAft>
              <a:buClr>
                <a:srgbClr val="000000"/>
              </a:buClr>
              <a:buSzPts val="1350"/>
              <a:buFont typeface="Arial"/>
              <a:buNone/>
            </a:pPr>
            <a:r>
              <a:rPr b="1" i="0" lang="en-US" sz="1350" u="none" cap="none" strike="noStrike">
                <a:solidFill>
                  <a:srgbClr val="666666"/>
                </a:solidFill>
                <a:latin typeface="Arial"/>
                <a:ea typeface="Arial"/>
                <a:cs typeface="Arial"/>
                <a:sym typeface="Arial"/>
              </a:rPr>
              <a:t>                 </a:t>
            </a:r>
            <a:r>
              <a:rPr b="0" i="0" lang="en-US" sz="1350" u="none" cap="none" strike="noStrike">
                <a:solidFill>
                  <a:srgbClr val="666666"/>
                </a:solidFill>
                <a:latin typeface="Arial"/>
                <a:ea typeface="Arial"/>
                <a:cs typeface="Arial"/>
                <a:sym typeface="Arial"/>
              </a:rPr>
              <a:t>x0 = x1+(y-y1)/m = 1+ ((1+2)*2)/5 = 1+6/5 =11/5 =2.2</a:t>
            </a:r>
            <a:endParaRPr b="0" i="0" sz="1400" u="none" cap="none" strike="noStrike">
              <a:solidFill>
                <a:srgbClr val="333333"/>
              </a:solidFill>
              <a:latin typeface="Roboto"/>
              <a:ea typeface="Roboto"/>
              <a:cs typeface="Roboto"/>
              <a:sym typeface="Roboto"/>
            </a:endParaRPr>
          </a:p>
          <a:p>
            <a:pPr indent="0" lvl="0" marL="0" marR="0" rtl="0" algn="just">
              <a:lnSpc>
                <a:spcPct val="115000"/>
              </a:lnSpc>
              <a:spcBef>
                <a:spcPts val="1200"/>
              </a:spcBef>
              <a:spcAft>
                <a:spcPts val="0"/>
              </a:spcAft>
              <a:buClr>
                <a:srgbClr val="000000"/>
              </a:buClr>
              <a:buSzPts val="1400"/>
              <a:buFont typeface="Arial"/>
              <a:buNone/>
            </a:pPr>
            <a:r>
              <a:rPr b="0" i="0" lang="en-US" sz="1400" u="none" cap="none" strike="noStrike">
                <a:solidFill>
                  <a:srgbClr val="333333"/>
                </a:solidFill>
                <a:latin typeface="Roboto"/>
                <a:ea typeface="Roboto"/>
                <a:cs typeface="Roboto"/>
                <a:sym typeface="Roboto"/>
              </a:rPr>
              <a:t>The code for G is 0100 line y</a:t>
            </a:r>
            <a:r>
              <a:rPr b="0" baseline="-25000" i="0" lang="en-US" sz="1400" u="none" cap="none" strike="noStrike">
                <a:solidFill>
                  <a:srgbClr val="333333"/>
                </a:solidFill>
                <a:latin typeface="Roboto"/>
                <a:ea typeface="Roboto"/>
                <a:cs typeface="Roboto"/>
                <a:sym typeface="Roboto"/>
              </a:rPr>
              <a:t>min</a:t>
            </a:r>
            <a:r>
              <a:rPr b="0" i="0" lang="en-US" sz="1400" u="none" cap="none" strike="noStrike">
                <a:solidFill>
                  <a:srgbClr val="333333"/>
                </a:solidFill>
                <a:latin typeface="Roboto"/>
                <a:ea typeface="Roboto"/>
                <a:cs typeface="Roboto"/>
                <a:sym typeface="Roboto"/>
              </a:rPr>
              <a:t>=1.</a:t>
            </a:r>
            <a:endParaRPr b="0" i="0" sz="1400" u="none" cap="none" strike="noStrike">
              <a:solidFill>
                <a:srgbClr val="333333"/>
              </a:solidFill>
              <a:latin typeface="Roboto"/>
              <a:ea typeface="Roboto"/>
              <a:cs typeface="Roboto"/>
              <a:sym typeface="Roboto"/>
            </a:endParaRPr>
          </a:p>
          <a:p>
            <a:pPr indent="0" lvl="0" marL="0" marR="0" rtl="0" algn="just">
              <a:lnSpc>
                <a:spcPct val="115000"/>
              </a:lnSpc>
              <a:spcBef>
                <a:spcPts val="1200"/>
              </a:spcBef>
              <a:spcAft>
                <a:spcPts val="0"/>
              </a:spcAft>
              <a:buClr>
                <a:srgbClr val="000000"/>
              </a:buClr>
              <a:buSzPts val="1400"/>
              <a:buFont typeface="Arial"/>
              <a:buNone/>
            </a:pPr>
            <a:r>
              <a:t/>
            </a:r>
            <a:endParaRPr b="0" i="0" sz="1400" u="none" cap="none" strike="noStrike">
              <a:solidFill>
                <a:srgbClr val="333333"/>
              </a:solidFill>
              <a:latin typeface="Roboto"/>
              <a:ea typeface="Roboto"/>
              <a:cs typeface="Roboto"/>
              <a:sym typeface="Roboto"/>
            </a:endParaRPr>
          </a:p>
          <a:p>
            <a:pPr indent="0" lvl="0" marL="0" marR="0" rtl="0" algn="just">
              <a:lnSpc>
                <a:spcPct val="115000"/>
              </a:lnSpc>
              <a:spcBef>
                <a:spcPts val="1200"/>
              </a:spcBef>
              <a:spcAft>
                <a:spcPts val="0"/>
              </a:spcAft>
              <a:buClr>
                <a:srgbClr val="000000"/>
              </a:buClr>
              <a:buSzPts val="1400"/>
              <a:buFont typeface="Arial"/>
              <a:buNone/>
            </a:pPr>
            <a:r>
              <a:t/>
            </a:r>
            <a:endParaRPr b="0" i="0" sz="1400" u="none" cap="none" strike="noStrike">
              <a:solidFill>
                <a:srgbClr val="333333"/>
              </a:solidFill>
              <a:latin typeface="Roboto"/>
              <a:ea typeface="Roboto"/>
              <a:cs typeface="Roboto"/>
              <a:sym typeface="Roboto"/>
            </a:endParaRPr>
          </a:p>
          <a:p>
            <a:pPr indent="0" lvl="0" marL="0" marR="0" rtl="0" algn="just">
              <a:lnSpc>
                <a:spcPct val="115000"/>
              </a:lnSpc>
              <a:spcBef>
                <a:spcPts val="1200"/>
              </a:spcBef>
              <a:spcAft>
                <a:spcPts val="0"/>
              </a:spcAft>
              <a:buClr>
                <a:srgbClr val="000000"/>
              </a:buClr>
              <a:buSzPts val="1400"/>
              <a:buFont typeface="Arial"/>
              <a:buNone/>
            </a:pPr>
            <a:r>
              <a:t/>
            </a:r>
            <a:endParaRPr b="0" i="0" sz="1400" u="none" cap="none" strike="noStrike">
              <a:solidFill>
                <a:srgbClr val="333333"/>
              </a:solidFill>
              <a:latin typeface="Roboto"/>
              <a:ea typeface="Roboto"/>
              <a:cs typeface="Roboto"/>
              <a:sym typeface="Roboto"/>
            </a:endParaRPr>
          </a:p>
          <a:p>
            <a:pPr indent="0" lvl="0" marL="457200" marR="0" rtl="0" algn="l">
              <a:lnSpc>
                <a:spcPct val="115000"/>
              </a:lnSpc>
              <a:spcBef>
                <a:spcPts val="1200"/>
              </a:spcBef>
              <a:spcAft>
                <a:spcPts val="0"/>
              </a:spcAft>
              <a:buClr>
                <a:srgbClr val="000000"/>
              </a:buClr>
              <a:buSzPts val="1400"/>
              <a:buFont typeface="Arial"/>
              <a:buNone/>
            </a:pPr>
            <a:r>
              <a:t/>
            </a:r>
            <a:endParaRPr b="1" i="0" sz="1400" u="none" cap="none" strike="noStrike">
              <a:solidFill>
                <a:srgbClr val="980000"/>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g3cc01153d18_0_154"/>
          <p:cNvSpPr txBox="1"/>
          <p:nvPr/>
        </p:nvSpPr>
        <p:spPr>
          <a:xfrm>
            <a:off x="303925" y="4705275"/>
            <a:ext cx="8070900" cy="1535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333333"/>
                </a:solidFill>
                <a:latin typeface="Roboto"/>
                <a:ea typeface="Roboto"/>
                <a:cs typeface="Roboto"/>
                <a:sym typeface="Roboto"/>
              </a:rPr>
              <a:t>The resulting intersection point is I</a:t>
            </a:r>
            <a:r>
              <a:rPr b="0" baseline="-25000" i="0" lang="en-US" sz="1400" u="none" cap="none" strike="noStrike">
                <a:solidFill>
                  <a:srgbClr val="333333"/>
                </a:solidFill>
                <a:latin typeface="Roboto"/>
                <a:ea typeface="Roboto"/>
                <a:cs typeface="Roboto"/>
                <a:sym typeface="Roboto"/>
              </a:rPr>
              <a:t>4</a:t>
            </a:r>
            <a:r>
              <a:rPr b="0" i="0" lang="en-US" sz="1400" u="none" cap="none" strike="noStrike">
                <a:solidFill>
                  <a:srgbClr val="333333"/>
                </a:solidFill>
                <a:latin typeface="Roboto"/>
                <a:ea typeface="Roboto"/>
                <a:cs typeface="Roboto"/>
                <a:sym typeface="Roboto"/>
              </a:rPr>
              <a:t> (2,1) and its code is 0010. We clip GI</a:t>
            </a:r>
            <a:r>
              <a:rPr b="0" baseline="-25000" i="0" lang="en-US" sz="1400" u="none" cap="none" strike="noStrike">
                <a:solidFill>
                  <a:srgbClr val="333333"/>
                </a:solidFill>
                <a:latin typeface="Roboto"/>
                <a:ea typeface="Roboto"/>
                <a:cs typeface="Roboto"/>
                <a:sym typeface="Roboto"/>
              </a:rPr>
              <a:t>4</a:t>
            </a:r>
            <a:r>
              <a:rPr b="0" i="0" lang="en-US" sz="1400" u="none" cap="none" strike="noStrike">
                <a:solidFill>
                  <a:srgbClr val="333333"/>
                </a:solidFill>
                <a:latin typeface="Roboto"/>
                <a:ea typeface="Roboto"/>
                <a:cs typeface="Roboto"/>
                <a:sym typeface="Roboto"/>
              </a:rPr>
              <a:t> and work on I</a:t>
            </a:r>
            <a:r>
              <a:rPr b="0" baseline="-25000" i="0" lang="en-US" sz="1400" u="none" cap="none" strike="noStrike">
                <a:solidFill>
                  <a:srgbClr val="333333"/>
                </a:solidFill>
                <a:latin typeface="Roboto"/>
                <a:ea typeface="Roboto"/>
                <a:cs typeface="Roboto"/>
                <a:sym typeface="Roboto"/>
              </a:rPr>
              <a:t>4</a:t>
            </a:r>
            <a:r>
              <a:rPr b="0" i="0" lang="en-US" sz="1400" u="none" cap="none" strike="noStrike">
                <a:solidFill>
                  <a:srgbClr val="333333"/>
                </a:solidFill>
                <a:latin typeface="Roboto"/>
                <a:ea typeface="Roboto"/>
                <a:cs typeface="Roboto"/>
                <a:sym typeface="Roboto"/>
              </a:rPr>
              <a:t> H. Segment I</a:t>
            </a:r>
            <a:r>
              <a:rPr b="0" baseline="-25000" i="0" lang="en-US" sz="1400" u="none" cap="none" strike="noStrike">
                <a:solidFill>
                  <a:srgbClr val="333333"/>
                </a:solidFill>
                <a:latin typeface="Roboto"/>
                <a:ea typeface="Roboto"/>
                <a:cs typeface="Roboto"/>
                <a:sym typeface="Roboto"/>
              </a:rPr>
              <a:t>4</a:t>
            </a:r>
            <a:r>
              <a:rPr b="0" i="0" lang="en-US" sz="1400" u="none" cap="none" strike="noStrike">
                <a:solidFill>
                  <a:srgbClr val="333333"/>
                </a:solidFill>
                <a:latin typeface="Roboto"/>
                <a:ea typeface="Roboto"/>
                <a:cs typeface="Roboto"/>
                <a:sym typeface="Roboto"/>
              </a:rPr>
              <a:t> H is not displaying since (0010) AND (0010) =0010.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7"/>
          <p:cNvSpPr txBox="1"/>
          <p:nvPr>
            <p:ph type="title"/>
          </p:nvPr>
        </p:nvSpPr>
        <p:spPr>
          <a:xfrm>
            <a:off x="628650" y="365125"/>
            <a:ext cx="78867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300"/>
              <a:buFont typeface="Calibri"/>
              <a:buNone/>
            </a:pPr>
            <a:r>
              <a:rPr b="0" i="0" lang="en-US" sz="3300" u="none">
                <a:solidFill>
                  <a:schemeClr val="dk1"/>
                </a:solidFill>
                <a:latin typeface="Calibri"/>
                <a:ea typeface="Calibri"/>
                <a:cs typeface="Calibri"/>
                <a:sym typeface="Calibri"/>
              </a:rPr>
              <a:t> </a:t>
            </a:r>
            <a:endParaRPr/>
          </a:p>
        </p:txBody>
      </p:sp>
      <p:pic>
        <p:nvPicPr>
          <p:cNvPr id="258" name="Google Shape;258;p17"/>
          <p:cNvPicPr preferRelativeResize="0"/>
          <p:nvPr>
            <p:ph idx="1" type="body"/>
          </p:nvPr>
        </p:nvPicPr>
        <p:blipFill rotWithShape="1">
          <a:blip r:embed="rId3">
            <a:alphaModFix/>
          </a:blip>
          <a:srcRect b="0" l="0" r="0" t="0"/>
          <a:stretch/>
        </p:blipFill>
        <p:spPr>
          <a:xfrm>
            <a:off x="1671637" y="1295400"/>
            <a:ext cx="5800725" cy="4351337"/>
          </a:xfrm>
          <a:prstGeom prst="rect">
            <a:avLst/>
          </a:prstGeom>
          <a:noFill/>
          <a:ln>
            <a:noFill/>
          </a:ln>
        </p:spPr>
      </p:pic>
      <p:pic>
        <p:nvPicPr>
          <p:cNvPr id="259" name="Google Shape;259;p17"/>
          <p:cNvPicPr preferRelativeResize="0"/>
          <p:nvPr/>
        </p:nvPicPr>
        <p:blipFill rotWithShape="1">
          <a:blip r:embed="rId4">
            <a:alphaModFix/>
          </a:blip>
          <a:srcRect b="0" l="0" r="0" t="0"/>
          <a:stretch/>
        </p:blipFill>
        <p:spPr>
          <a:xfrm>
            <a:off x="8077200" y="22225"/>
            <a:ext cx="1371600" cy="685800"/>
          </a:xfrm>
          <a:prstGeom prst="rect">
            <a:avLst/>
          </a:prstGeom>
          <a:noFill/>
          <a:ln>
            <a:noFill/>
          </a:ln>
        </p:spPr>
      </p:pic>
      <p:sp>
        <p:nvSpPr>
          <p:cNvPr id="260" name="Google Shape;260;p17"/>
          <p:cNvSpPr txBox="1"/>
          <p:nvPr/>
        </p:nvSpPr>
        <p:spPr>
          <a:xfrm>
            <a:off x="3028950" y="6356350"/>
            <a:ext cx="3086100" cy="36512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898989"/>
              </a:buClr>
              <a:buSzPts val="900"/>
              <a:buFont typeface="Arial"/>
              <a:buNone/>
            </a:pPr>
            <a:r>
              <a:rPr b="0" i="0" lang="en-US" sz="900" u="none" cap="none" strike="noStrike">
                <a:solidFill>
                  <a:srgbClr val="898989"/>
                </a:solidFill>
                <a:latin typeface="Arial"/>
                <a:ea typeface="Arial"/>
                <a:cs typeface="Arial"/>
                <a:sym typeface="Arial"/>
              </a:rPr>
              <a:t>Department of CSE, Daffodil International University</a:t>
            </a:r>
            <a:endParaRPr b="0" i="0" sz="1400" u="none" cap="none" strike="noStrike">
              <a:solidFill>
                <a:srgbClr val="000000"/>
              </a:solidFill>
              <a:latin typeface="Arial"/>
              <a:ea typeface="Arial"/>
              <a:cs typeface="Arial"/>
              <a:sym typeface="Arial"/>
            </a:endParaRPr>
          </a:p>
        </p:txBody>
      </p:sp>
      <p:sp>
        <p:nvSpPr>
          <p:cNvPr id="261" name="Google Shape;261;p17"/>
          <p:cNvSpPr txBox="1"/>
          <p:nvPr/>
        </p:nvSpPr>
        <p:spPr>
          <a:xfrm>
            <a:off x="6457950" y="6356350"/>
            <a:ext cx="20574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900"/>
              <a:buFont typeface="Arial"/>
              <a:buNone/>
            </a:pPr>
            <a:fld id="{00000000-1234-1234-1234-123412341234}" type="slidenum">
              <a:rPr b="0" i="0" lang="en-US" sz="900" u="none" cap="none" strike="noStrike">
                <a:solidFill>
                  <a:srgbClr val="898989"/>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8"/>
                                        </p:tgtEl>
                                        <p:attrNameLst>
                                          <p:attrName>style.visibility</p:attrName>
                                        </p:attrNameLst>
                                      </p:cBhvr>
                                      <p:to>
                                        <p:strVal val="visible"/>
                                      </p:to>
                                    </p:set>
                                    <p:anim calcmode="lin" valueType="num">
                                      <p:cBhvr additive="base">
                                        <p:cTn dur="1000"/>
                                        <p:tgtEl>
                                          <p:spTgt spid="258"/>
                                        </p:tgtEl>
                                        <p:attrNameLst>
                                          <p:attrName>ppt_w</p:attrName>
                                        </p:attrNameLst>
                                      </p:cBhvr>
                                      <p:tavLst>
                                        <p:tav fmla="" tm="0">
                                          <p:val>
                                            <p:strVal val="0"/>
                                          </p:val>
                                        </p:tav>
                                        <p:tav fmla="" tm="100000">
                                          <p:val>
                                            <p:strVal val="#ppt_w"/>
                                          </p:val>
                                        </p:tav>
                                      </p:tavLst>
                                    </p:anim>
                                    <p:anim calcmode="lin" valueType="num">
                                      <p:cBhvr additive="base">
                                        <p:cTn dur="1000"/>
                                        <p:tgtEl>
                                          <p:spTgt spid="258"/>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2006-08-22T08:27:31Z</dcterms:created>
  <dc:creator>Brian Mac Namee</dc:creator>
</cp:coreProperties>
</file>