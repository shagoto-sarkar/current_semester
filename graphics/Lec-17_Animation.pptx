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6858000" cx="9144000"/>
  <p:notesSz cx="9296400" cy="70104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1" roundtripDataSignature="AMtx7mjaPIrSerqViTM14MiuHalEgqpXe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customschemas.google.com/relationships/presentationmetadata" Target="metadata"/><Relationship Id="rId30" Type="http://schemas.openxmlformats.org/officeDocument/2006/relationships/slide" Target="slides/slide2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4029075" cy="35083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265738" y="0"/>
            <a:ext cx="4029075" cy="35083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071813" y="876300"/>
            <a:ext cx="3152775" cy="2365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30275" y="3373438"/>
            <a:ext cx="7435850" cy="2760662"/>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659563"/>
            <a:ext cx="4029075" cy="35083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265738" y="6659563"/>
            <a:ext cx="4029075" cy="35083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3071813" y="876300"/>
            <a:ext cx="3152775" cy="23653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6" name="Google Shape;86;p1:notes"/>
          <p:cNvSpPr txBox="1"/>
          <p:nvPr>
            <p:ph idx="1" type="body"/>
          </p:nvPr>
        </p:nvSpPr>
        <p:spPr>
          <a:xfrm>
            <a:off x="930275" y="3373438"/>
            <a:ext cx="7435850" cy="276066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txBox="1"/>
          <p:nvPr>
            <p:ph idx="12" type="sldNum"/>
          </p:nvPr>
        </p:nvSpPr>
        <p:spPr>
          <a:xfrm>
            <a:off x="5265738" y="6659563"/>
            <a:ext cx="4029075" cy="35083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txBox="1"/>
          <p:nvPr>
            <p:ph idx="1" type="body"/>
          </p:nvPr>
        </p:nvSpPr>
        <p:spPr>
          <a:xfrm>
            <a:off x="930275" y="3373438"/>
            <a:ext cx="7435850" cy="27606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2:notes"/>
          <p:cNvSpPr/>
          <p:nvPr>
            <p:ph idx="2" type="sldImg"/>
          </p:nvPr>
        </p:nvSpPr>
        <p:spPr>
          <a:xfrm>
            <a:off x="3071813" y="876300"/>
            <a:ext cx="3152775" cy="23653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3:notes"/>
          <p:cNvSpPr txBox="1"/>
          <p:nvPr>
            <p:ph idx="1" type="body"/>
          </p:nvPr>
        </p:nvSpPr>
        <p:spPr>
          <a:xfrm>
            <a:off x="930275" y="3373438"/>
            <a:ext cx="7435850" cy="27606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3:notes"/>
          <p:cNvSpPr/>
          <p:nvPr>
            <p:ph idx="2" type="sldImg"/>
          </p:nvPr>
        </p:nvSpPr>
        <p:spPr>
          <a:xfrm>
            <a:off x="3071813" y="876300"/>
            <a:ext cx="3152775" cy="23653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4:notes"/>
          <p:cNvSpPr txBox="1"/>
          <p:nvPr>
            <p:ph idx="1" type="body"/>
          </p:nvPr>
        </p:nvSpPr>
        <p:spPr>
          <a:xfrm>
            <a:off x="930275" y="3373438"/>
            <a:ext cx="7435850" cy="27606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4:notes"/>
          <p:cNvSpPr/>
          <p:nvPr>
            <p:ph idx="2" type="sldImg"/>
          </p:nvPr>
        </p:nvSpPr>
        <p:spPr>
          <a:xfrm>
            <a:off x="3071813" y="876300"/>
            <a:ext cx="3152775" cy="23653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5:notes"/>
          <p:cNvSpPr txBox="1"/>
          <p:nvPr>
            <p:ph idx="1" type="body"/>
          </p:nvPr>
        </p:nvSpPr>
        <p:spPr>
          <a:xfrm>
            <a:off x="930275" y="3373438"/>
            <a:ext cx="7435850" cy="27606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5:notes"/>
          <p:cNvSpPr/>
          <p:nvPr>
            <p:ph idx="2" type="sldImg"/>
          </p:nvPr>
        </p:nvSpPr>
        <p:spPr>
          <a:xfrm>
            <a:off x="3071813" y="876300"/>
            <a:ext cx="3152775" cy="23653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6:notes"/>
          <p:cNvSpPr txBox="1"/>
          <p:nvPr>
            <p:ph idx="1" type="body"/>
          </p:nvPr>
        </p:nvSpPr>
        <p:spPr>
          <a:xfrm>
            <a:off x="930275" y="3373438"/>
            <a:ext cx="7435850" cy="27606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6:notes"/>
          <p:cNvSpPr/>
          <p:nvPr>
            <p:ph idx="2" type="sldImg"/>
          </p:nvPr>
        </p:nvSpPr>
        <p:spPr>
          <a:xfrm>
            <a:off x="3071813" y="876300"/>
            <a:ext cx="3152775" cy="23653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7:notes"/>
          <p:cNvSpPr txBox="1"/>
          <p:nvPr>
            <p:ph idx="1" type="body"/>
          </p:nvPr>
        </p:nvSpPr>
        <p:spPr>
          <a:xfrm>
            <a:off x="930275" y="3373438"/>
            <a:ext cx="7435850" cy="27606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7:notes"/>
          <p:cNvSpPr/>
          <p:nvPr>
            <p:ph idx="2" type="sldImg"/>
          </p:nvPr>
        </p:nvSpPr>
        <p:spPr>
          <a:xfrm>
            <a:off x="3071813" y="876300"/>
            <a:ext cx="3152775" cy="23653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8:notes"/>
          <p:cNvSpPr txBox="1"/>
          <p:nvPr>
            <p:ph idx="1" type="body"/>
          </p:nvPr>
        </p:nvSpPr>
        <p:spPr>
          <a:xfrm>
            <a:off x="930275" y="3373438"/>
            <a:ext cx="7435850" cy="27606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8:notes"/>
          <p:cNvSpPr/>
          <p:nvPr>
            <p:ph idx="2" type="sldImg"/>
          </p:nvPr>
        </p:nvSpPr>
        <p:spPr>
          <a:xfrm>
            <a:off x="3071813" y="876300"/>
            <a:ext cx="3152775" cy="23653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9:notes"/>
          <p:cNvSpPr txBox="1"/>
          <p:nvPr>
            <p:ph idx="1" type="body"/>
          </p:nvPr>
        </p:nvSpPr>
        <p:spPr>
          <a:xfrm>
            <a:off x="930275" y="3373438"/>
            <a:ext cx="7435850" cy="27606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9:notes"/>
          <p:cNvSpPr/>
          <p:nvPr>
            <p:ph idx="2" type="sldImg"/>
          </p:nvPr>
        </p:nvSpPr>
        <p:spPr>
          <a:xfrm>
            <a:off x="3071813" y="876300"/>
            <a:ext cx="3152775" cy="23653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0:notes"/>
          <p:cNvSpPr txBox="1"/>
          <p:nvPr>
            <p:ph idx="1" type="body"/>
          </p:nvPr>
        </p:nvSpPr>
        <p:spPr>
          <a:xfrm>
            <a:off x="930275" y="3373438"/>
            <a:ext cx="7435850" cy="27606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10:notes"/>
          <p:cNvSpPr/>
          <p:nvPr>
            <p:ph idx="2" type="sldImg"/>
          </p:nvPr>
        </p:nvSpPr>
        <p:spPr>
          <a:xfrm>
            <a:off x="3071813" y="876300"/>
            <a:ext cx="3152775" cy="23653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1:notes"/>
          <p:cNvSpPr txBox="1"/>
          <p:nvPr>
            <p:ph idx="1" type="body"/>
          </p:nvPr>
        </p:nvSpPr>
        <p:spPr>
          <a:xfrm>
            <a:off x="930275" y="3373438"/>
            <a:ext cx="7435850" cy="27606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11:notes"/>
          <p:cNvSpPr/>
          <p:nvPr>
            <p:ph idx="2" type="sldImg"/>
          </p:nvPr>
        </p:nvSpPr>
        <p:spPr>
          <a:xfrm>
            <a:off x="3071813" y="876300"/>
            <a:ext cx="3152775" cy="23653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2:notes"/>
          <p:cNvSpPr txBox="1"/>
          <p:nvPr>
            <p:ph idx="1" type="body"/>
          </p:nvPr>
        </p:nvSpPr>
        <p:spPr>
          <a:xfrm>
            <a:off x="930275" y="3373438"/>
            <a:ext cx="7435850" cy="27606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12:notes"/>
          <p:cNvSpPr/>
          <p:nvPr>
            <p:ph idx="2" type="sldImg"/>
          </p:nvPr>
        </p:nvSpPr>
        <p:spPr>
          <a:xfrm>
            <a:off x="3071813" y="876300"/>
            <a:ext cx="3152775" cy="23653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3:notes"/>
          <p:cNvSpPr txBox="1"/>
          <p:nvPr>
            <p:ph idx="1" type="body"/>
          </p:nvPr>
        </p:nvSpPr>
        <p:spPr>
          <a:xfrm>
            <a:off x="930275" y="3373438"/>
            <a:ext cx="7435850" cy="27606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13:notes"/>
          <p:cNvSpPr/>
          <p:nvPr>
            <p:ph idx="2" type="sldImg"/>
          </p:nvPr>
        </p:nvSpPr>
        <p:spPr>
          <a:xfrm>
            <a:off x="3071813" y="876300"/>
            <a:ext cx="3152775" cy="23653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4:notes"/>
          <p:cNvSpPr txBox="1"/>
          <p:nvPr>
            <p:ph idx="1" type="body"/>
          </p:nvPr>
        </p:nvSpPr>
        <p:spPr>
          <a:xfrm>
            <a:off x="930275" y="3373438"/>
            <a:ext cx="7435850" cy="27606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14:notes"/>
          <p:cNvSpPr/>
          <p:nvPr>
            <p:ph idx="2" type="sldImg"/>
          </p:nvPr>
        </p:nvSpPr>
        <p:spPr>
          <a:xfrm>
            <a:off x="3071813" y="876300"/>
            <a:ext cx="3152775" cy="23653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5:notes"/>
          <p:cNvSpPr txBox="1"/>
          <p:nvPr>
            <p:ph idx="1" type="body"/>
          </p:nvPr>
        </p:nvSpPr>
        <p:spPr>
          <a:xfrm>
            <a:off x="930275" y="3373438"/>
            <a:ext cx="7435850" cy="27606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15:notes"/>
          <p:cNvSpPr/>
          <p:nvPr>
            <p:ph idx="2" type="sldImg"/>
          </p:nvPr>
        </p:nvSpPr>
        <p:spPr>
          <a:xfrm>
            <a:off x="3071813" y="876300"/>
            <a:ext cx="3152775" cy="23653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6:notes"/>
          <p:cNvSpPr txBox="1"/>
          <p:nvPr>
            <p:ph idx="1" type="body"/>
          </p:nvPr>
        </p:nvSpPr>
        <p:spPr>
          <a:xfrm>
            <a:off x="930275" y="3373438"/>
            <a:ext cx="7435850" cy="27606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16:notes"/>
          <p:cNvSpPr/>
          <p:nvPr>
            <p:ph idx="2" type="sldImg"/>
          </p:nvPr>
        </p:nvSpPr>
        <p:spPr>
          <a:xfrm>
            <a:off x="3071813" y="876300"/>
            <a:ext cx="3152775" cy="23653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7:notes"/>
          <p:cNvSpPr txBox="1"/>
          <p:nvPr>
            <p:ph idx="1" type="body"/>
          </p:nvPr>
        </p:nvSpPr>
        <p:spPr>
          <a:xfrm>
            <a:off x="930275" y="3373438"/>
            <a:ext cx="7435850" cy="27606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17:notes"/>
          <p:cNvSpPr/>
          <p:nvPr>
            <p:ph idx="2" type="sldImg"/>
          </p:nvPr>
        </p:nvSpPr>
        <p:spPr>
          <a:xfrm>
            <a:off x="3071813" y="876300"/>
            <a:ext cx="3152775" cy="23653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8:notes"/>
          <p:cNvSpPr txBox="1"/>
          <p:nvPr>
            <p:ph idx="1" type="body"/>
          </p:nvPr>
        </p:nvSpPr>
        <p:spPr>
          <a:xfrm>
            <a:off x="930275" y="3373438"/>
            <a:ext cx="7435850" cy="27606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18:notes"/>
          <p:cNvSpPr/>
          <p:nvPr>
            <p:ph idx="2" type="sldImg"/>
          </p:nvPr>
        </p:nvSpPr>
        <p:spPr>
          <a:xfrm>
            <a:off x="3071813" y="876300"/>
            <a:ext cx="3152775" cy="23653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9:notes"/>
          <p:cNvSpPr txBox="1"/>
          <p:nvPr>
            <p:ph idx="1" type="body"/>
          </p:nvPr>
        </p:nvSpPr>
        <p:spPr>
          <a:xfrm>
            <a:off x="930275" y="3373438"/>
            <a:ext cx="7435850" cy="27606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19:notes"/>
          <p:cNvSpPr/>
          <p:nvPr>
            <p:ph idx="2" type="sldImg"/>
          </p:nvPr>
        </p:nvSpPr>
        <p:spPr>
          <a:xfrm>
            <a:off x="3071813" y="876300"/>
            <a:ext cx="3152775" cy="23653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0:notes"/>
          <p:cNvSpPr txBox="1"/>
          <p:nvPr>
            <p:ph idx="1" type="body"/>
          </p:nvPr>
        </p:nvSpPr>
        <p:spPr>
          <a:xfrm>
            <a:off x="930275" y="3373438"/>
            <a:ext cx="7435850" cy="27606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p20:notes"/>
          <p:cNvSpPr/>
          <p:nvPr>
            <p:ph idx="2" type="sldImg"/>
          </p:nvPr>
        </p:nvSpPr>
        <p:spPr>
          <a:xfrm>
            <a:off x="3071813" y="876300"/>
            <a:ext cx="3152775" cy="23653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1:notes"/>
          <p:cNvSpPr txBox="1"/>
          <p:nvPr>
            <p:ph idx="1" type="body"/>
          </p:nvPr>
        </p:nvSpPr>
        <p:spPr>
          <a:xfrm>
            <a:off x="930275" y="3373438"/>
            <a:ext cx="7435850" cy="27606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21:notes"/>
          <p:cNvSpPr/>
          <p:nvPr>
            <p:ph idx="2" type="sldImg"/>
          </p:nvPr>
        </p:nvSpPr>
        <p:spPr>
          <a:xfrm>
            <a:off x="3071813" y="876300"/>
            <a:ext cx="3152775" cy="23653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2:notes"/>
          <p:cNvSpPr txBox="1"/>
          <p:nvPr>
            <p:ph idx="1" type="body"/>
          </p:nvPr>
        </p:nvSpPr>
        <p:spPr>
          <a:xfrm>
            <a:off x="930275" y="3373438"/>
            <a:ext cx="7435850" cy="27606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p22:notes"/>
          <p:cNvSpPr/>
          <p:nvPr>
            <p:ph idx="2" type="sldImg"/>
          </p:nvPr>
        </p:nvSpPr>
        <p:spPr>
          <a:xfrm>
            <a:off x="3071813" y="876300"/>
            <a:ext cx="3152775" cy="23653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3:notes"/>
          <p:cNvSpPr txBox="1"/>
          <p:nvPr>
            <p:ph idx="1" type="body"/>
          </p:nvPr>
        </p:nvSpPr>
        <p:spPr>
          <a:xfrm>
            <a:off x="930275" y="3373438"/>
            <a:ext cx="7435850" cy="27606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p23:notes"/>
          <p:cNvSpPr/>
          <p:nvPr>
            <p:ph idx="2" type="sldImg"/>
          </p:nvPr>
        </p:nvSpPr>
        <p:spPr>
          <a:xfrm>
            <a:off x="3071813" y="876300"/>
            <a:ext cx="3152775" cy="23653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24:notes"/>
          <p:cNvSpPr txBox="1"/>
          <p:nvPr>
            <p:ph idx="1" type="body"/>
          </p:nvPr>
        </p:nvSpPr>
        <p:spPr>
          <a:xfrm>
            <a:off x="930275" y="3373438"/>
            <a:ext cx="7435850" cy="27606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p24:notes"/>
          <p:cNvSpPr/>
          <p:nvPr>
            <p:ph idx="2" type="sldImg"/>
          </p:nvPr>
        </p:nvSpPr>
        <p:spPr>
          <a:xfrm>
            <a:off x="3071813" y="876300"/>
            <a:ext cx="3152775" cy="23653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5:notes"/>
          <p:cNvSpPr txBox="1"/>
          <p:nvPr>
            <p:ph idx="1" type="body"/>
          </p:nvPr>
        </p:nvSpPr>
        <p:spPr>
          <a:xfrm>
            <a:off x="930275" y="3373438"/>
            <a:ext cx="7435850" cy="27606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p25:notes"/>
          <p:cNvSpPr/>
          <p:nvPr>
            <p:ph idx="2" type="sldImg"/>
          </p:nvPr>
        </p:nvSpPr>
        <p:spPr>
          <a:xfrm>
            <a:off x="3071813" y="876300"/>
            <a:ext cx="3152775" cy="23653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7"/>
          <p:cNvSpPr txBox="1"/>
          <p:nvPr>
            <p:ph type="ctrTitle"/>
          </p:nvPr>
        </p:nvSpPr>
        <p:spPr>
          <a:xfrm>
            <a:off x="1143000" y="1122363"/>
            <a:ext cx="6858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7"/>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18" name="Google Shape;18;p27"/>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8"/>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8"/>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4" name="Google Shape;24;p28"/>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8"/>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9"/>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9"/>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888888"/>
              </a:buClr>
              <a:buSzPts val="1800"/>
              <a:buNone/>
              <a:defRPr sz="1800">
                <a:solidFill>
                  <a:srgbClr val="888888"/>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30" name="Google Shape;30;p29"/>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9"/>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0"/>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6" name="Google Shape;36;p30"/>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7" name="Google Shape;37;p30"/>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0"/>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1"/>
          <p:cNvSpPr txBox="1"/>
          <p:nvPr>
            <p:ph type="title"/>
          </p:nvPr>
        </p:nvSpPr>
        <p:spPr>
          <a:xfrm>
            <a:off x="629841"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1"/>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43" name="Google Shape;43;p31"/>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4" name="Google Shape;44;p31"/>
          <p:cNvSpPr txBox="1"/>
          <p:nvPr>
            <p:ph idx="3" type="body"/>
          </p:nvPr>
        </p:nvSpPr>
        <p:spPr>
          <a:xfrm>
            <a:off x="4629150" y="1681163"/>
            <a:ext cx="38873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45" name="Google Shape;45;p31"/>
          <p:cNvSpPr txBox="1"/>
          <p:nvPr>
            <p:ph idx="4" type="body"/>
          </p:nvPr>
        </p:nvSpPr>
        <p:spPr>
          <a:xfrm>
            <a:off x="4629150" y="2505075"/>
            <a:ext cx="3887391"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6" name="Google Shape;46;p31"/>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2"/>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2"/>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33"/>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4"/>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34"/>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61" name="Google Shape;61;p34"/>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2" name="Google Shape;62;p34"/>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5"/>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35"/>
          <p:cNvSpPr/>
          <p:nvPr>
            <p:ph idx="2" type="pic"/>
          </p:nvPr>
        </p:nvSpPr>
        <p:spPr>
          <a:xfrm>
            <a:off x="3887391" y="987426"/>
            <a:ext cx="4629150" cy="4873625"/>
          </a:xfrm>
          <a:prstGeom prst="rect">
            <a:avLst/>
          </a:prstGeom>
          <a:noFill/>
          <a:ln>
            <a:noFill/>
          </a:ln>
        </p:spPr>
      </p:sp>
      <p:sp>
        <p:nvSpPr>
          <p:cNvPr id="68" name="Google Shape;68;p35"/>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9" name="Google Shape;69;p35"/>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5"/>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36"/>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5" name="Google Shape;75;p36"/>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6"/>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7"/>
          <p:cNvSpPr txBox="1"/>
          <p:nvPr>
            <p:ph type="title"/>
          </p:nvPr>
        </p:nvSpPr>
        <p:spPr>
          <a:xfrm rot="5400000">
            <a:off x="4623594" y="2285207"/>
            <a:ext cx="5811838"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7"/>
          <p:cNvSpPr txBox="1"/>
          <p:nvPr>
            <p:ph idx="1" type="body"/>
          </p:nvPr>
        </p:nvSpPr>
        <p:spPr>
          <a:xfrm rot="5400000">
            <a:off x="623094" y="370681"/>
            <a:ext cx="5811838"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1" name="Google Shape;81;p37"/>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6"/>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 name="Google Shape;12;p26"/>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6"/>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17.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3.gif"/><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jpg"/><Relationship Id="rId4" Type="http://schemas.openxmlformats.org/officeDocument/2006/relationships/image" Target="../media/image2.jpg"/><Relationship Id="rId5"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jp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4.gif"/><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6.jp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0.pn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2.jp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5.png"/><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1.png"/><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5.gif"/><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type="ctrTitle"/>
          </p:nvPr>
        </p:nvSpPr>
        <p:spPr>
          <a:xfrm>
            <a:off x="990600" y="762000"/>
            <a:ext cx="6858000" cy="2316163"/>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alibri"/>
              <a:buNone/>
            </a:pPr>
            <a:br>
              <a:rPr lang="en-US"/>
            </a:br>
            <a:r>
              <a:rPr b="1" lang="en-US" sz="4000"/>
              <a:t>Computer Graphics</a:t>
            </a:r>
            <a:br>
              <a:rPr b="1" lang="en-US" sz="4000"/>
            </a:br>
            <a:r>
              <a:rPr b="1" lang="en-US" sz="4000"/>
              <a:t>Computer Animation</a:t>
            </a:r>
            <a:br>
              <a:rPr b="1" lang="en-US" sz="4000"/>
            </a:br>
            <a:r>
              <a:rPr b="1" lang="en-US" sz="3100">
                <a:solidFill>
                  <a:srgbClr val="FF0000"/>
                </a:solidFill>
              </a:rPr>
              <a:t>Lecture-17</a:t>
            </a:r>
            <a:br>
              <a:rPr lang="en-US"/>
            </a:br>
            <a:endParaRPr/>
          </a:p>
        </p:txBody>
      </p:sp>
      <p:sp>
        <p:nvSpPr>
          <p:cNvPr id="90" name="Google Shape;90;p1"/>
          <p:cNvSpPr txBox="1"/>
          <p:nvPr>
            <p:ph idx="1" type="subTitle"/>
          </p:nvPr>
        </p:nvSpPr>
        <p:spPr>
          <a:xfrm>
            <a:off x="990600" y="4320000"/>
            <a:ext cx="6858000" cy="1960200"/>
          </a:xfrm>
          <a:prstGeom prst="rect">
            <a:avLst/>
          </a:prstGeom>
          <a:noFill/>
          <a:ln>
            <a:noFill/>
          </a:ln>
        </p:spPr>
        <p:txBody>
          <a:bodyPr anchorCtr="0" anchor="t" bIns="45700" lIns="91425" spcFirstLastPara="1" rIns="91425" wrap="square" tIns="45700">
            <a:normAutofit lnSpcReduction="10000"/>
          </a:bodyPr>
          <a:lstStyle/>
          <a:p>
            <a:pPr indent="0" lvl="0" marL="0" rtl="0" algn="ctr">
              <a:lnSpc>
                <a:spcPct val="90000"/>
              </a:lnSpc>
              <a:spcBef>
                <a:spcPts val="0"/>
              </a:spcBef>
              <a:spcAft>
                <a:spcPts val="0"/>
              </a:spcAft>
              <a:buClr>
                <a:schemeClr val="dk1"/>
              </a:buClr>
              <a:buSzPts val="1800"/>
              <a:buFont typeface="Noto Sans Symbols"/>
              <a:buNone/>
            </a:pPr>
            <a:r>
              <a:t/>
            </a:r>
            <a:endParaRPr/>
          </a:p>
          <a:p>
            <a:pPr indent="0" lvl="0" marL="0" rtl="0" algn="ctr">
              <a:lnSpc>
                <a:spcPct val="90000"/>
              </a:lnSpc>
              <a:spcBef>
                <a:spcPts val="750"/>
              </a:spcBef>
              <a:spcAft>
                <a:spcPts val="0"/>
              </a:spcAft>
              <a:buClr>
                <a:schemeClr val="dk1"/>
              </a:buClr>
              <a:buSzPts val="1800"/>
              <a:buFont typeface="Noto Sans Symbols"/>
              <a:buNone/>
            </a:pPr>
            <a:br>
              <a:rPr lang="en-US"/>
            </a:br>
            <a:endParaRPr/>
          </a:p>
          <a:p>
            <a:pPr indent="0" lvl="0" marL="0" rtl="0" algn="ctr">
              <a:spcBef>
                <a:spcPts val="750"/>
              </a:spcBef>
              <a:spcAft>
                <a:spcPts val="0"/>
              </a:spcAft>
              <a:buClr>
                <a:schemeClr val="dk1"/>
              </a:buClr>
              <a:buSzPts val="1800"/>
              <a:buFont typeface="Noto Sans Symbols"/>
              <a:buNone/>
            </a:pPr>
            <a:r>
              <a:rPr lang="en-US">
                <a:solidFill>
                  <a:srgbClr val="FF0000"/>
                </a:solidFill>
              </a:rPr>
              <a:t>Tapasy Rabeya</a:t>
            </a:r>
            <a:br>
              <a:rPr lang="en-US"/>
            </a:br>
            <a:r>
              <a:rPr lang="en-US"/>
              <a:t>Senior Lecturer</a:t>
            </a:r>
            <a:endParaRPr/>
          </a:p>
          <a:p>
            <a:pPr indent="0" lvl="0" marL="0" rtl="0" algn="ctr">
              <a:lnSpc>
                <a:spcPct val="90000"/>
              </a:lnSpc>
              <a:spcBef>
                <a:spcPts val="750"/>
              </a:spcBef>
              <a:spcAft>
                <a:spcPts val="0"/>
              </a:spcAft>
              <a:buClr>
                <a:schemeClr val="dk1"/>
              </a:buClr>
              <a:buSzPts val="1800"/>
              <a:buFont typeface="Noto Sans Symbols"/>
              <a:buNone/>
            </a:pPr>
            <a:r>
              <a:rPr lang="en-US"/>
              <a:t>Department of Computer Science and Engineering</a:t>
            </a:r>
            <a:br>
              <a:rPr lang="en-US"/>
            </a:br>
            <a:r>
              <a:rPr lang="en-US"/>
              <a:t>Daffodil International University, DIU</a:t>
            </a:r>
            <a:endParaRPr/>
          </a:p>
        </p:txBody>
      </p:sp>
      <p:sp>
        <p:nvSpPr>
          <p:cNvPr descr="Diu Logo PNG Images - CleanPNG" id="91" name="Google Shape;91;p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pic>
        <p:nvPicPr>
          <p:cNvPr id="92" name="Google Shape;92;p1"/>
          <p:cNvPicPr preferRelativeResize="0"/>
          <p:nvPr/>
        </p:nvPicPr>
        <p:blipFill rotWithShape="1">
          <a:blip r:embed="rId3">
            <a:alphaModFix/>
          </a:blip>
          <a:srcRect b="0" l="0" r="0" t="0"/>
          <a:stretch/>
        </p:blipFill>
        <p:spPr>
          <a:xfrm>
            <a:off x="3733800" y="381000"/>
            <a:ext cx="1371600" cy="685800"/>
          </a:xfrm>
          <a:prstGeom prst="rect">
            <a:avLst/>
          </a:prstGeom>
          <a:noFill/>
          <a:ln>
            <a:noFill/>
          </a:ln>
        </p:spPr>
      </p:pic>
      <p:sp>
        <p:nvSpPr>
          <p:cNvPr id="93" name="Google Shape;93;p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CSE, Daffodil International University</a:t>
            </a:r>
            <a:endParaRPr/>
          </a:p>
        </p:txBody>
      </p:sp>
      <p:sp>
        <p:nvSpPr>
          <p:cNvPr id="94" name="Google Shape;94;p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C:\Users\User\Downloads\tumblr_m6h2a1xPTj1rxlmf0o1_500.gif" id="95" name="Google Shape;95;p1"/>
          <p:cNvPicPr preferRelativeResize="0"/>
          <p:nvPr/>
        </p:nvPicPr>
        <p:blipFill rotWithShape="1">
          <a:blip r:embed="rId4">
            <a:alphaModFix/>
          </a:blip>
          <a:srcRect b="0" l="0" r="0" t="0"/>
          <a:stretch/>
        </p:blipFill>
        <p:spPr>
          <a:xfrm>
            <a:off x="2571750" y="2535519"/>
            <a:ext cx="3886200" cy="263151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
          <p:cNvSpPr txBox="1"/>
          <p:nvPr>
            <p:ph type="title"/>
          </p:nvPr>
        </p:nvSpPr>
        <p:spPr>
          <a:xfrm>
            <a:off x="401425" y="344450"/>
            <a:ext cx="7886700" cy="1039500"/>
          </a:xfrm>
          <a:prstGeom prst="rect">
            <a:avLst/>
          </a:prstGeom>
          <a:solidFill>
            <a:srgbClr val="3D85C6"/>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Times New Roman"/>
              <a:buNone/>
            </a:pPr>
            <a:r>
              <a:rPr b="1" lang="en-US">
                <a:latin typeface="Times New Roman"/>
                <a:ea typeface="Times New Roman"/>
                <a:cs typeface="Times New Roman"/>
                <a:sym typeface="Times New Roman"/>
              </a:rPr>
              <a:t>Computer Animation</a:t>
            </a:r>
            <a:endParaRPr/>
          </a:p>
        </p:txBody>
      </p:sp>
      <p:sp>
        <p:nvSpPr>
          <p:cNvPr id="101" name="Google Shape;101;p2"/>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Computer Animation is the process used for generating animated images using computer graphics.</a:t>
            </a:r>
            <a:endParaRPr/>
          </a:p>
          <a:p>
            <a:pPr indent="-171450" lvl="0" marL="171450" rtl="0" algn="l">
              <a:lnSpc>
                <a:spcPct val="90000"/>
              </a:lnSpc>
              <a:spcBef>
                <a:spcPts val="750"/>
              </a:spcBef>
              <a:spcAft>
                <a:spcPts val="0"/>
              </a:spcAft>
              <a:buClr>
                <a:schemeClr val="dk1"/>
              </a:buClr>
              <a:buSzPts val="2400"/>
              <a:buChar char="•"/>
            </a:pPr>
            <a:r>
              <a:rPr lang="en-US" sz="2400">
                <a:latin typeface="Times New Roman"/>
                <a:ea typeface="Times New Roman"/>
                <a:cs typeface="Times New Roman"/>
                <a:sym typeface="Times New Roman"/>
              </a:rPr>
              <a:t>Computer-assisted animation and computer-generated animation are two categories of computer animation</a:t>
            </a:r>
            <a:endParaRPr/>
          </a:p>
          <a:p>
            <a:pPr indent="0" lvl="0" marL="171450" rtl="0" algn="l">
              <a:lnSpc>
                <a:spcPct val="90000"/>
              </a:lnSpc>
              <a:spcBef>
                <a:spcPts val="750"/>
              </a:spcBef>
              <a:spcAft>
                <a:spcPts val="0"/>
              </a:spcAft>
              <a:buClr>
                <a:schemeClr val="dk1"/>
              </a:buClr>
              <a:buSzPts val="2800"/>
              <a:buNone/>
            </a:pPr>
            <a:r>
              <a:t/>
            </a:r>
            <a:endParaRPr sz="2800"/>
          </a:p>
        </p:txBody>
      </p:sp>
      <p:pic>
        <p:nvPicPr>
          <p:cNvPr descr="C:\Users\User\Downloads\laptop-animated-busy-animation-smiley-emoticon-000418-large.gif" id="102" name="Google Shape;102;p2"/>
          <p:cNvPicPr preferRelativeResize="0"/>
          <p:nvPr/>
        </p:nvPicPr>
        <p:blipFill rotWithShape="1">
          <a:blip r:embed="rId3">
            <a:alphaModFix/>
          </a:blip>
          <a:srcRect b="0" l="0" r="0" t="0"/>
          <a:stretch/>
        </p:blipFill>
        <p:spPr>
          <a:xfrm>
            <a:off x="2590800" y="4315691"/>
            <a:ext cx="3135312" cy="1905000"/>
          </a:xfrm>
          <a:prstGeom prst="rect">
            <a:avLst/>
          </a:prstGeom>
          <a:noFill/>
          <a:ln>
            <a:noFill/>
          </a:ln>
        </p:spPr>
      </p:pic>
      <p:pic>
        <p:nvPicPr>
          <p:cNvPr id="103" name="Google Shape;103;p2"/>
          <p:cNvPicPr preferRelativeResize="0"/>
          <p:nvPr/>
        </p:nvPicPr>
        <p:blipFill rotWithShape="1">
          <a:blip r:embed="rId4">
            <a:alphaModFix/>
          </a:blip>
          <a:srcRect b="0" l="0" r="0" t="0"/>
          <a:stretch/>
        </p:blipFill>
        <p:spPr>
          <a:xfrm>
            <a:off x="8015225" y="521300"/>
            <a:ext cx="1371600" cy="685800"/>
          </a:xfrm>
          <a:prstGeom prst="rect">
            <a:avLst/>
          </a:prstGeom>
          <a:noFill/>
          <a:ln>
            <a:noFill/>
          </a:ln>
        </p:spPr>
      </p:pic>
      <p:sp>
        <p:nvSpPr>
          <p:cNvPr id="104" name="Google Shape;104;p2"/>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CSE, Daffodil International University</a:t>
            </a:r>
            <a:endParaRPr/>
          </a:p>
        </p:txBody>
      </p:sp>
      <p:sp>
        <p:nvSpPr>
          <p:cNvPr id="105" name="Google Shape;105;p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3"/>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Animators have invented and used a variety of different animation techniques. Basically there are six animation technique which we would discuss one by one in this section.</a:t>
            </a:r>
            <a:endParaRPr/>
          </a:p>
          <a:p>
            <a:pPr indent="0" lvl="0" marL="45720" rtl="0" algn="l">
              <a:lnSpc>
                <a:spcPct val="90000"/>
              </a:lnSpc>
              <a:spcBef>
                <a:spcPts val="750"/>
              </a:spcBef>
              <a:spcAft>
                <a:spcPts val="0"/>
              </a:spcAft>
              <a:buClr>
                <a:schemeClr val="dk1"/>
              </a:buClr>
              <a:buSzPts val="2400"/>
              <a:buNone/>
            </a:pPr>
            <a:r>
              <a:rPr b="1" lang="en-US" sz="2400">
                <a:latin typeface="Times New Roman"/>
                <a:ea typeface="Times New Roman"/>
                <a:cs typeface="Times New Roman"/>
                <a:sym typeface="Times New Roman"/>
              </a:rPr>
              <a:t>	Traditional Animation (frame by frame),</a:t>
            </a:r>
            <a:endParaRPr b="1" sz="2400">
              <a:latin typeface="Times New Roman"/>
              <a:ea typeface="Times New Roman"/>
              <a:cs typeface="Times New Roman"/>
              <a:sym typeface="Times New Roman"/>
            </a:endParaRPr>
          </a:p>
          <a:p>
            <a:pPr indent="0" lvl="0" marL="45720" rtl="0" algn="l">
              <a:lnSpc>
                <a:spcPct val="90000"/>
              </a:lnSpc>
              <a:spcBef>
                <a:spcPts val="750"/>
              </a:spcBef>
              <a:spcAft>
                <a:spcPts val="0"/>
              </a:spcAft>
              <a:buClr>
                <a:schemeClr val="dk1"/>
              </a:buClr>
              <a:buSzPts val="2400"/>
              <a:buNone/>
            </a:pPr>
            <a:r>
              <a:rPr b="1" lang="en-US" sz="2400">
                <a:latin typeface="Times New Roman"/>
                <a:ea typeface="Times New Roman"/>
                <a:cs typeface="Times New Roman"/>
                <a:sym typeface="Times New Roman"/>
              </a:rPr>
              <a:t>	Key framing,</a:t>
            </a:r>
            <a:endParaRPr b="1" sz="2400">
              <a:latin typeface="Times New Roman"/>
              <a:ea typeface="Times New Roman"/>
              <a:cs typeface="Times New Roman"/>
              <a:sym typeface="Times New Roman"/>
            </a:endParaRPr>
          </a:p>
          <a:p>
            <a:pPr indent="0" lvl="0" marL="45720" rtl="0" algn="l">
              <a:lnSpc>
                <a:spcPct val="90000"/>
              </a:lnSpc>
              <a:spcBef>
                <a:spcPts val="750"/>
              </a:spcBef>
              <a:spcAft>
                <a:spcPts val="0"/>
              </a:spcAft>
              <a:buClr>
                <a:schemeClr val="dk1"/>
              </a:buClr>
              <a:buSzPts val="2400"/>
              <a:buNone/>
            </a:pPr>
            <a:r>
              <a:rPr b="1" lang="en-US" sz="2400">
                <a:latin typeface="Times New Roman"/>
                <a:ea typeface="Times New Roman"/>
                <a:cs typeface="Times New Roman"/>
                <a:sym typeface="Times New Roman"/>
              </a:rPr>
              <a:t>	Procedural,</a:t>
            </a:r>
            <a:endParaRPr b="1" sz="2400">
              <a:latin typeface="Times New Roman"/>
              <a:ea typeface="Times New Roman"/>
              <a:cs typeface="Times New Roman"/>
              <a:sym typeface="Times New Roman"/>
            </a:endParaRPr>
          </a:p>
          <a:p>
            <a:pPr indent="0" lvl="0" marL="45720" rtl="0" algn="l">
              <a:lnSpc>
                <a:spcPct val="90000"/>
              </a:lnSpc>
              <a:spcBef>
                <a:spcPts val="750"/>
              </a:spcBef>
              <a:spcAft>
                <a:spcPts val="0"/>
              </a:spcAft>
              <a:buClr>
                <a:schemeClr val="dk1"/>
              </a:buClr>
              <a:buSzPts val="2400"/>
              <a:buNone/>
            </a:pPr>
            <a:r>
              <a:rPr b="1" lang="en-US" sz="2400">
                <a:latin typeface="Times New Roman"/>
                <a:ea typeface="Times New Roman"/>
                <a:cs typeface="Times New Roman"/>
                <a:sym typeface="Times New Roman"/>
              </a:rPr>
              <a:t>	Behavioral,</a:t>
            </a:r>
            <a:endParaRPr b="1" sz="2400">
              <a:latin typeface="Times New Roman"/>
              <a:ea typeface="Times New Roman"/>
              <a:cs typeface="Times New Roman"/>
              <a:sym typeface="Times New Roman"/>
            </a:endParaRPr>
          </a:p>
          <a:p>
            <a:pPr indent="0" lvl="0" marL="45720" rtl="0" algn="l">
              <a:lnSpc>
                <a:spcPct val="90000"/>
              </a:lnSpc>
              <a:spcBef>
                <a:spcPts val="750"/>
              </a:spcBef>
              <a:spcAft>
                <a:spcPts val="0"/>
              </a:spcAft>
              <a:buClr>
                <a:schemeClr val="dk1"/>
              </a:buClr>
              <a:buSzPts val="2400"/>
              <a:buNone/>
            </a:pPr>
            <a:r>
              <a:rPr b="1" lang="en-US" sz="2400">
                <a:latin typeface="Times New Roman"/>
                <a:ea typeface="Times New Roman"/>
                <a:cs typeface="Times New Roman"/>
                <a:sym typeface="Times New Roman"/>
              </a:rPr>
              <a:t>	Performance Based (Motion Capture</a:t>
            </a:r>
            <a:r>
              <a:rPr lang="en-US" sz="2400">
                <a:latin typeface="Times New Roman"/>
                <a:ea typeface="Times New Roman"/>
                <a:cs typeface="Times New Roman"/>
                <a:sym typeface="Times New Roman"/>
              </a:rPr>
              <a:t>),</a:t>
            </a:r>
            <a:endParaRPr/>
          </a:p>
          <a:p>
            <a:pPr indent="0" lvl="0" marL="45720" rtl="0" algn="l">
              <a:lnSpc>
                <a:spcPct val="90000"/>
              </a:lnSpc>
              <a:spcBef>
                <a:spcPts val="750"/>
              </a:spcBef>
              <a:spcAft>
                <a:spcPts val="0"/>
              </a:spcAft>
              <a:buClr>
                <a:schemeClr val="dk1"/>
              </a:buClr>
              <a:buSzPts val="2400"/>
              <a:buNone/>
            </a:pPr>
            <a:r>
              <a:rPr b="1" lang="en-US" sz="2400">
                <a:latin typeface="Times New Roman"/>
                <a:ea typeface="Times New Roman"/>
                <a:cs typeface="Times New Roman"/>
                <a:sym typeface="Times New Roman"/>
              </a:rPr>
              <a:t>	Physically Based (Dynamics).</a:t>
            </a:r>
            <a:endParaRPr b="1" sz="2400">
              <a:latin typeface="Times New Roman"/>
              <a:ea typeface="Times New Roman"/>
              <a:cs typeface="Times New Roman"/>
              <a:sym typeface="Times New Roman"/>
            </a:endParaRPr>
          </a:p>
          <a:p>
            <a:pPr indent="-38100" lvl="0" marL="171450" rtl="0" algn="l">
              <a:lnSpc>
                <a:spcPct val="90000"/>
              </a:lnSpc>
              <a:spcBef>
                <a:spcPts val="750"/>
              </a:spcBef>
              <a:spcAft>
                <a:spcPts val="0"/>
              </a:spcAft>
              <a:buClr>
                <a:schemeClr val="dk1"/>
              </a:buClr>
              <a:buSzPts val="2100"/>
              <a:buNone/>
            </a:pPr>
            <a:r>
              <a:t/>
            </a:r>
            <a:endParaRPr b="1"/>
          </a:p>
        </p:txBody>
      </p:sp>
      <p:sp>
        <p:nvSpPr>
          <p:cNvPr id="111" name="Google Shape;111;p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CSE, Daffodil International University</a:t>
            </a:r>
            <a:endParaRPr/>
          </a:p>
        </p:txBody>
      </p:sp>
      <p:sp>
        <p:nvSpPr>
          <p:cNvPr id="112" name="Google Shape;112;p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13" name="Google Shape;113;p3"/>
          <p:cNvSpPr txBox="1"/>
          <p:nvPr>
            <p:ph type="title"/>
          </p:nvPr>
        </p:nvSpPr>
        <p:spPr>
          <a:xfrm>
            <a:off x="442725" y="344450"/>
            <a:ext cx="7886700" cy="1039500"/>
          </a:xfrm>
          <a:prstGeom prst="rect">
            <a:avLst/>
          </a:prstGeom>
          <a:solidFill>
            <a:srgbClr val="9FC5E8"/>
          </a:solid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3300"/>
              <a:buFont typeface="Times New Roman"/>
              <a:buNone/>
            </a:pPr>
            <a:r>
              <a:rPr b="1" lang="en-US" sz="3700">
                <a:latin typeface="Times New Roman"/>
                <a:ea typeface="Times New Roman"/>
                <a:cs typeface="Times New Roman"/>
                <a:sym typeface="Times New Roman"/>
              </a:rPr>
              <a:t>Animation Techniques</a:t>
            </a:r>
            <a:endParaRPr/>
          </a:p>
        </p:txBody>
      </p:sp>
      <p:pic>
        <p:nvPicPr>
          <p:cNvPr id="114" name="Google Shape;114;p3"/>
          <p:cNvPicPr preferRelativeResize="0"/>
          <p:nvPr/>
        </p:nvPicPr>
        <p:blipFill rotWithShape="1">
          <a:blip r:embed="rId3">
            <a:alphaModFix/>
          </a:blip>
          <a:srcRect b="0" l="0" r="0" t="0"/>
          <a:stretch/>
        </p:blipFill>
        <p:spPr>
          <a:xfrm>
            <a:off x="8015225" y="521300"/>
            <a:ext cx="1371600" cy="685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4"/>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Traditional animation is a technique in which </a:t>
            </a:r>
            <a:r>
              <a:rPr b="1" lang="en-US" sz="2400">
                <a:latin typeface="Times New Roman"/>
                <a:ea typeface="Times New Roman"/>
                <a:cs typeface="Times New Roman"/>
                <a:sym typeface="Times New Roman"/>
              </a:rPr>
              <a:t>each frame of the animation is drawn separately</a:t>
            </a:r>
            <a:r>
              <a:rPr lang="en-US" sz="2400">
                <a:latin typeface="Times New Roman"/>
                <a:ea typeface="Times New Roman"/>
                <a:cs typeface="Times New Roman"/>
                <a:sym typeface="Times New Roman"/>
              </a:rPr>
              <a:t> to create motion when played in sequence.</a:t>
            </a:r>
            <a:endParaRPr/>
          </a:p>
          <a:p>
            <a:pPr indent="0" lvl="0" marL="0" rtl="0" algn="l">
              <a:lnSpc>
                <a:spcPct val="90000"/>
              </a:lnSpc>
              <a:spcBef>
                <a:spcPts val="750"/>
              </a:spcBef>
              <a:spcAft>
                <a:spcPts val="0"/>
              </a:spcAft>
              <a:buClr>
                <a:schemeClr val="dk1"/>
              </a:buClr>
              <a:buSzPts val="2400"/>
              <a:buNone/>
            </a:pPr>
            <a:r>
              <a:t/>
            </a:r>
            <a:endParaRPr sz="2400">
              <a:latin typeface="Times New Roman"/>
              <a:ea typeface="Times New Roman"/>
              <a:cs typeface="Times New Roman"/>
              <a:sym typeface="Times New Roman"/>
            </a:endParaRPr>
          </a:p>
          <a:p>
            <a:pPr indent="-171450" lvl="1" marL="514350" rtl="0" algn="l">
              <a:lnSpc>
                <a:spcPct val="90000"/>
              </a:lnSpc>
              <a:spcBef>
                <a:spcPts val="375"/>
              </a:spcBef>
              <a:spcAft>
                <a:spcPts val="0"/>
              </a:spcAft>
              <a:buClr>
                <a:schemeClr val="dk1"/>
              </a:buClr>
              <a:buSzPts val="2400"/>
              <a:buChar char="•"/>
            </a:pPr>
            <a:r>
              <a:rPr lang="en-US" sz="2400">
                <a:latin typeface="Times New Roman"/>
                <a:ea typeface="Times New Roman"/>
                <a:cs typeface="Times New Roman"/>
                <a:sym typeface="Times New Roman"/>
              </a:rPr>
              <a:t>Each frame is </a:t>
            </a:r>
            <a:r>
              <a:rPr b="1" lang="en-US" sz="2400">
                <a:latin typeface="Times New Roman"/>
                <a:ea typeface="Times New Roman"/>
                <a:cs typeface="Times New Roman"/>
                <a:sym typeface="Times New Roman"/>
              </a:rPr>
              <a:t>drawn individually</a:t>
            </a:r>
            <a:endParaRPr sz="2400">
              <a:latin typeface="Times New Roman"/>
              <a:ea typeface="Times New Roman"/>
              <a:cs typeface="Times New Roman"/>
              <a:sym typeface="Times New Roman"/>
            </a:endParaRPr>
          </a:p>
          <a:p>
            <a:pPr indent="-171450" lvl="1" marL="514350" rtl="0" algn="l">
              <a:lnSpc>
                <a:spcPct val="90000"/>
              </a:lnSpc>
              <a:spcBef>
                <a:spcPts val="375"/>
              </a:spcBef>
              <a:spcAft>
                <a:spcPts val="0"/>
              </a:spcAft>
              <a:buClr>
                <a:schemeClr val="dk1"/>
              </a:buClr>
              <a:buSzPts val="2400"/>
              <a:buChar char="•"/>
            </a:pPr>
            <a:r>
              <a:rPr lang="en-US" sz="2400">
                <a:latin typeface="Times New Roman"/>
                <a:ea typeface="Times New Roman"/>
                <a:cs typeface="Times New Roman"/>
                <a:sym typeface="Times New Roman"/>
              </a:rPr>
              <a:t>Motion created by rapid display of frames</a:t>
            </a:r>
            <a:endParaRPr/>
          </a:p>
          <a:p>
            <a:pPr indent="-171450" lvl="1" marL="514350" rtl="0" algn="l">
              <a:lnSpc>
                <a:spcPct val="90000"/>
              </a:lnSpc>
              <a:spcBef>
                <a:spcPts val="375"/>
              </a:spcBef>
              <a:spcAft>
                <a:spcPts val="0"/>
              </a:spcAft>
              <a:buClr>
                <a:schemeClr val="dk1"/>
              </a:buClr>
              <a:buSzPts val="2400"/>
              <a:buChar char="•"/>
            </a:pPr>
            <a:r>
              <a:rPr lang="en-US" sz="2400">
                <a:latin typeface="Times New Roman"/>
                <a:ea typeface="Times New Roman"/>
                <a:cs typeface="Times New Roman"/>
                <a:sym typeface="Times New Roman"/>
              </a:rPr>
              <a:t>High artistic control</a:t>
            </a:r>
            <a:endParaRPr/>
          </a:p>
          <a:p>
            <a:pPr indent="-171450" lvl="1" marL="514350" rtl="0" algn="l">
              <a:lnSpc>
                <a:spcPct val="90000"/>
              </a:lnSpc>
              <a:spcBef>
                <a:spcPts val="375"/>
              </a:spcBef>
              <a:spcAft>
                <a:spcPts val="0"/>
              </a:spcAft>
              <a:buClr>
                <a:schemeClr val="dk1"/>
              </a:buClr>
              <a:buSzPts val="2400"/>
              <a:buChar char="•"/>
            </a:pPr>
            <a:r>
              <a:rPr lang="en-US" sz="2400">
                <a:latin typeface="Times New Roman"/>
                <a:ea typeface="Times New Roman"/>
                <a:cs typeface="Times New Roman"/>
                <a:sym typeface="Times New Roman"/>
              </a:rPr>
              <a:t>Time-consuming</a:t>
            </a:r>
            <a:endParaRPr/>
          </a:p>
          <a:p>
            <a:pPr indent="0" lvl="1" marL="342900" rtl="0" algn="l">
              <a:lnSpc>
                <a:spcPct val="90000"/>
              </a:lnSpc>
              <a:spcBef>
                <a:spcPts val="375"/>
              </a:spcBef>
              <a:spcAft>
                <a:spcPts val="0"/>
              </a:spcAft>
              <a:buClr>
                <a:schemeClr val="dk1"/>
              </a:buClr>
              <a:buSzPts val="2400"/>
              <a:buNone/>
            </a:pPr>
            <a:r>
              <a:t/>
            </a:r>
            <a:endParaRPr sz="2400">
              <a:latin typeface="Times New Roman"/>
              <a:ea typeface="Times New Roman"/>
              <a:cs typeface="Times New Roman"/>
              <a:sym typeface="Times New Roman"/>
            </a:endParaRPr>
          </a:p>
          <a:p>
            <a:pPr indent="-171450" lvl="0" marL="171450" rtl="0" algn="l">
              <a:lnSpc>
                <a:spcPct val="90000"/>
              </a:lnSpc>
              <a:spcBef>
                <a:spcPts val="750"/>
              </a:spcBef>
              <a:spcAft>
                <a:spcPts val="0"/>
              </a:spcAft>
              <a:buClr>
                <a:schemeClr val="dk1"/>
              </a:buClr>
              <a:buSzPts val="2400"/>
              <a:buChar char="•"/>
            </a:pPr>
            <a:r>
              <a:rPr b="1" lang="en-US" sz="2400">
                <a:latin typeface="Times New Roman"/>
                <a:ea typeface="Times New Roman"/>
                <a:cs typeface="Times New Roman"/>
                <a:sym typeface="Times New Roman"/>
              </a:rPr>
              <a:t>Example:</a:t>
            </a:r>
            <a:r>
              <a:rPr lang="en-US" sz="2400">
                <a:latin typeface="Times New Roman"/>
                <a:ea typeface="Times New Roman"/>
                <a:cs typeface="Times New Roman"/>
                <a:sym typeface="Times New Roman"/>
              </a:rPr>
              <a:t> Hand-drawn cartoons</a:t>
            </a:r>
            <a:endParaRPr/>
          </a:p>
          <a:p>
            <a:pPr indent="0" lvl="0" marL="0" rtl="0" algn="l">
              <a:lnSpc>
                <a:spcPct val="90000"/>
              </a:lnSpc>
              <a:spcBef>
                <a:spcPts val="750"/>
              </a:spcBef>
              <a:spcAft>
                <a:spcPts val="0"/>
              </a:spcAft>
              <a:buClr>
                <a:schemeClr val="dk1"/>
              </a:buClr>
              <a:buSzPts val="2100"/>
              <a:buNone/>
            </a:pPr>
            <a:r>
              <a:t/>
            </a:r>
            <a:endParaRPr/>
          </a:p>
          <a:p>
            <a:pPr indent="-38100" lvl="0" marL="171450" rtl="0" algn="l">
              <a:lnSpc>
                <a:spcPct val="90000"/>
              </a:lnSpc>
              <a:spcBef>
                <a:spcPts val="750"/>
              </a:spcBef>
              <a:spcAft>
                <a:spcPts val="0"/>
              </a:spcAft>
              <a:buClr>
                <a:schemeClr val="dk1"/>
              </a:buClr>
              <a:buSzPts val="2100"/>
              <a:buNone/>
            </a:pPr>
            <a:r>
              <a:t/>
            </a:r>
            <a:endParaRPr/>
          </a:p>
        </p:txBody>
      </p:sp>
      <p:sp>
        <p:nvSpPr>
          <p:cNvPr id="120" name="Google Shape;120;p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CSE, Daffodil International University</a:t>
            </a:r>
            <a:endParaRPr/>
          </a:p>
        </p:txBody>
      </p:sp>
      <p:sp>
        <p:nvSpPr>
          <p:cNvPr id="121" name="Google Shape;121;p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22" name="Google Shape;122;p4"/>
          <p:cNvSpPr txBox="1"/>
          <p:nvPr>
            <p:ph type="title"/>
          </p:nvPr>
        </p:nvSpPr>
        <p:spPr>
          <a:xfrm>
            <a:off x="401425" y="344450"/>
            <a:ext cx="7886700" cy="1039500"/>
          </a:xfrm>
          <a:prstGeom prst="rect">
            <a:avLst/>
          </a:prstGeom>
          <a:solidFill>
            <a:schemeClr val="accent1"/>
          </a:solid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a:p>
            <a:pPr indent="0" lvl="0" marL="0" rtl="0" algn="l">
              <a:spcBef>
                <a:spcPts val="0"/>
              </a:spcBef>
              <a:spcAft>
                <a:spcPts val="0"/>
              </a:spcAft>
              <a:buClr>
                <a:schemeClr val="dk1"/>
              </a:buClr>
              <a:buSzPct val="100000"/>
              <a:buFont typeface="Times New Roman"/>
              <a:buNone/>
            </a:pPr>
            <a:r>
              <a:rPr b="1" lang="en-US">
                <a:latin typeface="Times New Roman"/>
                <a:ea typeface="Times New Roman"/>
                <a:cs typeface="Times New Roman"/>
                <a:sym typeface="Times New Roman"/>
              </a:rPr>
              <a:t>Traditional Animation (frame by frame)</a:t>
            </a:r>
            <a:endParaRPr/>
          </a:p>
          <a:p>
            <a:pPr indent="0" lvl="0" marL="0" rtl="0" algn="l">
              <a:lnSpc>
                <a:spcPct val="90000"/>
              </a:lnSpc>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p:txBody>
      </p:sp>
      <p:pic>
        <p:nvPicPr>
          <p:cNvPr id="123" name="Google Shape;123;p4"/>
          <p:cNvPicPr preferRelativeResize="0"/>
          <p:nvPr/>
        </p:nvPicPr>
        <p:blipFill rotWithShape="1">
          <a:blip r:embed="rId3">
            <a:alphaModFix/>
          </a:blip>
          <a:srcRect b="0" l="0" r="0" t="0"/>
          <a:stretch/>
        </p:blipFill>
        <p:spPr>
          <a:xfrm>
            <a:off x="8015225" y="521300"/>
            <a:ext cx="1371600" cy="6858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5"/>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100"/>
              <a:buNone/>
            </a:pPr>
            <a:r>
              <a:t/>
            </a:r>
            <a:endParaRPr/>
          </a:p>
          <a:p>
            <a:pPr indent="-38100" lvl="0" marL="171450" rtl="0" algn="l">
              <a:lnSpc>
                <a:spcPct val="90000"/>
              </a:lnSpc>
              <a:spcBef>
                <a:spcPts val="750"/>
              </a:spcBef>
              <a:spcAft>
                <a:spcPts val="0"/>
              </a:spcAft>
              <a:buClr>
                <a:schemeClr val="dk1"/>
              </a:buClr>
              <a:buSzPts val="2100"/>
              <a:buNone/>
            </a:pPr>
            <a:r>
              <a:t/>
            </a:r>
            <a:endParaRPr/>
          </a:p>
        </p:txBody>
      </p:sp>
      <p:pic>
        <p:nvPicPr>
          <p:cNvPr id="129" name="Google Shape;129;p5"/>
          <p:cNvPicPr preferRelativeResize="0"/>
          <p:nvPr/>
        </p:nvPicPr>
        <p:blipFill rotWithShape="1">
          <a:blip r:embed="rId3">
            <a:alphaModFix/>
          </a:blip>
          <a:srcRect b="0" l="0" r="0" t="0"/>
          <a:stretch/>
        </p:blipFill>
        <p:spPr>
          <a:xfrm>
            <a:off x="777100" y="4001294"/>
            <a:ext cx="7760718" cy="2856706"/>
          </a:xfrm>
          <a:prstGeom prst="rect">
            <a:avLst/>
          </a:prstGeom>
          <a:noFill/>
          <a:ln>
            <a:noFill/>
          </a:ln>
        </p:spPr>
      </p:pic>
      <p:pic>
        <p:nvPicPr>
          <p:cNvPr id="130" name="Google Shape;130;p5"/>
          <p:cNvPicPr preferRelativeResize="0"/>
          <p:nvPr/>
        </p:nvPicPr>
        <p:blipFill rotWithShape="1">
          <a:blip r:embed="rId4">
            <a:alphaModFix/>
          </a:blip>
          <a:srcRect b="0" l="0" r="0" t="0"/>
          <a:stretch/>
        </p:blipFill>
        <p:spPr>
          <a:xfrm>
            <a:off x="0" y="1690689"/>
            <a:ext cx="9144000" cy="2637483"/>
          </a:xfrm>
          <a:prstGeom prst="rect">
            <a:avLst/>
          </a:prstGeom>
          <a:noFill/>
          <a:ln>
            <a:noFill/>
          </a:ln>
        </p:spPr>
      </p:pic>
      <p:sp>
        <p:nvSpPr>
          <p:cNvPr id="131" name="Google Shape;131;p5"/>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CSE, Daffodil International University</a:t>
            </a:r>
            <a:endParaRPr/>
          </a:p>
        </p:txBody>
      </p:sp>
      <p:sp>
        <p:nvSpPr>
          <p:cNvPr id="132" name="Google Shape;132;p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33" name="Google Shape;133;p5"/>
          <p:cNvSpPr txBox="1"/>
          <p:nvPr>
            <p:ph type="title"/>
          </p:nvPr>
        </p:nvSpPr>
        <p:spPr>
          <a:xfrm>
            <a:off x="401425" y="344450"/>
            <a:ext cx="7886700" cy="1039500"/>
          </a:xfrm>
          <a:prstGeom prst="rect">
            <a:avLst/>
          </a:prstGeom>
          <a:solidFill>
            <a:schemeClr val="accent1"/>
          </a:solid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a:p>
            <a:pPr indent="0" lvl="0" marL="0" rtl="0" algn="l">
              <a:spcBef>
                <a:spcPts val="0"/>
              </a:spcBef>
              <a:spcAft>
                <a:spcPts val="0"/>
              </a:spcAft>
              <a:buClr>
                <a:schemeClr val="dk1"/>
              </a:buClr>
              <a:buSzPct val="100000"/>
              <a:buFont typeface="Times New Roman"/>
              <a:buNone/>
            </a:pPr>
            <a:r>
              <a:rPr b="1" lang="en-US">
                <a:latin typeface="Times New Roman"/>
                <a:ea typeface="Times New Roman"/>
                <a:cs typeface="Times New Roman"/>
                <a:sym typeface="Times New Roman"/>
              </a:rPr>
              <a:t>Traditional Animation (frame by frame)</a:t>
            </a:r>
            <a:endParaRPr/>
          </a:p>
          <a:p>
            <a:pPr indent="0" lvl="0" marL="0" rtl="0" algn="l">
              <a:lnSpc>
                <a:spcPct val="90000"/>
              </a:lnSpc>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p:txBody>
      </p:sp>
      <p:pic>
        <p:nvPicPr>
          <p:cNvPr id="134" name="Google Shape;134;p5"/>
          <p:cNvPicPr preferRelativeResize="0"/>
          <p:nvPr/>
        </p:nvPicPr>
        <p:blipFill rotWithShape="1">
          <a:blip r:embed="rId5">
            <a:alphaModFix/>
          </a:blip>
          <a:srcRect b="0" l="0" r="0" t="0"/>
          <a:stretch/>
        </p:blipFill>
        <p:spPr>
          <a:xfrm>
            <a:off x="8015225" y="521300"/>
            <a:ext cx="1371600" cy="6858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6"/>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100"/>
              <a:buNone/>
            </a:pPr>
            <a:r>
              <a:t/>
            </a:r>
            <a:endParaRPr/>
          </a:p>
          <a:p>
            <a:pPr indent="-38100" lvl="0" marL="171450" rtl="0" algn="l">
              <a:lnSpc>
                <a:spcPct val="90000"/>
              </a:lnSpc>
              <a:spcBef>
                <a:spcPts val="750"/>
              </a:spcBef>
              <a:spcAft>
                <a:spcPts val="0"/>
              </a:spcAft>
              <a:buClr>
                <a:schemeClr val="dk1"/>
              </a:buClr>
              <a:buSzPts val="2100"/>
              <a:buNone/>
            </a:pPr>
            <a:r>
              <a:t/>
            </a:r>
            <a:endParaRPr/>
          </a:p>
        </p:txBody>
      </p:sp>
      <p:pic>
        <p:nvPicPr>
          <p:cNvPr id="140" name="Google Shape;140;p6"/>
          <p:cNvPicPr preferRelativeResize="0"/>
          <p:nvPr/>
        </p:nvPicPr>
        <p:blipFill rotWithShape="1">
          <a:blip r:embed="rId3">
            <a:alphaModFix/>
          </a:blip>
          <a:srcRect b="0" l="0" r="0" t="0"/>
          <a:stretch/>
        </p:blipFill>
        <p:spPr>
          <a:xfrm>
            <a:off x="285432" y="1825625"/>
            <a:ext cx="8573135" cy="3505200"/>
          </a:xfrm>
          <a:prstGeom prst="rect">
            <a:avLst/>
          </a:prstGeom>
          <a:noFill/>
          <a:ln>
            <a:noFill/>
          </a:ln>
        </p:spPr>
      </p:pic>
      <p:sp>
        <p:nvSpPr>
          <p:cNvPr id="141" name="Google Shape;141;p6"/>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CSE, Daffodil International University</a:t>
            </a:r>
            <a:endParaRPr/>
          </a:p>
        </p:txBody>
      </p:sp>
      <p:sp>
        <p:nvSpPr>
          <p:cNvPr id="142" name="Google Shape;142;p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3" name="Google Shape;143;p6"/>
          <p:cNvSpPr txBox="1"/>
          <p:nvPr>
            <p:ph type="title"/>
          </p:nvPr>
        </p:nvSpPr>
        <p:spPr>
          <a:xfrm>
            <a:off x="401425" y="344450"/>
            <a:ext cx="7886700" cy="1039500"/>
          </a:xfrm>
          <a:prstGeom prst="rect">
            <a:avLst/>
          </a:prstGeom>
          <a:solidFill>
            <a:schemeClr val="accent1"/>
          </a:solid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a:p>
            <a:pPr indent="0" lvl="0" marL="0" rtl="0" algn="l">
              <a:spcBef>
                <a:spcPts val="0"/>
              </a:spcBef>
              <a:spcAft>
                <a:spcPts val="0"/>
              </a:spcAft>
              <a:buClr>
                <a:schemeClr val="dk1"/>
              </a:buClr>
              <a:buSzPct val="100000"/>
              <a:buFont typeface="Times New Roman"/>
              <a:buNone/>
            </a:pPr>
            <a:r>
              <a:rPr b="1" lang="en-US">
                <a:latin typeface="Times New Roman"/>
                <a:ea typeface="Times New Roman"/>
                <a:cs typeface="Times New Roman"/>
                <a:sym typeface="Times New Roman"/>
              </a:rPr>
              <a:t>Traditional Animation (frame by frame)</a:t>
            </a:r>
            <a:endParaRPr/>
          </a:p>
          <a:p>
            <a:pPr indent="0" lvl="0" marL="0" rtl="0" algn="l">
              <a:lnSpc>
                <a:spcPct val="90000"/>
              </a:lnSpc>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p:txBody>
      </p:sp>
      <p:pic>
        <p:nvPicPr>
          <p:cNvPr id="144" name="Google Shape;144;p6"/>
          <p:cNvPicPr preferRelativeResize="0"/>
          <p:nvPr/>
        </p:nvPicPr>
        <p:blipFill rotWithShape="1">
          <a:blip r:embed="rId4">
            <a:alphaModFix/>
          </a:blip>
          <a:srcRect b="0" l="0" r="0" t="0"/>
          <a:stretch/>
        </p:blipFill>
        <p:spPr>
          <a:xfrm>
            <a:off x="8015225" y="521300"/>
            <a:ext cx="1371600" cy="6858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7"/>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Key-frame animation defines </a:t>
            </a:r>
            <a:r>
              <a:rPr b="1" lang="en-US" sz="2400">
                <a:latin typeface="Times New Roman"/>
                <a:ea typeface="Times New Roman"/>
                <a:cs typeface="Times New Roman"/>
                <a:sym typeface="Times New Roman"/>
              </a:rPr>
              <a:t>important frames (key frames)</a:t>
            </a:r>
            <a:r>
              <a:rPr lang="en-US" sz="2400">
                <a:latin typeface="Times New Roman"/>
                <a:ea typeface="Times New Roman"/>
                <a:cs typeface="Times New Roman"/>
                <a:sym typeface="Times New Roman"/>
              </a:rPr>
              <a:t>, and the computer automatically generates the </a:t>
            </a:r>
            <a:r>
              <a:rPr b="1" lang="en-US" sz="2400">
                <a:latin typeface="Times New Roman"/>
                <a:ea typeface="Times New Roman"/>
                <a:cs typeface="Times New Roman"/>
                <a:sym typeface="Times New Roman"/>
              </a:rPr>
              <a:t>in-between frames</a:t>
            </a:r>
            <a:r>
              <a:rPr lang="en-US" sz="2400">
                <a:latin typeface="Times New Roman"/>
                <a:ea typeface="Times New Roman"/>
                <a:cs typeface="Times New Roman"/>
                <a:sym typeface="Times New Roman"/>
              </a:rPr>
              <a:t> (in-betweening).</a:t>
            </a:r>
            <a:endParaRPr/>
          </a:p>
          <a:p>
            <a:pPr indent="0" lvl="0" marL="0" rtl="0" algn="l">
              <a:lnSpc>
                <a:spcPct val="90000"/>
              </a:lnSpc>
              <a:spcBef>
                <a:spcPts val="750"/>
              </a:spcBef>
              <a:spcAft>
                <a:spcPts val="0"/>
              </a:spcAft>
              <a:buClr>
                <a:schemeClr val="dk1"/>
              </a:buClr>
              <a:buSzPts val="2400"/>
              <a:buNone/>
            </a:pPr>
            <a:r>
              <a:t/>
            </a:r>
            <a:endParaRPr sz="2400">
              <a:latin typeface="Times New Roman"/>
              <a:ea typeface="Times New Roman"/>
              <a:cs typeface="Times New Roman"/>
              <a:sym typeface="Times New Roman"/>
            </a:endParaRPr>
          </a:p>
          <a:p>
            <a:pPr indent="-171450" lvl="1" marL="514350" rtl="0" algn="l">
              <a:lnSpc>
                <a:spcPct val="90000"/>
              </a:lnSpc>
              <a:spcBef>
                <a:spcPts val="375"/>
              </a:spcBef>
              <a:spcAft>
                <a:spcPts val="0"/>
              </a:spcAft>
              <a:buClr>
                <a:schemeClr val="dk1"/>
              </a:buClr>
              <a:buSzPts val="2400"/>
              <a:buChar char="•"/>
            </a:pPr>
            <a:r>
              <a:rPr lang="en-US" sz="2400">
                <a:latin typeface="Times New Roman"/>
                <a:ea typeface="Times New Roman"/>
                <a:cs typeface="Times New Roman"/>
                <a:sym typeface="Times New Roman"/>
              </a:rPr>
              <a:t>Animator defines </a:t>
            </a:r>
            <a:r>
              <a:rPr b="1" lang="en-US" sz="2400">
                <a:latin typeface="Times New Roman"/>
                <a:ea typeface="Times New Roman"/>
                <a:cs typeface="Times New Roman"/>
                <a:sym typeface="Times New Roman"/>
              </a:rPr>
              <a:t>key frames</a:t>
            </a:r>
            <a:endParaRPr sz="2400">
              <a:latin typeface="Times New Roman"/>
              <a:ea typeface="Times New Roman"/>
              <a:cs typeface="Times New Roman"/>
              <a:sym typeface="Times New Roman"/>
            </a:endParaRPr>
          </a:p>
          <a:p>
            <a:pPr indent="-171450" lvl="1" marL="514350" rtl="0" algn="l">
              <a:lnSpc>
                <a:spcPct val="90000"/>
              </a:lnSpc>
              <a:spcBef>
                <a:spcPts val="375"/>
              </a:spcBef>
              <a:spcAft>
                <a:spcPts val="0"/>
              </a:spcAft>
              <a:buClr>
                <a:schemeClr val="dk1"/>
              </a:buClr>
              <a:buSzPts val="2400"/>
              <a:buChar char="•"/>
            </a:pPr>
            <a:r>
              <a:rPr lang="en-US" sz="2400">
                <a:latin typeface="Times New Roman"/>
                <a:ea typeface="Times New Roman"/>
                <a:cs typeface="Times New Roman"/>
                <a:sym typeface="Times New Roman"/>
              </a:rPr>
              <a:t>Computer generates </a:t>
            </a:r>
            <a:r>
              <a:rPr b="1" lang="en-US" sz="2400">
                <a:latin typeface="Times New Roman"/>
                <a:ea typeface="Times New Roman"/>
                <a:cs typeface="Times New Roman"/>
                <a:sym typeface="Times New Roman"/>
              </a:rPr>
              <a:t>in-between frames</a:t>
            </a:r>
            <a:endParaRPr sz="2400">
              <a:latin typeface="Times New Roman"/>
              <a:ea typeface="Times New Roman"/>
              <a:cs typeface="Times New Roman"/>
              <a:sym typeface="Times New Roman"/>
            </a:endParaRPr>
          </a:p>
          <a:p>
            <a:pPr indent="-171450" lvl="1" marL="514350" rtl="0" algn="l">
              <a:lnSpc>
                <a:spcPct val="90000"/>
              </a:lnSpc>
              <a:spcBef>
                <a:spcPts val="375"/>
              </a:spcBef>
              <a:spcAft>
                <a:spcPts val="0"/>
              </a:spcAft>
              <a:buClr>
                <a:schemeClr val="dk1"/>
              </a:buClr>
              <a:buSzPts val="2400"/>
              <a:buChar char="•"/>
            </a:pPr>
            <a:r>
              <a:rPr lang="en-US" sz="2400">
                <a:latin typeface="Times New Roman"/>
                <a:ea typeface="Times New Roman"/>
                <a:cs typeface="Times New Roman"/>
                <a:sym typeface="Times New Roman"/>
              </a:rPr>
              <a:t>Uses interpolation</a:t>
            </a:r>
            <a:endParaRPr/>
          </a:p>
          <a:p>
            <a:pPr indent="-171450" lvl="1" marL="514350" rtl="0" algn="l">
              <a:lnSpc>
                <a:spcPct val="90000"/>
              </a:lnSpc>
              <a:spcBef>
                <a:spcPts val="375"/>
              </a:spcBef>
              <a:spcAft>
                <a:spcPts val="0"/>
              </a:spcAft>
              <a:buClr>
                <a:schemeClr val="dk1"/>
              </a:buClr>
              <a:buSzPts val="2400"/>
              <a:buChar char="•"/>
            </a:pPr>
            <a:r>
              <a:rPr lang="en-US" sz="2400">
                <a:latin typeface="Times New Roman"/>
                <a:ea typeface="Times New Roman"/>
                <a:cs typeface="Times New Roman"/>
                <a:sym typeface="Times New Roman"/>
              </a:rPr>
              <a:t>Most common CG animation method</a:t>
            </a:r>
            <a:endParaRPr/>
          </a:p>
          <a:p>
            <a:pPr indent="0" lvl="1" marL="342900" rtl="0" algn="l">
              <a:lnSpc>
                <a:spcPct val="90000"/>
              </a:lnSpc>
              <a:spcBef>
                <a:spcPts val="375"/>
              </a:spcBef>
              <a:spcAft>
                <a:spcPts val="0"/>
              </a:spcAft>
              <a:buClr>
                <a:schemeClr val="dk1"/>
              </a:buClr>
              <a:buSzPts val="2400"/>
              <a:buNone/>
            </a:pPr>
            <a:r>
              <a:t/>
            </a:r>
            <a:endParaRPr sz="2400">
              <a:latin typeface="Times New Roman"/>
              <a:ea typeface="Times New Roman"/>
              <a:cs typeface="Times New Roman"/>
              <a:sym typeface="Times New Roman"/>
            </a:endParaRPr>
          </a:p>
          <a:p>
            <a:pPr indent="-171450" lvl="0" marL="171450" rtl="0" algn="l">
              <a:lnSpc>
                <a:spcPct val="90000"/>
              </a:lnSpc>
              <a:spcBef>
                <a:spcPts val="750"/>
              </a:spcBef>
              <a:spcAft>
                <a:spcPts val="0"/>
              </a:spcAft>
              <a:buClr>
                <a:schemeClr val="dk1"/>
              </a:buClr>
              <a:buSzPts val="2400"/>
              <a:buChar char="•"/>
            </a:pPr>
            <a:r>
              <a:rPr b="1" lang="en-US" sz="2400">
                <a:latin typeface="Times New Roman"/>
                <a:ea typeface="Times New Roman"/>
                <a:cs typeface="Times New Roman"/>
                <a:sym typeface="Times New Roman"/>
              </a:rPr>
              <a:t>Example:</a:t>
            </a:r>
            <a:r>
              <a:rPr lang="en-US" sz="2400">
                <a:latin typeface="Times New Roman"/>
                <a:ea typeface="Times New Roman"/>
                <a:cs typeface="Times New Roman"/>
                <a:sym typeface="Times New Roman"/>
              </a:rPr>
              <a:t> Bouncing ball animation</a:t>
            </a:r>
            <a:endParaRPr/>
          </a:p>
          <a:p>
            <a:pPr indent="-38100" lvl="0" marL="171450" rtl="0" algn="l">
              <a:lnSpc>
                <a:spcPct val="90000"/>
              </a:lnSpc>
              <a:spcBef>
                <a:spcPts val="750"/>
              </a:spcBef>
              <a:spcAft>
                <a:spcPts val="0"/>
              </a:spcAft>
              <a:buClr>
                <a:schemeClr val="dk1"/>
              </a:buClr>
              <a:buSzPts val="2100"/>
              <a:buNone/>
            </a:pPr>
            <a:r>
              <a:t/>
            </a:r>
            <a:endParaRPr/>
          </a:p>
        </p:txBody>
      </p:sp>
      <p:sp>
        <p:nvSpPr>
          <p:cNvPr id="150" name="Google Shape;150;p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CSE, Daffodil International University</a:t>
            </a:r>
            <a:endParaRPr/>
          </a:p>
        </p:txBody>
      </p:sp>
      <p:sp>
        <p:nvSpPr>
          <p:cNvPr id="151" name="Google Shape;151;p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52" name="Google Shape;152;p7"/>
          <p:cNvSpPr txBox="1"/>
          <p:nvPr>
            <p:ph type="title"/>
          </p:nvPr>
        </p:nvSpPr>
        <p:spPr>
          <a:xfrm>
            <a:off x="401425" y="344450"/>
            <a:ext cx="7886700" cy="1039500"/>
          </a:xfrm>
          <a:prstGeom prst="rect">
            <a:avLst/>
          </a:prstGeom>
          <a:solidFill>
            <a:schemeClr val="accent1"/>
          </a:solid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a:p>
            <a:pPr indent="0" lvl="0" marL="0" rtl="0" algn="l">
              <a:spcBef>
                <a:spcPts val="0"/>
              </a:spcBef>
              <a:spcAft>
                <a:spcPts val="0"/>
              </a:spcAft>
              <a:buClr>
                <a:schemeClr val="dk1"/>
              </a:buClr>
              <a:buSzPct val="100000"/>
              <a:buFont typeface="Times New Roman"/>
              <a:buNone/>
            </a:pPr>
            <a:r>
              <a:rPr b="1" lang="en-US">
                <a:latin typeface="Times New Roman"/>
                <a:ea typeface="Times New Roman"/>
                <a:cs typeface="Times New Roman"/>
                <a:sym typeface="Times New Roman"/>
              </a:rPr>
              <a:t>Key-Frame Animation</a:t>
            </a:r>
            <a:endParaRPr b="1">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p:txBody>
      </p:sp>
      <p:pic>
        <p:nvPicPr>
          <p:cNvPr id="153" name="Google Shape;153;p7"/>
          <p:cNvPicPr preferRelativeResize="0"/>
          <p:nvPr/>
        </p:nvPicPr>
        <p:blipFill rotWithShape="1">
          <a:blip r:embed="rId3">
            <a:alphaModFix/>
          </a:blip>
          <a:srcRect b="0" l="0" r="0" t="0"/>
          <a:stretch/>
        </p:blipFill>
        <p:spPr>
          <a:xfrm>
            <a:off x="8015225" y="521300"/>
            <a:ext cx="1371600" cy="6858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pic>
        <p:nvPicPr>
          <p:cNvPr id="158" name="Google Shape;158;p8"/>
          <p:cNvPicPr preferRelativeResize="0"/>
          <p:nvPr>
            <p:ph idx="1" type="body"/>
          </p:nvPr>
        </p:nvPicPr>
        <p:blipFill rotWithShape="1">
          <a:blip r:embed="rId3">
            <a:alphaModFix/>
          </a:blip>
          <a:srcRect b="0" l="0" r="0" t="0"/>
          <a:stretch/>
        </p:blipFill>
        <p:spPr>
          <a:xfrm>
            <a:off x="762000" y="2438400"/>
            <a:ext cx="7818120" cy="2057400"/>
          </a:xfrm>
          <a:prstGeom prst="rect">
            <a:avLst/>
          </a:prstGeom>
          <a:noFill/>
          <a:ln>
            <a:noFill/>
          </a:ln>
        </p:spPr>
      </p:pic>
      <p:sp>
        <p:nvSpPr>
          <p:cNvPr id="159" name="Google Shape;159;p8"/>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CSE, Daffodil International University</a:t>
            </a:r>
            <a:endParaRPr/>
          </a:p>
        </p:txBody>
      </p:sp>
      <p:sp>
        <p:nvSpPr>
          <p:cNvPr id="160" name="Google Shape;160;p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61" name="Google Shape;161;p8"/>
          <p:cNvSpPr txBox="1"/>
          <p:nvPr>
            <p:ph type="title"/>
          </p:nvPr>
        </p:nvSpPr>
        <p:spPr>
          <a:xfrm>
            <a:off x="401425" y="344450"/>
            <a:ext cx="7886700" cy="1039500"/>
          </a:xfrm>
          <a:prstGeom prst="rect">
            <a:avLst/>
          </a:prstGeom>
          <a:solidFill>
            <a:schemeClr val="accent1"/>
          </a:solid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a:p>
            <a:pPr indent="0" lvl="0" marL="0" rtl="0" algn="l">
              <a:spcBef>
                <a:spcPts val="0"/>
              </a:spcBef>
              <a:spcAft>
                <a:spcPts val="0"/>
              </a:spcAft>
              <a:buClr>
                <a:schemeClr val="dk1"/>
              </a:buClr>
              <a:buSzPct val="100000"/>
              <a:buFont typeface="Times New Roman"/>
              <a:buNone/>
            </a:pPr>
            <a:r>
              <a:rPr b="1" lang="en-US">
                <a:latin typeface="Times New Roman"/>
                <a:ea typeface="Times New Roman"/>
                <a:cs typeface="Times New Roman"/>
                <a:sym typeface="Times New Roman"/>
              </a:rPr>
              <a:t>Key-Frame Animation</a:t>
            </a:r>
            <a:endParaRPr b="1">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p:txBody>
      </p:sp>
      <p:pic>
        <p:nvPicPr>
          <p:cNvPr id="162" name="Google Shape;162;p8"/>
          <p:cNvPicPr preferRelativeResize="0"/>
          <p:nvPr/>
        </p:nvPicPr>
        <p:blipFill rotWithShape="1">
          <a:blip r:embed="rId4">
            <a:alphaModFix/>
          </a:blip>
          <a:srcRect b="0" l="0" r="0" t="0"/>
          <a:stretch/>
        </p:blipFill>
        <p:spPr>
          <a:xfrm>
            <a:off x="8015225" y="521300"/>
            <a:ext cx="1371600" cy="6858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9"/>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Procedural animation generates motion using </a:t>
            </a:r>
            <a:r>
              <a:rPr b="1" lang="en-US" sz="2400">
                <a:latin typeface="Times New Roman"/>
                <a:ea typeface="Times New Roman"/>
                <a:cs typeface="Times New Roman"/>
                <a:sym typeface="Times New Roman"/>
              </a:rPr>
              <a:t>mathematical rules, algorithms, or procedures</a:t>
            </a:r>
            <a:r>
              <a:rPr lang="en-US" sz="2400">
                <a:latin typeface="Times New Roman"/>
                <a:ea typeface="Times New Roman"/>
                <a:cs typeface="Times New Roman"/>
                <a:sym typeface="Times New Roman"/>
              </a:rPr>
              <a:t> instead of manually defining frames.</a:t>
            </a:r>
            <a:endParaRPr/>
          </a:p>
          <a:p>
            <a:pPr indent="-19050" lvl="0" marL="171450" rtl="0" algn="l">
              <a:lnSpc>
                <a:spcPct val="90000"/>
              </a:lnSpc>
              <a:spcBef>
                <a:spcPts val="750"/>
              </a:spcBef>
              <a:spcAft>
                <a:spcPts val="0"/>
              </a:spcAft>
              <a:buClr>
                <a:schemeClr val="dk1"/>
              </a:buClr>
              <a:buSzPts val="2400"/>
              <a:buNone/>
            </a:pPr>
            <a:r>
              <a:t/>
            </a:r>
            <a:endParaRPr sz="2400">
              <a:latin typeface="Times New Roman"/>
              <a:ea typeface="Times New Roman"/>
              <a:cs typeface="Times New Roman"/>
              <a:sym typeface="Times New Roman"/>
            </a:endParaRPr>
          </a:p>
          <a:p>
            <a:pPr indent="-171450" lvl="1" marL="514350" rtl="0" algn="l">
              <a:lnSpc>
                <a:spcPct val="90000"/>
              </a:lnSpc>
              <a:spcBef>
                <a:spcPts val="375"/>
              </a:spcBef>
              <a:spcAft>
                <a:spcPts val="0"/>
              </a:spcAft>
              <a:buClr>
                <a:schemeClr val="dk1"/>
              </a:buClr>
              <a:buSzPts val="2400"/>
              <a:buChar char="•"/>
            </a:pPr>
            <a:r>
              <a:rPr lang="en-US" sz="2400">
                <a:latin typeface="Times New Roman"/>
                <a:ea typeface="Times New Roman"/>
                <a:cs typeface="Times New Roman"/>
                <a:sym typeface="Times New Roman"/>
              </a:rPr>
              <a:t>Motion generated using </a:t>
            </a:r>
            <a:r>
              <a:rPr b="1" lang="en-US" sz="2400">
                <a:latin typeface="Times New Roman"/>
                <a:ea typeface="Times New Roman"/>
                <a:cs typeface="Times New Roman"/>
                <a:sym typeface="Times New Roman"/>
              </a:rPr>
              <a:t>algorithms or rules</a:t>
            </a:r>
            <a:endParaRPr sz="2400">
              <a:latin typeface="Times New Roman"/>
              <a:ea typeface="Times New Roman"/>
              <a:cs typeface="Times New Roman"/>
              <a:sym typeface="Times New Roman"/>
            </a:endParaRPr>
          </a:p>
          <a:p>
            <a:pPr indent="-171450" lvl="1" marL="514350" rtl="0" algn="l">
              <a:lnSpc>
                <a:spcPct val="90000"/>
              </a:lnSpc>
              <a:spcBef>
                <a:spcPts val="375"/>
              </a:spcBef>
              <a:spcAft>
                <a:spcPts val="0"/>
              </a:spcAft>
              <a:buClr>
                <a:schemeClr val="dk1"/>
              </a:buClr>
              <a:buSzPts val="2400"/>
              <a:buChar char="•"/>
            </a:pPr>
            <a:r>
              <a:rPr lang="en-US" sz="2400">
                <a:latin typeface="Times New Roman"/>
                <a:ea typeface="Times New Roman"/>
                <a:cs typeface="Times New Roman"/>
                <a:sym typeface="Times New Roman"/>
              </a:rPr>
              <a:t>No manual frame definition</a:t>
            </a:r>
            <a:endParaRPr/>
          </a:p>
          <a:p>
            <a:pPr indent="-171450" lvl="1" marL="514350" rtl="0" algn="l">
              <a:lnSpc>
                <a:spcPct val="90000"/>
              </a:lnSpc>
              <a:spcBef>
                <a:spcPts val="375"/>
              </a:spcBef>
              <a:spcAft>
                <a:spcPts val="0"/>
              </a:spcAft>
              <a:buClr>
                <a:schemeClr val="dk1"/>
              </a:buClr>
              <a:buSzPts val="2400"/>
              <a:buChar char="•"/>
            </a:pPr>
            <a:r>
              <a:rPr lang="en-US" sz="2400">
                <a:latin typeface="Times New Roman"/>
                <a:ea typeface="Times New Roman"/>
                <a:cs typeface="Times New Roman"/>
                <a:sym typeface="Times New Roman"/>
              </a:rPr>
              <a:t>Efficient for repetitive motion</a:t>
            </a:r>
            <a:endParaRPr/>
          </a:p>
          <a:p>
            <a:pPr indent="0" lvl="1" marL="342900" rtl="0" algn="l">
              <a:lnSpc>
                <a:spcPct val="90000"/>
              </a:lnSpc>
              <a:spcBef>
                <a:spcPts val="375"/>
              </a:spcBef>
              <a:spcAft>
                <a:spcPts val="0"/>
              </a:spcAft>
              <a:buClr>
                <a:schemeClr val="dk1"/>
              </a:buClr>
              <a:buSzPts val="2400"/>
              <a:buNone/>
            </a:pPr>
            <a:r>
              <a:t/>
            </a:r>
            <a:endParaRPr sz="2400">
              <a:latin typeface="Times New Roman"/>
              <a:ea typeface="Times New Roman"/>
              <a:cs typeface="Times New Roman"/>
              <a:sym typeface="Times New Roman"/>
            </a:endParaRPr>
          </a:p>
          <a:p>
            <a:pPr indent="-171450" lvl="0" marL="171450" rtl="0" algn="l">
              <a:lnSpc>
                <a:spcPct val="90000"/>
              </a:lnSpc>
              <a:spcBef>
                <a:spcPts val="750"/>
              </a:spcBef>
              <a:spcAft>
                <a:spcPts val="0"/>
              </a:spcAft>
              <a:buClr>
                <a:schemeClr val="dk1"/>
              </a:buClr>
              <a:buSzPts val="2400"/>
              <a:buChar char="•"/>
            </a:pPr>
            <a:r>
              <a:rPr b="1" lang="en-US" sz="2400">
                <a:latin typeface="Times New Roman"/>
                <a:ea typeface="Times New Roman"/>
                <a:cs typeface="Times New Roman"/>
                <a:sym typeface="Times New Roman"/>
              </a:rPr>
              <a:t>Example:</a:t>
            </a:r>
            <a:r>
              <a:rPr lang="en-US" sz="2400">
                <a:latin typeface="Times New Roman"/>
                <a:ea typeface="Times New Roman"/>
                <a:cs typeface="Times New Roman"/>
                <a:sym typeface="Times New Roman"/>
              </a:rPr>
              <a:t> Waves, fire, rotating objects</a:t>
            </a:r>
            <a:endParaRPr/>
          </a:p>
          <a:p>
            <a:pPr indent="0" lvl="0" marL="0" rtl="0" algn="l">
              <a:lnSpc>
                <a:spcPct val="90000"/>
              </a:lnSpc>
              <a:spcBef>
                <a:spcPts val="750"/>
              </a:spcBef>
              <a:spcAft>
                <a:spcPts val="0"/>
              </a:spcAft>
              <a:buClr>
                <a:schemeClr val="dk1"/>
              </a:buClr>
              <a:buSzPts val="2100"/>
              <a:buNone/>
            </a:pPr>
            <a:r>
              <a:t/>
            </a:r>
            <a:endParaRPr>
              <a:latin typeface="Times New Roman"/>
              <a:ea typeface="Times New Roman"/>
              <a:cs typeface="Times New Roman"/>
              <a:sym typeface="Times New Roman"/>
            </a:endParaRPr>
          </a:p>
          <a:p>
            <a:pPr indent="-38100" lvl="0" marL="171450" rtl="0" algn="l">
              <a:lnSpc>
                <a:spcPct val="90000"/>
              </a:lnSpc>
              <a:spcBef>
                <a:spcPts val="750"/>
              </a:spcBef>
              <a:spcAft>
                <a:spcPts val="0"/>
              </a:spcAft>
              <a:buClr>
                <a:schemeClr val="dk1"/>
              </a:buClr>
              <a:buSzPts val="2100"/>
              <a:buNone/>
            </a:pPr>
            <a:r>
              <a:t/>
            </a:r>
            <a:endParaRPr>
              <a:latin typeface="Times New Roman"/>
              <a:ea typeface="Times New Roman"/>
              <a:cs typeface="Times New Roman"/>
              <a:sym typeface="Times New Roman"/>
            </a:endParaRPr>
          </a:p>
        </p:txBody>
      </p:sp>
      <p:sp>
        <p:nvSpPr>
          <p:cNvPr id="168" name="Google Shape;168;p9"/>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CSE, Daffodil International University</a:t>
            </a:r>
            <a:endParaRPr/>
          </a:p>
        </p:txBody>
      </p:sp>
      <p:sp>
        <p:nvSpPr>
          <p:cNvPr id="169" name="Google Shape;169;p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70" name="Google Shape;170;p9"/>
          <p:cNvSpPr txBox="1"/>
          <p:nvPr>
            <p:ph type="title"/>
          </p:nvPr>
        </p:nvSpPr>
        <p:spPr>
          <a:xfrm>
            <a:off x="401425" y="344450"/>
            <a:ext cx="7886700" cy="1039500"/>
          </a:xfrm>
          <a:prstGeom prst="rect">
            <a:avLst/>
          </a:prstGeom>
          <a:solidFill>
            <a:schemeClr val="accent1"/>
          </a:solid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a:p>
            <a:pPr indent="0" lvl="0" marL="0" rtl="0" algn="l">
              <a:spcBef>
                <a:spcPts val="0"/>
              </a:spcBef>
              <a:spcAft>
                <a:spcPts val="0"/>
              </a:spcAft>
              <a:buClr>
                <a:schemeClr val="dk1"/>
              </a:buClr>
              <a:buSzPct val="100000"/>
              <a:buFont typeface="Times New Roman"/>
              <a:buNone/>
            </a:pPr>
            <a:r>
              <a:rPr b="1" lang="en-US">
                <a:latin typeface="Times New Roman"/>
                <a:ea typeface="Times New Roman"/>
                <a:cs typeface="Times New Roman"/>
                <a:sym typeface="Times New Roman"/>
              </a:rPr>
              <a:t>Procedural Animation</a:t>
            </a:r>
            <a:endParaRPr b="1">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p:txBody>
      </p:sp>
      <p:pic>
        <p:nvPicPr>
          <p:cNvPr id="171" name="Google Shape;171;p9"/>
          <p:cNvPicPr preferRelativeResize="0"/>
          <p:nvPr/>
        </p:nvPicPr>
        <p:blipFill rotWithShape="1">
          <a:blip r:embed="rId3">
            <a:alphaModFix/>
          </a:blip>
          <a:srcRect b="0" l="0" r="0" t="0"/>
          <a:stretch/>
        </p:blipFill>
        <p:spPr>
          <a:xfrm>
            <a:off x="8015225" y="521300"/>
            <a:ext cx="1371600" cy="6858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pic>
        <p:nvPicPr>
          <p:cNvPr id="176" name="Google Shape;176;p10"/>
          <p:cNvPicPr preferRelativeResize="0"/>
          <p:nvPr>
            <p:ph idx="1" type="body"/>
          </p:nvPr>
        </p:nvPicPr>
        <p:blipFill rotWithShape="1">
          <a:blip r:embed="rId3">
            <a:alphaModFix/>
          </a:blip>
          <a:srcRect b="0" l="0" r="0" t="0"/>
          <a:stretch/>
        </p:blipFill>
        <p:spPr>
          <a:xfrm>
            <a:off x="1524000" y="1690689"/>
            <a:ext cx="5801784" cy="4351338"/>
          </a:xfrm>
          <a:prstGeom prst="rect">
            <a:avLst/>
          </a:prstGeom>
          <a:noFill/>
          <a:ln>
            <a:noFill/>
          </a:ln>
        </p:spPr>
      </p:pic>
      <p:sp>
        <p:nvSpPr>
          <p:cNvPr id="177" name="Google Shape;177;p10"/>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CSE, Daffodil International University</a:t>
            </a:r>
            <a:endParaRPr/>
          </a:p>
        </p:txBody>
      </p:sp>
      <p:sp>
        <p:nvSpPr>
          <p:cNvPr id="178" name="Google Shape;178;p1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79" name="Google Shape;179;p10"/>
          <p:cNvSpPr txBox="1"/>
          <p:nvPr>
            <p:ph type="title"/>
          </p:nvPr>
        </p:nvSpPr>
        <p:spPr>
          <a:xfrm>
            <a:off x="401425" y="344450"/>
            <a:ext cx="7886700" cy="1039500"/>
          </a:xfrm>
          <a:prstGeom prst="rect">
            <a:avLst/>
          </a:prstGeom>
          <a:solidFill>
            <a:schemeClr val="accent1"/>
          </a:solid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a:p>
            <a:pPr indent="0" lvl="0" marL="0" rtl="0" algn="l">
              <a:spcBef>
                <a:spcPts val="0"/>
              </a:spcBef>
              <a:spcAft>
                <a:spcPts val="0"/>
              </a:spcAft>
              <a:buClr>
                <a:schemeClr val="dk1"/>
              </a:buClr>
              <a:buSzPct val="100000"/>
              <a:buFont typeface="Times New Roman"/>
              <a:buNone/>
            </a:pPr>
            <a:r>
              <a:rPr b="1" lang="en-US">
                <a:latin typeface="Times New Roman"/>
                <a:ea typeface="Times New Roman"/>
                <a:cs typeface="Times New Roman"/>
                <a:sym typeface="Times New Roman"/>
              </a:rPr>
              <a:t>Procedural Animation</a:t>
            </a:r>
            <a:endParaRPr b="1">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p:txBody>
      </p:sp>
      <p:pic>
        <p:nvPicPr>
          <p:cNvPr id="180" name="Google Shape;180;p10"/>
          <p:cNvPicPr preferRelativeResize="0"/>
          <p:nvPr/>
        </p:nvPicPr>
        <p:blipFill rotWithShape="1">
          <a:blip r:embed="rId4">
            <a:alphaModFix/>
          </a:blip>
          <a:srcRect b="0" l="0" r="0" t="0"/>
          <a:stretch/>
        </p:blipFill>
        <p:spPr>
          <a:xfrm>
            <a:off x="8015225" y="521300"/>
            <a:ext cx="1371600" cy="6858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1"/>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Behavioral animation models </a:t>
            </a:r>
            <a:r>
              <a:rPr b="1" lang="en-US" sz="2400">
                <a:latin typeface="Times New Roman"/>
                <a:ea typeface="Times New Roman"/>
                <a:cs typeface="Times New Roman"/>
                <a:sym typeface="Times New Roman"/>
              </a:rPr>
              <a:t>autonomous behavior</a:t>
            </a:r>
            <a:r>
              <a:rPr lang="en-US" sz="2400">
                <a:latin typeface="Times New Roman"/>
                <a:ea typeface="Times New Roman"/>
                <a:cs typeface="Times New Roman"/>
                <a:sym typeface="Times New Roman"/>
              </a:rPr>
              <a:t> of objects based on rules and interaction with the environment.</a:t>
            </a:r>
            <a:endParaRPr/>
          </a:p>
          <a:p>
            <a:pPr indent="-19050" lvl="0" marL="171450" rtl="0" algn="l">
              <a:lnSpc>
                <a:spcPct val="90000"/>
              </a:lnSpc>
              <a:spcBef>
                <a:spcPts val="750"/>
              </a:spcBef>
              <a:spcAft>
                <a:spcPts val="0"/>
              </a:spcAft>
              <a:buClr>
                <a:schemeClr val="dk1"/>
              </a:buClr>
              <a:buSzPts val="2400"/>
              <a:buNone/>
            </a:pPr>
            <a:r>
              <a:t/>
            </a:r>
            <a:endParaRPr sz="2400">
              <a:latin typeface="Times New Roman"/>
              <a:ea typeface="Times New Roman"/>
              <a:cs typeface="Times New Roman"/>
              <a:sym typeface="Times New Roman"/>
            </a:endParaRPr>
          </a:p>
          <a:p>
            <a:pPr indent="-171450" lvl="1" marL="514350" rtl="0" algn="l">
              <a:lnSpc>
                <a:spcPct val="90000"/>
              </a:lnSpc>
              <a:spcBef>
                <a:spcPts val="375"/>
              </a:spcBef>
              <a:spcAft>
                <a:spcPts val="0"/>
              </a:spcAft>
              <a:buClr>
                <a:schemeClr val="dk1"/>
              </a:buClr>
              <a:buSzPts val="2400"/>
              <a:buChar char="•"/>
            </a:pPr>
            <a:r>
              <a:rPr lang="en-US" sz="2400">
                <a:latin typeface="Times New Roman"/>
                <a:ea typeface="Times New Roman"/>
                <a:cs typeface="Times New Roman"/>
                <a:sym typeface="Times New Roman"/>
              </a:rPr>
              <a:t>Objects act as </a:t>
            </a:r>
            <a:r>
              <a:rPr b="1" lang="en-US" sz="2400">
                <a:latin typeface="Times New Roman"/>
                <a:ea typeface="Times New Roman"/>
                <a:cs typeface="Times New Roman"/>
                <a:sym typeface="Times New Roman"/>
              </a:rPr>
              <a:t>autonomous agents</a:t>
            </a:r>
            <a:endParaRPr sz="2400">
              <a:latin typeface="Times New Roman"/>
              <a:ea typeface="Times New Roman"/>
              <a:cs typeface="Times New Roman"/>
              <a:sym typeface="Times New Roman"/>
            </a:endParaRPr>
          </a:p>
          <a:p>
            <a:pPr indent="-171450" lvl="1" marL="514350" rtl="0" algn="l">
              <a:lnSpc>
                <a:spcPct val="90000"/>
              </a:lnSpc>
              <a:spcBef>
                <a:spcPts val="375"/>
              </a:spcBef>
              <a:spcAft>
                <a:spcPts val="0"/>
              </a:spcAft>
              <a:buClr>
                <a:schemeClr val="dk1"/>
              </a:buClr>
              <a:buSzPts val="2400"/>
              <a:buChar char="•"/>
            </a:pPr>
            <a:r>
              <a:rPr lang="en-US" sz="2400">
                <a:latin typeface="Times New Roman"/>
                <a:ea typeface="Times New Roman"/>
                <a:cs typeface="Times New Roman"/>
                <a:sym typeface="Times New Roman"/>
              </a:rPr>
              <a:t>Motion based on </a:t>
            </a:r>
            <a:r>
              <a:rPr b="1" lang="en-US" sz="2400">
                <a:latin typeface="Times New Roman"/>
                <a:ea typeface="Times New Roman"/>
                <a:cs typeface="Times New Roman"/>
                <a:sym typeface="Times New Roman"/>
              </a:rPr>
              <a:t>rules and goals</a:t>
            </a:r>
            <a:endParaRPr sz="2400">
              <a:latin typeface="Times New Roman"/>
              <a:ea typeface="Times New Roman"/>
              <a:cs typeface="Times New Roman"/>
              <a:sym typeface="Times New Roman"/>
            </a:endParaRPr>
          </a:p>
          <a:p>
            <a:pPr indent="-171450" lvl="1" marL="514350" rtl="0" algn="l">
              <a:lnSpc>
                <a:spcPct val="90000"/>
              </a:lnSpc>
              <a:spcBef>
                <a:spcPts val="375"/>
              </a:spcBef>
              <a:spcAft>
                <a:spcPts val="0"/>
              </a:spcAft>
              <a:buClr>
                <a:schemeClr val="dk1"/>
              </a:buClr>
              <a:buSzPts val="2400"/>
              <a:buChar char="•"/>
            </a:pPr>
            <a:r>
              <a:rPr lang="en-US" sz="2400">
                <a:latin typeface="Times New Roman"/>
                <a:ea typeface="Times New Roman"/>
                <a:cs typeface="Times New Roman"/>
                <a:sym typeface="Times New Roman"/>
              </a:rPr>
              <a:t>Interaction with environment</a:t>
            </a:r>
            <a:endParaRPr/>
          </a:p>
          <a:p>
            <a:pPr indent="0" lvl="1" marL="342900" rtl="0" algn="l">
              <a:lnSpc>
                <a:spcPct val="90000"/>
              </a:lnSpc>
              <a:spcBef>
                <a:spcPts val="375"/>
              </a:spcBef>
              <a:spcAft>
                <a:spcPts val="0"/>
              </a:spcAft>
              <a:buClr>
                <a:schemeClr val="dk1"/>
              </a:buClr>
              <a:buSzPts val="2400"/>
              <a:buNone/>
            </a:pPr>
            <a:r>
              <a:t/>
            </a:r>
            <a:endParaRPr sz="2400">
              <a:latin typeface="Times New Roman"/>
              <a:ea typeface="Times New Roman"/>
              <a:cs typeface="Times New Roman"/>
              <a:sym typeface="Times New Roman"/>
            </a:endParaRPr>
          </a:p>
          <a:p>
            <a:pPr indent="-171450" lvl="0" marL="171450" rtl="0" algn="l">
              <a:lnSpc>
                <a:spcPct val="90000"/>
              </a:lnSpc>
              <a:spcBef>
                <a:spcPts val="750"/>
              </a:spcBef>
              <a:spcAft>
                <a:spcPts val="0"/>
              </a:spcAft>
              <a:buClr>
                <a:schemeClr val="dk1"/>
              </a:buClr>
              <a:buSzPts val="2400"/>
              <a:buChar char="•"/>
            </a:pPr>
            <a:r>
              <a:rPr b="1" lang="en-US" sz="2400">
                <a:latin typeface="Times New Roman"/>
                <a:ea typeface="Times New Roman"/>
                <a:cs typeface="Times New Roman"/>
                <a:sym typeface="Times New Roman"/>
              </a:rPr>
              <a:t>Example:</a:t>
            </a:r>
            <a:r>
              <a:rPr lang="en-US" sz="2400">
                <a:latin typeface="Times New Roman"/>
                <a:ea typeface="Times New Roman"/>
                <a:cs typeface="Times New Roman"/>
                <a:sym typeface="Times New Roman"/>
              </a:rPr>
              <a:t> Bird flocking, crowd movement</a:t>
            </a:r>
            <a:endParaRPr/>
          </a:p>
          <a:p>
            <a:pPr indent="0" lvl="0" marL="0" rtl="0" algn="l">
              <a:lnSpc>
                <a:spcPct val="90000"/>
              </a:lnSpc>
              <a:spcBef>
                <a:spcPts val="750"/>
              </a:spcBef>
              <a:spcAft>
                <a:spcPts val="0"/>
              </a:spcAft>
              <a:buClr>
                <a:schemeClr val="dk1"/>
              </a:buClr>
              <a:buSzPts val="2100"/>
              <a:buNone/>
            </a:pPr>
            <a:r>
              <a:t/>
            </a:r>
            <a:endParaRPr>
              <a:latin typeface="Times New Roman"/>
              <a:ea typeface="Times New Roman"/>
              <a:cs typeface="Times New Roman"/>
              <a:sym typeface="Times New Roman"/>
            </a:endParaRPr>
          </a:p>
        </p:txBody>
      </p:sp>
      <p:sp>
        <p:nvSpPr>
          <p:cNvPr id="186" name="Google Shape;186;p1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CSE, Daffodil International University</a:t>
            </a:r>
            <a:endParaRPr/>
          </a:p>
        </p:txBody>
      </p:sp>
      <p:sp>
        <p:nvSpPr>
          <p:cNvPr id="187" name="Google Shape;187;p1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88" name="Google Shape;188;p11"/>
          <p:cNvSpPr txBox="1"/>
          <p:nvPr>
            <p:ph type="title"/>
          </p:nvPr>
        </p:nvSpPr>
        <p:spPr>
          <a:xfrm>
            <a:off x="401425" y="344450"/>
            <a:ext cx="7886700" cy="1039500"/>
          </a:xfrm>
          <a:prstGeom prst="rect">
            <a:avLst/>
          </a:prstGeom>
          <a:solidFill>
            <a:schemeClr val="accent1"/>
          </a:solid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a:p>
            <a:pPr indent="0" lvl="0" marL="0" rtl="0" algn="l">
              <a:spcBef>
                <a:spcPts val="0"/>
              </a:spcBef>
              <a:spcAft>
                <a:spcPts val="0"/>
              </a:spcAft>
              <a:buClr>
                <a:schemeClr val="dk1"/>
              </a:buClr>
              <a:buSzPct val="100000"/>
              <a:buFont typeface="Times New Roman"/>
              <a:buNone/>
            </a:pPr>
            <a:r>
              <a:rPr b="1" lang="en-US">
                <a:latin typeface="Times New Roman"/>
                <a:ea typeface="Times New Roman"/>
                <a:cs typeface="Times New Roman"/>
                <a:sym typeface="Times New Roman"/>
              </a:rPr>
              <a:t>Behavioral Animation</a:t>
            </a:r>
            <a:endParaRPr b="1">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p:txBody>
      </p:sp>
      <p:pic>
        <p:nvPicPr>
          <p:cNvPr id="189" name="Google Shape;189;p11"/>
          <p:cNvPicPr preferRelativeResize="0"/>
          <p:nvPr/>
        </p:nvPicPr>
        <p:blipFill rotWithShape="1">
          <a:blip r:embed="rId3">
            <a:alphaModFix/>
          </a:blip>
          <a:srcRect b="0" l="0" r="0" t="0"/>
          <a:stretch/>
        </p:blipFill>
        <p:spPr>
          <a:xfrm>
            <a:off x="8015225" y="521300"/>
            <a:ext cx="1371600" cy="6858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pic>
        <p:nvPicPr>
          <p:cNvPr id="194" name="Google Shape;194;p12"/>
          <p:cNvPicPr preferRelativeResize="0"/>
          <p:nvPr>
            <p:ph idx="1" type="body"/>
          </p:nvPr>
        </p:nvPicPr>
        <p:blipFill rotWithShape="1">
          <a:blip r:embed="rId3">
            <a:alphaModFix/>
          </a:blip>
          <a:srcRect b="0" l="0" r="0" t="0"/>
          <a:stretch/>
        </p:blipFill>
        <p:spPr>
          <a:xfrm>
            <a:off x="1828800" y="1690689"/>
            <a:ext cx="5135964" cy="4669980"/>
          </a:xfrm>
          <a:prstGeom prst="rect">
            <a:avLst/>
          </a:prstGeom>
          <a:noFill/>
          <a:ln>
            <a:noFill/>
          </a:ln>
        </p:spPr>
      </p:pic>
      <p:sp>
        <p:nvSpPr>
          <p:cNvPr id="195" name="Google Shape;195;p12"/>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CSE, Daffodil International University</a:t>
            </a:r>
            <a:endParaRPr/>
          </a:p>
        </p:txBody>
      </p:sp>
      <p:sp>
        <p:nvSpPr>
          <p:cNvPr id="196" name="Google Shape;196;p1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97" name="Google Shape;197;p12"/>
          <p:cNvSpPr txBox="1"/>
          <p:nvPr>
            <p:ph type="title"/>
          </p:nvPr>
        </p:nvSpPr>
        <p:spPr>
          <a:xfrm>
            <a:off x="401425" y="344450"/>
            <a:ext cx="7886700" cy="1039500"/>
          </a:xfrm>
          <a:prstGeom prst="rect">
            <a:avLst/>
          </a:prstGeom>
          <a:solidFill>
            <a:schemeClr val="accent1"/>
          </a:solid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a:p>
            <a:pPr indent="0" lvl="0" marL="0" rtl="0" algn="l">
              <a:spcBef>
                <a:spcPts val="0"/>
              </a:spcBef>
              <a:spcAft>
                <a:spcPts val="0"/>
              </a:spcAft>
              <a:buClr>
                <a:schemeClr val="dk1"/>
              </a:buClr>
              <a:buSzPct val="100000"/>
              <a:buFont typeface="Times New Roman"/>
              <a:buNone/>
            </a:pPr>
            <a:r>
              <a:rPr b="1" lang="en-US">
                <a:latin typeface="Times New Roman"/>
                <a:ea typeface="Times New Roman"/>
                <a:cs typeface="Times New Roman"/>
                <a:sym typeface="Times New Roman"/>
              </a:rPr>
              <a:t>Behavioral Animation</a:t>
            </a:r>
            <a:endParaRPr b="1">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p:txBody>
      </p:sp>
      <p:pic>
        <p:nvPicPr>
          <p:cNvPr id="198" name="Google Shape;198;p12"/>
          <p:cNvPicPr preferRelativeResize="0"/>
          <p:nvPr/>
        </p:nvPicPr>
        <p:blipFill rotWithShape="1">
          <a:blip r:embed="rId4">
            <a:alphaModFix/>
          </a:blip>
          <a:srcRect b="0" l="0" r="0" t="0"/>
          <a:stretch/>
        </p:blipFill>
        <p:spPr>
          <a:xfrm>
            <a:off x="8015225" y="521300"/>
            <a:ext cx="1371600" cy="6858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3"/>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Performance-based animation uses </a:t>
            </a:r>
            <a:r>
              <a:rPr b="1" lang="en-US" sz="2400">
                <a:latin typeface="Times New Roman"/>
                <a:ea typeface="Times New Roman"/>
                <a:cs typeface="Times New Roman"/>
                <a:sym typeface="Times New Roman"/>
              </a:rPr>
              <a:t>motion capture data</a:t>
            </a:r>
            <a:r>
              <a:rPr lang="en-US" sz="2400">
                <a:latin typeface="Times New Roman"/>
                <a:ea typeface="Times New Roman"/>
                <a:cs typeface="Times New Roman"/>
                <a:sym typeface="Times New Roman"/>
              </a:rPr>
              <a:t> recorded from a real human or animal to drive animation.</a:t>
            </a:r>
            <a:endParaRPr/>
          </a:p>
          <a:p>
            <a:pPr indent="0" lvl="0" marL="0" rtl="0" algn="l">
              <a:lnSpc>
                <a:spcPct val="90000"/>
              </a:lnSpc>
              <a:spcBef>
                <a:spcPts val="750"/>
              </a:spcBef>
              <a:spcAft>
                <a:spcPts val="0"/>
              </a:spcAft>
              <a:buClr>
                <a:schemeClr val="dk1"/>
              </a:buClr>
              <a:buSzPts val="2400"/>
              <a:buNone/>
            </a:pPr>
            <a:r>
              <a:t/>
            </a:r>
            <a:endParaRPr sz="2400">
              <a:latin typeface="Times New Roman"/>
              <a:ea typeface="Times New Roman"/>
              <a:cs typeface="Times New Roman"/>
              <a:sym typeface="Times New Roman"/>
            </a:endParaRPr>
          </a:p>
          <a:p>
            <a:pPr indent="-171450" lvl="1" marL="514350" rtl="0" algn="l">
              <a:lnSpc>
                <a:spcPct val="90000"/>
              </a:lnSpc>
              <a:spcBef>
                <a:spcPts val="375"/>
              </a:spcBef>
              <a:spcAft>
                <a:spcPts val="0"/>
              </a:spcAft>
              <a:buClr>
                <a:schemeClr val="dk1"/>
              </a:buClr>
              <a:buSzPts val="2400"/>
              <a:buChar char="•"/>
            </a:pPr>
            <a:r>
              <a:rPr lang="en-US" sz="2400">
                <a:latin typeface="Times New Roman"/>
                <a:ea typeface="Times New Roman"/>
                <a:cs typeface="Times New Roman"/>
                <a:sym typeface="Times New Roman"/>
              </a:rPr>
              <a:t>Real motion is </a:t>
            </a:r>
            <a:r>
              <a:rPr b="1" lang="en-US" sz="2400">
                <a:latin typeface="Times New Roman"/>
                <a:ea typeface="Times New Roman"/>
                <a:cs typeface="Times New Roman"/>
                <a:sym typeface="Times New Roman"/>
              </a:rPr>
              <a:t>captured using sensors</a:t>
            </a:r>
            <a:endParaRPr sz="2400">
              <a:latin typeface="Times New Roman"/>
              <a:ea typeface="Times New Roman"/>
              <a:cs typeface="Times New Roman"/>
              <a:sym typeface="Times New Roman"/>
            </a:endParaRPr>
          </a:p>
          <a:p>
            <a:pPr indent="-171450" lvl="1" marL="514350" rtl="0" algn="l">
              <a:lnSpc>
                <a:spcPct val="90000"/>
              </a:lnSpc>
              <a:spcBef>
                <a:spcPts val="375"/>
              </a:spcBef>
              <a:spcAft>
                <a:spcPts val="0"/>
              </a:spcAft>
              <a:buClr>
                <a:schemeClr val="dk1"/>
              </a:buClr>
              <a:buSzPts val="2400"/>
              <a:buChar char="•"/>
            </a:pPr>
            <a:r>
              <a:rPr lang="en-US" sz="2400">
                <a:latin typeface="Times New Roman"/>
                <a:ea typeface="Times New Roman"/>
                <a:cs typeface="Times New Roman"/>
                <a:sym typeface="Times New Roman"/>
              </a:rPr>
              <a:t>Data mapped to digital characters</a:t>
            </a:r>
            <a:endParaRPr/>
          </a:p>
          <a:p>
            <a:pPr indent="-171450" lvl="1" marL="514350" rtl="0" algn="l">
              <a:lnSpc>
                <a:spcPct val="90000"/>
              </a:lnSpc>
              <a:spcBef>
                <a:spcPts val="375"/>
              </a:spcBef>
              <a:spcAft>
                <a:spcPts val="0"/>
              </a:spcAft>
              <a:buClr>
                <a:schemeClr val="dk1"/>
              </a:buClr>
              <a:buSzPts val="2400"/>
              <a:buChar char="•"/>
            </a:pPr>
            <a:r>
              <a:rPr lang="en-US" sz="2400">
                <a:latin typeface="Times New Roman"/>
                <a:ea typeface="Times New Roman"/>
                <a:cs typeface="Times New Roman"/>
                <a:sym typeface="Times New Roman"/>
              </a:rPr>
              <a:t>Produces very realistic motion</a:t>
            </a:r>
            <a:endParaRPr/>
          </a:p>
          <a:p>
            <a:pPr indent="0" lvl="1" marL="342900" rtl="0" algn="l">
              <a:lnSpc>
                <a:spcPct val="90000"/>
              </a:lnSpc>
              <a:spcBef>
                <a:spcPts val="375"/>
              </a:spcBef>
              <a:spcAft>
                <a:spcPts val="0"/>
              </a:spcAft>
              <a:buClr>
                <a:schemeClr val="dk1"/>
              </a:buClr>
              <a:buSzPts val="2400"/>
              <a:buNone/>
            </a:pPr>
            <a:r>
              <a:t/>
            </a:r>
            <a:endParaRPr sz="2400">
              <a:latin typeface="Times New Roman"/>
              <a:ea typeface="Times New Roman"/>
              <a:cs typeface="Times New Roman"/>
              <a:sym typeface="Times New Roman"/>
            </a:endParaRPr>
          </a:p>
          <a:p>
            <a:pPr indent="-171450" lvl="0" marL="171450" rtl="0" algn="l">
              <a:lnSpc>
                <a:spcPct val="90000"/>
              </a:lnSpc>
              <a:spcBef>
                <a:spcPts val="750"/>
              </a:spcBef>
              <a:spcAft>
                <a:spcPts val="0"/>
              </a:spcAft>
              <a:buClr>
                <a:schemeClr val="dk1"/>
              </a:buClr>
              <a:buSzPts val="2400"/>
              <a:buChar char="•"/>
            </a:pPr>
            <a:r>
              <a:rPr b="1" lang="en-US" sz="2400">
                <a:latin typeface="Times New Roman"/>
                <a:ea typeface="Times New Roman"/>
                <a:cs typeface="Times New Roman"/>
                <a:sym typeface="Times New Roman"/>
              </a:rPr>
              <a:t>Example:</a:t>
            </a:r>
            <a:r>
              <a:rPr lang="en-US" sz="2400">
                <a:latin typeface="Times New Roman"/>
                <a:ea typeface="Times New Roman"/>
                <a:cs typeface="Times New Roman"/>
                <a:sym typeface="Times New Roman"/>
              </a:rPr>
              <a:t> Character animation in films &amp; games</a:t>
            </a:r>
            <a:endParaRPr/>
          </a:p>
          <a:p>
            <a:pPr indent="0" lvl="0" marL="0" rtl="0" algn="l">
              <a:lnSpc>
                <a:spcPct val="90000"/>
              </a:lnSpc>
              <a:spcBef>
                <a:spcPts val="750"/>
              </a:spcBef>
              <a:spcAft>
                <a:spcPts val="0"/>
              </a:spcAft>
              <a:buClr>
                <a:schemeClr val="dk1"/>
              </a:buClr>
              <a:buSzPts val="2400"/>
              <a:buNone/>
            </a:pPr>
            <a:r>
              <a:t/>
            </a:r>
            <a:endParaRPr sz="2400">
              <a:latin typeface="Times New Roman"/>
              <a:ea typeface="Times New Roman"/>
              <a:cs typeface="Times New Roman"/>
              <a:sym typeface="Times New Roman"/>
            </a:endParaRPr>
          </a:p>
        </p:txBody>
      </p:sp>
      <p:sp>
        <p:nvSpPr>
          <p:cNvPr id="204" name="Google Shape;204;p1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CSE, Daffodil International University</a:t>
            </a:r>
            <a:endParaRPr/>
          </a:p>
        </p:txBody>
      </p:sp>
      <p:sp>
        <p:nvSpPr>
          <p:cNvPr id="205" name="Google Shape;205;p1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06" name="Google Shape;206;p13"/>
          <p:cNvSpPr txBox="1"/>
          <p:nvPr>
            <p:ph type="title"/>
          </p:nvPr>
        </p:nvSpPr>
        <p:spPr>
          <a:xfrm>
            <a:off x="401425" y="344450"/>
            <a:ext cx="7886700" cy="1039500"/>
          </a:xfrm>
          <a:prstGeom prst="rect">
            <a:avLst/>
          </a:prstGeom>
          <a:solidFill>
            <a:schemeClr val="accent1"/>
          </a:solid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a:p>
            <a:pPr indent="0" lvl="0" marL="0" rtl="0" algn="l">
              <a:spcBef>
                <a:spcPts val="0"/>
              </a:spcBef>
              <a:spcAft>
                <a:spcPts val="0"/>
              </a:spcAft>
              <a:buClr>
                <a:schemeClr val="dk1"/>
              </a:buClr>
              <a:buSzPct val="100000"/>
              <a:buFont typeface="Times New Roman"/>
              <a:buNone/>
            </a:pPr>
            <a:r>
              <a:rPr b="1" lang="en-US">
                <a:latin typeface="Times New Roman"/>
                <a:ea typeface="Times New Roman"/>
                <a:cs typeface="Times New Roman"/>
                <a:sym typeface="Times New Roman"/>
              </a:rPr>
              <a:t>Performance-Based Animation (Motion Capture)</a:t>
            </a:r>
            <a:endParaRPr b="1">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p:txBody>
      </p:sp>
      <p:pic>
        <p:nvPicPr>
          <p:cNvPr id="207" name="Google Shape;207;p13"/>
          <p:cNvPicPr preferRelativeResize="0"/>
          <p:nvPr/>
        </p:nvPicPr>
        <p:blipFill rotWithShape="1">
          <a:blip r:embed="rId3">
            <a:alphaModFix/>
          </a:blip>
          <a:srcRect b="0" l="0" r="0" t="0"/>
          <a:stretch/>
        </p:blipFill>
        <p:spPr>
          <a:xfrm>
            <a:off x="8015225" y="521300"/>
            <a:ext cx="1371600" cy="6858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pic>
        <p:nvPicPr>
          <p:cNvPr id="212" name="Google Shape;212;p14"/>
          <p:cNvPicPr preferRelativeResize="0"/>
          <p:nvPr>
            <p:ph idx="1" type="body"/>
          </p:nvPr>
        </p:nvPicPr>
        <p:blipFill rotWithShape="1">
          <a:blip r:embed="rId3">
            <a:alphaModFix/>
          </a:blip>
          <a:srcRect b="0" l="0" r="0" t="0"/>
          <a:stretch/>
        </p:blipFill>
        <p:spPr>
          <a:xfrm>
            <a:off x="1676400" y="2362200"/>
            <a:ext cx="5876925" cy="3315473"/>
          </a:xfrm>
          <a:prstGeom prst="rect">
            <a:avLst/>
          </a:prstGeom>
          <a:noFill/>
          <a:ln>
            <a:noFill/>
          </a:ln>
        </p:spPr>
      </p:pic>
      <p:sp>
        <p:nvSpPr>
          <p:cNvPr id="213" name="Google Shape;213;p1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CSE, Daffodil International University</a:t>
            </a:r>
            <a:endParaRPr/>
          </a:p>
        </p:txBody>
      </p:sp>
      <p:sp>
        <p:nvSpPr>
          <p:cNvPr id="214" name="Google Shape;214;p1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15" name="Google Shape;215;p14"/>
          <p:cNvSpPr txBox="1"/>
          <p:nvPr>
            <p:ph type="title"/>
          </p:nvPr>
        </p:nvSpPr>
        <p:spPr>
          <a:xfrm>
            <a:off x="401425" y="344450"/>
            <a:ext cx="7886700" cy="1039500"/>
          </a:xfrm>
          <a:prstGeom prst="rect">
            <a:avLst/>
          </a:prstGeom>
          <a:solidFill>
            <a:srgbClr val="9FC5E8"/>
          </a:solid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a:p>
            <a:pPr indent="0" lvl="0" marL="0" rtl="0" algn="l">
              <a:spcBef>
                <a:spcPts val="0"/>
              </a:spcBef>
              <a:spcAft>
                <a:spcPts val="0"/>
              </a:spcAft>
              <a:buClr>
                <a:schemeClr val="dk1"/>
              </a:buClr>
              <a:buSzPct val="100000"/>
              <a:buFont typeface="Times New Roman"/>
              <a:buNone/>
            </a:pPr>
            <a:r>
              <a:rPr b="1" lang="en-US">
                <a:latin typeface="Times New Roman"/>
                <a:ea typeface="Times New Roman"/>
                <a:cs typeface="Times New Roman"/>
                <a:sym typeface="Times New Roman"/>
              </a:rPr>
              <a:t>Performance-Based Animation (Motion Capture)</a:t>
            </a:r>
            <a:endParaRPr b="1">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p:txBody>
      </p:sp>
      <p:pic>
        <p:nvPicPr>
          <p:cNvPr id="216" name="Google Shape;216;p14"/>
          <p:cNvPicPr preferRelativeResize="0"/>
          <p:nvPr/>
        </p:nvPicPr>
        <p:blipFill rotWithShape="1">
          <a:blip r:embed="rId4">
            <a:alphaModFix/>
          </a:blip>
          <a:srcRect b="0" l="0" r="0" t="0"/>
          <a:stretch/>
        </p:blipFill>
        <p:spPr>
          <a:xfrm>
            <a:off x="8015225" y="521300"/>
            <a:ext cx="1371600" cy="6858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5"/>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Physically-based animation uses </a:t>
            </a:r>
            <a:r>
              <a:rPr b="1" lang="en-US" sz="2400">
                <a:latin typeface="Times New Roman"/>
                <a:ea typeface="Times New Roman"/>
                <a:cs typeface="Times New Roman"/>
                <a:sym typeface="Times New Roman"/>
              </a:rPr>
              <a:t>laws of physics</a:t>
            </a:r>
            <a:r>
              <a:rPr lang="en-US" sz="2400">
                <a:latin typeface="Times New Roman"/>
                <a:ea typeface="Times New Roman"/>
                <a:cs typeface="Times New Roman"/>
                <a:sym typeface="Times New Roman"/>
              </a:rPr>
              <a:t> to simulate realistic motion.</a:t>
            </a:r>
            <a:endParaRPr/>
          </a:p>
          <a:p>
            <a:pPr indent="-19050" lvl="0" marL="171450" rtl="0" algn="l">
              <a:lnSpc>
                <a:spcPct val="90000"/>
              </a:lnSpc>
              <a:spcBef>
                <a:spcPts val="750"/>
              </a:spcBef>
              <a:spcAft>
                <a:spcPts val="0"/>
              </a:spcAft>
              <a:buClr>
                <a:schemeClr val="dk1"/>
              </a:buClr>
              <a:buSzPts val="2400"/>
              <a:buNone/>
            </a:pPr>
            <a:r>
              <a:t/>
            </a:r>
            <a:endParaRPr sz="2400">
              <a:latin typeface="Times New Roman"/>
              <a:ea typeface="Times New Roman"/>
              <a:cs typeface="Times New Roman"/>
              <a:sym typeface="Times New Roman"/>
            </a:endParaRPr>
          </a:p>
          <a:p>
            <a:pPr indent="-171450" lvl="1" marL="514350" rtl="0" algn="l">
              <a:lnSpc>
                <a:spcPct val="90000"/>
              </a:lnSpc>
              <a:spcBef>
                <a:spcPts val="375"/>
              </a:spcBef>
              <a:spcAft>
                <a:spcPts val="0"/>
              </a:spcAft>
              <a:buClr>
                <a:schemeClr val="dk1"/>
              </a:buClr>
              <a:buSzPts val="2400"/>
              <a:buChar char="•"/>
            </a:pPr>
            <a:r>
              <a:rPr lang="en-US" sz="2400">
                <a:latin typeface="Times New Roman"/>
                <a:ea typeface="Times New Roman"/>
                <a:cs typeface="Times New Roman"/>
                <a:sym typeface="Times New Roman"/>
              </a:rPr>
              <a:t>Motion based on </a:t>
            </a:r>
            <a:r>
              <a:rPr b="1" lang="en-US" sz="2400">
                <a:latin typeface="Times New Roman"/>
                <a:ea typeface="Times New Roman"/>
                <a:cs typeface="Times New Roman"/>
                <a:sym typeface="Times New Roman"/>
              </a:rPr>
              <a:t>laws of physics</a:t>
            </a:r>
            <a:endParaRPr sz="2400">
              <a:latin typeface="Times New Roman"/>
              <a:ea typeface="Times New Roman"/>
              <a:cs typeface="Times New Roman"/>
              <a:sym typeface="Times New Roman"/>
            </a:endParaRPr>
          </a:p>
          <a:p>
            <a:pPr indent="-171450" lvl="1" marL="514350" rtl="0" algn="l">
              <a:lnSpc>
                <a:spcPct val="90000"/>
              </a:lnSpc>
              <a:spcBef>
                <a:spcPts val="375"/>
              </a:spcBef>
              <a:spcAft>
                <a:spcPts val="0"/>
              </a:spcAft>
              <a:buClr>
                <a:schemeClr val="dk1"/>
              </a:buClr>
              <a:buSzPts val="2400"/>
              <a:buChar char="•"/>
            </a:pPr>
            <a:r>
              <a:rPr lang="en-US" sz="2400">
                <a:latin typeface="Times New Roman"/>
                <a:ea typeface="Times New Roman"/>
                <a:cs typeface="Times New Roman"/>
                <a:sym typeface="Times New Roman"/>
              </a:rPr>
              <a:t>Uses force, mass, gravity, collisions</a:t>
            </a:r>
            <a:endParaRPr/>
          </a:p>
          <a:p>
            <a:pPr indent="-171450" lvl="1" marL="514350" rtl="0" algn="l">
              <a:lnSpc>
                <a:spcPct val="90000"/>
              </a:lnSpc>
              <a:spcBef>
                <a:spcPts val="375"/>
              </a:spcBef>
              <a:spcAft>
                <a:spcPts val="0"/>
              </a:spcAft>
              <a:buClr>
                <a:schemeClr val="dk1"/>
              </a:buClr>
              <a:buSzPts val="2400"/>
              <a:buChar char="•"/>
            </a:pPr>
            <a:r>
              <a:rPr lang="en-US" sz="2400">
                <a:latin typeface="Times New Roman"/>
                <a:ea typeface="Times New Roman"/>
                <a:cs typeface="Times New Roman"/>
                <a:sym typeface="Times New Roman"/>
              </a:rPr>
              <a:t>Highly realistic but computationally heavy</a:t>
            </a:r>
            <a:endParaRPr/>
          </a:p>
          <a:p>
            <a:pPr indent="-19050" lvl="0" marL="171450" rtl="0" algn="l">
              <a:lnSpc>
                <a:spcPct val="90000"/>
              </a:lnSpc>
              <a:spcBef>
                <a:spcPts val="750"/>
              </a:spcBef>
              <a:spcAft>
                <a:spcPts val="0"/>
              </a:spcAft>
              <a:buClr>
                <a:schemeClr val="dk1"/>
              </a:buClr>
              <a:buSzPts val="2400"/>
              <a:buNone/>
            </a:pPr>
            <a:r>
              <a:t/>
            </a:r>
            <a:endParaRPr sz="2400">
              <a:latin typeface="Times New Roman"/>
              <a:ea typeface="Times New Roman"/>
              <a:cs typeface="Times New Roman"/>
              <a:sym typeface="Times New Roman"/>
            </a:endParaRPr>
          </a:p>
          <a:p>
            <a:pPr indent="-171450" lvl="0" marL="171450" rtl="0" algn="l">
              <a:lnSpc>
                <a:spcPct val="90000"/>
              </a:lnSpc>
              <a:spcBef>
                <a:spcPts val="750"/>
              </a:spcBef>
              <a:spcAft>
                <a:spcPts val="0"/>
              </a:spcAft>
              <a:buClr>
                <a:schemeClr val="dk1"/>
              </a:buClr>
              <a:buSzPts val="2400"/>
              <a:buChar char="•"/>
            </a:pPr>
            <a:r>
              <a:rPr b="1" lang="en-US" sz="2400">
                <a:latin typeface="Times New Roman"/>
                <a:ea typeface="Times New Roman"/>
                <a:cs typeface="Times New Roman"/>
                <a:sym typeface="Times New Roman"/>
              </a:rPr>
              <a:t>Example:</a:t>
            </a:r>
            <a:r>
              <a:rPr lang="en-US" sz="2400">
                <a:latin typeface="Times New Roman"/>
                <a:ea typeface="Times New Roman"/>
                <a:cs typeface="Times New Roman"/>
                <a:sym typeface="Times New Roman"/>
              </a:rPr>
              <a:t> Falling objects, cloth simulation</a:t>
            </a:r>
            <a:endParaRPr/>
          </a:p>
          <a:p>
            <a:pPr indent="-38100" lvl="0" marL="171450" rtl="0" algn="l">
              <a:lnSpc>
                <a:spcPct val="90000"/>
              </a:lnSpc>
              <a:spcBef>
                <a:spcPts val="750"/>
              </a:spcBef>
              <a:spcAft>
                <a:spcPts val="0"/>
              </a:spcAft>
              <a:buClr>
                <a:schemeClr val="dk1"/>
              </a:buClr>
              <a:buSzPts val="2100"/>
              <a:buNone/>
            </a:pPr>
            <a:r>
              <a:t/>
            </a:r>
            <a:endParaRPr>
              <a:latin typeface="Times New Roman"/>
              <a:ea typeface="Times New Roman"/>
              <a:cs typeface="Times New Roman"/>
              <a:sym typeface="Times New Roman"/>
            </a:endParaRPr>
          </a:p>
        </p:txBody>
      </p:sp>
      <p:sp>
        <p:nvSpPr>
          <p:cNvPr id="222" name="Google Shape;222;p15"/>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CSE, Daffodil International University</a:t>
            </a:r>
            <a:endParaRPr/>
          </a:p>
        </p:txBody>
      </p:sp>
      <p:sp>
        <p:nvSpPr>
          <p:cNvPr id="223" name="Google Shape;223;p1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24" name="Google Shape;224;p15"/>
          <p:cNvSpPr txBox="1"/>
          <p:nvPr>
            <p:ph type="title"/>
          </p:nvPr>
        </p:nvSpPr>
        <p:spPr>
          <a:xfrm>
            <a:off x="401425" y="344450"/>
            <a:ext cx="7886700" cy="1039500"/>
          </a:xfrm>
          <a:prstGeom prst="rect">
            <a:avLst/>
          </a:prstGeom>
          <a:solidFill>
            <a:schemeClr val="accent1"/>
          </a:solid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a:p>
            <a:pPr indent="0" lvl="0" marL="0" rtl="0" algn="l">
              <a:spcBef>
                <a:spcPts val="0"/>
              </a:spcBef>
              <a:spcAft>
                <a:spcPts val="0"/>
              </a:spcAft>
              <a:buClr>
                <a:schemeClr val="dk1"/>
              </a:buClr>
              <a:buSzPct val="100000"/>
              <a:buFont typeface="Times New Roman"/>
              <a:buNone/>
            </a:pPr>
            <a:r>
              <a:rPr b="1" lang="en-US">
                <a:latin typeface="Times New Roman"/>
                <a:ea typeface="Times New Roman"/>
                <a:cs typeface="Times New Roman"/>
                <a:sym typeface="Times New Roman"/>
              </a:rPr>
              <a:t>Physically-Based Animation (Dynamics)</a:t>
            </a:r>
            <a:endParaRPr b="1">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p:txBody>
      </p:sp>
      <p:pic>
        <p:nvPicPr>
          <p:cNvPr id="225" name="Google Shape;225;p15"/>
          <p:cNvPicPr preferRelativeResize="0"/>
          <p:nvPr/>
        </p:nvPicPr>
        <p:blipFill rotWithShape="1">
          <a:blip r:embed="rId3">
            <a:alphaModFix/>
          </a:blip>
          <a:srcRect b="0" l="0" r="0" t="0"/>
          <a:stretch/>
        </p:blipFill>
        <p:spPr>
          <a:xfrm>
            <a:off x="8015225" y="521300"/>
            <a:ext cx="1371600" cy="6858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6"/>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0" lvl="0" marL="45720" rtl="0" algn="l">
              <a:lnSpc>
                <a:spcPct val="90000"/>
              </a:lnSpc>
              <a:spcBef>
                <a:spcPts val="0"/>
              </a:spcBef>
              <a:spcAft>
                <a:spcPts val="0"/>
              </a:spcAft>
              <a:buClr>
                <a:schemeClr val="dk1"/>
              </a:buClr>
              <a:buSzPts val="2400"/>
              <a:buNone/>
            </a:pPr>
            <a:r>
              <a:rPr lang="en-US" sz="2400">
                <a:latin typeface="Times New Roman"/>
                <a:ea typeface="Times New Roman"/>
                <a:cs typeface="Times New Roman"/>
                <a:sym typeface="Times New Roman"/>
              </a:rPr>
              <a:t>Steps for designing animation sequence</a:t>
            </a:r>
            <a:endParaRPr/>
          </a:p>
          <a:p>
            <a:pPr indent="-342900" lvl="0" marL="342900" rtl="0" algn="l">
              <a:lnSpc>
                <a:spcPct val="90000"/>
              </a:lnSpc>
              <a:spcBef>
                <a:spcPts val="750"/>
              </a:spcBef>
              <a:spcAft>
                <a:spcPts val="0"/>
              </a:spcAft>
              <a:buClr>
                <a:schemeClr val="dk1"/>
              </a:buClr>
              <a:buSzPts val="2400"/>
              <a:buFont typeface="Arial"/>
              <a:buChar char="•"/>
            </a:pPr>
            <a:r>
              <a:rPr lang="en-US" sz="2400">
                <a:latin typeface="Times New Roman"/>
                <a:ea typeface="Times New Roman"/>
                <a:cs typeface="Times New Roman"/>
                <a:sym typeface="Times New Roman"/>
              </a:rPr>
              <a:t>Storyboard Layout</a:t>
            </a:r>
            <a:endParaRPr/>
          </a:p>
          <a:p>
            <a:pPr indent="-342900" lvl="0" marL="342900" rtl="0" algn="l">
              <a:lnSpc>
                <a:spcPct val="90000"/>
              </a:lnSpc>
              <a:spcBef>
                <a:spcPts val="750"/>
              </a:spcBef>
              <a:spcAft>
                <a:spcPts val="0"/>
              </a:spcAft>
              <a:buClr>
                <a:schemeClr val="dk1"/>
              </a:buClr>
              <a:buSzPts val="2400"/>
              <a:buFont typeface="Arial"/>
              <a:buChar char="•"/>
            </a:pPr>
            <a:r>
              <a:rPr lang="en-US" sz="2400">
                <a:latin typeface="Times New Roman"/>
                <a:ea typeface="Times New Roman"/>
                <a:cs typeface="Times New Roman"/>
                <a:sym typeface="Times New Roman"/>
              </a:rPr>
              <a:t>Object Definitions</a:t>
            </a:r>
            <a:endParaRPr/>
          </a:p>
          <a:p>
            <a:pPr indent="-342900" lvl="0" marL="342900" rtl="0" algn="l">
              <a:lnSpc>
                <a:spcPct val="90000"/>
              </a:lnSpc>
              <a:spcBef>
                <a:spcPts val="750"/>
              </a:spcBef>
              <a:spcAft>
                <a:spcPts val="0"/>
              </a:spcAft>
              <a:buClr>
                <a:schemeClr val="dk1"/>
              </a:buClr>
              <a:buSzPts val="2400"/>
              <a:buFont typeface="Arial"/>
              <a:buChar char="•"/>
            </a:pPr>
            <a:r>
              <a:rPr lang="en-US" sz="2400">
                <a:latin typeface="Times New Roman"/>
                <a:ea typeface="Times New Roman"/>
                <a:cs typeface="Times New Roman"/>
                <a:sym typeface="Times New Roman"/>
              </a:rPr>
              <a:t>Key frame specifications</a:t>
            </a:r>
            <a:endParaRPr/>
          </a:p>
          <a:p>
            <a:pPr indent="-342900" lvl="0" marL="342900" rtl="0" algn="l">
              <a:lnSpc>
                <a:spcPct val="90000"/>
              </a:lnSpc>
              <a:spcBef>
                <a:spcPts val="750"/>
              </a:spcBef>
              <a:spcAft>
                <a:spcPts val="0"/>
              </a:spcAft>
              <a:buClr>
                <a:schemeClr val="dk1"/>
              </a:buClr>
              <a:buSzPts val="2400"/>
              <a:buFont typeface="Arial"/>
              <a:buChar char="•"/>
            </a:pPr>
            <a:r>
              <a:rPr lang="en-US" sz="2400">
                <a:latin typeface="Times New Roman"/>
                <a:ea typeface="Times New Roman"/>
                <a:cs typeface="Times New Roman"/>
                <a:sym typeface="Times New Roman"/>
              </a:rPr>
              <a:t>Generation of in-between frames</a:t>
            </a:r>
            <a:endParaRPr/>
          </a:p>
          <a:p>
            <a:pPr indent="-209550" lvl="0" marL="342900" rtl="0" algn="l">
              <a:lnSpc>
                <a:spcPct val="90000"/>
              </a:lnSpc>
              <a:spcBef>
                <a:spcPts val="750"/>
              </a:spcBef>
              <a:spcAft>
                <a:spcPts val="0"/>
              </a:spcAft>
              <a:buClr>
                <a:schemeClr val="dk1"/>
              </a:buClr>
              <a:buSzPts val="2100"/>
              <a:buFont typeface="Arial"/>
              <a:buNone/>
            </a:pPr>
            <a:r>
              <a:t/>
            </a:r>
            <a:endParaRPr>
              <a:latin typeface="Times New Roman"/>
              <a:ea typeface="Times New Roman"/>
              <a:cs typeface="Times New Roman"/>
              <a:sym typeface="Times New Roman"/>
            </a:endParaRPr>
          </a:p>
          <a:p>
            <a:pPr indent="0" lvl="0" marL="45720" rtl="0" algn="l">
              <a:lnSpc>
                <a:spcPct val="90000"/>
              </a:lnSpc>
              <a:spcBef>
                <a:spcPts val="750"/>
              </a:spcBef>
              <a:spcAft>
                <a:spcPts val="0"/>
              </a:spcAft>
              <a:buClr>
                <a:schemeClr val="dk1"/>
              </a:buClr>
              <a:buSzPts val="2100"/>
              <a:buNone/>
            </a:pPr>
            <a:r>
              <a:t/>
            </a:r>
            <a:endParaRPr>
              <a:latin typeface="Times New Roman"/>
              <a:ea typeface="Times New Roman"/>
              <a:cs typeface="Times New Roman"/>
              <a:sym typeface="Times New Roman"/>
            </a:endParaRPr>
          </a:p>
        </p:txBody>
      </p:sp>
      <p:sp>
        <p:nvSpPr>
          <p:cNvPr id="231" name="Google Shape;231;p16"/>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CSE, Daffodil International University</a:t>
            </a:r>
            <a:endParaRPr/>
          </a:p>
        </p:txBody>
      </p:sp>
      <p:sp>
        <p:nvSpPr>
          <p:cNvPr id="232" name="Google Shape;232;p1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33" name="Google Shape;233;p16"/>
          <p:cNvSpPr txBox="1"/>
          <p:nvPr>
            <p:ph type="title"/>
          </p:nvPr>
        </p:nvSpPr>
        <p:spPr>
          <a:xfrm>
            <a:off x="401425" y="344450"/>
            <a:ext cx="7886700" cy="1039500"/>
          </a:xfrm>
          <a:prstGeom prst="rect">
            <a:avLst/>
          </a:prstGeom>
          <a:solidFill>
            <a:schemeClr val="accent1"/>
          </a:solid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a:p>
            <a:pPr indent="0" lvl="0" marL="0" rtl="0" algn="l">
              <a:spcBef>
                <a:spcPts val="0"/>
              </a:spcBef>
              <a:spcAft>
                <a:spcPts val="0"/>
              </a:spcAft>
              <a:buClr>
                <a:schemeClr val="dk1"/>
              </a:buClr>
              <a:buSzPct val="100000"/>
              <a:buFont typeface="Times New Roman"/>
              <a:buNone/>
            </a:pPr>
            <a:r>
              <a:rPr b="1" lang="en-US">
                <a:latin typeface="Times New Roman"/>
                <a:ea typeface="Times New Roman"/>
                <a:cs typeface="Times New Roman"/>
                <a:sym typeface="Times New Roman"/>
              </a:rPr>
              <a:t>DESIGN OF ANIMATION SEQUENCE </a:t>
            </a:r>
            <a:endParaRPr>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p:txBody>
      </p:sp>
      <p:pic>
        <p:nvPicPr>
          <p:cNvPr id="234" name="Google Shape;234;p16"/>
          <p:cNvPicPr preferRelativeResize="0"/>
          <p:nvPr/>
        </p:nvPicPr>
        <p:blipFill rotWithShape="1">
          <a:blip r:embed="rId3">
            <a:alphaModFix/>
          </a:blip>
          <a:srcRect b="0" l="0" r="0" t="0"/>
          <a:stretch/>
        </p:blipFill>
        <p:spPr>
          <a:xfrm>
            <a:off x="8015225" y="521300"/>
            <a:ext cx="1371600" cy="6858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7"/>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177800" lvl="0" marL="171450" rtl="0" algn="l">
              <a:lnSpc>
                <a:spcPct val="90000"/>
              </a:lnSpc>
              <a:spcBef>
                <a:spcPts val="0"/>
              </a:spcBef>
              <a:spcAft>
                <a:spcPts val="0"/>
              </a:spcAft>
              <a:buClr>
                <a:schemeClr val="dk1"/>
              </a:buClr>
              <a:buSzPts val="2800"/>
              <a:buChar char="•"/>
            </a:pPr>
            <a:r>
              <a:rPr lang="en-US" sz="2800">
                <a:latin typeface="Times New Roman"/>
                <a:ea typeface="Times New Roman"/>
                <a:cs typeface="Times New Roman"/>
                <a:sym typeface="Times New Roman"/>
              </a:rPr>
              <a:t>A storyboard is a plan, a way of figuring out the story of the film before you put in the enormous amount of work of the animation itself. Basically, it is the story of the movie drawn in pictures, very much like a comic strip.</a:t>
            </a:r>
            <a:endParaRPr/>
          </a:p>
          <a:p>
            <a:pPr indent="-177800" lvl="0" marL="171450" rtl="0" algn="l">
              <a:lnSpc>
                <a:spcPct val="90000"/>
              </a:lnSpc>
              <a:spcBef>
                <a:spcPts val="750"/>
              </a:spcBef>
              <a:spcAft>
                <a:spcPts val="0"/>
              </a:spcAft>
              <a:buClr>
                <a:schemeClr val="dk1"/>
              </a:buClr>
              <a:buSzPts val="2800"/>
              <a:buChar char="•"/>
            </a:pPr>
            <a:r>
              <a:rPr lang="en-US" sz="2800">
                <a:latin typeface="Times New Roman"/>
                <a:ea typeface="Times New Roman"/>
                <a:cs typeface="Times New Roman"/>
                <a:sym typeface="Times New Roman"/>
              </a:rPr>
              <a:t>Depending on the type of animation to be produced, the storyboard could be consist of a set of rough sketches or it could be a list of basis ideas for motion.</a:t>
            </a:r>
            <a:endParaRPr/>
          </a:p>
          <a:p>
            <a:pPr indent="-38100" lvl="0" marL="171450" rtl="0" algn="l">
              <a:lnSpc>
                <a:spcPct val="90000"/>
              </a:lnSpc>
              <a:spcBef>
                <a:spcPts val="750"/>
              </a:spcBef>
              <a:spcAft>
                <a:spcPts val="0"/>
              </a:spcAft>
              <a:buClr>
                <a:schemeClr val="dk1"/>
              </a:buClr>
              <a:buSzPts val="2100"/>
              <a:buNone/>
            </a:pPr>
            <a:r>
              <a:t/>
            </a:r>
            <a:endParaRPr>
              <a:latin typeface="Times New Roman"/>
              <a:ea typeface="Times New Roman"/>
              <a:cs typeface="Times New Roman"/>
              <a:sym typeface="Times New Roman"/>
            </a:endParaRPr>
          </a:p>
        </p:txBody>
      </p:sp>
      <p:sp>
        <p:nvSpPr>
          <p:cNvPr id="240" name="Google Shape;240;p1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CSE, Daffodil International University</a:t>
            </a:r>
            <a:endParaRPr/>
          </a:p>
        </p:txBody>
      </p:sp>
      <p:sp>
        <p:nvSpPr>
          <p:cNvPr id="241" name="Google Shape;241;p1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42" name="Google Shape;242;p17"/>
          <p:cNvSpPr txBox="1"/>
          <p:nvPr>
            <p:ph type="title"/>
          </p:nvPr>
        </p:nvSpPr>
        <p:spPr>
          <a:xfrm>
            <a:off x="401425" y="344450"/>
            <a:ext cx="7886700" cy="1039500"/>
          </a:xfrm>
          <a:prstGeom prst="rect">
            <a:avLst/>
          </a:prstGeom>
          <a:solidFill>
            <a:schemeClr val="accent1"/>
          </a:solid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a:p>
            <a:pPr indent="0" lvl="0" marL="0" rtl="0" algn="l">
              <a:spcBef>
                <a:spcPts val="0"/>
              </a:spcBef>
              <a:spcAft>
                <a:spcPts val="0"/>
              </a:spcAft>
              <a:buClr>
                <a:schemeClr val="dk1"/>
              </a:buClr>
              <a:buSzPct val="100000"/>
              <a:buFont typeface="Times New Roman"/>
              <a:buNone/>
            </a:pPr>
            <a:r>
              <a:rPr b="1" lang="en-US">
                <a:latin typeface="Times New Roman"/>
                <a:ea typeface="Times New Roman"/>
                <a:cs typeface="Times New Roman"/>
                <a:sym typeface="Times New Roman"/>
              </a:rPr>
              <a:t>1.STORYBOARD LAYOUT</a:t>
            </a:r>
            <a:endParaRPr/>
          </a:p>
          <a:p>
            <a:pPr indent="0" lvl="0" marL="0" rtl="0" algn="l">
              <a:lnSpc>
                <a:spcPct val="90000"/>
              </a:lnSpc>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p:txBody>
      </p:sp>
      <p:pic>
        <p:nvPicPr>
          <p:cNvPr id="243" name="Google Shape;243;p17"/>
          <p:cNvPicPr preferRelativeResize="0"/>
          <p:nvPr/>
        </p:nvPicPr>
        <p:blipFill rotWithShape="1">
          <a:blip r:embed="rId3">
            <a:alphaModFix/>
          </a:blip>
          <a:srcRect b="0" l="0" r="0" t="0"/>
          <a:stretch/>
        </p:blipFill>
        <p:spPr>
          <a:xfrm>
            <a:off x="8015225" y="521300"/>
            <a:ext cx="1371600" cy="6858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8"/>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0" lvl="0" marL="45720" rtl="0" algn="l">
              <a:lnSpc>
                <a:spcPct val="90000"/>
              </a:lnSpc>
              <a:spcBef>
                <a:spcPts val="0"/>
              </a:spcBef>
              <a:spcAft>
                <a:spcPts val="0"/>
              </a:spcAft>
              <a:buClr>
                <a:schemeClr val="dk1"/>
              </a:buClr>
              <a:buSzPts val="2100"/>
              <a:buNone/>
            </a:pPr>
            <a:r>
              <a:rPr lang="en-US"/>
              <a:t> </a:t>
            </a:r>
            <a:endParaRPr/>
          </a:p>
        </p:txBody>
      </p:sp>
      <p:pic>
        <p:nvPicPr>
          <p:cNvPr descr="C:\Users\User\Downloads\storyboard_11.jpg" id="249" name="Google Shape;249;p18"/>
          <p:cNvPicPr preferRelativeResize="0"/>
          <p:nvPr/>
        </p:nvPicPr>
        <p:blipFill rotWithShape="1">
          <a:blip r:embed="rId3">
            <a:alphaModFix/>
          </a:blip>
          <a:srcRect b="0" l="0" r="0" t="0"/>
          <a:stretch/>
        </p:blipFill>
        <p:spPr>
          <a:xfrm>
            <a:off x="457200" y="1828800"/>
            <a:ext cx="8077199" cy="4495800"/>
          </a:xfrm>
          <a:prstGeom prst="rect">
            <a:avLst/>
          </a:prstGeom>
          <a:noFill/>
          <a:ln>
            <a:noFill/>
          </a:ln>
        </p:spPr>
      </p:pic>
      <p:sp>
        <p:nvSpPr>
          <p:cNvPr id="250" name="Google Shape;250;p18"/>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CSE, Daffodil International University</a:t>
            </a:r>
            <a:endParaRPr/>
          </a:p>
        </p:txBody>
      </p:sp>
      <p:sp>
        <p:nvSpPr>
          <p:cNvPr id="251" name="Google Shape;251;p1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52" name="Google Shape;252;p18"/>
          <p:cNvSpPr txBox="1"/>
          <p:nvPr>
            <p:ph type="title"/>
          </p:nvPr>
        </p:nvSpPr>
        <p:spPr>
          <a:xfrm>
            <a:off x="401425" y="344450"/>
            <a:ext cx="7886700" cy="1039500"/>
          </a:xfrm>
          <a:prstGeom prst="rect">
            <a:avLst/>
          </a:prstGeom>
          <a:solidFill>
            <a:schemeClr val="accent1"/>
          </a:solid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a:p>
            <a:pPr indent="0" lvl="0" marL="0" rtl="0" algn="l">
              <a:spcBef>
                <a:spcPts val="0"/>
              </a:spcBef>
              <a:spcAft>
                <a:spcPts val="0"/>
              </a:spcAft>
              <a:buClr>
                <a:schemeClr val="dk1"/>
              </a:buClr>
              <a:buSzPct val="100000"/>
              <a:buFont typeface="Times New Roman"/>
              <a:buNone/>
            </a:pPr>
            <a:r>
              <a:rPr b="1" lang="en-US">
                <a:latin typeface="Times New Roman"/>
                <a:ea typeface="Times New Roman"/>
                <a:cs typeface="Times New Roman"/>
                <a:sym typeface="Times New Roman"/>
              </a:rPr>
              <a:t>Continue……</a:t>
            </a:r>
            <a:r>
              <a:rPr b="1" lang="en-US"/>
              <a:t> </a:t>
            </a:r>
            <a:endParaRPr b="1"/>
          </a:p>
          <a:p>
            <a:pPr indent="0" lvl="0" marL="0" rtl="0" algn="l">
              <a:lnSpc>
                <a:spcPct val="90000"/>
              </a:lnSpc>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p:txBody>
      </p:sp>
      <p:pic>
        <p:nvPicPr>
          <p:cNvPr id="253" name="Google Shape;253;p18"/>
          <p:cNvPicPr preferRelativeResize="0"/>
          <p:nvPr/>
        </p:nvPicPr>
        <p:blipFill rotWithShape="1">
          <a:blip r:embed="rId4">
            <a:alphaModFix/>
          </a:blip>
          <a:srcRect b="0" l="0" r="0" t="0"/>
          <a:stretch/>
        </p:blipFill>
        <p:spPr>
          <a:xfrm>
            <a:off x="8015225" y="521300"/>
            <a:ext cx="1371600" cy="6858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19"/>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Each object participating in the action is given object definition, such as terms of basic shapes, such as polygons or splines</a:t>
            </a:r>
            <a:r>
              <a:rPr lang="en-US" sz="2400"/>
              <a:t>.</a:t>
            </a:r>
            <a:endParaRPr/>
          </a:p>
          <a:p>
            <a:pPr indent="-38100" lvl="0" marL="171450" rtl="0" algn="l">
              <a:lnSpc>
                <a:spcPct val="90000"/>
              </a:lnSpc>
              <a:spcBef>
                <a:spcPts val="750"/>
              </a:spcBef>
              <a:spcAft>
                <a:spcPts val="0"/>
              </a:spcAft>
              <a:buClr>
                <a:schemeClr val="dk1"/>
              </a:buClr>
              <a:buSzPts val="2100"/>
              <a:buNone/>
            </a:pPr>
            <a:r>
              <a:t/>
            </a:r>
            <a:endParaRPr/>
          </a:p>
        </p:txBody>
      </p:sp>
      <p:pic>
        <p:nvPicPr>
          <p:cNvPr id="259" name="Google Shape;259;p19"/>
          <p:cNvPicPr preferRelativeResize="0"/>
          <p:nvPr/>
        </p:nvPicPr>
        <p:blipFill rotWithShape="1">
          <a:blip r:embed="rId3">
            <a:alphaModFix/>
          </a:blip>
          <a:srcRect b="0" l="0" r="0" t="0"/>
          <a:stretch/>
        </p:blipFill>
        <p:spPr>
          <a:xfrm>
            <a:off x="838200" y="3200400"/>
            <a:ext cx="7433481" cy="3445012"/>
          </a:xfrm>
          <a:prstGeom prst="rect">
            <a:avLst/>
          </a:prstGeom>
          <a:noFill/>
          <a:ln>
            <a:noFill/>
          </a:ln>
        </p:spPr>
      </p:pic>
      <p:sp>
        <p:nvSpPr>
          <p:cNvPr id="260" name="Google Shape;260;p19"/>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CSE, Daffodil International University</a:t>
            </a:r>
            <a:endParaRPr/>
          </a:p>
        </p:txBody>
      </p:sp>
      <p:sp>
        <p:nvSpPr>
          <p:cNvPr id="261" name="Google Shape;261;p1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62" name="Google Shape;262;p19"/>
          <p:cNvSpPr txBox="1"/>
          <p:nvPr>
            <p:ph type="title"/>
          </p:nvPr>
        </p:nvSpPr>
        <p:spPr>
          <a:xfrm>
            <a:off x="401425" y="344450"/>
            <a:ext cx="7886700" cy="1039500"/>
          </a:xfrm>
          <a:prstGeom prst="rect">
            <a:avLst/>
          </a:prstGeom>
          <a:solidFill>
            <a:schemeClr val="accent1"/>
          </a:solid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imes New Roman"/>
              <a:buNone/>
            </a:pPr>
            <a:br>
              <a:rPr b="1" lang="en-US">
                <a:latin typeface="Times New Roman"/>
                <a:ea typeface="Times New Roman"/>
                <a:cs typeface="Times New Roman"/>
                <a:sym typeface="Times New Roman"/>
              </a:rPr>
            </a:br>
            <a:r>
              <a:rPr b="1" lang="en-US">
                <a:latin typeface="Times New Roman"/>
                <a:ea typeface="Times New Roman"/>
                <a:cs typeface="Times New Roman"/>
                <a:sym typeface="Times New Roman"/>
              </a:rPr>
              <a:t>2.OBJECT DEFINITIONS</a:t>
            </a:r>
            <a:endParaRPr>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p:txBody>
      </p:sp>
      <p:pic>
        <p:nvPicPr>
          <p:cNvPr id="263" name="Google Shape;263;p19"/>
          <p:cNvPicPr preferRelativeResize="0"/>
          <p:nvPr/>
        </p:nvPicPr>
        <p:blipFill rotWithShape="1">
          <a:blip r:embed="rId4">
            <a:alphaModFix/>
          </a:blip>
          <a:srcRect b="0" l="0" r="0" t="0"/>
          <a:stretch/>
        </p:blipFill>
        <p:spPr>
          <a:xfrm>
            <a:off x="8015225" y="521300"/>
            <a:ext cx="1371600" cy="6858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0"/>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400"/>
              <a:buChar char="•"/>
            </a:pPr>
            <a:r>
              <a:rPr lang="en-US" sz="2400">
                <a:solidFill>
                  <a:schemeClr val="dk1"/>
                </a:solidFill>
                <a:latin typeface="Times New Roman"/>
                <a:ea typeface="Times New Roman"/>
                <a:cs typeface="Times New Roman"/>
                <a:sym typeface="Times New Roman"/>
              </a:rPr>
              <a:t>It is one of the many single photographic images in a motion picture. The individual frames are separated by frame lines. Normally, are needed for one second of film.</a:t>
            </a:r>
            <a:endParaRPr sz="2400">
              <a:solidFill>
                <a:schemeClr val="dk1"/>
              </a:solidFill>
              <a:latin typeface="Times New Roman"/>
              <a:ea typeface="Times New Roman"/>
              <a:cs typeface="Times New Roman"/>
              <a:sym typeface="Times New Roman"/>
            </a:endParaRPr>
          </a:p>
          <a:p>
            <a:pPr indent="-38100" lvl="0" marL="171450" rtl="0" algn="l">
              <a:lnSpc>
                <a:spcPct val="90000"/>
              </a:lnSpc>
              <a:spcBef>
                <a:spcPts val="750"/>
              </a:spcBef>
              <a:spcAft>
                <a:spcPts val="0"/>
              </a:spcAft>
              <a:buClr>
                <a:schemeClr val="dk1"/>
              </a:buClr>
              <a:buSzPts val="2100"/>
              <a:buNone/>
            </a:pPr>
            <a:r>
              <a:t/>
            </a:r>
            <a:endParaRPr>
              <a:solidFill>
                <a:schemeClr val="dk1"/>
              </a:solidFill>
            </a:endParaRPr>
          </a:p>
        </p:txBody>
      </p:sp>
      <p:pic>
        <p:nvPicPr>
          <p:cNvPr id="269" name="Google Shape;269;p20"/>
          <p:cNvPicPr preferRelativeResize="0"/>
          <p:nvPr/>
        </p:nvPicPr>
        <p:blipFill rotWithShape="1">
          <a:blip r:embed="rId3">
            <a:alphaModFix/>
          </a:blip>
          <a:srcRect b="0" l="0" r="0" t="0"/>
          <a:stretch/>
        </p:blipFill>
        <p:spPr>
          <a:xfrm>
            <a:off x="1752600" y="3124200"/>
            <a:ext cx="5806984" cy="3352800"/>
          </a:xfrm>
          <a:prstGeom prst="rect">
            <a:avLst/>
          </a:prstGeom>
          <a:noFill/>
          <a:ln>
            <a:noFill/>
          </a:ln>
        </p:spPr>
      </p:pic>
      <p:sp>
        <p:nvSpPr>
          <p:cNvPr id="270" name="Google Shape;270;p20"/>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CSE, Daffodil International University</a:t>
            </a:r>
            <a:endParaRPr/>
          </a:p>
        </p:txBody>
      </p:sp>
      <p:sp>
        <p:nvSpPr>
          <p:cNvPr id="271" name="Google Shape;271;p2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72" name="Google Shape;272;p20"/>
          <p:cNvSpPr txBox="1"/>
          <p:nvPr>
            <p:ph type="title"/>
          </p:nvPr>
        </p:nvSpPr>
        <p:spPr>
          <a:xfrm>
            <a:off x="401425" y="344450"/>
            <a:ext cx="7886700" cy="1039500"/>
          </a:xfrm>
          <a:prstGeom prst="rect">
            <a:avLst/>
          </a:prstGeom>
          <a:solidFill>
            <a:schemeClr val="accent1"/>
          </a:solid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3300"/>
              <a:buFont typeface="Times New Roman"/>
              <a:buNone/>
            </a:pPr>
            <a:r>
              <a:rPr b="1" lang="en-US">
                <a:latin typeface="Times New Roman"/>
                <a:ea typeface="Times New Roman"/>
                <a:cs typeface="Times New Roman"/>
                <a:sym typeface="Times New Roman"/>
              </a:rPr>
              <a:t>Frame</a:t>
            </a:r>
            <a:endParaRPr/>
          </a:p>
        </p:txBody>
      </p:sp>
      <p:pic>
        <p:nvPicPr>
          <p:cNvPr id="273" name="Google Shape;273;p20"/>
          <p:cNvPicPr preferRelativeResize="0"/>
          <p:nvPr/>
        </p:nvPicPr>
        <p:blipFill rotWithShape="1">
          <a:blip r:embed="rId4">
            <a:alphaModFix/>
          </a:blip>
          <a:srcRect b="0" l="0" r="0" t="0"/>
          <a:stretch/>
        </p:blipFill>
        <p:spPr>
          <a:xfrm>
            <a:off x="8015225" y="521300"/>
            <a:ext cx="1371600" cy="6858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1"/>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lnSpcReduction="10000"/>
          </a:bodyPr>
          <a:lstStyle/>
          <a:p>
            <a:pPr indent="-171450" lvl="0" marL="171450" rtl="0" algn="l">
              <a:lnSpc>
                <a:spcPct val="90000"/>
              </a:lnSpc>
              <a:spcBef>
                <a:spcPts val="0"/>
              </a:spcBef>
              <a:spcAft>
                <a:spcPts val="0"/>
              </a:spcAft>
              <a:buClr>
                <a:schemeClr val="dk1"/>
              </a:buClr>
              <a:buSzPts val="2600"/>
              <a:buChar char="•"/>
            </a:pPr>
            <a:r>
              <a:rPr lang="en-US" sz="2600">
                <a:solidFill>
                  <a:schemeClr val="dk1"/>
                </a:solidFill>
                <a:latin typeface="Times New Roman"/>
                <a:ea typeface="Times New Roman"/>
                <a:cs typeface="Times New Roman"/>
                <a:sym typeface="Times New Roman"/>
              </a:rPr>
              <a:t>A keyframe is a frame where we define changes in animation. Every frame is a keyframe when we create frame by frame animation. When someone creates a 3D animation on a computer, they usually don’t specify the exact position of any given object on every single frame. They create keyframes.</a:t>
            </a:r>
            <a:endParaRPr/>
          </a:p>
          <a:p>
            <a:pPr indent="-171450" lvl="0" marL="171450" rtl="0" algn="l">
              <a:lnSpc>
                <a:spcPct val="90000"/>
              </a:lnSpc>
              <a:spcBef>
                <a:spcPts val="750"/>
              </a:spcBef>
              <a:spcAft>
                <a:spcPts val="0"/>
              </a:spcAft>
              <a:buClr>
                <a:schemeClr val="dk1"/>
              </a:buClr>
              <a:buSzPts val="2600"/>
              <a:buChar char="•"/>
            </a:pPr>
            <a:r>
              <a:rPr lang="en-US" sz="2600">
                <a:solidFill>
                  <a:schemeClr val="dk1"/>
                </a:solidFill>
                <a:latin typeface="Times New Roman"/>
                <a:ea typeface="Times New Roman"/>
                <a:cs typeface="Times New Roman"/>
                <a:sym typeface="Times New Roman"/>
              </a:rPr>
              <a:t>Keyframes are important frames during which an object changes its size, direction, shape or other properties. The computer then figures out all the in-between frames and saves an extreme amount of time for the animator. The following illustrations depict the frames drawn by user and the frames generated by computer</a:t>
            </a:r>
            <a:r>
              <a:rPr lang="en-US" sz="2600">
                <a:solidFill>
                  <a:schemeClr val="dk1"/>
                </a:solidFill>
              </a:rPr>
              <a:t>.</a:t>
            </a:r>
            <a:endParaRPr/>
          </a:p>
          <a:p>
            <a:pPr indent="0" lvl="0" marL="171450" rtl="0" algn="l">
              <a:lnSpc>
                <a:spcPct val="90000"/>
              </a:lnSpc>
              <a:spcBef>
                <a:spcPts val="750"/>
              </a:spcBef>
              <a:spcAft>
                <a:spcPts val="0"/>
              </a:spcAft>
              <a:buClr>
                <a:schemeClr val="dk1"/>
              </a:buClr>
              <a:buSzPts val="2800"/>
              <a:buNone/>
            </a:pPr>
            <a:r>
              <a:t/>
            </a:r>
            <a:endParaRPr sz="2800">
              <a:solidFill>
                <a:schemeClr val="dk1"/>
              </a:solidFill>
              <a:latin typeface="Times New Roman"/>
              <a:ea typeface="Times New Roman"/>
              <a:cs typeface="Times New Roman"/>
              <a:sym typeface="Times New Roman"/>
            </a:endParaRPr>
          </a:p>
        </p:txBody>
      </p:sp>
      <p:sp>
        <p:nvSpPr>
          <p:cNvPr id="279" name="Google Shape;279;p2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CSE, Daffodil International University</a:t>
            </a:r>
            <a:endParaRPr/>
          </a:p>
        </p:txBody>
      </p:sp>
      <p:sp>
        <p:nvSpPr>
          <p:cNvPr id="280" name="Google Shape;280;p2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81" name="Google Shape;281;p21"/>
          <p:cNvSpPr txBox="1"/>
          <p:nvPr>
            <p:ph type="title"/>
          </p:nvPr>
        </p:nvSpPr>
        <p:spPr>
          <a:xfrm>
            <a:off x="401425" y="344450"/>
            <a:ext cx="7886700" cy="1039500"/>
          </a:xfrm>
          <a:prstGeom prst="rect">
            <a:avLst/>
          </a:prstGeom>
          <a:solidFill>
            <a:schemeClr val="accent1"/>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Times New Roman"/>
              <a:buNone/>
            </a:pPr>
            <a:r>
              <a:rPr b="1" lang="en-US">
                <a:latin typeface="Times New Roman"/>
                <a:ea typeface="Times New Roman"/>
                <a:cs typeface="Times New Roman"/>
                <a:sym typeface="Times New Roman"/>
              </a:rPr>
              <a:t>3. K</a:t>
            </a:r>
            <a:r>
              <a:rPr b="1" lang="en-US">
                <a:latin typeface="Times New Roman"/>
                <a:ea typeface="Times New Roman"/>
                <a:cs typeface="Times New Roman"/>
                <a:sym typeface="Times New Roman"/>
              </a:rPr>
              <a:t>ey frame specifications</a:t>
            </a:r>
            <a:endParaRPr/>
          </a:p>
        </p:txBody>
      </p:sp>
      <p:pic>
        <p:nvPicPr>
          <p:cNvPr id="282" name="Google Shape;282;p21"/>
          <p:cNvPicPr preferRelativeResize="0"/>
          <p:nvPr/>
        </p:nvPicPr>
        <p:blipFill rotWithShape="1">
          <a:blip r:embed="rId3">
            <a:alphaModFix/>
          </a:blip>
          <a:srcRect b="0" l="0" r="0" t="0"/>
          <a:stretch/>
        </p:blipFill>
        <p:spPr>
          <a:xfrm>
            <a:off x="8015225" y="521300"/>
            <a:ext cx="1371600" cy="6858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pic>
        <p:nvPicPr>
          <p:cNvPr descr="C:\Users\User\Downloads\200px-Animexample3edit.png" id="287" name="Google Shape;287;p22"/>
          <p:cNvPicPr preferRelativeResize="0"/>
          <p:nvPr>
            <p:ph idx="1" type="body"/>
          </p:nvPr>
        </p:nvPicPr>
        <p:blipFill rotWithShape="1">
          <a:blip r:embed="rId3">
            <a:alphaModFix/>
          </a:blip>
          <a:srcRect b="0" l="0" r="0" t="0"/>
          <a:stretch/>
        </p:blipFill>
        <p:spPr>
          <a:xfrm>
            <a:off x="1524000" y="1371600"/>
            <a:ext cx="5791199" cy="4980462"/>
          </a:xfrm>
          <a:prstGeom prst="rect">
            <a:avLst/>
          </a:prstGeom>
          <a:noFill/>
          <a:ln>
            <a:noFill/>
          </a:ln>
        </p:spPr>
      </p:pic>
      <p:sp>
        <p:nvSpPr>
          <p:cNvPr id="288" name="Google Shape;288;p22"/>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CSE, Daffodil International University</a:t>
            </a:r>
            <a:endParaRPr/>
          </a:p>
        </p:txBody>
      </p:sp>
      <p:sp>
        <p:nvSpPr>
          <p:cNvPr id="289" name="Google Shape;289;p2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90" name="Google Shape;290;p22"/>
          <p:cNvSpPr txBox="1"/>
          <p:nvPr>
            <p:ph type="title"/>
          </p:nvPr>
        </p:nvSpPr>
        <p:spPr>
          <a:xfrm>
            <a:off x="401425" y="344450"/>
            <a:ext cx="7886700" cy="1039500"/>
          </a:xfrm>
          <a:prstGeom prst="rect">
            <a:avLst/>
          </a:prstGeom>
          <a:solidFill>
            <a:schemeClr val="accent1"/>
          </a:solid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a:p>
            <a:pPr indent="0" lvl="0" marL="0" rtl="0" algn="l">
              <a:spcBef>
                <a:spcPts val="0"/>
              </a:spcBef>
              <a:spcAft>
                <a:spcPts val="0"/>
              </a:spcAft>
              <a:buClr>
                <a:schemeClr val="dk1"/>
              </a:buClr>
              <a:buSzPct val="100000"/>
              <a:buFont typeface="Times New Roman"/>
              <a:buNone/>
            </a:pPr>
            <a:r>
              <a:rPr b="1" lang="en-US">
                <a:latin typeface="Times New Roman"/>
                <a:ea typeface="Times New Roman"/>
                <a:cs typeface="Times New Roman"/>
                <a:sym typeface="Times New Roman"/>
              </a:rPr>
              <a:t>Continue……</a:t>
            </a:r>
            <a:endParaRPr b="1"/>
          </a:p>
          <a:p>
            <a:pPr indent="0" lvl="0" marL="0" rtl="0" algn="l">
              <a:lnSpc>
                <a:spcPct val="90000"/>
              </a:lnSpc>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p:txBody>
      </p:sp>
      <p:pic>
        <p:nvPicPr>
          <p:cNvPr id="291" name="Google Shape;291;p22"/>
          <p:cNvPicPr preferRelativeResize="0"/>
          <p:nvPr/>
        </p:nvPicPr>
        <p:blipFill rotWithShape="1">
          <a:blip r:embed="rId4">
            <a:alphaModFix/>
          </a:blip>
          <a:srcRect b="0" l="0" r="0" t="0"/>
          <a:stretch/>
        </p:blipFill>
        <p:spPr>
          <a:xfrm>
            <a:off x="8015225" y="521300"/>
            <a:ext cx="1371600" cy="6858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23"/>
          <p:cNvSpPr txBox="1"/>
          <p:nvPr>
            <p:ph idx="1" type="body"/>
          </p:nvPr>
        </p:nvSpPr>
        <p:spPr>
          <a:xfrm>
            <a:off x="628650" y="1825675"/>
            <a:ext cx="7886700" cy="4351200"/>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It is a process of generating intermediate frames between 2 images to give appearance that the 1</a:t>
            </a:r>
            <a:r>
              <a:rPr baseline="30000" lang="en-US" sz="2800">
                <a:latin typeface="Times New Roman"/>
                <a:ea typeface="Times New Roman"/>
                <a:cs typeface="Times New Roman"/>
                <a:sym typeface="Times New Roman"/>
              </a:rPr>
              <a:t>st</a:t>
            </a:r>
            <a:r>
              <a:rPr lang="en-US" sz="2800">
                <a:latin typeface="Times New Roman"/>
                <a:ea typeface="Times New Roman"/>
                <a:cs typeface="Times New Roman"/>
                <a:sym typeface="Times New Roman"/>
              </a:rPr>
              <a:t> image evolves smoothly into the second image. In-betweens are the drawing between the key frames which help to create the illusion of motion.</a:t>
            </a:r>
            <a:endParaRPr/>
          </a:p>
          <a:p>
            <a:pPr indent="-342900" lvl="0" marL="342900" rtl="0" algn="l">
              <a:lnSpc>
                <a:spcPct val="90000"/>
              </a:lnSpc>
              <a:spcBef>
                <a:spcPts val="750"/>
              </a:spcBef>
              <a:spcAft>
                <a:spcPts val="0"/>
              </a:spcAft>
              <a:buClr>
                <a:schemeClr val="dk1"/>
              </a:buClr>
              <a:buSzPts val="2800"/>
              <a:buFont typeface="Noto Sans Symbols"/>
              <a:buChar char="⮚"/>
            </a:pPr>
            <a:r>
              <a:rPr lang="en-US" sz="2800">
                <a:latin typeface="Times New Roman"/>
                <a:ea typeface="Times New Roman"/>
                <a:cs typeface="Times New Roman"/>
                <a:sym typeface="Times New Roman"/>
              </a:rPr>
              <a:t>Film requires 24 frames per second and graphics terminals are refreshed at a rate of 30 to 60 frames per second.</a:t>
            </a:r>
            <a:endParaRPr/>
          </a:p>
          <a:p>
            <a:pPr indent="0" lvl="0" marL="171450" rtl="0" algn="l">
              <a:lnSpc>
                <a:spcPct val="90000"/>
              </a:lnSpc>
              <a:spcBef>
                <a:spcPts val="750"/>
              </a:spcBef>
              <a:spcAft>
                <a:spcPts val="0"/>
              </a:spcAft>
              <a:buClr>
                <a:schemeClr val="dk1"/>
              </a:buClr>
              <a:buSzPts val="2800"/>
              <a:buNone/>
            </a:pPr>
            <a:r>
              <a:t/>
            </a:r>
            <a:endParaRPr sz="2800">
              <a:latin typeface="Times New Roman"/>
              <a:ea typeface="Times New Roman"/>
              <a:cs typeface="Times New Roman"/>
              <a:sym typeface="Times New Roman"/>
            </a:endParaRPr>
          </a:p>
        </p:txBody>
      </p:sp>
      <p:sp>
        <p:nvSpPr>
          <p:cNvPr id="297" name="Google Shape;297;p2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CSE, Daffodil International University</a:t>
            </a:r>
            <a:endParaRPr/>
          </a:p>
        </p:txBody>
      </p:sp>
      <p:sp>
        <p:nvSpPr>
          <p:cNvPr id="298" name="Google Shape;298;p2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99" name="Google Shape;299;p23"/>
          <p:cNvSpPr txBox="1"/>
          <p:nvPr>
            <p:ph type="title"/>
          </p:nvPr>
        </p:nvSpPr>
        <p:spPr>
          <a:xfrm>
            <a:off x="401425" y="344450"/>
            <a:ext cx="7886700" cy="1039500"/>
          </a:xfrm>
          <a:prstGeom prst="rect">
            <a:avLst/>
          </a:prstGeom>
          <a:solidFill>
            <a:schemeClr val="accent1"/>
          </a:solidFill>
          <a:ln>
            <a:noFill/>
          </a:ln>
        </p:spPr>
        <p:txBody>
          <a:bodyPr anchorCtr="0" anchor="ctr" bIns="45700" lIns="91425" spcFirstLastPara="1" rIns="91425" wrap="square" tIns="45700">
            <a:normAutofit fontScale="90000"/>
          </a:bodyPr>
          <a:lstStyle/>
          <a:p>
            <a:pPr indent="-342900" lvl="0" marL="342900" rtl="0" algn="l">
              <a:spcBef>
                <a:spcPts val="0"/>
              </a:spcBef>
              <a:spcAft>
                <a:spcPts val="0"/>
              </a:spcAft>
              <a:buClr>
                <a:schemeClr val="dk1"/>
              </a:buClr>
              <a:buSzPct val="100000"/>
              <a:buFont typeface="Times New Roman"/>
              <a:buNone/>
            </a:pPr>
            <a:br>
              <a:rPr lang="en-US">
                <a:latin typeface="Times New Roman"/>
                <a:ea typeface="Times New Roman"/>
                <a:cs typeface="Times New Roman"/>
                <a:sym typeface="Times New Roman"/>
              </a:rPr>
            </a:br>
            <a:endParaRPr>
              <a:latin typeface="Times New Roman"/>
              <a:ea typeface="Times New Roman"/>
              <a:cs typeface="Times New Roman"/>
              <a:sym typeface="Times New Roman"/>
            </a:endParaRPr>
          </a:p>
          <a:p>
            <a:pPr indent="-342900" lvl="0" marL="342900" rtl="0" algn="l">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a:p>
            <a:pPr indent="-342900" lvl="0" marL="342900" rtl="0" algn="l">
              <a:spcBef>
                <a:spcPts val="0"/>
              </a:spcBef>
              <a:spcAft>
                <a:spcPts val="0"/>
              </a:spcAft>
              <a:buClr>
                <a:schemeClr val="dk1"/>
              </a:buClr>
              <a:buSzPct val="100000"/>
              <a:buFont typeface="Times New Roman"/>
              <a:buNone/>
            </a:pPr>
            <a:r>
              <a:rPr b="1" lang="en-US">
                <a:latin typeface="Times New Roman"/>
                <a:ea typeface="Times New Roman"/>
                <a:cs typeface="Times New Roman"/>
                <a:sym typeface="Times New Roman"/>
              </a:rPr>
              <a:t>4.Generation of in-between frames</a:t>
            </a:r>
            <a:br>
              <a:rPr lang="en-US">
                <a:latin typeface="Times New Roman"/>
                <a:ea typeface="Times New Roman"/>
                <a:cs typeface="Times New Roman"/>
                <a:sym typeface="Times New Roman"/>
              </a:rPr>
            </a:br>
            <a:br>
              <a:rPr lang="en-US">
                <a:latin typeface="Times New Roman"/>
                <a:ea typeface="Times New Roman"/>
                <a:cs typeface="Times New Roman"/>
                <a:sym typeface="Times New Roman"/>
              </a:rPr>
            </a:br>
            <a:endParaRPr/>
          </a:p>
          <a:p>
            <a:pPr indent="0" lvl="0" marL="0" rtl="0" algn="l">
              <a:lnSpc>
                <a:spcPct val="90000"/>
              </a:lnSpc>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p:txBody>
      </p:sp>
      <p:pic>
        <p:nvPicPr>
          <p:cNvPr id="300" name="Google Shape;300;p23"/>
          <p:cNvPicPr preferRelativeResize="0"/>
          <p:nvPr/>
        </p:nvPicPr>
        <p:blipFill rotWithShape="1">
          <a:blip r:embed="rId3">
            <a:alphaModFix/>
          </a:blip>
          <a:srcRect b="0" l="0" r="0" t="0"/>
          <a:stretch/>
        </p:blipFill>
        <p:spPr>
          <a:xfrm>
            <a:off x="8015225" y="521300"/>
            <a:ext cx="1371600" cy="6858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pic>
        <p:nvPicPr>
          <p:cNvPr id="305" name="Google Shape;305;p24"/>
          <p:cNvPicPr preferRelativeResize="0"/>
          <p:nvPr>
            <p:ph idx="1" type="body"/>
          </p:nvPr>
        </p:nvPicPr>
        <p:blipFill rotWithShape="1">
          <a:blip r:embed="rId3">
            <a:alphaModFix/>
          </a:blip>
          <a:srcRect b="0" l="0" r="0" t="0"/>
          <a:stretch/>
        </p:blipFill>
        <p:spPr>
          <a:xfrm>
            <a:off x="156117" y="1566925"/>
            <a:ext cx="6858000" cy="4711700"/>
          </a:xfrm>
          <a:prstGeom prst="rect">
            <a:avLst/>
          </a:prstGeom>
          <a:noFill/>
          <a:ln>
            <a:noFill/>
          </a:ln>
        </p:spPr>
      </p:pic>
      <p:sp>
        <p:nvSpPr>
          <p:cNvPr id="306" name="Google Shape;306;p24"/>
          <p:cNvSpPr txBox="1"/>
          <p:nvPr/>
        </p:nvSpPr>
        <p:spPr>
          <a:xfrm>
            <a:off x="6796025" y="1719075"/>
            <a:ext cx="2195700" cy="4407300"/>
          </a:xfrm>
          <a:prstGeom prst="rect">
            <a:avLst/>
          </a:prstGeom>
          <a:noFill/>
          <a:ln>
            <a:noFill/>
          </a:ln>
        </p:spPr>
        <p:txBody>
          <a:bodyPr anchorCtr="0" anchor="t" bIns="45700" lIns="91425" spcFirstLastPara="1" rIns="91425" wrap="square" tIns="45700">
            <a:normAutofit/>
          </a:bodyPr>
          <a:lstStyle/>
          <a:p>
            <a:pPr indent="0" lvl="0" marL="45720" marR="0" rtl="0" algn="l">
              <a:spcBef>
                <a:spcPts val="0"/>
              </a:spcBef>
              <a:spcAft>
                <a:spcPts val="0"/>
              </a:spcAft>
              <a:buClr>
                <a:schemeClr val="accent1"/>
              </a:buClr>
              <a:buSzPts val="2800"/>
              <a:buFont typeface="Noto Sans Symbols"/>
              <a:buNone/>
            </a:pPr>
            <a:r>
              <a:rPr b="0" i="0" lang="en-US" sz="2800" u="none" cap="none" strike="noStrike">
                <a:solidFill>
                  <a:schemeClr val="dk1"/>
                </a:solidFill>
                <a:latin typeface="Times New Roman"/>
                <a:ea typeface="Times New Roman"/>
                <a:cs typeface="Times New Roman"/>
                <a:sym typeface="Times New Roman"/>
              </a:rPr>
              <a:t>In between frames work as </a:t>
            </a:r>
            <a:r>
              <a:rPr lang="en-US" sz="2800">
                <a:solidFill>
                  <a:schemeClr val="dk1"/>
                </a:solidFill>
                <a:latin typeface="Times New Roman"/>
                <a:ea typeface="Times New Roman"/>
                <a:cs typeface="Times New Roman"/>
                <a:sym typeface="Times New Roman"/>
              </a:rPr>
              <a:t>intermediate</a:t>
            </a:r>
            <a:r>
              <a:rPr b="0" i="0" lang="en-US" sz="2800" u="none" cap="none" strike="noStrike">
                <a:solidFill>
                  <a:schemeClr val="dk1"/>
                </a:solidFill>
                <a:latin typeface="Times New Roman"/>
                <a:ea typeface="Times New Roman"/>
                <a:cs typeface="Times New Roman"/>
                <a:sym typeface="Times New Roman"/>
              </a:rPr>
              <a:t> frames between 2 key frames</a:t>
            </a:r>
            <a:endParaRPr b="0" i="0" sz="2800" u="none" cap="none" strike="noStrike">
              <a:solidFill>
                <a:schemeClr val="dk1"/>
              </a:solidFill>
              <a:latin typeface="Times New Roman"/>
              <a:ea typeface="Times New Roman"/>
              <a:cs typeface="Times New Roman"/>
              <a:sym typeface="Times New Roman"/>
            </a:endParaRPr>
          </a:p>
        </p:txBody>
      </p:sp>
      <p:sp>
        <p:nvSpPr>
          <p:cNvPr id="307" name="Google Shape;307;p2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CSE, Daffodil International University</a:t>
            </a:r>
            <a:endParaRPr/>
          </a:p>
        </p:txBody>
      </p:sp>
      <p:sp>
        <p:nvSpPr>
          <p:cNvPr id="308" name="Google Shape;308;p2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09" name="Google Shape;309;p24"/>
          <p:cNvSpPr txBox="1"/>
          <p:nvPr>
            <p:ph type="title"/>
          </p:nvPr>
        </p:nvSpPr>
        <p:spPr>
          <a:xfrm>
            <a:off x="401425" y="344450"/>
            <a:ext cx="7886700" cy="1039500"/>
          </a:xfrm>
          <a:prstGeom prst="rect">
            <a:avLst/>
          </a:prstGeom>
          <a:solidFill>
            <a:schemeClr val="accent1"/>
          </a:solid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a:p>
            <a:pPr indent="0" lvl="0" marL="0" rtl="0" algn="l">
              <a:spcBef>
                <a:spcPts val="0"/>
              </a:spcBef>
              <a:spcAft>
                <a:spcPts val="0"/>
              </a:spcAft>
              <a:buClr>
                <a:schemeClr val="dk1"/>
              </a:buClr>
              <a:buSzPct val="100000"/>
              <a:buFont typeface="Times New Roman"/>
              <a:buNone/>
            </a:pPr>
            <a:r>
              <a:rPr b="1" lang="en-US">
                <a:latin typeface="Times New Roman"/>
                <a:ea typeface="Times New Roman"/>
                <a:cs typeface="Times New Roman"/>
                <a:sym typeface="Times New Roman"/>
              </a:rPr>
              <a:t>Continue……</a:t>
            </a:r>
            <a:endParaRPr b="1">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ct val="100000"/>
              <a:buFont typeface="Times New Roman"/>
              <a:buNone/>
            </a:pPr>
            <a:r>
              <a:t/>
            </a:r>
            <a:endParaRPr b="1">
              <a:latin typeface="Times New Roman"/>
              <a:ea typeface="Times New Roman"/>
              <a:cs typeface="Times New Roman"/>
              <a:sym typeface="Times New Roman"/>
            </a:endParaRPr>
          </a:p>
        </p:txBody>
      </p:sp>
      <p:pic>
        <p:nvPicPr>
          <p:cNvPr id="310" name="Google Shape;310;p24"/>
          <p:cNvPicPr preferRelativeResize="0"/>
          <p:nvPr/>
        </p:nvPicPr>
        <p:blipFill rotWithShape="1">
          <a:blip r:embed="rId4">
            <a:alphaModFix/>
          </a:blip>
          <a:srcRect b="0" l="0" r="0" t="0"/>
          <a:stretch/>
        </p:blipFill>
        <p:spPr>
          <a:xfrm>
            <a:off x="8015225" y="521300"/>
            <a:ext cx="1371600" cy="6858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pic>
        <p:nvPicPr>
          <p:cNvPr id="315" name="Google Shape;315;p25"/>
          <p:cNvPicPr preferRelativeResize="0"/>
          <p:nvPr>
            <p:ph idx="1" type="body"/>
          </p:nvPr>
        </p:nvPicPr>
        <p:blipFill rotWithShape="1">
          <a:blip r:embed="rId3">
            <a:alphaModFix/>
          </a:blip>
          <a:srcRect b="0" l="0" r="0" t="0"/>
          <a:stretch/>
        </p:blipFill>
        <p:spPr>
          <a:xfrm>
            <a:off x="1671108" y="1295400"/>
            <a:ext cx="5801784" cy="4351338"/>
          </a:xfrm>
          <a:prstGeom prst="rect">
            <a:avLst/>
          </a:prstGeom>
          <a:noFill/>
          <a:ln>
            <a:noFill/>
          </a:ln>
        </p:spPr>
      </p:pic>
      <p:sp>
        <p:nvSpPr>
          <p:cNvPr id="316" name="Google Shape;316;p25"/>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CSE, Daffodil International University</a:t>
            </a:r>
            <a:endParaRPr/>
          </a:p>
        </p:txBody>
      </p:sp>
      <p:sp>
        <p:nvSpPr>
          <p:cNvPr id="317" name="Google Shape;317;p2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18" name="Google Shape;318;p25"/>
          <p:cNvPicPr preferRelativeResize="0"/>
          <p:nvPr/>
        </p:nvPicPr>
        <p:blipFill rotWithShape="1">
          <a:blip r:embed="rId4">
            <a:alphaModFix/>
          </a:blip>
          <a:srcRect b="0" l="0" r="0" t="0"/>
          <a:stretch/>
        </p:blipFill>
        <p:spPr>
          <a:xfrm>
            <a:off x="8015225" y="521300"/>
            <a:ext cx="1371600" cy="6858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2017-02-14T17:21:33Z</dcterms:created>
  <dc:creator>User</dc:creator>
</cp:coreProperties>
</file>