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9296400" cy="701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i5BxHPqTL3g+aTSVebtoCAZ9aT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5738" y="0"/>
            <a:ext cx="4029075" cy="3508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9563"/>
            <a:ext cx="4029075" cy="3508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5738" y="6659563"/>
            <a:ext cx="4029075" cy="3508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5265738" y="6659563"/>
            <a:ext cx="4029075" cy="3508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4: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7: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9: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5: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6: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7: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8: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9: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20: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2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22: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4: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5: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5: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0"/>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30"/>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3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3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3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3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p:nvPr>
            <p:ph idx="2" type="pic"/>
          </p:nvPr>
        </p:nvSpPr>
        <p:spPr>
          <a:xfrm>
            <a:off x="3887391" y="987426"/>
            <a:ext cx="4629150" cy="4873625"/>
          </a:xfrm>
          <a:prstGeom prst="rect">
            <a:avLst/>
          </a:prstGeom>
          <a:noFill/>
          <a:ln>
            <a:noFill/>
          </a:ln>
        </p:spPr>
      </p:sp>
      <p:sp>
        <p:nvSpPr>
          <p:cNvPr id="68" name="Google Shape;68;p35"/>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7"/>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3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gi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gi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990600" y="762000"/>
            <a:ext cx="6858000" cy="2316163"/>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b="1" lang="en-US" sz="4000"/>
              <a:t>Computer Graphics</a:t>
            </a:r>
            <a:br>
              <a:rPr b="1" lang="en-US" sz="4000"/>
            </a:br>
            <a:r>
              <a:rPr b="1" lang="en-US" sz="4000"/>
              <a:t>Computer Animation</a:t>
            </a:r>
            <a:br>
              <a:rPr b="1" lang="en-US" sz="4000"/>
            </a:br>
            <a:r>
              <a:rPr b="1" lang="en-US" sz="3100">
                <a:solidFill>
                  <a:srgbClr val="FF0000"/>
                </a:solidFill>
              </a:rPr>
              <a:t>Lecture-17</a:t>
            </a:r>
            <a:br>
              <a:rPr lang="en-US"/>
            </a:br>
            <a:endParaRPr/>
          </a:p>
        </p:txBody>
      </p:sp>
      <p:sp>
        <p:nvSpPr>
          <p:cNvPr id="90" name="Google Shape;90;p1"/>
          <p:cNvSpPr txBox="1"/>
          <p:nvPr>
            <p:ph idx="1" type="subTitle"/>
          </p:nvPr>
        </p:nvSpPr>
        <p:spPr>
          <a:xfrm>
            <a:off x="990600" y="4320000"/>
            <a:ext cx="6858000" cy="19602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1800"/>
              <a:buFont typeface="Noto Sans Symbols"/>
              <a:buNone/>
            </a:pPr>
            <a:r>
              <a:t/>
            </a:r>
            <a:endParaRPr/>
          </a:p>
          <a:p>
            <a:pPr indent="0" lvl="0" marL="0" rtl="0" algn="ctr">
              <a:lnSpc>
                <a:spcPct val="90000"/>
              </a:lnSpc>
              <a:spcBef>
                <a:spcPts val="750"/>
              </a:spcBef>
              <a:spcAft>
                <a:spcPts val="0"/>
              </a:spcAft>
              <a:buClr>
                <a:schemeClr val="dk1"/>
              </a:buClr>
              <a:buSzPts val="1800"/>
              <a:buFont typeface="Noto Sans Symbols"/>
              <a:buNone/>
            </a:pPr>
            <a:br>
              <a:rPr lang="en-US"/>
            </a:br>
            <a:endParaRPr/>
          </a:p>
          <a:p>
            <a:pPr indent="0" lvl="0" marL="0" rtl="0" algn="ctr">
              <a:lnSpc>
                <a:spcPct val="90000"/>
              </a:lnSpc>
              <a:spcBef>
                <a:spcPts val="750"/>
              </a:spcBef>
              <a:spcAft>
                <a:spcPts val="0"/>
              </a:spcAft>
              <a:buClr>
                <a:schemeClr val="dk1"/>
              </a:buClr>
              <a:buSzPts val="1800"/>
              <a:buFont typeface="Noto Sans Symbols"/>
              <a:buNone/>
            </a:pPr>
            <a:r>
              <a:rPr lang="en-US">
                <a:solidFill>
                  <a:srgbClr val="FF0000"/>
                </a:solidFill>
              </a:rPr>
              <a:t>Mahimul Islam Nadim</a:t>
            </a:r>
            <a:br>
              <a:rPr lang="en-US"/>
            </a:br>
            <a:r>
              <a:rPr lang="en-US"/>
              <a:t>Senior Lecturer</a:t>
            </a:r>
            <a:endParaRPr/>
          </a:p>
          <a:p>
            <a:pPr indent="0" lvl="0" marL="0" rtl="0" algn="ctr">
              <a:lnSpc>
                <a:spcPct val="90000"/>
              </a:lnSpc>
              <a:spcBef>
                <a:spcPts val="750"/>
              </a:spcBef>
              <a:spcAft>
                <a:spcPts val="0"/>
              </a:spcAft>
              <a:buClr>
                <a:schemeClr val="dk1"/>
              </a:buClr>
              <a:buSzPts val="1800"/>
              <a:buFont typeface="Noto Sans Symbols"/>
              <a:buNone/>
            </a:pPr>
            <a:r>
              <a:rPr lang="en-US"/>
              <a:t>Department of Computer Science and Engineering</a:t>
            </a:r>
            <a:br>
              <a:rPr lang="en-US"/>
            </a:br>
            <a:r>
              <a:rPr lang="en-US"/>
              <a:t>Daffodil International University, DIU</a:t>
            </a:r>
            <a:endParaRPr/>
          </a:p>
        </p:txBody>
      </p:sp>
      <p:sp>
        <p:nvSpPr>
          <p:cNvPr descr="Diu Logo PNG Images - CleanPNG" id="91" name="Google Shape;91;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93" name="Google Shape;93;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94" name="Google Shape;94;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descr="C:\Users\User\Downloads\tumblr_m6h2a1xPTj1rxlmf0o1_500.gif" id="95" name="Google Shape;95;p1"/>
          <p:cNvPicPr preferRelativeResize="0"/>
          <p:nvPr/>
        </p:nvPicPr>
        <p:blipFill rotWithShape="1">
          <a:blip r:embed="rId4">
            <a:alphaModFix/>
          </a:blip>
          <a:srcRect b="0" l="0" r="0" t="0"/>
          <a:stretch/>
        </p:blipFill>
        <p:spPr>
          <a:xfrm>
            <a:off x="2571750" y="2535519"/>
            <a:ext cx="3886200" cy="26315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01425" y="344450"/>
            <a:ext cx="7886700" cy="10395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Computer Animation</a:t>
            </a:r>
            <a:endParaRPr/>
          </a:p>
        </p:txBody>
      </p:sp>
      <p:sp>
        <p:nvSpPr>
          <p:cNvPr id="101" name="Google Shape;101;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Computer Animation is the process used for generating animated images using computer graphics.</a:t>
            </a:r>
            <a:endParaRPr/>
          </a:p>
          <a:p>
            <a:pPr indent="-171450" lvl="0" marL="17145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Computer-assisted animation and computer-generated animation are two categories of computer animation</a:t>
            </a:r>
            <a:endParaRPr/>
          </a:p>
          <a:p>
            <a:pPr indent="0" lvl="0" marL="171450" rtl="0" algn="l">
              <a:lnSpc>
                <a:spcPct val="90000"/>
              </a:lnSpc>
              <a:spcBef>
                <a:spcPts val="750"/>
              </a:spcBef>
              <a:spcAft>
                <a:spcPts val="0"/>
              </a:spcAft>
              <a:buClr>
                <a:schemeClr val="dk1"/>
              </a:buClr>
              <a:buSzPts val="2800"/>
              <a:buNone/>
            </a:pPr>
            <a:r>
              <a:t/>
            </a:r>
            <a:endParaRPr sz="2800"/>
          </a:p>
        </p:txBody>
      </p:sp>
      <p:pic>
        <p:nvPicPr>
          <p:cNvPr descr="C:\Users\User\Downloads\laptop-animated-busy-animation-smiley-emoticon-000418-large.gif" id="102" name="Google Shape;102;p2"/>
          <p:cNvPicPr preferRelativeResize="0"/>
          <p:nvPr/>
        </p:nvPicPr>
        <p:blipFill rotWithShape="1">
          <a:blip r:embed="rId3">
            <a:alphaModFix/>
          </a:blip>
          <a:srcRect b="0" l="0" r="0" t="0"/>
          <a:stretch/>
        </p:blipFill>
        <p:spPr>
          <a:xfrm>
            <a:off x="2590800" y="4315691"/>
            <a:ext cx="3135312" cy="1905000"/>
          </a:xfrm>
          <a:prstGeom prst="rect">
            <a:avLst/>
          </a:prstGeom>
          <a:noFill/>
          <a:ln>
            <a:noFill/>
          </a:ln>
        </p:spPr>
      </p:pic>
      <p:pic>
        <p:nvPicPr>
          <p:cNvPr id="103" name="Google Shape;103;p2"/>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
        <p:nvSpPr>
          <p:cNvPr id="104" name="Google Shape;104;p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05" name="Google Shape;105;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Animators have invented and used a variety of different animation techniques. Basically there are six animation technique which we would discuss one by one in this section.</a:t>
            </a:r>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Traditional Animation (frame by frame),</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Key framing,</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Procedural,</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Behavioral,</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Performance Based (Motion Capture</a:t>
            </a:r>
            <a:r>
              <a:rPr lang="en-US" sz="2400">
                <a:latin typeface="Times New Roman"/>
                <a:ea typeface="Times New Roman"/>
                <a:cs typeface="Times New Roman"/>
                <a:sym typeface="Times New Roman"/>
              </a:rPr>
              <a:t>),</a:t>
            </a:r>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Physically Based (Dynamics).</a:t>
            </a:r>
            <a:endParaRPr b="1" sz="2400">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b="1"/>
          </a:p>
        </p:txBody>
      </p:sp>
      <p:sp>
        <p:nvSpPr>
          <p:cNvPr id="111" name="Google Shape;111;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12" name="Google Shape;112;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13" name="Google Shape;113;p3"/>
          <p:cNvSpPr txBox="1"/>
          <p:nvPr>
            <p:ph type="title"/>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sz="3700">
                <a:latin typeface="Times New Roman"/>
                <a:ea typeface="Times New Roman"/>
                <a:cs typeface="Times New Roman"/>
                <a:sym typeface="Times New Roman"/>
              </a:rPr>
              <a:t>Animation Techniques</a:t>
            </a:r>
            <a:endParaRPr/>
          </a:p>
        </p:txBody>
      </p:sp>
      <p:pic>
        <p:nvPicPr>
          <p:cNvPr id="114" name="Google Shape;114;p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idx="1" type="body"/>
          </p:nvPr>
        </p:nvSpPr>
        <p:spPr>
          <a:xfrm>
            <a:off x="401425" y="1383950"/>
            <a:ext cx="7886700" cy="5474100"/>
          </a:xfrm>
          <a:prstGeom prst="rect">
            <a:avLst/>
          </a:prstGeom>
          <a:noFill/>
          <a:ln>
            <a:noFill/>
          </a:ln>
        </p:spPr>
        <p:txBody>
          <a:bodyPr anchorCtr="0" anchor="t" bIns="45700" lIns="91425" spcFirstLastPara="1" rIns="91425" wrap="square" tIns="45700">
            <a:normAutofit/>
          </a:bodyPr>
          <a:lstStyle/>
          <a:p>
            <a:pPr indent="-158750" lvl="0" marL="171450" rtl="0" algn="l">
              <a:lnSpc>
                <a:spcPct val="9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Traditional animation is a technique in which </a:t>
            </a:r>
            <a:r>
              <a:rPr b="1" lang="en-US" sz="2200">
                <a:latin typeface="Times New Roman"/>
                <a:ea typeface="Times New Roman"/>
                <a:cs typeface="Times New Roman"/>
                <a:sym typeface="Times New Roman"/>
              </a:rPr>
              <a:t>each frame of the animation is drawn separately</a:t>
            </a:r>
            <a:r>
              <a:rPr lang="en-US" sz="2200">
                <a:latin typeface="Times New Roman"/>
                <a:ea typeface="Times New Roman"/>
                <a:cs typeface="Times New Roman"/>
                <a:sym typeface="Times New Roman"/>
              </a:rPr>
              <a:t> to create motion when played in sequence.</a:t>
            </a:r>
            <a:endParaRPr sz="2200">
              <a:latin typeface="Times New Roman"/>
              <a:ea typeface="Times New Roman"/>
              <a:cs typeface="Times New Roman"/>
              <a:sym typeface="Times New Roman"/>
            </a:endParaRPr>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Each frame is </a:t>
            </a:r>
            <a:r>
              <a:rPr b="1" lang="en-US" sz="2200">
                <a:latin typeface="Times New Roman"/>
                <a:ea typeface="Times New Roman"/>
                <a:cs typeface="Times New Roman"/>
                <a:sym typeface="Times New Roman"/>
              </a:rPr>
              <a:t>drawn individually</a:t>
            </a:r>
            <a:endParaRPr sz="2200">
              <a:latin typeface="Times New Roman"/>
              <a:ea typeface="Times New Roman"/>
              <a:cs typeface="Times New Roman"/>
              <a:sym typeface="Times New Roman"/>
            </a:endParaRPr>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Motion created by rapid display of frames</a:t>
            </a:r>
            <a:endParaRPr sz="1600"/>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High artistic control</a:t>
            </a:r>
            <a:endParaRPr sz="1600"/>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Time-consuming</a:t>
            </a:r>
            <a:endParaRPr sz="2200">
              <a:latin typeface="Times New Roman"/>
              <a:ea typeface="Times New Roman"/>
              <a:cs typeface="Times New Roman"/>
              <a:sym typeface="Times New Roman"/>
            </a:endParaRPr>
          </a:p>
          <a:p>
            <a:pPr indent="0" lvl="0" marL="0" rtl="0" algn="l">
              <a:lnSpc>
                <a:spcPct val="90000"/>
              </a:lnSpc>
              <a:spcBef>
                <a:spcPts val="750"/>
              </a:spcBef>
              <a:spcAft>
                <a:spcPts val="0"/>
              </a:spcAft>
              <a:buNone/>
            </a:pPr>
            <a:r>
              <a:rPr b="1" lang="en-US" sz="2200">
                <a:latin typeface="Times New Roman"/>
                <a:ea typeface="Times New Roman"/>
                <a:cs typeface="Times New Roman"/>
                <a:sym typeface="Times New Roman"/>
              </a:rPr>
              <a:t>Example:</a:t>
            </a:r>
            <a:r>
              <a:rPr lang="en-US" sz="2200">
                <a:latin typeface="Times New Roman"/>
                <a:ea typeface="Times New Roman"/>
                <a:cs typeface="Times New Roman"/>
                <a:sym typeface="Times New Roman"/>
              </a:rPr>
              <a:t> Hand-drawn cartoons</a:t>
            </a:r>
            <a:endParaRPr sz="1900"/>
          </a:p>
          <a:p>
            <a:pPr indent="0" lvl="0" marL="0" rtl="0" algn="l">
              <a:lnSpc>
                <a:spcPct val="90000"/>
              </a:lnSpc>
              <a:spcBef>
                <a:spcPts val="750"/>
              </a:spcBef>
              <a:spcAft>
                <a:spcPts val="0"/>
              </a:spcAft>
              <a:buClr>
                <a:schemeClr val="dk1"/>
              </a:buClr>
              <a:buSzPts val="2100"/>
              <a:buNone/>
            </a:pPr>
            <a:r>
              <a:t/>
            </a:r>
            <a:endParaRPr sz="1900"/>
          </a:p>
          <a:p>
            <a:pPr indent="-38100" lvl="0" marL="171450" rtl="0" algn="l">
              <a:lnSpc>
                <a:spcPct val="90000"/>
              </a:lnSpc>
              <a:spcBef>
                <a:spcPts val="750"/>
              </a:spcBef>
              <a:spcAft>
                <a:spcPts val="0"/>
              </a:spcAft>
              <a:buClr>
                <a:schemeClr val="dk1"/>
              </a:buClr>
              <a:buSzPts val="2100"/>
              <a:buNone/>
            </a:pPr>
            <a:r>
              <a:t/>
            </a:r>
            <a:endParaRPr sz="1900"/>
          </a:p>
        </p:txBody>
      </p:sp>
      <p:sp>
        <p:nvSpPr>
          <p:cNvPr id="120" name="Google Shape;120;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21" name="Google Shape;121;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22" name="Google Shape;122;p4"/>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Traditional Animation (frame by frame)</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23" name="Google Shape;123;p4"/>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124" name="Google Shape;124;p4"/>
          <p:cNvPicPr preferRelativeResize="0"/>
          <p:nvPr/>
        </p:nvPicPr>
        <p:blipFill rotWithShape="1">
          <a:blip r:embed="rId4">
            <a:alphaModFix/>
          </a:blip>
          <a:srcRect b="0" l="0" r="0" t="0"/>
          <a:stretch/>
        </p:blipFill>
        <p:spPr>
          <a:xfrm>
            <a:off x="878950" y="4139250"/>
            <a:ext cx="7386100" cy="2718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idx="1" type="body"/>
          </p:nvPr>
        </p:nvSpPr>
        <p:spPr>
          <a:xfrm>
            <a:off x="401425" y="1383950"/>
            <a:ext cx="7886700" cy="5474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200">
                <a:latin typeface="Times New Roman"/>
                <a:ea typeface="Times New Roman"/>
                <a:cs typeface="Times New Roman"/>
                <a:sym typeface="Times New Roman"/>
              </a:rPr>
              <a:t>Key-frame animation defines </a:t>
            </a:r>
            <a:r>
              <a:rPr b="1" lang="en-US" sz="2200">
                <a:latin typeface="Times New Roman"/>
                <a:ea typeface="Times New Roman"/>
                <a:cs typeface="Times New Roman"/>
                <a:sym typeface="Times New Roman"/>
              </a:rPr>
              <a:t>important frames (key frames)</a:t>
            </a:r>
            <a:r>
              <a:rPr lang="en-US" sz="2200">
                <a:latin typeface="Times New Roman"/>
                <a:ea typeface="Times New Roman"/>
                <a:cs typeface="Times New Roman"/>
                <a:sym typeface="Times New Roman"/>
              </a:rPr>
              <a:t>, and the computer automatically generates the </a:t>
            </a:r>
            <a:r>
              <a:rPr b="1" lang="en-US" sz="2200">
                <a:latin typeface="Times New Roman"/>
                <a:ea typeface="Times New Roman"/>
                <a:cs typeface="Times New Roman"/>
                <a:sym typeface="Times New Roman"/>
              </a:rPr>
              <a:t>in-between frames</a:t>
            </a:r>
            <a:r>
              <a:rPr lang="en-US" sz="2200">
                <a:latin typeface="Times New Roman"/>
                <a:ea typeface="Times New Roman"/>
                <a:cs typeface="Times New Roman"/>
                <a:sym typeface="Times New Roman"/>
              </a:rPr>
              <a:t> (in-betweening).</a:t>
            </a:r>
            <a:endParaRPr sz="2200">
              <a:latin typeface="Times New Roman"/>
              <a:ea typeface="Times New Roman"/>
              <a:cs typeface="Times New Roman"/>
              <a:sym typeface="Times New Roman"/>
            </a:endParaRPr>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Animator defines </a:t>
            </a:r>
            <a:r>
              <a:rPr b="1" lang="en-US" sz="2200">
                <a:latin typeface="Times New Roman"/>
                <a:ea typeface="Times New Roman"/>
                <a:cs typeface="Times New Roman"/>
                <a:sym typeface="Times New Roman"/>
              </a:rPr>
              <a:t>key frames</a:t>
            </a:r>
            <a:endParaRPr sz="2200">
              <a:latin typeface="Times New Roman"/>
              <a:ea typeface="Times New Roman"/>
              <a:cs typeface="Times New Roman"/>
              <a:sym typeface="Times New Roman"/>
            </a:endParaRPr>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Computer generates </a:t>
            </a:r>
            <a:r>
              <a:rPr b="1" lang="en-US" sz="2200">
                <a:latin typeface="Times New Roman"/>
                <a:ea typeface="Times New Roman"/>
                <a:cs typeface="Times New Roman"/>
                <a:sym typeface="Times New Roman"/>
              </a:rPr>
              <a:t>in-between frames</a:t>
            </a:r>
            <a:endParaRPr sz="2200">
              <a:latin typeface="Times New Roman"/>
              <a:ea typeface="Times New Roman"/>
              <a:cs typeface="Times New Roman"/>
              <a:sym typeface="Times New Roman"/>
            </a:endParaRPr>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Uses interpolation</a:t>
            </a:r>
            <a:endParaRPr sz="1600"/>
          </a:p>
          <a:p>
            <a:pPr indent="-158750" lvl="1" marL="514350" rtl="0" algn="l">
              <a:lnSpc>
                <a:spcPct val="90000"/>
              </a:lnSpc>
              <a:spcBef>
                <a:spcPts val="375"/>
              </a:spcBef>
              <a:spcAft>
                <a:spcPts val="0"/>
              </a:spcAft>
              <a:buClr>
                <a:schemeClr val="dk1"/>
              </a:buClr>
              <a:buSzPts val="2200"/>
              <a:buChar char="•"/>
            </a:pPr>
            <a:r>
              <a:rPr lang="en-US" sz="2200">
                <a:latin typeface="Times New Roman"/>
                <a:ea typeface="Times New Roman"/>
                <a:cs typeface="Times New Roman"/>
                <a:sym typeface="Times New Roman"/>
              </a:rPr>
              <a:t>Most common CG animation method</a:t>
            </a:r>
            <a:endParaRPr sz="1600"/>
          </a:p>
          <a:p>
            <a:pPr indent="0" lvl="0" marL="0" rtl="0" algn="l">
              <a:lnSpc>
                <a:spcPct val="90000"/>
              </a:lnSpc>
              <a:spcBef>
                <a:spcPts val="750"/>
              </a:spcBef>
              <a:spcAft>
                <a:spcPts val="0"/>
              </a:spcAft>
              <a:buNone/>
            </a:pPr>
            <a:r>
              <a:rPr b="1" lang="en-US" sz="2200">
                <a:latin typeface="Times New Roman"/>
                <a:ea typeface="Times New Roman"/>
                <a:cs typeface="Times New Roman"/>
                <a:sym typeface="Times New Roman"/>
              </a:rPr>
              <a:t>Example:</a:t>
            </a:r>
            <a:r>
              <a:rPr lang="en-US" sz="2200">
                <a:latin typeface="Times New Roman"/>
                <a:ea typeface="Times New Roman"/>
                <a:cs typeface="Times New Roman"/>
                <a:sym typeface="Times New Roman"/>
              </a:rPr>
              <a:t> Bouncing ball animation</a:t>
            </a:r>
            <a:endParaRPr sz="1900"/>
          </a:p>
          <a:p>
            <a:pPr indent="-38100" lvl="0" marL="171450" rtl="0" algn="l">
              <a:lnSpc>
                <a:spcPct val="90000"/>
              </a:lnSpc>
              <a:spcBef>
                <a:spcPts val="750"/>
              </a:spcBef>
              <a:spcAft>
                <a:spcPts val="0"/>
              </a:spcAft>
              <a:buClr>
                <a:schemeClr val="dk1"/>
              </a:buClr>
              <a:buSzPts val="2100"/>
              <a:buNone/>
            </a:pPr>
            <a:r>
              <a:t/>
            </a:r>
            <a:endParaRPr sz="1900"/>
          </a:p>
        </p:txBody>
      </p:sp>
      <p:sp>
        <p:nvSpPr>
          <p:cNvPr id="130" name="Google Shape;130;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31" name="Google Shape;131;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32" name="Google Shape;132;p7"/>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Key-Frame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33" name="Google Shape;133;p7"/>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134" name="Google Shape;134;p7"/>
          <p:cNvPicPr preferRelativeResize="0"/>
          <p:nvPr>
            <p:ph idx="1" type="body"/>
          </p:nvPr>
        </p:nvPicPr>
        <p:blipFill rotWithShape="1">
          <a:blip r:embed="rId4">
            <a:alphaModFix/>
          </a:blip>
          <a:srcRect b="0" l="0" r="0" t="0"/>
          <a:stretch/>
        </p:blipFill>
        <p:spPr>
          <a:xfrm>
            <a:off x="435775" y="4207325"/>
            <a:ext cx="7818000" cy="205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idx="1" type="body"/>
          </p:nvPr>
        </p:nvSpPr>
        <p:spPr>
          <a:xfrm>
            <a:off x="401425" y="1383950"/>
            <a:ext cx="7886700" cy="54741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Procedural animation generates motion using </a:t>
            </a:r>
            <a:r>
              <a:rPr b="1" lang="en-US" sz="2400">
                <a:latin typeface="Times New Roman"/>
                <a:ea typeface="Times New Roman"/>
                <a:cs typeface="Times New Roman"/>
                <a:sym typeface="Times New Roman"/>
              </a:rPr>
              <a:t>mathematical rules, algorithms, or procedures</a:t>
            </a:r>
            <a:r>
              <a:rPr lang="en-US" sz="2400">
                <a:latin typeface="Times New Roman"/>
                <a:ea typeface="Times New Roman"/>
                <a:cs typeface="Times New Roman"/>
                <a:sym typeface="Times New Roman"/>
              </a:rPr>
              <a:t> instead of manually defining frames.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generated using </a:t>
            </a:r>
            <a:r>
              <a:rPr b="1" lang="en-US" sz="2400">
                <a:latin typeface="Times New Roman"/>
                <a:ea typeface="Times New Roman"/>
                <a:cs typeface="Times New Roman"/>
                <a:sym typeface="Times New Roman"/>
              </a:rPr>
              <a:t>algorithms or rules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No manual frame definition</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Efficient for repetitive motion</a:t>
            </a:r>
            <a:endParaRPr sz="2400">
              <a:latin typeface="Times New Roman"/>
              <a:ea typeface="Times New Roman"/>
              <a:cs typeface="Times New Roman"/>
              <a:sym typeface="Times New Roman"/>
            </a:endParaRPr>
          </a:p>
          <a:p>
            <a:pPr indent="0" lvl="0" marL="0" rtl="0" algn="l">
              <a:lnSpc>
                <a:spcPct val="90000"/>
              </a:lnSpc>
              <a:spcBef>
                <a:spcPts val="750"/>
              </a:spcBef>
              <a:spcAft>
                <a:spcPts val="0"/>
              </a:spcAft>
              <a:buNone/>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Waves, fire, rotating objects</a:t>
            </a:r>
            <a:endParaRPr/>
          </a:p>
          <a:p>
            <a:pPr indent="0" lvl="0" marL="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40" name="Google Shape;140;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41" name="Google Shape;141;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42" name="Google Shape;142;p9"/>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Procedural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43" name="Google Shape;143;p9"/>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144" name="Google Shape;144;p9"/>
          <p:cNvPicPr preferRelativeResize="0"/>
          <p:nvPr>
            <p:ph idx="1" type="body"/>
          </p:nvPr>
        </p:nvPicPr>
        <p:blipFill rotWithShape="1">
          <a:blip r:embed="rId4">
            <a:alphaModFix/>
          </a:blip>
          <a:srcRect b="0" l="0" r="0" t="0"/>
          <a:stretch/>
        </p:blipFill>
        <p:spPr>
          <a:xfrm>
            <a:off x="2689050" y="4033850"/>
            <a:ext cx="3765900" cy="2824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idx="1" type="body"/>
          </p:nvPr>
        </p:nvSpPr>
        <p:spPr>
          <a:xfrm>
            <a:off x="401425" y="1383950"/>
            <a:ext cx="7886700" cy="4793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400">
                <a:latin typeface="Times New Roman"/>
                <a:ea typeface="Times New Roman"/>
                <a:cs typeface="Times New Roman"/>
                <a:sym typeface="Times New Roman"/>
              </a:rPr>
              <a:t>Behavioral animation models </a:t>
            </a:r>
            <a:r>
              <a:rPr b="1" lang="en-US" sz="2400">
                <a:latin typeface="Times New Roman"/>
                <a:ea typeface="Times New Roman"/>
                <a:cs typeface="Times New Roman"/>
                <a:sym typeface="Times New Roman"/>
              </a:rPr>
              <a:t>autonomous behavior</a:t>
            </a:r>
            <a:r>
              <a:rPr lang="en-US" sz="2400">
                <a:latin typeface="Times New Roman"/>
                <a:ea typeface="Times New Roman"/>
                <a:cs typeface="Times New Roman"/>
                <a:sym typeface="Times New Roman"/>
              </a:rPr>
              <a:t> of objects based on rules and interaction with the environment.</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Objects act as </a:t>
            </a:r>
            <a:r>
              <a:rPr b="1" lang="en-US" sz="2400">
                <a:latin typeface="Times New Roman"/>
                <a:ea typeface="Times New Roman"/>
                <a:cs typeface="Times New Roman"/>
                <a:sym typeface="Times New Roman"/>
              </a:rPr>
              <a:t>autonomous agents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based on </a:t>
            </a:r>
            <a:r>
              <a:rPr b="1" lang="en-US" sz="2400">
                <a:latin typeface="Times New Roman"/>
                <a:ea typeface="Times New Roman"/>
                <a:cs typeface="Times New Roman"/>
                <a:sym typeface="Times New Roman"/>
              </a:rPr>
              <a:t>rules and goals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Interaction with environment</a:t>
            </a:r>
            <a:endParaRPr sz="2400">
              <a:latin typeface="Times New Roman"/>
              <a:ea typeface="Times New Roman"/>
              <a:cs typeface="Times New Roman"/>
              <a:sym typeface="Times New Roman"/>
            </a:endParaRPr>
          </a:p>
          <a:p>
            <a:pPr indent="0" lvl="0" marL="0" rtl="0" algn="l">
              <a:lnSpc>
                <a:spcPct val="90000"/>
              </a:lnSpc>
              <a:spcBef>
                <a:spcPts val="750"/>
              </a:spcBef>
              <a:spcAft>
                <a:spcPts val="0"/>
              </a:spcAft>
              <a:buNone/>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Bird flocking, crowd movement</a:t>
            </a:r>
            <a:endParaRPr/>
          </a:p>
          <a:p>
            <a:pPr indent="0" lvl="0" marL="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50" name="Google Shape;150;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51" name="Google Shape;151;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52" name="Google Shape;152;p11"/>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Behavioral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53" name="Google Shape;153;p11"/>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154" name="Google Shape;154;p11"/>
          <p:cNvPicPr preferRelativeResize="0"/>
          <p:nvPr>
            <p:ph idx="1" type="body"/>
          </p:nvPr>
        </p:nvPicPr>
        <p:blipFill rotWithShape="1">
          <a:blip r:embed="rId4">
            <a:alphaModFix/>
          </a:blip>
          <a:srcRect b="0" l="0" r="0" t="0"/>
          <a:stretch/>
        </p:blipFill>
        <p:spPr>
          <a:xfrm>
            <a:off x="2836800" y="3702596"/>
            <a:ext cx="3470400" cy="3155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idx="1" type="body"/>
          </p:nvPr>
        </p:nvSpPr>
        <p:spPr>
          <a:xfrm>
            <a:off x="628650" y="1413075"/>
            <a:ext cx="7603500" cy="53085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Performance-based animation uses </a:t>
            </a:r>
            <a:r>
              <a:rPr b="1" lang="en-US" sz="2400">
                <a:latin typeface="Times New Roman"/>
                <a:ea typeface="Times New Roman"/>
                <a:cs typeface="Times New Roman"/>
                <a:sym typeface="Times New Roman"/>
              </a:rPr>
              <a:t>motion capture data</a:t>
            </a:r>
            <a:r>
              <a:rPr lang="en-US" sz="2400">
                <a:latin typeface="Times New Roman"/>
                <a:ea typeface="Times New Roman"/>
                <a:cs typeface="Times New Roman"/>
                <a:sym typeface="Times New Roman"/>
              </a:rPr>
              <a:t> recorded from a real human or animal to drive animation.</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Real motion is </a:t>
            </a:r>
            <a:r>
              <a:rPr b="1" lang="en-US" sz="2400">
                <a:latin typeface="Times New Roman"/>
                <a:ea typeface="Times New Roman"/>
                <a:cs typeface="Times New Roman"/>
                <a:sym typeface="Times New Roman"/>
              </a:rPr>
              <a:t>captured using sensors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Data mapped to digital characters</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Produces very realistic motion</a:t>
            </a:r>
            <a:endParaRPr sz="2400">
              <a:latin typeface="Times New Roman"/>
              <a:ea typeface="Times New Roman"/>
              <a:cs typeface="Times New Roman"/>
              <a:sym typeface="Times New Roman"/>
            </a:endParaRPr>
          </a:p>
          <a:p>
            <a:pPr indent="0" lvl="0" marL="0" rtl="0" algn="l">
              <a:lnSpc>
                <a:spcPct val="90000"/>
              </a:lnSpc>
              <a:spcBef>
                <a:spcPts val="750"/>
              </a:spcBef>
              <a:spcAft>
                <a:spcPts val="0"/>
              </a:spcAft>
              <a:buNone/>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Character animation in films &amp; games</a:t>
            </a:r>
            <a:endParaRPr/>
          </a:p>
          <a:p>
            <a:pPr indent="0" lvl="0" marL="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160" name="Google Shape;160;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61" name="Google Shape;161;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62" name="Google Shape;162;p13"/>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Performance-Based Animation (Motion Capture)</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63" name="Google Shape;163;p1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164" name="Google Shape;164;p13"/>
          <p:cNvPicPr preferRelativeResize="0"/>
          <p:nvPr>
            <p:ph idx="1" type="body"/>
          </p:nvPr>
        </p:nvPicPr>
        <p:blipFill rotWithShape="1">
          <a:blip r:embed="rId4">
            <a:alphaModFix/>
          </a:blip>
          <a:srcRect b="0" l="0" r="0" t="0"/>
          <a:stretch/>
        </p:blipFill>
        <p:spPr>
          <a:xfrm>
            <a:off x="1863775" y="3807625"/>
            <a:ext cx="4962000" cy="2799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ph idx="1" type="body"/>
          </p:nvPr>
        </p:nvSpPr>
        <p:spPr>
          <a:xfrm>
            <a:off x="401425" y="1383950"/>
            <a:ext cx="78867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400">
                <a:latin typeface="Times New Roman"/>
                <a:ea typeface="Times New Roman"/>
                <a:cs typeface="Times New Roman"/>
                <a:sym typeface="Times New Roman"/>
              </a:rPr>
              <a:t>Physically-based animation uses </a:t>
            </a:r>
            <a:r>
              <a:rPr b="1" lang="en-US" sz="2400">
                <a:latin typeface="Times New Roman"/>
                <a:ea typeface="Times New Roman"/>
                <a:cs typeface="Times New Roman"/>
                <a:sym typeface="Times New Roman"/>
              </a:rPr>
              <a:t>laws of physics</a:t>
            </a:r>
            <a:r>
              <a:rPr lang="en-US" sz="2400">
                <a:latin typeface="Times New Roman"/>
                <a:ea typeface="Times New Roman"/>
                <a:cs typeface="Times New Roman"/>
                <a:sym typeface="Times New Roman"/>
              </a:rPr>
              <a:t> to simulate realistic motion.</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based on </a:t>
            </a:r>
            <a:r>
              <a:rPr b="1" lang="en-US" sz="2400">
                <a:latin typeface="Times New Roman"/>
                <a:ea typeface="Times New Roman"/>
                <a:cs typeface="Times New Roman"/>
                <a:sym typeface="Times New Roman"/>
              </a:rPr>
              <a:t>laws of physics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Uses force, mass, gravity, collisions</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Highly realistic but computationally heavy</a:t>
            </a:r>
            <a:endParaRPr sz="2400">
              <a:latin typeface="Times New Roman"/>
              <a:ea typeface="Times New Roman"/>
              <a:cs typeface="Times New Roman"/>
              <a:sym typeface="Times New Roman"/>
            </a:endParaRPr>
          </a:p>
          <a:p>
            <a:pPr indent="0" lvl="0" marL="0" rtl="0" algn="l">
              <a:lnSpc>
                <a:spcPct val="90000"/>
              </a:lnSpc>
              <a:spcBef>
                <a:spcPts val="750"/>
              </a:spcBef>
              <a:spcAft>
                <a:spcPts val="0"/>
              </a:spcAft>
              <a:buNone/>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Falling objects, cloth simulation</a:t>
            </a:r>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70" name="Google Shape;170;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71" name="Google Shape;171;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72" name="Google Shape;172;p15"/>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Physically-Based Animation (Dynamics)</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73" name="Google Shape;173;p15"/>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idx="1" type="body"/>
          </p:nvPr>
        </p:nvSpPr>
        <p:spPr>
          <a:xfrm>
            <a:off x="401425" y="1383950"/>
            <a:ext cx="7886700" cy="4351200"/>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Steps for designing animation sequence</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Storyboard Layout</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Object Definitions</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Key frame specifications</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Generation of in-between frames</a:t>
            </a:r>
            <a:endParaRPr/>
          </a:p>
          <a:p>
            <a:pPr indent="-209550" lvl="0" marL="342900" rtl="0" algn="l">
              <a:lnSpc>
                <a:spcPct val="90000"/>
              </a:lnSpc>
              <a:spcBef>
                <a:spcPts val="750"/>
              </a:spcBef>
              <a:spcAft>
                <a:spcPts val="0"/>
              </a:spcAft>
              <a:buClr>
                <a:schemeClr val="dk1"/>
              </a:buClr>
              <a:buSzPts val="2100"/>
              <a:buFont typeface="Arial"/>
              <a:buNone/>
            </a:pPr>
            <a:r>
              <a:t/>
            </a:r>
            <a:endParaRPr>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79" name="Google Shape;179;p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80" name="Google Shape;180;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81" name="Google Shape;181;p16"/>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DESIGN OF ANIMATION SEQUENCE </a:t>
            </a:r>
            <a:endParaRPr>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82" name="Google Shape;182;p16"/>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7"/>
          <p:cNvSpPr txBox="1"/>
          <p:nvPr>
            <p:ph idx="1" type="body"/>
          </p:nvPr>
        </p:nvSpPr>
        <p:spPr>
          <a:xfrm>
            <a:off x="401425" y="1383950"/>
            <a:ext cx="7886700" cy="43512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800"/>
              <a:buChar char="•"/>
            </a:pPr>
            <a:r>
              <a:rPr lang="en-US" sz="2800">
                <a:latin typeface="Times New Roman"/>
                <a:ea typeface="Times New Roman"/>
                <a:cs typeface="Times New Roman"/>
                <a:sym typeface="Times New Roman"/>
              </a:rPr>
              <a:t>A storyboard is a plan, a way of figuring out the story of the film before you put in the enormous amount of work of the animation itself. Basically, it is the story of the movie drawn in pictures, very much like a comic strip.</a:t>
            </a:r>
            <a:endParaRPr/>
          </a:p>
          <a:p>
            <a:pPr indent="-171450" lvl="0" marL="171450" rtl="0" algn="l">
              <a:lnSpc>
                <a:spcPct val="90000"/>
              </a:lnSpc>
              <a:spcBef>
                <a:spcPts val="750"/>
              </a:spcBef>
              <a:spcAft>
                <a:spcPts val="0"/>
              </a:spcAft>
              <a:buClr>
                <a:schemeClr val="dk1"/>
              </a:buClr>
              <a:buSzPts val="2800"/>
              <a:buChar char="•"/>
            </a:pPr>
            <a:r>
              <a:rPr lang="en-US" sz="2800">
                <a:latin typeface="Times New Roman"/>
                <a:ea typeface="Times New Roman"/>
                <a:cs typeface="Times New Roman"/>
                <a:sym typeface="Times New Roman"/>
              </a:rPr>
              <a:t>Depending on the type of animation to be produced, the storyboard could be consist of a set of rough sketches or it could be a list of basis ideas for motion.</a:t>
            </a:r>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88" name="Google Shape;188;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89" name="Google Shape;189;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90" name="Google Shape;190;p17"/>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1.STORYBOARD LAYOUT</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91" name="Google Shape;191;p17"/>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Clr>
                <a:schemeClr val="dk1"/>
              </a:buClr>
              <a:buSzPts val="2100"/>
              <a:buNone/>
            </a:pPr>
            <a:r>
              <a:rPr lang="en-US"/>
              <a:t> </a:t>
            </a:r>
            <a:endParaRPr/>
          </a:p>
        </p:txBody>
      </p:sp>
      <p:pic>
        <p:nvPicPr>
          <p:cNvPr descr="C:\Users\User\Downloads\storyboard_11.jpg" id="197" name="Google Shape;197;p18"/>
          <p:cNvPicPr preferRelativeResize="0"/>
          <p:nvPr/>
        </p:nvPicPr>
        <p:blipFill rotWithShape="1">
          <a:blip r:embed="rId3">
            <a:alphaModFix/>
          </a:blip>
          <a:srcRect b="0" l="0" r="0" t="0"/>
          <a:stretch/>
        </p:blipFill>
        <p:spPr>
          <a:xfrm>
            <a:off x="457200" y="1828800"/>
            <a:ext cx="8077199" cy="4495800"/>
          </a:xfrm>
          <a:prstGeom prst="rect">
            <a:avLst/>
          </a:prstGeom>
          <a:noFill/>
          <a:ln>
            <a:noFill/>
          </a:ln>
        </p:spPr>
      </p:pic>
      <p:sp>
        <p:nvSpPr>
          <p:cNvPr id="198" name="Google Shape;198;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199" name="Google Shape;199;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00" name="Google Shape;200;p18"/>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r>
              <a:rPr b="1" lang="en-US"/>
              <a:t> </a:t>
            </a:r>
            <a:endParaRPr b="1"/>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01" name="Google Shape;201;p18"/>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idx="1" type="body"/>
          </p:nvPr>
        </p:nvSpPr>
        <p:spPr>
          <a:xfrm>
            <a:off x="401425" y="1383950"/>
            <a:ext cx="7886700" cy="43512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Each object participating in the action is given object definition, such as terms of basic shapes, such as polygons or splines</a:t>
            </a:r>
            <a:r>
              <a:rPr lang="en-US" sz="2400"/>
              <a:t>.</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207" name="Google Shape;207;p19"/>
          <p:cNvPicPr preferRelativeResize="0"/>
          <p:nvPr/>
        </p:nvPicPr>
        <p:blipFill rotWithShape="1">
          <a:blip r:embed="rId3">
            <a:alphaModFix/>
          </a:blip>
          <a:srcRect b="0" l="0" r="0" t="0"/>
          <a:stretch/>
        </p:blipFill>
        <p:spPr>
          <a:xfrm>
            <a:off x="628038" y="2532925"/>
            <a:ext cx="7433481" cy="3445012"/>
          </a:xfrm>
          <a:prstGeom prst="rect">
            <a:avLst/>
          </a:prstGeom>
          <a:noFill/>
          <a:ln>
            <a:noFill/>
          </a:ln>
        </p:spPr>
      </p:pic>
      <p:sp>
        <p:nvSpPr>
          <p:cNvPr id="208" name="Google Shape;208;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09" name="Google Shape;209;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10" name="Google Shape;210;p19"/>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2.OBJECT DEFINITIONS</a:t>
            </a:r>
            <a:endParaRPr>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11" name="Google Shape;211;p19"/>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It is one of the many single photographic images in a motion picture. The individual frames are separated by frame lines. Normally, are needed for one second of film.</a:t>
            </a:r>
            <a:endParaRPr sz="2400">
              <a:solidFill>
                <a:schemeClr val="dk1"/>
              </a:solidFill>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a:solidFill>
                <a:schemeClr val="dk1"/>
              </a:solidFill>
            </a:endParaRPr>
          </a:p>
        </p:txBody>
      </p:sp>
      <p:pic>
        <p:nvPicPr>
          <p:cNvPr id="217" name="Google Shape;217;p20"/>
          <p:cNvPicPr preferRelativeResize="0"/>
          <p:nvPr/>
        </p:nvPicPr>
        <p:blipFill rotWithShape="1">
          <a:blip r:embed="rId3">
            <a:alphaModFix/>
          </a:blip>
          <a:srcRect b="0" l="0" r="0" t="0"/>
          <a:stretch/>
        </p:blipFill>
        <p:spPr>
          <a:xfrm>
            <a:off x="1752600" y="3124200"/>
            <a:ext cx="5806984" cy="3352800"/>
          </a:xfrm>
          <a:prstGeom prst="rect">
            <a:avLst/>
          </a:prstGeom>
          <a:noFill/>
          <a:ln>
            <a:noFill/>
          </a:ln>
        </p:spPr>
      </p:pic>
      <p:sp>
        <p:nvSpPr>
          <p:cNvPr id="218" name="Google Shape;218;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19" name="Google Shape;219;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20" name="Google Shape;220;p20"/>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Frame</a:t>
            </a:r>
            <a:endParaRPr/>
          </a:p>
        </p:txBody>
      </p:sp>
      <p:pic>
        <p:nvPicPr>
          <p:cNvPr id="221" name="Google Shape;221;p20"/>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idx="1" type="body"/>
          </p:nvPr>
        </p:nvSpPr>
        <p:spPr>
          <a:xfrm>
            <a:off x="401425" y="1383950"/>
            <a:ext cx="7886700" cy="3746400"/>
          </a:xfrm>
          <a:prstGeom prst="rect">
            <a:avLst/>
          </a:prstGeom>
          <a:noFill/>
          <a:ln>
            <a:noFill/>
          </a:ln>
        </p:spPr>
        <p:txBody>
          <a:bodyPr anchorCtr="0" anchor="t" bIns="45700" lIns="91425" spcFirstLastPara="1" rIns="91425" wrap="square" tIns="45700">
            <a:normAutofit lnSpcReduction="20000"/>
          </a:bodyPr>
          <a:lstStyle/>
          <a:p>
            <a:pPr indent="-171450" lvl="0" marL="171450" rtl="0" algn="l">
              <a:lnSpc>
                <a:spcPct val="90000"/>
              </a:lnSpc>
              <a:spcBef>
                <a:spcPts val="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A keyframe is a frame where we define changes in animation. Every frame is a keyframe when we create frame by frame animation. When someone creates a 3D animation on a computer, they usually don’t specify the exact position of any given object on every single frame. They create keyframes.</a:t>
            </a:r>
            <a:endParaRPr>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600"/>
              <a:buChar char="•"/>
            </a:pPr>
            <a:r>
              <a:rPr lang="en-US" sz="2600">
                <a:solidFill>
                  <a:schemeClr val="dk1"/>
                </a:solidFill>
                <a:latin typeface="Times New Roman"/>
                <a:ea typeface="Times New Roman"/>
                <a:cs typeface="Times New Roman"/>
                <a:sym typeface="Times New Roman"/>
              </a:rPr>
              <a:t>Keyframes are important frames during which an object changes its size, direction, shape or other properties. The computer then figures out all the in-between frames and saves an extreme amount of time for the animator. The following illustrations depict the frames drawn by user and the frames generated by computer.</a:t>
            </a:r>
            <a:endParaRPr sz="2800">
              <a:solidFill>
                <a:schemeClr val="dk1"/>
              </a:solidFill>
              <a:latin typeface="Times New Roman"/>
              <a:ea typeface="Times New Roman"/>
              <a:cs typeface="Times New Roman"/>
              <a:sym typeface="Times New Roman"/>
            </a:endParaRPr>
          </a:p>
        </p:txBody>
      </p:sp>
      <p:sp>
        <p:nvSpPr>
          <p:cNvPr id="227" name="Google Shape;227;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28" name="Google Shape;228;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29" name="Google Shape;229;p21"/>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3. Key frame specifications</a:t>
            </a:r>
            <a:endParaRPr/>
          </a:p>
        </p:txBody>
      </p:sp>
      <p:pic>
        <p:nvPicPr>
          <p:cNvPr id="230" name="Google Shape;230;p21"/>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C:\Users\User\Downloads\200px-Animexample3edit.png" id="235" name="Google Shape;235;p22"/>
          <p:cNvPicPr preferRelativeResize="0"/>
          <p:nvPr>
            <p:ph idx="1" type="body"/>
          </p:nvPr>
        </p:nvPicPr>
        <p:blipFill rotWithShape="1">
          <a:blip r:embed="rId3">
            <a:alphaModFix/>
          </a:blip>
          <a:srcRect b="0" l="0" r="0" t="0"/>
          <a:stretch/>
        </p:blipFill>
        <p:spPr>
          <a:xfrm>
            <a:off x="1524000" y="1371600"/>
            <a:ext cx="5791199" cy="4980462"/>
          </a:xfrm>
          <a:prstGeom prst="rect">
            <a:avLst/>
          </a:prstGeom>
          <a:noFill/>
          <a:ln>
            <a:noFill/>
          </a:ln>
        </p:spPr>
      </p:pic>
      <p:sp>
        <p:nvSpPr>
          <p:cNvPr id="236" name="Google Shape;236;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37" name="Google Shape;237;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38" name="Google Shape;238;p22"/>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endParaRPr b="1"/>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39" name="Google Shape;239;p22"/>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3"/>
          <p:cNvSpPr txBox="1"/>
          <p:nvPr>
            <p:ph idx="1" type="body"/>
          </p:nvPr>
        </p:nvSpPr>
        <p:spPr>
          <a:xfrm>
            <a:off x="628650" y="1825675"/>
            <a:ext cx="7886700" cy="43512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is a process of generating intermediate frames between 2 images to give appearance that the 1</a:t>
            </a:r>
            <a:r>
              <a:rPr baseline="30000" lang="en-US" sz="2800">
                <a:latin typeface="Times New Roman"/>
                <a:ea typeface="Times New Roman"/>
                <a:cs typeface="Times New Roman"/>
                <a:sym typeface="Times New Roman"/>
              </a:rPr>
              <a:t>st</a:t>
            </a:r>
            <a:r>
              <a:rPr lang="en-US" sz="2800">
                <a:latin typeface="Times New Roman"/>
                <a:ea typeface="Times New Roman"/>
                <a:cs typeface="Times New Roman"/>
                <a:sym typeface="Times New Roman"/>
              </a:rPr>
              <a:t> image evolves smoothly into the second image. In-betweens are the drawing between the key frames which help to create the illusion of motion.</a:t>
            </a:r>
            <a:endParaRPr/>
          </a:p>
          <a:p>
            <a:pPr indent="-342900" lvl="0" marL="342900" rtl="0" algn="l">
              <a:lnSpc>
                <a:spcPct val="90000"/>
              </a:lnSpc>
              <a:spcBef>
                <a:spcPts val="75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Film requires 24 frames per second and graphics terminals are refreshed at a rate of 30 to 60 frames per second.</a:t>
            </a:r>
            <a:endParaRPr/>
          </a:p>
          <a:p>
            <a:pPr indent="0" lvl="0" marL="171450" rtl="0" algn="l">
              <a:lnSpc>
                <a:spcPct val="90000"/>
              </a:lnSpc>
              <a:spcBef>
                <a:spcPts val="750"/>
              </a:spcBef>
              <a:spcAft>
                <a:spcPts val="0"/>
              </a:spcAft>
              <a:buClr>
                <a:schemeClr val="dk1"/>
              </a:buClr>
              <a:buSzPts val="2800"/>
              <a:buNone/>
            </a:pPr>
            <a:r>
              <a:t/>
            </a:r>
            <a:endParaRPr sz="2800">
              <a:latin typeface="Times New Roman"/>
              <a:ea typeface="Times New Roman"/>
              <a:cs typeface="Times New Roman"/>
              <a:sym typeface="Times New Roman"/>
            </a:endParaRPr>
          </a:p>
        </p:txBody>
      </p:sp>
      <p:sp>
        <p:nvSpPr>
          <p:cNvPr id="245" name="Google Shape;245;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46" name="Google Shape;246;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47" name="Google Shape;247;p23"/>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342900" lvl="0" marL="342900" rtl="0" algn="l">
              <a:lnSpc>
                <a:spcPct val="9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42900" lvl="0" marL="34290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342900" lvl="0" marL="34290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4.Generation of in-between frames</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48" name="Google Shape;248;p2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4"/>
          <p:cNvPicPr preferRelativeResize="0"/>
          <p:nvPr>
            <p:ph idx="1" type="body"/>
          </p:nvPr>
        </p:nvPicPr>
        <p:blipFill rotWithShape="1">
          <a:blip r:embed="rId3">
            <a:alphaModFix/>
          </a:blip>
          <a:srcRect b="0" l="0" r="0" t="0"/>
          <a:stretch/>
        </p:blipFill>
        <p:spPr>
          <a:xfrm>
            <a:off x="156117" y="1566925"/>
            <a:ext cx="6858000" cy="4711700"/>
          </a:xfrm>
          <a:prstGeom prst="rect">
            <a:avLst/>
          </a:prstGeom>
          <a:noFill/>
          <a:ln>
            <a:noFill/>
          </a:ln>
        </p:spPr>
      </p:pic>
      <p:sp>
        <p:nvSpPr>
          <p:cNvPr id="254" name="Google Shape;254;p24"/>
          <p:cNvSpPr txBox="1"/>
          <p:nvPr/>
        </p:nvSpPr>
        <p:spPr>
          <a:xfrm>
            <a:off x="6796025" y="1719075"/>
            <a:ext cx="2195700" cy="4407300"/>
          </a:xfrm>
          <a:prstGeom prst="rect">
            <a:avLst/>
          </a:prstGeom>
          <a:noFill/>
          <a:ln>
            <a:noFill/>
          </a:ln>
        </p:spPr>
        <p:txBody>
          <a:bodyPr anchorCtr="0" anchor="t" bIns="45700" lIns="91425" spcFirstLastPara="1" rIns="91425" wrap="square" tIns="45700">
            <a:normAutofit/>
          </a:bodyPr>
          <a:lstStyle/>
          <a:p>
            <a:pPr indent="0" lvl="0" marL="45720" marR="0" rtl="0" algn="l">
              <a:lnSpc>
                <a:spcPct val="100000"/>
              </a:lnSpc>
              <a:spcBef>
                <a:spcPts val="0"/>
              </a:spcBef>
              <a:spcAft>
                <a:spcPts val="0"/>
              </a:spcAft>
              <a:buClr>
                <a:schemeClr val="accent1"/>
              </a:buClr>
              <a:buSzPts val="2800"/>
              <a:buFont typeface="Noto Sans Symbols"/>
              <a:buNone/>
            </a:pPr>
            <a:r>
              <a:rPr b="0" i="0" lang="en-US" sz="2800" u="none" cap="none" strike="noStrike">
                <a:solidFill>
                  <a:schemeClr val="dk1"/>
                </a:solidFill>
                <a:latin typeface="Times New Roman"/>
                <a:ea typeface="Times New Roman"/>
                <a:cs typeface="Times New Roman"/>
                <a:sym typeface="Times New Roman"/>
              </a:rPr>
              <a:t>In between frames work as intermediate frames between 2 key frames</a:t>
            </a:r>
            <a:endParaRPr b="0" i="0" sz="2800" u="none" cap="none" strike="noStrike">
              <a:solidFill>
                <a:schemeClr val="dk1"/>
              </a:solidFill>
              <a:latin typeface="Times New Roman"/>
              <a:ea typeface="Times New Roman"/>
              <a:cs typeface="Times New Roman"/>
              <a:sym typeface="Times New Roman"/>
            </a:endParaRPr>
          </a:p>
        </p:txBody>
      </p:sp>
      <p:sp>
        <p:nvSpPr>
          <p:cNvPr id="255" name="Google Shape;255;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56" name="Google Shape;256;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57" name="Google Shape;257;p24"/>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58" name="Google Shape;258;p24"/>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25"/>
          <p:cNvPicPr preferRelativeResize="0"/>
          <p:nvPr>
            <p:ph idx="1" type="body"/>
          </p:nvPr>
        </p:nvPicPr>
        <p:blipFill rotWithShape="1">
          <a:blip r:embed="rId3">
            <a:alphaModFix/>
          </a:blip>
          <a:srcRect b="0" l="0" r="0" t="0"/>
          <a:stretch/>
        </p:blipFill>
        <p:spPr>
          <a:xfrm>
            <a:off x="1671108" y="1295400"/>
            <a:ext cx="5801784" cy="4351338"/>
          </a:xfrm>
          <a:prstGeom prst="rect">
            <a:avLst/>
          </a:prstGeom>
          <a:noFill/>
          <a:ln>
            <a:noFill/>
          </a:ln>
        </p:spPr>
      </p:pic>
      <p:sp>
        <p:nvSpPr>
          <p:cNvPr id="264" name="Google Shape;264;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CSE, Daffodil International University</a:t>
            </a:r>
            <a:endParaRPr/>
          </a:p>
        </p:txBody>
      </p:sp>
      <p:sp>
        <p:nvSpPr>
          <p:cNvPr id="265" name="Google Shape;265;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266" name="Google Shape;266;p25"/>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2017-02-14T17:21:33Z</dcterms:created>
  <dc:creator>User</dc:creator>
</cp:coreProperties>
</file>