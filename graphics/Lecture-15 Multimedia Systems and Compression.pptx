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  <p:embeddedFont>
      <p:font typeface="Gill Sans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hxDoyMFG2Qo4Bav8jBQ1uu89ur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53509B-86F8-4610-9220-E8ABEBDE1457}">
  <a:tblStyle styleId="{1453509B-86F8-4610-9220-E8ABEBDE14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.fntdata"/><Relationship Id="rId24" Type="http://schemas.openxmlformats.org/officeDocument/2006/relationships/slide" Target="slides/slide19.xml"/><Relationship Id="rId46" Type="http://schemas.openxmlformats.org/officeDocument/2006/relationships/font" Target="fonts/GillSans-regular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GillSan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ac6d1ec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cac6d1e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4e6ea7b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d4e6ea7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ac6d1ec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cac6d1e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ac6d1ecd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cac6d1ec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d4e6ea7b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d4e6ea7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ac6d1ec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cac6d1ec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ac6d1ecd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cac6d1ec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d4e6ea7b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d4e6ea7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d4e6ea7bf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d4e6ea7b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4e6ea7b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d4e6ea7b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4e6ea7b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d4e6ea7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e698ac72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de698ac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4e6ea7bf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d4e6ea7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64e65e28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64e65e2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64e65e289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64e65e2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64e65e2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e64e65e2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64e65e28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64e65e2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64e65e28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e64e65e28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64e65e28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64e65e28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d4e6ea7bf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d4e6ea7b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02365e93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e02365e9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02365e93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e02365e93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02365e93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e02365e9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2365e93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e02365e93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2365e938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02365e93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02365e938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e02365e93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02365e938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02365e93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02365e938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e02365e93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02365e938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e02365e93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02365e938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02365e93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60" name="Google Shape;60;p2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2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82" name="Google Shape;82;p3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474300" y="550450"/>
            <a:ext cx="112434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sz="3200" u="sng">
                <a:latin typeface="Calibri"/>
                <a:ea typeface="Calibri"/>
                <a:cs typeface="Calibri"/>
                <a:sym typeface="Calibri"/>
              </a:rPr>
              <a:t>CSE411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: Computer Graphics</a:t>
            </a:r>
            <a:br>
              <a:rPr lang="en-US" sz="32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/>
              <a:t>Multimedia Systems and Compression</a:t>
            </a:r>
            <a:endParaRPr b="1" sz="3200"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260608" y="4638144"/>
            <a:ext cx="4423313" cy="14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Mahimul Islam Nadim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Senior Lecturer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cac6d1ecd_0_0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Multimedia System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g3dcac6d1ecd_0_0"/>
          <p:cNvSpPr txBox="1"/>
          <p:nvPr>
            <p:ph idx="4294967295" type="body"/>
          </p:nvPr>
        </p:nvSpPr>
        <p:spPr>
          <a:xfrm>
            <a:off x="455800" y="1226575"/>
            <a:ext cx="1128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multimedia system is a computer system that can handle different types of media together — like text, pictures, graphics, sound, video, and animation.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matters in computer graphics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Graphics alone are not enough. In real life, applications mix many things: images, sounds, video clips, subtitles, timing, and user interaction.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 (steps)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Take input (camera, microphone, scanner).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Save it (hard drive, SSD, cloud).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Make the file smaller.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Send it over a network.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Convert back to usable form.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Show it on screen or play sound.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4e6ea7bf_0_1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Characteristics of a Multimedia System  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g3dd4e6ea7bf_0_1"/>
          <p:cNvSpPr txBox="1"/>
          <p:nvPr>
            <p:ph idx="4294967295" type="body"/>
          </p:nvPr>
        </p:nvSpPr>
        <p:spPr>
          <a:xfrm>
            <a:off x="455800" y="1226575"/>
            <a:ext cx="1128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features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 of media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One system can use text, images, sound, video, and animation together.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matters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Audio and video must play at the right speed.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size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Raw files like video and audio take a lot of storage.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Synchronization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Sound and visuals must match (like lips moving with speech).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control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Users can pause, rewind, zoom, click, drag, or seek.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Real-life examples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video + sound + subtitles + controls.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class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slides + teacher’s camera + microphone + screen share.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3D graphics + animation + music + sound effects.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imaging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pictures + notes + video clips.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 street view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images + text + voice navigation.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ac6d1ecd_0_5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Compression In multimedia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cac6d1ecd_0_22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Compression  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g3dcac6d1ecd_0_22"/>
          <p:cNvSpPr txBox="1"/>
          <p:nvPr>
            <p:ph idx="4294967295" type="body"/>
          </p:nvPr>
        </p:nvSpPr>
        <p:spPr>
          <a:xfrm>
            <a:off x="455800" y="1226575"/>
            <a:ext cx="11280900" cy="5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a file smaller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removing extra or repeated data, while keeping the important information.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multimedia, it helps save storage, reduce transfer time, and use less bandwidth.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reason for compression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multimedia files are naturally very large, which makes them difficult to store and share without help.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Photos: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high-quality color picture frame is about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5.93 MB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high-definition video is so large (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178 MB for every second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that regular phones or computers wouldn't have enough room to store or stream it.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High-quality "CD" audio also takes up a lot of space, especially for long recordings.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Solution: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 is the process of making these huge files smaller while trying to keep the important details.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Space: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keep way more photos and videos on your device.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Smaller files travel much faster over the internet.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Money: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uses less data (bandwidth), which lowers costs.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4e6ea7bf_0_12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Data Compression Basics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6" name="Google Shape;126;g3dd4e6ea7bf_0_12"/>
          <p:cNvSpPr txBox="1"/>
          <p:nvPr>
            <p:ph idx="4294967295" type="body"/>
          </p:nvPr>
        </p:nvSpPr>
        <p:spPr>
          <a:xfrm>
            <a:off x="455800" y="1226575"/>
            <a:ext cx="11280900" cy="5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Raw values stored in a computer (example: pixel brightness in an image).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The meaning we get from data. Different data can carry the same information.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Redundancy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Extra or repeated data that isn’t needed to show the same information.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not always equal to information.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nearby pixels are almost the same, storing all of them separately wastes space.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value repeats many times, storing it again and again is inefficient.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humans cannot notice small changes, storing that detail may not be needed (lossy compression).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 values: 120, 120, 121, 120, 120, 121, 120, 120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values look almost the same.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we can store them in a smarter, smaller way instead of saving each one separately.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cac6d1ecd_0_62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Types of Redundancy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ac6d1ecd_0_66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Types of Redundancy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g3dcac6d1ecd_0_66"/>
          <p:cNvSpPr txBox="1"/>
          <p:nvPr>
            <p:ph idx="4294967295" type="body"/>
          </p:nvPr>
        </p:nvSpPr>
        <p:spPr>
          <a:xfrm>
            <a:off x="455800" y="1226575"/>
            <a:ext cx="1128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Coding Redundancy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symbols appear more often than others.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Giving the same number of bits to all symbols wastes space.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idea: use fewer bits for common symbols and more bits for rare ones.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letter "A" appears 70% of the time and "Z" appears only 1% of the time, giving both of them 8 bits is not efficient.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better method is to use fewer bits for common symbols and more bits for rare ones. This is what Huffman coding does.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d4e6ea7bf_0_21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Types of Redundancy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g3dd4e6ea7bf_0_21"/>
          <p:cNvSpPr txBox="1"/>
          <p:nvPr>
            <p:ph idx="4294967295" type="body"/>
          </p:nvPr>
        </p:nvSpPr>
        <p:spPr>
          <a:xfrm>
            <a:off x="455800" y="1226575"/>
            <a:ext cx="1128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Spatial / Temporal Redundancy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picture, nearby pixels are often similar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video, nearby frames are often similar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large area of blue sky (spatial) or a video where most of the scene stays the same (temporal)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Psychovisual Redundancy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eyes cannot notice some small details.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details can be removed to save space.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color details (like in JPEG) can be reduced without much visible change.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d4e6ea7bf_0_29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Compression Ratio and Redundancy(Math)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4e6ea7bf_0_33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Compression Ratio and Redundancy(Math)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g3dd4e6ea7bf_0_33"/>
          <p:cNvSpPr txBox="1"/>
          <p:nvPr>
            <p:ph idx="4294967295" type="body"/>
          </p:nvPr>
        </p:nvSpPr>
        <p:spPr>
          <a:xfrm>
            <a:off x="100" y="1226575"/>
            <a:ext cx="121920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d4e6ea7bf_0_33"/>
          <p:cNvSpPr/>
          <p:nvPr/>
        </p:nvSpPr>
        <p:spPr>
          <a:xfrm>
            <a:off x="778025" y="1293650"/>
            <a:ext cx="16872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2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rPr>
              <a:t>Formulas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d4e6ea7bf_0_33"/>
          <p:cNvSpPr/>
          <p:nvPr/>
        </p:nvSpPr>
        <p:spPr>
          <a:xfrm>
            <a:off x="830749" y="1624947"/>
            <a:ext cx="5483400" cy="115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240" l="-2950" r="0" t="-11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d4e6ea7bf_0_33"/>
          <p:cNvSpPr/>
          <p:nvPr/>
        </p:nvSpPr>
        <p:spPr>
          <a:xfrm>
            <a:off x="904563" y="3275271"/>
            <a:ext cx="5177700" cy="3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image size is 65,536 bytes. After compression it becomes 6,554 bytes.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65,536 / 6,554 ≈ 10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1 - 1/10 = 0.9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we say the image has about 10:1 compression and 90% relative redundancy.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dd4e6ea7bf_0_33"/>
          <p:cNvSpPr/>
          <p:nvPr/>
        </p:nvSpPr>
        <p:spPr>
          <a:xfrm>
            <a:off x="6959678" y="1960305"/>
            <a:ext cx="503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Practice problem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dd4e6ea7bf_0_33"/>
          <p:cNvSpPr/>
          <p:nvPr/>
        </p:nvSpPr>
        <p:spPr>
          <a:xfrm>
            <a:off x="6820175" y="2369025"/>
            <a:ext cx="51777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raw image is 2.4 MB and the compressed image is 0.3 MB.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Find the compression ratio.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Find the relative redundancy.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outline: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2.4/0.3 = 8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1 - 1/8 = 0.875 = 87.5%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d4e6ea7bf_0_46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Lossless vs Lossy Compression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698ac726_0_0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Lossless vs Lossy Compression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g3de698ac726_0_0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❏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Lossless Compression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get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 same data back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decompressing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information is lost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just removes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extra/repeated data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methods: Huffman, Run-Length, PNG, ZIP</a:t>
            </a:r>
            <a:b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for: text files, code, medical data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28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❏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Lossy Compression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get exact original back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less important data is removed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size becomes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much smaller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methods: JPEG, MPEG, MP3</a:t>
            </a:r>
            <a:b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for: photos, videos, music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Lossless means exact recovery. Lossy means acceptable recovery based on perception or application requirement.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4e6ea7bf_0_50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Huffman Coding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6" name="Google Shape;176;g3dd4e6ea7bf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1878" y="1438435"/>
            <a:ext cx="3218543" cy="3494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64e65e289_0_0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Huffman Coding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g3e64e65e289_0_0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g3e64e65e289_0_0"/>
          <p:cNvSpPr/>
          <p:nvPr/>
        </p:nvSpPr>
        <p:spPr>
          <a:xfrm>
            <a:off x="850290" y="1483655"/>
            <a:ext cx="5486400" cy="1828800"/>
          </a:xfrm>
          <a:prstGeom prst="roundRect">
            <a:avLst>
              <a:gd fmla="val 3000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64e65e289_0_0"/>
          <p:cNvSpPr/>
          <p:nvPr/>
        </p:nvSpPr>
        <p:spPr>
          <a:xfrm>
            <a:off x="960018" y="1556807"/>
            <a:ext cx="526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e64e65e289_0_0"/>
          <p:cNvSpPr/>
          <p:nvPr/>
        </p:nvSpPr>
        <p:spPr>
          <a:xfrm>
            <a:off x="960018" y="1831127"/>
            <a:ext cx="52668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Huffman coding is a lossless variable-length coding technique. It assigns short codes to frequent symbols and longer codes to rare symbols.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e64e65e289_0_0"/>
          <p:cNvSpPr/>
          <p:nvPr/>
        </p:nvSpPr>
        <p:spPr>
          <a:xfrm>
            <a:off x="850290" y="3541055"/>
            <a:ext cx="5486400" cy="2011800"/>
          </a:xfrm>
          <a:prstGeom prst="roundRect">
            <a:avLst>
              <a:gd fmla="val 2727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64e65e289_0_0"/>
          <p:cNvSpPr/>
          <p:nvPr/>
        </p:nvSpPr>
        <p:spPr>
          <a:xfrm>
            <a:off x="960018" y="3614207"/>
            <a:ext cx="526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Why it works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64e65e289_0_0"/>
          <p:cNvSpPr/>
          <p:nvPr/>
        </p:nvSpPr>
        <p:spPr>
          <a:xfrm>
            <a:off x="960018" y="3888527"/>
            <a:ext cx="52668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If common symbols use fewer bits, the average number of bits per symbol decreases. That means lower storage while preserving exact information.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64e65e289_0_0"/>
          <p:cNvSpPr/>
          <p:nvPr/>
        </p:nvSpPr>
        <p:spPr>
          <a:xfrm>
            <a:off x="6565290" y="1712255"/>
            <a:ext cx="4663500" cy="3612000"/>
          </a:xfrm>
          <a:prstGeom prst="roundRect">
            <a:avLst>
              <a:gd fmla="val 1519" name="adj"/>
            </a:avLst>
          </a:prstGeom>
          <a:solidFill>
            <a:srgbClr val="FFF8E8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64e65e289_0_0"/>
          <p:cNvSpPr/>
          <p:nvPr/>
        </p:nvSpPr>
        <p:spPr>
          <a:xfrm>
            <a:off x="6675018" y="1803695"/>
            <a:ext cx="444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Compare fixed vs variable length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e64e65e289_0_0"/>
          <p:cNvSpPr/>
          <p:nvPr/>
        </p:nvSpPr>
        <p:spPr>
          <a:xfrm>
            <a:off x="6675018" y="2096303"/>
            <a:ext cx="44439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Suppose four symbols use equal 2-bit fixed code. If one symbol appears much more often, variable-length coding can lower the average below 2 bits/symbol.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64e65e289_0_14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Huffman Coding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g3e64e65e289_0_14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e64e65e289_0_14"/>
          <p:cNvSpPr/>
          <p:nvPr/>
        </p:nvSpPr>
        <p:spPr>
          <a:xfrm>
            <a:off x="883857" y="1433279"/>
            <a:ext cx="5440800" cy="5172900"/>
          </a:xfrm>
          <a:prstGeom prst="roundRect">
            <a:avLst>
              <a:gd fmla="val 1237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64e65e289_0_14"/>
          <p:cNvSpPr/>
          <p:nvPr/>
        </p:nvSpPr>
        <p:spPr>
          <a:xfrm>
            <a:off x="993585" y="1506432"/>
            <a:ext cx="522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Step-by-step algorithm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64e65e289_0_14"/>
          <p:cNvSpPr/>
          <p:nvPr/>
        </p:nvSpPr>
        <p:spPr>
          <a:xfrm>
            <a:off x="993575" y="1853325"/>
            <a:ext cx="5221200" cy="50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Count the frequency of each symbol.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Put all symbols into a min-priority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Remove the two nodes with smallest frequency.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Combine them into a new parent node whose frequency is the sum.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5. Insert the parent back into the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6. Repeat until one root remains.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7. Assign 0 to each left edge and 1 to each right 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8. The root-to-leaf path gives the code for each symbol.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e64e65e289_0_14"/>
          <p:cNvSpPr/>
          <p:nvPr/>
        </p:nvSpPr>
        <p:spPr>
          <a:xfrm>
            <a:off x="6553138" y="1661880"/>
            <a:ext cx="4755000" cy="2103000"/>
          </a:xfrm>
          <a:prstGeom prst="roundRect">
            <a:avLst>
              <a:gd fmla="val 2609" name="adj"/>
            </a:avLst>
          </a:prstGeom>
          <a:solidFill>
            <a:srgbClr val="FFF8E8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64e65e289_0_14"/>
          <p:cNvSpPr/>
          <p:nvPr/>
        </p:nvSpPr>
        <p:spPr>
          <a:xfrm>
            <a:off x="6662866" y="1753320"/>
            <a:ext cx="453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Time-saving exam tip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e64e65e289_0_14"/>
          <p:cNvSpPr/>
          <p:nvPr/>
        </p:nvSpPr>
        <p:spPr>
          <a:xfrm>
            <a:off x="6662866" y="2133012"/>
            <a:ext cx="4535400" cy="16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 the exam, always write frequencies in ascending order first. Then combine the two smallest repeatedly.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e64e65e289_0_14"/>
          <p:cNvSpPr/>
          <p:nvPr/>
        </p:nvSpPr>
        <p:spPr>
          <a:xfrm>
            <a:off x="6553138" y="3993600"/>
            <a:ext cx="4755000" cy="1828800"/>
          </a:xfrm>
          <a:prstGeom prst="roundRect">
            <a:avLst>
              <a:gd fmla="val 3000" name="adj"/>
            </a:avLst>
          </a:prstGeom>
          <a:solidFill>
            <a:srgbClr val="F2F9FF"/>
          </a:solidFill>
          <a:ln cap="flat" cmpd="sng" w="13950">
            <a:solidFill>
              <a:srgbClr val="BBD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64e65e289_0_14"/>
          <p:cNvSpPr/>
          <p:nvPr/>
        </p:nvSpPr>
        <p:spPr>
          <a:xfrm>
            <a:off x="6662866" y="4066752"/>
            <a:ext cx="453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Important property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e64e65e289_0_14"/>
          <p:cNvSpPr/>
          <p:nvPr/>
        </p:nvSpPr>
        <p:spPr>
          <a:xfrm>
            <a:off x="6662866" y="4428156"/>
            <a:ext cx="45354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Huffman code is a prefix of another Huffman code. Therefore, the bitstream can be decoded unambiguously.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64e65e289_0_28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Worked Example: Build a Huffman Tree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2" name="Google Shape;212;g3e64e65e289_0_28"/>
          <p:cNvSpPr/>
          <p:nvPr/>
        </p:nvSpPr>
        <p:spPr>
          <a:xfrm>
            <a:off x="455800" y="129360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e64e65e289_0_28"/>
          <p:cNvSpPr/>
          <p:nvPr/>
        </p:nvSpPr>
        <p:spPr>
          <a:xfrm>
            <a:off x="896075" y="1594475"/>
            <a:ext cx="6031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rPr>
              <a:t>Given frequencies: A=45, B=13, C=12, D=16, E=9, F=5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e64e65e289_0_28" title="IMG_20260426_002633_905.jpg"/>
          <p:cNvPicPr preferRelativeResize="0"/>
          <p:nvPr/>
        </p:nvPicPr>
        <p:blipFill rotWithShape="1">
          <a:blip r:embed="rId3">
            <a:alphaModFix/>
          </a:blip>
          <a:srcRect b="24338" l="9525" r="6702" t="16905"/>
          <a:stretch/>
        </p:blipFill>
        <p:spPr>
          <a:xfrm>
            <a:off x="1928375" y="2132675"/>
            <a:ext cx="8222351" cy="402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64e65e289_0_83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Worked Example: Build a Huffman Tree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g3e64e65e289_0_83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e64e65e289_0_83"/>
          <p:cNvSpPr/>
          <p:nvPr/>
        </p:nvSpPr>
        <p:spPr>
          <a:xfrm>
            <a:off x="896075" y="1594475"/>
            <a:ext cx="6031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rPr>
              <a:t>Given frequencies: A=45, B=13, C=12, D=16, E=9, F=5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g3e64e65e289_0_83"/>
          <p:cNvGraphicFramePr/>
          <p:nvPr/>
        </p:nvGraphicFramePr>
        <p:xfrm>
          <a:off x="896085" y="2396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{1453509B-86F8-4610-9220-E8ABEBDE1457}</a:tableStyleId>
              </a:tblPr>
              <a:tblGrid>
                <a:gridCol w="731525"/>
                <a:gridCol w="1965950"/>
                <a:gridCol w="1051550"/>
                <a:gridCol w="21488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Step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Choose smallest two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New node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Remaining set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F=5 and E=9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14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12,13,14,16,45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C=12 and B=13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25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14,16,25,45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14 and D=16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30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25,30,45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4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25 and 30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55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45,55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45 and 55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100 root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done</a:t>
                      </a:r>
                      <a:endParaRPr sz="1800" u="none" cap="none" strike="noStrike"/>
                    </a:p>
                  </a:txBody>
                  <a:tcPr marT="36575" marB="36575" marR="36575" marL="36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g3e64e65e289_0_83"/>
          <p:cNvSpPr/>
          <p:nvPr/>
        </p:nvSpPr>
        <p:spPr>
          <a:xfrm>
            <a:off x="7616925" y="1989929"/>
            <a:ext cx="3566100" cy="3173400"/>
          </a:xfrm>
          <a:prstGeom prst="roundRect">
            <a:avLst>
              <a:gd fmla="val 1905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64e65e289_0_83"/>
          <p:cNvSpPr/>
          <p:nvPr/>
        </p:nvSpPr>
        <p:spPr>
          <a:xfrm>
            <a:off x="7726653" y="2063082"/>
            <a:ext cx="334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One valid code set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64e65e289_0_83"/>
          <p:cNvSpPr/>
          <p:nvPr/>
        </p:nvSpPr>
        <p:spPr>
          <a:xfrm>
            <a:off x="7726653" y="2337402"/>
            <a:ext cx="33468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=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 = 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 = 101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 = 1100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 = 1101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 = 111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Exact 0/1 assignments may swap left and right, but code lengths remain valid.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64e65e289_0_48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Huffman Coding: Average Bit Length and Compression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1" name="Google Shape;231;g3e64e65e289_0_48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e64e65e289_0_48"/>
          <p:cNvSpPr/>
          <p:nvPr/>
        </p:nvSpPr>
        <p:spPr>
          <a:xfrm>
            <a:off x="906965" y="1546318"/>
            <a:ext cx="5349300" cy="4023300"/>
          </a:xfrm>
          <a:prstGeom prst="roundRect">
            <a:avLst>
              <a:gd fmla="val 1364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e64e65e289_0_48"/>
          <p:cNvSpPr/>
          <p:nvPr/>
        </p:nvSpPr>
        <p:spPr>
          <a:xfrm>
            <a:off x="1016693" y="1619470"/>
            <a:ext cx="512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Calculation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e64e65e289_0_48"/>
          <p:cNvSpPr/>
          <p:nvPr/>
        </p:nvSpPr>
        <p:spPr>
          <a:xfrm>
            <a:off x="1016693" y="1937332"/>
            <a:ext cx="5129700" cy="3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Using the valid code lengths from the previous slide: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A: 1 bit, B: 3 bits, C: 3 bits, D: 3 bits, E: 4 bits, F: 4 bits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Average length Lavg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(45×1 + 13×3 + 12×3 + 16×3 + 9×4 + 5×4) / 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(45 + 39 + 36 + 48 + 36 + 20) / 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224 / 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2.24 bits/symbol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64e65e289_0_48"/>
          <p:cNvSpPr/>
          <p:nvPr/>
        </p:nvSpPr>
        <p:spPr>
          <a:xfrm>
            <a:off x="6530525" y="1546317"/>
            <a:ext cx="4755000" cy="2011800"/>
          </a:xfrm>
          <a:prstGeom prst="roundRect">
            <a:avLst>
              <a:gd fmla="val 2727" name="adj"/>
            </a:avLst>
          </a:prstGeom>
          <a:solidFill>
            <a:srgbClr val="EEF5FF"/>
          </a:solidFill>
          <a:ln cap="flat" cmpd="sng" w="13950">
            <a:solidFill>
              <a:srgbClr val="B4C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64e65e289_0_48"/>
          <p:cNvSpPr/>
          <p:nvPr/>
        </p:nvSpPr>
        <p:spPr>
          <a:xfrm>
            <a:off x="6640253" y="1619470"/>
            <a:ext cx="453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Compare with fixed-length coding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64e65e289_0_48"/>
          <p:cNvSpPr/>
          <p:nvPr/>
        </p:nvSpPr>
        <p:spPr>
          <a:xfrm>
            <a:off x="6640253" y="1937331"/>
            <a:ext cx="45354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There are 6 symbols. Fixed-length code needs 3 bits/symbol because 2^2 &lt; 6 ≤ 2^3.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So, Huffman saves 3 - 2.24 = 0.76 bits/symbol on average.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64e65e289_0_48"/>
          <p:cNvSpPr/>
          <p:nvPr/>
        </p:nvSpPr>
        <p:spPr>
          <a:xfrm>
            <a:off x="6530525" y="3878038"/>
            <a:ext cx="4755000" cy="1737300"/>
          </a:xfrm>
          <a:prstGeom prst="roundRect">
            <a:avLst>
              <a:gd fmla="val 3158" name="adj"/>
            </a:avLst>
          </a:prstGeom>
          <a:solidFill>
            <a:srgbClr val="FFF8E8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64e65e289_0_48"/>
          <p:cNvSpPr/>
          <p:nvPr/>
        </p:nvSpPr>
        <p:spPr>
          <a:xfrm>
            <a:off x="6640253" y="3969478"/>
            <a:ext cx="453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Compression estimate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64e65e289_0_48"/>
          <p:cNvSpPr/>
          <p:nvPr/>
        </p:nvSpPr>
        <p:spPr>
          <a:xfrm>
            <a:off x="6640253" y="4305628"/>
            <a:ext cx="4535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Approximate compression ratio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fixed / Huffman = 3 / 2.24 ≈ 1.34 :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64e65e289_0_71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Huffman Coding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" name="Google Shape;246;g3e64e65e289_0_71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3e64e65e289_0_71"/>
          <p:cNvSpPr/>
          <p:nvPr/>
        </p:nvSpPr>
        <p:spPr>
          <a:xfrm>
            <a:off x="883915" y="1413030"/>
            <a:ext cx="5440800" cy="4480500"/>
          </a:xfrm>
          <a:prstGeom prst="roundRect">
            <a:avLst>
              <a:gd fmla="val 1224" name="adj"/>
            </a:avLst>
          </a:prstGeom>
          <a:solidFill>
            <a:srgbClr val="FFF8E8"/>
          </a:solidFill>
          <a:ln cap="flat" cmpd="sng" w="152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e64e65e289_0_71"/>
          <p:cNvSpPr/>
          <p:nvPr/>
        </p:nvSpPr>
        <p:spPr>
          <a:xfrm>
            <a:off x="993643" y="1504470"/>
            <a:ext cx="522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64e65e289_0_71"/>
          <p:cNvSpPr/>
          <p:nvPr/>
        </p:nvSpPr>
        <p:spPr>
          <a:xfrm>
            <a:off x="993643" y="1869648"/>
            <a:ext cx="5221200" cy="4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Symbols and frequencies: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P=30, Q=25, R=20, S=15, T=10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Draw the Huffman tree.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Write one valid code for each symbol.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Compute average bits/symbol.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Compare with fixed-length coding.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64e65e289_0_71"/>
          <p:cNvSpPr/>
          <p:nvPr/>
        </p:nvSpPr>
        <p:spPr>
          <a:xfrm>
            <a:off x="6507475" y="1413030"/>
            <a:ext cx="4800600" cy="4480500"/>
          </a:xfrm>
          <a:prstGeom prst="roundRect">
            <a:avLst>
              <a:gd fmla="val 1224" name="adj"/>
            </a:avLst>
          </a:prstGeom>
          <a:solidFill>
            <a:srgbClr val="F2FBF5"/>
          </a:solidFill>
          <a:ln cap="flat" cmpd="sng" w="13950">
            <a:solidFill>
              <a:srgbClr val="B7D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e64e65e289_0_71"/>
          <p:cNvSpPr/>
          <p:nvPr/>
        </p:nvSpPr>
        <p:spPr>
          <a:xfrm>
            <a:off x="6617203" y="1486182"/>
            <a:ext cx="458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Answer outline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e64e65e289_0_71"/>
          <p:cNvSpPr/>
          <p:nvPr/>
        </p:nvSpPr>
        <p:spPr>
          <a:xfrm>
            <a:off x="6617203" y="1833072"/>
            <a:ext cx="4581000" cy="4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Possible combining order: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10+15=25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20+25=45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25+30=55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45+55=100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 valid code set: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R=00, Q=01, T=100, S=101, P=11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Lengths: 2,2,3,3,2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Lavg = (30×2 + 25×2 + 20×2 + 15×3 + 10×3)/100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= 225/100 = 2.25 bits/symbol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Fixed-length for 5 symbols = 3 bits/symbol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d4e6ea7bf_0_54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 Compression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02365e938_0_0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" name="Google Shape;263;g3e02365e938_0_0"/>
          <p:cNvSpPr/>
          <p:nvPr/>
        </p:nvSpPr>
        <p:spPr>
          <a:xfrm>
            <a:off x="455800" y="1293650"/>
            <a:ext cx="111675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JPEG?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JPEG is a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lossy image compression method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Mainly used for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photos (natural images), not for text or simple drawings.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reduces file size by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removing less important details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how humans see images to decide what to remove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❏"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does it work so well?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plays a trick on our eyes!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eyes</a:t>
            </a: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very good at seeing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brightness</a:t>
            </a: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(light and dark).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our eyes are not very good at seeing tiny details in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JPEG saves space by keeping the brightness perfect but throwing away color details we wouldn't notice anyway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g3e02365e938_0_0"/>
          <p:cNvPicPr preferRelativeResize="0"/>
          <p:nvPr/>
        </p:nvPicPr>
        <p:blipFill rotWithShape="1">
          <a:blip r:embed="rId3">
            <a:alphaModFix/>
          </a:blip>
          <a:srcRect b="60424" l="0" r="0" t="0"/>
          <a:stretch/>
        </p:blipFill>
        <p:spPr>
          <a:xfrm>
            <a:off x="3964175" y="4787200"/>
            <a:ext cx="3981450" cy="9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e02365e938_0_0"/>
          <p:cNvPicPr preferRelativeResize="0"/>
          <p:nvPr/>
        </p:nvPicPr>
        <p:blipFill rotWithShape="1">
          <a:blip r:embed="rId3">
            <a:alphaModFix/>
          </a:blip>
          <a:srcRect b="5343" l="-2600" r="2600" t="55082"/>
          <a:stretch/>
        </p:blipFill>
        <p:spPr>
          <a:xfrm>
            <a:off x="3964175" y="5767300"/>
            <a:ext cx="3981450" cy="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02365e938_0_11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1" name="Google Shape;271;g3e02365e938_0_11"/>
          <p:cNvSpPr/>
          <p:nvPr/>
        </p:nvSpPr>
        <p:spPr>
          <a:xfrm>
            <a:off x="778600" y="1293650"/>
            <a:ext cx="10649100" cy="5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save space on your phone or computer, here is the step-by-step breakdown of how it works-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Change the "Color Language" (RGB to Y</a:t>
            </a: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CbCr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Computers usually think in Red, Green, and Blue. JPEG changes this into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Brightness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(Y)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(Cb and Cr).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eyes are super sensitive to how bright something is, but we are actually quite bad at seeing tiny color details.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Color Reduction (Chroma Subsample)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eyes are not very good at noticing fine details in color.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 JPEG can reduce the resolution of Cb and Cr (color parts) without making the image look bad.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common method is called 4:2:0 — it stores color at half the resolution both horizontally and vertically.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saves space while keeping brightness sharp.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The 8x8 Blocking / Cutting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trying to handle the whole photo at once, JPEG chops the image into tiny squares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8x8 pixels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Downside: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you compress a photo too much, you’ll start seeing the edges of these little squares (this is why low-quality photos look "blocky").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02365e938_0_23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7" name="Google Shape;277;g3e02365e938_0_23"/>
          <p:cNvSpPr/>
          <p:nvPr/>
        </p:nvSpPr>
        <p:spPr>
          <a:xfrm>
            <a:off x="910325" y="1293650"/>
            <a:ext cx="10470300" cy="54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Math Magic (DCT)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Now, JPEG uses a mathematical trick called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Cosine Transform (DCT)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changes the pixels from "dots of color" into "waves of detail."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separates the big, important shapes (Low Frequency) from the tiny, busy details (High Frequency).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Rounding Off (Quantization) — The Most Important Step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where the actual "shrinking" happens. JPEG takes all those "waves of detail" and rounds the numbers off.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Instead of saving a specific number like 17.34, it just saves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we are rounding off, we can never get the exact original numbers back. This is why JPEG is called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"lossy"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compression.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g3e02365e938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8301" y="2670299"/>
            <a:ext cx="5701100" cy="17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02365e938_0_32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4" name="Google Shape;284;g3e02365e938_0_32"/>
          <p:cNvSpPr/>
          <p:nvPr/>
        </p:nvSpPr>
        <p:spPr>
          <a:xfrm>
            <a:off x="853875" y="1293650"/>
            <a:ext cx="10479900" cy="54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Sorting (Zigzag)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JPEG sorts the numbers in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zigzag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pattern. It puts the big, important numbers first and the small, unimportant zeros at the end.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Final Packing (RLE and Huffman)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it uses two more tricks to pack the data tightly: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Instead of saying "0, 0, 0, 0, 0," it just says "Five zeros."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Huffman: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gives short codes to things that happen often and long codes to things that are rare (like a digital version of Morse code).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02365e938_0_37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g3e02365e938_0_37"/>
          <p:cNvSpPr/>
          <p:nvPr/>
        </p:nvSpPr>
        <p:spPr>
          <a:xfrm>
            <a:off x="853875" y="1293650"/>
            <a:ext cx="10479900" cy="54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e02365e938_0_37"/>
          <p:cNvSpPr/>
          <p:nvPr/>
        </p:nvSpPr>
        <p:spPr>
          <a:xfrm>
            <a:off x="886968" y="1332958"/>
            <a:ext cx="526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02365e938_0_37"/>
          <p:cNvSpPr/>
          <p:nvPr/>
        </p:nvSpPr>
        <p:spPr>
          <a:xfrm>
            <a:off x="886968" y="1713556"/>
            <a:ext cx="5266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After DCT, assume a small coefficient sequence is: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[80, 18, 9, 3, 2, 1, 0,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Quantization divisors are: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[8, 6, 9, 10, 12, 15, 20, 25]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Quantize each value.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Which values become zero?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Why does this help compression?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02365e938_0_37"/>
          <p:cNvSpPr/>
          <p:nvPr/>
        </p:nvSpPr>
        <p:spPr>
          <a:xfrm>
            <a:off x="6877425" y="1293652"/>
            <a:ext cx="4581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02365e938_0_37"/>
          <p:cNvSpPr/>
          <p:nvPr/>
        </p:nvSpPr>
        <p:spPr>
          <a:xfrm>
            <a:off x="6968675" y="1800200"/>
            <a:ext cx="4581000" cy="42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Quantized values: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80/8 = 10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18/6 =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9/9 =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3/10 ≈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2/12 ≈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1/15 ≈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0/20 =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0/25 =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Result: [10, 3, 1, 0, 0, 0, 0,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Now the tail has a long run of zeros. </a:t>
            </a:r>
            <a:endParaRPr b="0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Zigzag + RLE + Huffman can compress this very well.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02365e938_0_47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JPEG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0" name="Google Shape;300;g3e02365e938_0_47"/>
          <p:cNvSpPr/>
          <p:nvPr/>
        </p:nvSpPr>
        <p:spPr>
          <a:xfrm>
            <a:off x="853875" y="1293650"/>
            <a:ext cx="10479900" cy="54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e02365e938_0_47"/>
          <p:cNvSpPr/>
          <p:nvPr/>
        </p:nvSpPr>
        <p:spPr>
          <a:xfrm>
            <a:off x="886968" y="1713556"/>
            <a:ext cx="5266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02365e938_0_47"/>
          <p:cNvSpPr/>
          <p:nvPr/>
        </p:nvSpPr>
        <p:spPr>
          <a:xfrm>
            <a:off x="896093" y="1376845"/>
            <a:ext cx="316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02365e938_0_47"/>
          <p:cNvSpPr/>
          <p:nvPr/>
        </p:nvSpPr>
        <p:spPr>
          <a:xfrm>
            <a:off x="886968" y="1713554"/>
            <a:ext cx="31638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State the major steps of JPEG in correct order.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Expected order: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Color transform -&gt; subsampling -&gt; blocking -&gt; DCT -&gt; quantization -&gt; zigzag -&gt; RLE -&gt; Huffman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02365e938_0_47"/>
          <p:cNvSpPr/>
          <p:nvPr/>
        </p:nvSpPr>
        <p:spPr>
          <a:xfrm>
            <a:off x="4517136" y="1332958"/>
            <a:ext cx="316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02365e938_0_47"/>
          <p:cNvSpPr/>
          <p:nvPr/>
        </p:nvSpPr>
        <p:spPr>
          <a:xfrm>
            <a:off x="4517136" y="1713554"/>
            <a:ext cx="31638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Which step of JPEG is lossy?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Expected answer: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Quantization. Because rounded coefficient values cannot be perfectly recovered.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e02365e938_0_47"/>
          <p:cNvSpPr/>
          <p:nvPr/>
        </p:nvSpPr>
        <p:spPr>
          <a:xfrm>
            <a:off x="8138160" y="1332958"/>
            <a:ext cx="29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D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4D00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02365e938_0_47"/>
          <p:cNvSpPr/>
          <p:nvPr/>
        </p:nvSpPr>
        <p:spPr>
          <a:xfrm>
            <a:off x="8138160" y="1713554"/>
            <a:ext cx="29352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Why does JPEG work better for photographs than for text diagrams?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Expected idea: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Photos tolerate small smooth losses better; sharp edges in text/artifacts become more visible.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02365e938_0_65"/>
          <p:cNvSpPr txBox="1"/>
          <p:nvPr>
            <p:ph idx="1" type="body"/>
          </p:nvPr>
        </p:nvSpPr>
        <p:spPr>
          <a:xfrm>
            <a:off x="455550" y="3100650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MPEG Compression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02365e938_0_69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8" name="Google Shape;318;g3e02365e938_0_69"/>
          <p:cNvSpPr/>
          <p:nvPr/>
        </p:nvSpPr>
        <p:spPr>
          <a:xfrm>
            <a:off x="806825" y="1293650"/>
            <a:ext cx="10677300" cy="5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MPEG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(video) is an upgraded version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JPEG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(photos) that is much smarter about saving space.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Problem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video is just a long string of photos (called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shown very fast.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used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JPEG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compress a video, you would have to save every single photo separately.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waste of space because, in a video, the next photo is usually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almost exactly the same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 one before it.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❏"/>
            </a:pPr>
            <a:r>
              <a:rPr b="1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MPEG Strategy</a:t>
            </a:r>
            <a:endParaRPr b="1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MPEG is the video version of JPEG (MPEG = Moving Picture Experts Group).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uses two kinds of compression together: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○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Spatial compression (inside each frame) → like JPEG.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○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Temporal compression (across frames) → new for video.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By combining both, MPEG can compress video much more than compressing each frame as a separate JPEG.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❏"/>
            </a:pPr>
            <a:r>
              <a:rPr b="1" i="0" lang="en-US" sz="15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Real-</a:t>
            </a:r>
            <a:r>
              <a:rPr b="1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world example:  </a:t>
            </a: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Imagine a person talking in front of a fixed background: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background (wall, door, etc.) stays the same from frame to frame.</a:t>
            </a:r>
            <a:endParaRPr b="0" i="0" sz="1800" u="none" cap="none" strike="noStrike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Only the person's mouth, eyes, or hands move.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02365e938_0_79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MPEG Frame Types: I, P and B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4" name="Google Shape;324;g3e02365e938_0_79"/>
          <p:cNvSpPr/>
          <p:nvPr/>
        </p:nvSpPr>
        <p:spPr>
          <a:xfrm>
            <a:off x="806825" y="1293650"/>
            <a:ext cx="106773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I-frames (The Full Picture)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Name: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Intra-coded frame.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like a complete, normal photograph. It doesn't need any other frames to work; it has all the details by itself.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are 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frames because they carry the most information.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They are used as a "reference" or starting point for other frames.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P-frames (The "Look Back" Picture)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Name: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frame.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frame only saves what has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since the last picture. It "looks back" at a previous I-frame or P-frame to figure out what moved.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size.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saves space by only storing motion and small leftovers instead of the whole image.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B-frames (The "Sandwich" Picture)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Name: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Bi-directional frame.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smartest and most efficient frame. It looks at both the picture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and the picture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to fill in the gaps.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Size: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are 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smallest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save the most space.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GOP = Group of Pictures. It is the repeated pattern that organizes I, P and B frames.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GOP:  I  B  B  P  B  B  P  B  B  I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02365e938_0_87"/>
          <p:cNvSpPr txBox="1"/>
          <p:nvPr>
            <p:ph idx="4294967295" type="body"/>
          </p:nvPr>
        </p:nvSpPr>
        <p:spPr>
          <a:xfrm>
            <a:off x="455800" y="569875"/>
            <a:ext cx="11280900" cy="656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Char char="❏"/>
            </a:pPr>
            <a:r>
              <a:rPr lang="en-US" sz="2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Motion Compensation: The Heart of MPEG</a:t>
            </a:r>
            <a:endParaRPr sz="2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g3e02365e938_0_87"/>
          <p:cNvSpPr/>
          <p:nvPr/>
        </p:nvSpPr>
        <p:spPr>
          <a:xfrm>
            <a:off x="731800" y="1293650"/>
            <a:ext cx="10752300" cy="5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Concept:</a:t>
            </a:r>
            <a:b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Instead of sending the whole next block, MPEG searches for a similar block in a reference frame. It sends the motion vector and the residual difference.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4060"/>
                </a:solidFill>
                <a:latin typeface="Arial"/>
                <a:ea typeface="Arial"/>
                <a:cs typeface="Arial"/>
                <a:sym typeface="Arial"/>
              </a:rPr>
              <a:t>Simple math example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block moves 2 pixels right and 1 pixel down.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Motion vector = ( +2, +1 )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Predicted block = block from old frame shifted by that vector.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Residual = actual new block - predicted block.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Math Problem: </a:t>
            </a:r>
            <a:endParaRPr b="1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block moves from position (10,12) in one frame to (13,14) in the next.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Find the motion vector.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(+3, +2)</a:t>
            </a:r>
            <a:endParaRPr b="0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3e02365e938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2294775"/>
            <a:ext cx="5105400" cy="24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37" name="Google Shape;337;p20"/>
          <p:cNvSpPr txBox="1"/>
          <p:nvPr>
            <p:ph idx="1" type="body"/>
          </p:nvPr>
        </p:nvSpPr>
        <p:spPr>
          <a:xfrm>
            <a:off x="306500" y="4922800"/>
            <a:ext cx="113043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12"/>
              <a:buNone/>
            </a:pPr>
            <a:r>
              <a:rPr lang="en-US" sz="3600"/>
              <a:t>Thank You…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2021-06-25T14:59:53Z</dcterms:created>
  <dc:creator>Microsoft account</dc:creator>
</cp:coreProperties>
</file>