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Roboto Mono"/>
      <p:regular r:id="rId25"/>
      <p:bold r:id="rId26"/>
      <p:italic r:id="rId27"/>
      <p:boldItalic r:id="rId28"/>
    </p:embeddedFont>
    <p:embeddedFont>
      <p:font typeface="Gill Sans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pPv06A4BXHwZ9j+CsfHBqxp0S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Gill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Gill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2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4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5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6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9" name="Google Shape;49;p26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7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9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F276A"/>
              </a:buClr>
              <a:buSzPts val="2000"/>
              <a:buFont typeface="Gill Sans"/>
              <a:buNone/>
              <a:defRPr b="0" sz="2000"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29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2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30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4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2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32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9F276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2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2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9F276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440513" y="1581914"/>
            <a:ext cx="11243407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 u="sng">
                <a:latin typeface="Calibri"/>
                <a:ea typeface="Calibri"/>
                <a:cs typeface="Calibri"/>
                <a:sym typeface="Calibri"/>
              </a:rPr>
              <a:t>CSE421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Computer Graphics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700"/>
              <a:t>Sutherland</a:t>
            </a:r>
            <a:r>
              <a:rPr b="1" lang="en-US" sz="2700"/>
              <a:t>-</a:t>
            </a:r>
            <a:r>
              <a:rPr b="1" lang="en-US" sz="2700"/>
              <a:t>Hodgeman Polygon Clipping Algorithm</a:t>
            </a:r>
            <a:endParaRPr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7260608" y="4638144"/>
            <a:ext cx="4423313" cy="1430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Mahimul Islam Nadim</a:t>
            </a:r>
            <a:endParaRPr/>
          </a:p>
          <a:p>
            <a:pPr indent="0" lvl="0" marL="0" rtl="0" algn="l">
              <a:spcBef>
                <a:spcPts val="933"/>
              </a:spcBef>
              <a:spcAft>
                <a:spcPts val="0"/>
              </a:spcAft>
              <a:buSzPts val="1656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endParaRPr/>
          </a:p>
          <a:p>
            <a:pPr indent="0" lvl="0" marL="0" rtl="0" algn="l">
              <a:spcBef>
                <a:spcPts val="933"/>
              </a:spcBef>
              <a:spcAft>
                <a:spcPts val="0"/>
              </a:spcAft>
              <a:buSzPts val="1656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CSE</a:t>
            </a:r>
            <a:endParaRPr/>
          </a:p>
          <a:p>
            <a:pPr indent="0" lvl="0" marL="0" rtl="0" algn="l">
              <a:spcBef>
                <a:spcPts val="933"/>
              </a:spcBef>
              <a:spcAft>
                <a:spcPts val="0"/>
              </a:spcAft>
              <a:buSzPts val="1656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Daffodil International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POLYGON</a:t>
            </a:r>
            <a:br>
              <a:rPr b="1" lang="en-US"/>
            </a:b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581192" y="1852251"/>
            <a:ext cx="11029615" cy="2708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n-US"/>
              <a:t>A Polygon can be described as the collection or group of closed lines.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All lines are connected.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b="1" lang="en-US"/>
              <a:t>Some Examples of the polygon: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Triangles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Pentagons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Hexagons</a:t>
            </a:r>
            <a:endParaRPr/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014" y="4696572"/>
            <a:ext cx="1813352" cy="168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6671" y="4696572"/>
            <a:ext cx="1938511" cy="168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91197" y="4696573"/>
            <a:ext cx="1859572" cy="1677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3751" y="4696572"/>
            <a:ext cx="1960534" cy="1688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POLYGON CLIPPING</a:t>
            </a:r>
            <a:br>
              <a:rPr b="1" lang="en-US"/>
            </a:br>
            <a:endParaRPr/>
          </a:p>
        </p:txBody>
      </p:sp>
      <p:sp>
        <p:nvSpPr>
          <p:cNvPr id="113" name="Google Shape;113;p3"/>
          <p:cNvSpPr txBox="1"/>
          <p:nvPr>
            <p:ph idx="1" type="body"/>
          </p:nvPr>
        </p:nvSpPr>
        <p:spPr>
          <a:xfrm>
            <a:off x="581193" y="1875697"/>
            <a:ext cx="11029615" cy="2848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b="1" lang="en-US"/>
              <a:t>Polygon clipping</a:t>
            </a:r>
            <a:r>
              <a:rPr lang="en-US"/>
              <a:t> is a process in which we only consider the part which is inside the view pane or window. 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We will remove or clip the part that is outside the window.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/>
              <a:t>We can use the following algorithms for polygon clipping–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Sutherland-Hodgeman polygon clipping algorithm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Weiler-Atherton polygon clipping algorithm</a:t>
            </a:r>
            <a:endParaRPr/>
          </a:p>
          <a:p>
            <a:pPr indent="-200844" lvl="0" marL="30600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ill Sans"/>
              <a:buNone/>
            </a:pPr>
            <a:r>
              <a:rPr b="1" lang="en-US"/>
              <a:t>SUTHERLAND-HODGEMAN POLYGON CLIPPING ALGORITHM </a:t>
            </a:r>
            <a:br>
              <a:rPr b="1" lang="en-US"/>
            </a:br>
            <a:endParaRPr/>
          </a:p>
        </p:txBody>
      </p:sp>
      <p:sp>
        <p:nvSpPr>
          <p:cNvPr id="119" name="Google Shape;119;p4"/>
          <p:cNvSpPr txBox="1"/>
          <p:nvPr>
            <p:ph idx="1" type="body"/>
          </p:nvPr>
        </p:nvSpPr>
        <p:spPr>
          <a:xfrm>
            <a:off x="581192" y="1817081"/>
            <a:ext cx="11029615" cy="1840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b="1" lang="en-US"/>
              <a:t>This polygon clipping algorithm deals with four different clipping cases.</a:t>
            </a:r>
            <a:endParaRPr/>
          </a:p>
          <a:p>
            <a:pPr indent="-400050" lvl="1" marL="724050" rtl="0" algn="l">
              <a:spcBef>
                <a:spcPts val="920"/>
              </a:spcBef>
              <a:spcAft>
                <a:spcPts val="0"/>
              </a:spcAft>
              <a:buSzPts val="1472"/>
              <a:buFont typeface="Gill Sans"/>
              <a:buAutoNum type="romanUcPeriod"/>
            </a:pPr>
            <a:r>
              <a:rPr b="1" lang="en-US"/>
              <a:t>Left clip</a:t>
            </a:r>
            <a:endParaRPr/>
          </a:p>
          <a:p>
            <a:pPr indent="-400050" lvl="1" marL="724050" rtl="0" algn="l">
              <a:spcBef>
                <a:spcPts val="920"/>
              </a:spcBef>
              <a:spcAft>
                <a:spcPts val="0"/>
              </a:spcAft>
              <a:buSzPts val="1472"/>
              <a:buFont typeface="Gill Sans"/>
              <a:buAutoNum type="romanUcPeriod"/>
            </a:pPr>
            <a:r>
              <a:rPr b="1" lang="en-US"/>
              <a:t>Right clip</a:t>
            </a:r>
            <a:endParaRPr/>
          </a:p>
          <a:p>
            <a:pPr indent="-400050" lvl="1" marL="724050" rtl="0" algn="l">
              <a:spcBef>
                <a:spcPts val="920"/>
              </a:spcBef>
              <a:spcAft>
                <a:spcPts val="0"/>
              </a:spcAft>
              <a:buSzPts val="1472"/>
              <a:buFont typeface="Gill Sans"/>
              <a:buAutoNum type="romanUcPeriod"/>
            </a:pPr>
            <a:r>
              <a:rPr b="1" lang="en-US"/>
              <a:t>Top clip</a:t>
            </a:r>
            <a:endParaRPr/>
          </a:p>
          <a:p>
            <a:pPr indent="-400050" lvl="1" marL="724050" rtl="0" algn="l">
              <a:spcBef>
                <a:spcPts val="920"/>
              </a:spcBef>
              <a:spcAft>
                <a:spcPts val="0"/>
              </a:spcAft>
              <a:buSzPts val="1472"/>
              <a:buFont typeface="Gill Sans"/>
              <a:buAutoNum type="romanUcPeriod"/>
            </a:pPr>
            <a:r>
              <a:rPr b="1" lang="en-US"/>
              <a:t>Bottom clip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CASE-1: LEFT CLIP</a:t>
            </a:r>
            <a:br>
              <a:rPr b="1" lang="en-US"/>
            </a:br>
            <a:endParaRPr/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581192" y="1828800"/>
            <a:ext cx="7425670" cy="1606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In the left side polygon clipping,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/>
              <a:t>	- we only remove the left part of the polygon,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/>
              <a:t>	- which is outside the window. 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We only save the portion which is inside the window.</a:t>
            </a:r>
            <a:endParaRPr/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8300" y="3829063"/>
            <a:ext cx="3039208" cy="2713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5"/>
          <p:cNvPicPr preferRelativeResize="0"/>
          <p:nvPr/>
        </p:nvPicPr>
        <p:blipFill rotWithShape="1">
          <a:blip r:embed="rId4">
            <a:alphaModFix/>
          </a:blip>
          <a:srcRect b="3345" l="2049" r="2187" t="2423"/>
          <a:stretch/>
        </p:blipFill>
        <p:spPr>
          <a:xfrm>
            <a:off x="5603631" y="3829063"/>
            <a:ext cx="2403231" cy="2293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CASE-2: RIGHT CLIP</a:t>
            </a:r>
            <a:br>
              <a:rPr b="1" lang="en-US"/>
            </a:br>
            <a:endParaRPr/>
          </a:p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581192" y="1844364"/>
            <a:ext cx="7437393" cy="1635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In the right-side polygon clipping,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/>
              <a:t>	- we only remove the right part of the polygon,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/>
              <a:t>	-which is outside the window. 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We only save the portion which is inside the window. </a:t>
            </a:r>
            <a:endParaRPr/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3699" y="3845550"/>
            <a:ext cx="2454886" cy="254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6"/>
          <p:cNvPicPr preferRelativeResize="0"/>
          <p:nvPr/>
        </p:nvPicPr>
        <p:blipFill rotWithShape="1">
          <a:blip r:embed="rId4">
            <a:alphaModFix/>
          </a:blip>
          <a:srcRect b="3345" l="2049" r="2187" t="2423"/>
          <a:stretch/>
        </p:blipFill>
        <p:spPr>
          <a:xfrm>
            <a:off x="1779426" y="3845550"/>
            <a:ext cx="2520462" cy="2405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CASE-3: TOP CLIP</a:t>
            </a:r>
            <a:br>
              <a:rPr b="1" lang="en-US"/>
            </a:br>
            <a:endParaRPr/>
          </a:p>
        </p:txBody>
      </p:sp>
      <p:sp>
        <p:nvSpPr>
          <p:cNvPr id="141" name="Google Shape;141;p7"/>
          <p:cNvSpPr txBox="1"/>
          <p:nvPr>
            <p:ph idx="1" type="body"/>
          </p:nvPr>
        </p:nvSpPr>
        <p:spPr>
          <a:xfrm>
            <a:off x="581192" y="1715956"/>
            <a:ext cx="11029615" cy="1839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On the top side polygon clipping,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/>
              <a:t>	- we only remove the top part of the polygon,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/>
              <a:t>	- which is outside the window. 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We only save the portion which is inside the window.</a:t>
            </a:r>
            <a:endParaRPr/>
          </a:p>
        </p:txBody>
      </p:sp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9169" y="3811923"/>
            <a:ext cx="2318603" cy="2378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17078" y="3752400"/>
            <a:ext cx="2328214" cy="2413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CASE-4: BOTTOM CLIP</a:t>
            </a:r>
            <a:br>
              <a:rPr b="1" lang="en-US"/>
            </a:br>
            <a:endParaRPr/>
          </a:p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581192" y="1715956"/>
            <a:ext cx="11029615" cy="17936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In the bottom side polygon clipping,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/>
              <a:t>	- we only remove the bottom part of the polygon,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/>
              <a:t>	- which is outside the window. </a:t>
            </a:r>
            <a:endParaRPr/>
          </a:p>
          <a:p>
            <a:pPr indent="-306000" lvl="0" marL="306000" rtl="0" algn="l">
              <a:spcBef>
                <a:spcPts val="96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We only save the portion which is inside the window. </a:t>
            </a:r>
            <a:endParaRPr/>
          </a:p>
        </p:txBody>
      </p:sp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4811" y="3777828"/>
            <a:ext cx="2412390" cy="247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0553" y="4055480"/>
            <a:ext cx="2252297" cy="1919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CONDITIONS:</a:t>
            </a:r>
            <a:br>
              <a:rPr b="1" lang="en-US"/>
            </a:br>
            <a:endParaRPr/>
          </a:p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581193" y="1805358"/>
            <a:ext cx="11029615" cy="18756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b="1" lang="en-US"/>
              <a:t>There should be the following conditions while we clip a polygon.</a:t>
            </a:r>
            <a:endParaRPr/>
          </a:p>
          <a:p>
            <a:pPr indent="-400050" lvl="1" marL="724050" rtl="0" algn="l">
              <a:spcBef>
                <a:spcPts val="920"/>
              </a:spcBef>
              <a:spcAft>
                <a:spcPts val="0"/>
              </a:spcAft>
              <a:buSzPts val="1472"/>
              <a:buFont typeface="Gill Sans"/>
              <a:buAutoNum type="romanUcPeriod"/>
            </a:pPr>
            <a:r>
              <a:rPr b="1" lang="en-US"/>
              <a:t>Condition 1(Out-In)</a:t>
            </a:r>
            <a:endParaRPr/>
          </a:p>
          <a:p>
            <a:pPr indent="-400050" lvl="1" marL="724050" rtl="0" algn="l">
              <a:spcBef>
                <a:spcPts val="920"/>
              </a:spcBef>
              <a:spcAft>
                <a:spcPts val="0"/>
              </a:spcAft>
              <a:buSzPts val="1472"/>
              <a:buFont typeface="Gill Sans"/>
              <a:buAutoNum type="romanUcPeriod"/>
            </a:pPr>
            <a:r>
              <a:rPr b="1" lang="en-US"/>
              <a:t>Condition 2(In-Out)</a:t>
            </a:r>
            <a:endParaRPr/>
          </a:p>
          <a:p>
            <a:pPr indent="-400050" lvl="1" marL="724050" rtl="0" algn="l">
              <a:spcBef>
                <a:spcPts val="920"/>
              </a:spcBef>
              <a:spcAft>
                <a:spcPts val="0"/>
              </a:spcAft>
              <a:buSzPts val="1472"/>
              <a:buFont typeface="Gill Sans"/>
              <a:buAutoNum type="romanUcPeriod"/>
            </a:pPr>
            <a:r>
              <a:rPr b="1" lang="en-US"/>
              <a:t>Condition 3(In-In)</a:t>
            </a:r>
            <a:endParaRPr/>
          </a:p>
          <a:p>
            <a:pPr indent="-400050" lvl="1" marL="724050" rtl="0" algn="l">
              <a:spcBef>
                <a:spcPts val="920"/>
              </a:spcBef>
              <a:spcAft>
                <a:spcPts val="0"/>
              </a:spcAft>
              <a:buSzPts val="1472"/>
              <a:buFont typeface="Gill Sans"/>
              <a:buAutoNum type="romanUcPeriod"/>
            </a:pPr>
            <a:r>
              <a:rPr b="1" lang="en-US"/>
              <a:t>Condition 4(Out-Out)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CONDITION 1(OUT-IN):</a:t>
            </a:r>
            <a:br>
              <a:rPr b="1" lang="en-US"/>
            </a:br>
            <a:endParaRPr/>
          </a:p>
        </p:txBody>
      </p:sp>
      <p:sp>
        <p:nvSpPr>
          <p:cNvPr id="163" name="Google Shape;163;p10"/>
          <p:cNvSpPr txBox="1"/>
          <p:nvPr>
            <p:ph idx="1" type="body"/>
          </p:nvPr>
        </p:nvSpPr>
        <p:spPr>
          <a:xfrm>
            <a:off x="581200" y="1805350"/>
            <a:ext cx="11029500" cy="8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If the first vertex of the polygon is outside and the second vertex is inside the window,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/>
              <a:t>	then the output will be the intersection point and second vertex.</a:t>
            </a:r>
            <a:endParaRPr b="1"/>
          </a:p>
        </p:txBody>
      </p:sp>
      <p:pic>
        <p:nvPicPr>
          <p:cNvPr id="164" name="Google Shape;1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3142" y="3055341"/>
            <a:ext cx="4285714" cy="3285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CONDITION 2(IN-OUT):</a:t>
            </a:r>
            <a:br>
              <a:rPr b="1" lang="en-US"/>
            </a:br>
            <a:endParaRPr/>
          </a:p>
        </p:txBody>
      </p:sp>
      <p:sp>
        <p:nvSpPr>
          <p:cNvPr id="170" name="Google Shape;170;p11"/>
          <p:cNvSpPr txBox="1"/>
          <p:nvPr>
            <p:ph idx="1" type="body"/>
          </p:nvPr>
        </p:nvSpPr>
        <p:spPr>
          <a:xfrm>
            <a:off x="581200" y="1817075"/>
            <a:ext cx="110295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If the first vertex of the polygon is inside and the second vertex is outside the window,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/>
              <a:t>	then the output will be the intersection point.</a:t>
            </a:r>
            <a:endParaRPr/>
          </a:p>
        </p:txBody>
      </p:sp>
      <p:pic>
        <p:nvPicPr>
          <p:cNvPr id="171" name="Google Shape;1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3142" y="3019628"/>
            <a:ext cx="4285714" cy="32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1"/>
          <p:cNvSpPr/>
          <p:nvPr/>
        </p:nvSpPr>
        <p:spPr>
          <a:xfrm>
            <a:off x="5345722" y="4547075"/>
            <a:ext cx="539263" cy="202248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V</a:t>
            </a:r>
            <a:r>
              <a:rPr b="0" i="0" lang="en-US" sz="12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b="0" i="0" lang="en-US" sz="1800" u="none" cap="none" strike="noStrike">
                <a:solidFill>
                  <a:schemeClr val="accent3"/>
                </a:solidFill>
                <a:latin typeface="Gill Sans"/>
                <a:ea typeface="Gill Sans"/>
                <a:cs typeface="Gill Sans"/>
                <a:sym typeface="Gill Sans"/>
              </a:rPr>
              <a:t>‘</a:t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6564922" y="5908431"/>
            <a:ext cx="539263" cy="247662"/>
          </a:xfrm>
          <a:prstGeom prst="rect">
            <a:avLst/>
          </a:prstGeom>
          <a:solidFill>
            <a:schemeClr val="lt1"/>
          </a:solidFill>
          <a:ln cap="rnd" cmpd="sng" w="222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</a:t>
            </a:r>
            <a:r>
              <a:rPr lang="en-US" sz="12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‘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CONDITION 3(IN-IN):</a:t>
            </a:r>
            <a:br>
              <a:rPr b="1" lang="en-US"/>
            </a:br>
            <a:endParaRPr/>
          </a:p>
        </p:txBody>
      </p:sp>
      <p:sp>
        <p:nvSpPr>
          <p:cNvPr id="179" name="Google Shape;179;p12"/>
          <p:cNvSpPr txBox="1"/>
          <p:nvPr>
            <p:ph idx="1" type="body"/>
          </p:nvPr>
        </p:nvSpPr>
        <p:spPr>
          <a:xfrm>
            <a:off x="581192" y="1828805"/>
            <a:ext cx="11029615" cy="738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If both vertices of the polygon are inside the window,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/>
              <a:t>	then the output will be the second vertex.</a:t>
            </a:r>
            <a:endParaRPr b="1"/>
          </a:p>
        </p:txBody>
      </p:sp>
      <p:pic>
        <p:nvPicPr>
          <p:cNvPr id="180" name="Google Shape;1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7908" y="2977662"/>
            <a:ext cx="3955195" cy="3340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b="1" lang="en-US"/>
              <a:t>CONDITION 4(OUT-OUT):</a:t>
            </a:r>
            <a:br>
              <a:rPr b="1" lang="en-US"/>
            </a:br>
            <a:endParaRPr/>
          </a:p>
        </p:txBody>
      </p:sp>
      <p:sp>
        <p:nvSpPr>
          <p:cNvPr id="186" name="Google Shape;186;p13"/>
          <p:cNvSpPr txBox="1"/>
          <p:nvPr>
            <p:ph idx="1" type="body"/>
          </p:nvPr>
        </p:nvSpPr>
        <p:spPr>
          <a:xfrm>
            <a:off x="581192" y="1817081"/>
            <a:ext cx="11029615" cy="72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If both vertices of the polygon are outside the window, </a:t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rPr lang="en-US"/>
              <a:t>	then the output will be nothing. It means we found a clipped polygon.</a:t>
            </a:r>
            <a:endParaRPr/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3711" y="3223847"/>
            <a:ext cx="3944576" cy="3044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PRACTICE-1</a:t>
            </a:r>
            <a:br>
              <a:rPr lang="en-US"/>
            </a:br>
            <a:endParaRPr/>
          </a:p>
        </p:txBody>
      </p:sp>
      <p:sp>
        <p:nvSpPr>
          <p:cNvPr id="193" name="Google Shape;193;p14"/>
          <p:cNvSpPr txBox="1"/>
          <p:nvPr>
            <p:ph idx="1" type="body"/>
          </p:nvPr>
        </p:nvSpPr>
        <p:spPr>
          <a:xfrm>
            <a:off x="581192" y="1828799"/>
            <a:ext cx="11029615" cy="11533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Problem for practice: </a:t>
            </a:r>
            <a:endParaRPr/>
          </a:p>
        </p:txBody>
      </p:sp>
      <p:pic>
        <p:nvPicPr>
          <p:cNvPr id="194" name="Google Shape;194;p14"/>
          <p:cNvPicPr preferRelativeResize="0"/>
          <p:nvPr/>
        </p:nvPicPr>
        <p:blipFill rotWithShape="1">
          <a:blip r:embed="rId3">
            <a:alphaModFix/>
          </a:blip>
          <a:srcRect b="23931" l="0" r="0" t="0"/>
          <a:stretch/>
        </p:blipFill>
        <p:spPr>
          <a:xfrm>
            <a:off x="2600168" y="2708031"/>
            <a:ext cx="6991661" cy="3723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SOLUTION:</a:t>
            </a:r>
            <a:br>
              <a:rPr lang="en-US"/>
            </a:br>
            <a:endParaRPr/>
          </a:p>
        </p:txBody>
      </p:sp>
      <p:sp>
        <p:nvSpPr>
          <p:cNvPr id="200" name="Google Shape;200;p15"/>
          <p:cNvSpPr txBox="1"/>
          <p:nvPr>
            <p:ph idx="1" type="body"/>
          </p:nvPr>
        </p:nvSpPr>
        <p:spPr>
          <a:xfrm>
            <a:off x="581192" y="1805358"/>
            <a:ext cx="11029615" cy="422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Left Clipping:</a:t>
            </a:r>
            <a:endParaRPr/>
          </a:p>
        </p:txBody>
      </p:sp>
      <p:pic>
        <p:nvPicPr>
          <p:cNvPr id="201" name="Google Shape;201;p15"/>
          <p:cNvPicPr preferRelativeResize="0"/>
          <p:nvPr/>
        </p:nvPicPr>
        <p:blipFill rotWithShape="1">
          <a:blip r:embed="rId3">
            <a:alphaModFix/>
          </a:blip>
          <a:srcRect b="7009" l="2239" r="0" t="40341"/>
          <a:stretch/>
        </p:blipFill>
        <p:spPr>
          <a:xfrm>
            <a:off x="1592031" y="2851731"/>
            <a:ext cx="9007937" cy="342313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5"/>
          <p:cNvSpPr txBox="1"/>
          <p:nvPr>
            <p:ph idx="1" type="body"/>
          </p:nvPr>
        </p:nvSpPr>
        <p:spPr>
          <a:xfrm>
            <a:off x="6159075" y="1805350"/>
            <a:ext cx="55569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4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Condition wise </a:t>
            </a:r>
            <a:r>
              <a:rPr b="1" lang="en-US" sz="14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Output—</a:t>
            </a:r>
            <a:br>
              <a:rPr lang="en-US" sz="13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OUT-IN: Intersection Point And Second Vertex.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IN-OUT: Intersection point.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IN-IN : Second Vertex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OUT-OUT: Nothing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SOLUTION:</a:t>
            </a:r>
            <a:br>
              <a:rPr lang="en-US"/>
            </a:br>
            <a:endParaRPr/>
          </a:p>
        </p:txBody>
      </p:sp>
      <p:sp>
        <p:nvSpPr>
          <p:cNvPr id="208" name="Google Shape;208;p16"/>
          <p:cNvSpPr txBox="1"/>
          <p:nvPr>
            <p:ph idx="1" type="body"/>
          </p:nvPr>
        </p:nvSpPr>
        <p:spPr>
          <a:xfrm>
            <a:off x="581192" y="1805359"/>
            <a:ext cx="11029615" cy="480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Right clipping:</a:t>
            </a:r>
            <a:endParaRPr/>
          </a:p>
        </p:txBody>
      </p:sp>
      <p:pic>
        <p:nvPicPr>
          <p:cNvPr id="209" name="Google Shape;209;p16"/>
          <p:cNvPicPr preferRelativeResize="0"/>
          <p:nvPr/>
        </p:nvPicPr>
        <p:blipFill rotWithShape="1">
          <a:blip r:embed="rId3">
            <a:alphaModFix/>
          </a:blip>
          <a:srcRect b="34701" l="0" r="0" t="10598"/>
          <a:stretch/>
        </p:blipFill>
        <p:spPr>
          <a:xfrm>
            <a:off x="1535316" y="2555632"/>
            <a:ext cx="9121366" cy="352864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6"/>
          <p:cNvSpPr txBox="1"/>
          <p:nvPr>
            <p:ph idx="1" type="body"/>
          </p:nvPr>
        </p:nvSpPr>
        <p:spPr>
          <a:xfrm>
            <a:off x="6159075" y="1805350"/>
            <a:ext cx="55569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4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Condition wise Output—</a:t>
            </a:r>
            <a:br>
              <a:rPr lang="en-US" sz="13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OUT-IN: Intersection Point And Second Vertex.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IN-OUT: Intersection point.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IN-IN : Second Vertex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OUT-OUT: Nothing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SOLUTION:</a:t>
            </a:r>
            <a:br>
              <a:rPr lang="en-US"/>
            </a:br>
            <a:endParaRPr/>
          </a:p>
        </p:txBody>
      </p:sp>
      <p:sp>
        <p:nvSpPr>
          <p:cNvPr id="216" name="Google Shape;216;p17"/>
          <p:cNvSpPr txBox="1"/>
          <p:nvPr>
            <p:ph idx="1" type="body"/>
          </p:nvPr>
        </p:nvSpPr>
        <p:spPr>
          <a:xfrm>
            <a:off x="581192" y="1805358"/>
            <a:ext cx="11029615" cy="492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Top clipping:</a:t>
            </a:r>
            <a:endParaRPr/>
          </a:p>
        </p:txBody>
      </p:sp>
      <p:pic>
        <p:nvPicPr>
          <p:cNvPr id="217" name="Google Shape;217;p17"/>
          <p:cNvPicPr preferRelativeResize="0"/>
          <p:nvPr/>
        </p:nvPicPr>
        <p:blipFill rotWithShape="1">
          <a:blip r:embed="rId3">
            <a:alphaModFix/>
          </a:blip>
          <a:srcRect b="29401" l="0" r="0" t="24103"/>
          <a:stretch/>
        </p:blipFill>
        <p:spPr>
          <a:xfrm>
            <a:off x="1520214" y="2942493"/>
            <a:ext cx="9151570" cy="329418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7"/>
          <p:cNvSpPr txBox="1"/>
          <p:nvPr>
            <p:ph idx="1" type="body"/>
          </p:nvPr>
        </p:nvSpPr>
        <p:spPr>
          <a:xfrm>
            <a:off x="6159075" y="1805350"/>
            <a:ext cx="55569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4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Condition wise Output—</a:t>
            </a:r>
            <a:br>
              <a:rPr lang="en-US" sz="13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OUT-IN: Intersection Point And Second Vertex.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IN-OUT: Intersection point.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IN-IN : Second Vertex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OUT-OUT: Nothing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SOLUTION:</a:t>
            </a:r>
            <a:br>
              <a:rPr lang="en-US"/>
            </a:br>
            <a:endParaRPr/>
          </a:p>
        </p:txBody>
      </p:sp>
      <p:sp>
        <p:nvSpPr>
          <p:cNvPr id="224" name="Google Shape;224;p18"/>
          <p:cNvSpPr txBox="1"/>
          <p:nvPr>
            <p:ph idx="1" type="body"/>
          </p:nvPr>
        </p:nvSpPr>
        <p:spPr>
          <a:xfrm>
            <a:off x="581192" y="1805359"/>
            <a:ext cx="11029615" cy="457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Bottom clipping:</a:t>
            </a:r>
            <a:endParaRPr/>
          </a:p>
        </p:txBody>
      </p:sp>
      <p:pic>
        <p:nvPicPr>
          <p:cNvPr id="225" name="Google Shape;225;p18"/>
          <p:cNvPicPr preferRelativeResize="0"/>
          <p:nvPr/>
        </p:nvPicPr>
        <p:blipFill rotWithShape="1">
          <a:blip r:embed="rId3">
            <a:alphaModFix/>
          </a:blip>
          <a:srcRect b="5642" l="0" r="0" t="42906"/>
          <a:stretch/>
        </p:blipFill>
        <p:spPr>
          <a:xfrm>
            <a:off x="1342418" y="2860431"/>
            <a:ext cx="9507161" cy="348175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>
            <p:ph idx="1" type="body"/>
          </p:nvPr>
        </p:nvSpPr>
        <p:spPr>
          <a:xfrm>
            <a:off x="6159075" y="1805350"/>
            <a:ext cx="55569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4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Condition wise Output—</a:t>
            </a:r>
            <a:br>
              <a:rPr lang="en-US" sz="13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OUT-IN: Intersection Point And Second Vertex.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IN-OUT: Intersection point.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IN-IN : Second Vertex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1"/>
              <a:buNone/>
            </a:pPr>
            <a:r>
              <a:rPr b="1" lang="en-US" sz="1300">
                <a:latin typeface="Roboto Mono"/>
                <a:ea typeface="Roboto Mono"/>
                <a:cs typeface="Roboto Mono"/>
                <a:sym typeface="Roboto Mono"/>
              </a:rPr>
              <a:t>OUT-OUT: Nothing</a:t>
            </a:r>
            <a:endParaRPr b="1" sz="13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SOLUTION:</a:t>
            </a:r>
            <a:br>
              <a:rPr lang="en-US"/>
            </a:br>
            <a:endParaRPr/>
          </a:p>
        </p:txBody>
      </p:sp>
      <p:sp>
        <p:nvSpPr>
          <p:cNvPr id="232" name="Google Shape;232;p19"/>
          <p:cNvSpPr txBox="1"/>
          <p:nvPr>
            <p:ph idx="1" type="body"/>
          </p:nvPr>
        </p:nvSpPr>
        <p:spPr>
          <a:xfrm>
            <a:off x="581193" y="1817082"/>
            <a:ext cx="11029615" cy="39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After clipping:</a:t>
            </a:r>
            <a:endParaRPr/>
          </a:p>
        </p:txBody>
      </p:sp>
      <p:pic>
        <p:nvPicPr>
          <p:cNvPr id="233" name="Google Shape;233;p19"/>
          <p:cNvPicPr preferRelativeResize="0"/>
          <p:nvPr/>
        </p:nvPicPr>
        <p:blipFill rotWithShape="1">
          <a:blip r:embed="rId3">
            <a:alphaModFix/>
          </a:blip>
          <a:srcRect b="30256" l="0" r="0" t="14359"/>
          <a:stretch/>
        </p:blipFill>
        <p:spPr>
          <a:xfrm>
            <a:off x="2452828" y="2930769"/>
            <a:ext cx="3509524" cy="2731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39" name="Google Shape;239;p20"/>
          <p:cNvSpPr txBox="1"/>
          <p:nvPr>
            <p:ph idx="1" type="body"/>
          </p:nvPr>
        </p:nvSpPr>
        <p:spPr>
          <a:xfrm>
            <a:off x="8110847" y="4601069"/>
            <a:ext cx="3499960" cy="1232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312"/>
              <a:buNone/>
            </a:pPr>
            <a:r>
              <a:rPr lang="en-US" sz="3600"/>
              <a:t>Thank You… </a:t>
            </a:r>
            <a:endParaRPr/>
          </a:p>
          <a:p>
            <a:pPr indent="-200844" lvl="0" marL="30600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2021-06-25T14:59:53Z</dcterms:created>
  <dc:creator>Microsoft account</dc:creator>
</cp:coreProperties>
</file>