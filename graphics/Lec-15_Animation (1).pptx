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14"/>
  </p:handoutMasterIdLst>
  <p:sldIdLst>
    <p:sldId id="270" r:id="rId2"/>
    <p:sldId id="259" r:id="rId3"/>
    <p:sldId id="261" r:id="rId4"/>
    <p:sldId id="260" r:id="rId5"/>
    <p:sldId id="262" r:id="rId6"/>
    <p:sldId id="263" r:id="rId7"/>
    <p:sldId id="264" r:id="rId8"/>
    <p:sldId id="267" r:id="rId9"/>
    <p:sldId id="265" r:id="rId10"/>
    <p:sldId id="266" r:id="rId11"/>
    <p:sldId id="268" r:id="rId12"/>
    <p:sldId id="269" r:id="rId13"/>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17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a:defRPr sz="1200"/>
            </a:lvl1pPr>
          </a:lstStyle>
          <a:p>
            <a:fld id="{147CC9E7-B5A8-4728-9B01-D2AF15C7E53C}" type="datetimeFigureOut">
              <a:rPr lang="en-US" smtClean="0"/>
              <a:t>02-Oct-22</a:t>
            </a:fld>
            <a:endParaRPr lang="en-US"/>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70FB93B5-EEB3-4F97-8132-630F734C8801}" type="slidenum">
              <a:rPr lang="en-US" smtClean="0"/>
              <a:t>‹#›</a:t>
            </a:fld>
            <a:endParaRPr lang="en-US"/>
          </a:p>
        </p:txBody>
      </p:sp>
    </p:spTree>
    <p:extLst>
      <p:ext uri="{BB962C8B-B14F-4D97-AF65-F5344CB8AC3E}">
        <p14:creationId xmlns:p14="http://schemas.microsoft.com/office/powerpoint/2010/main" val="361024621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8ADA207C-AD21-4160-8331-23AE3BD73E05}" type="datetimeFigureOut">
              <a:rPr lang="en-US" smtClean="0"/>
              <a:t>02-Oct-22</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3DC58482-1FE5-4AA5-8286-862A3CAE8BFE}" type="slidenum">
              <a:rPr lang="en-US" smtClean="0"/>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DA207C-AD21-4160-8331-23AE3BD73E05}" type="datetimeFigureOut">
              <a:rPr lang="en-US" smtClean="0"/>
              <a:t>02-Oct-22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C58482-1FE5-4AA5-8286-862A3CAE8BFE}" type="slidenum">
              <a:rPr lang="en-US" smtClean="0"/>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8ADA207C-AD21-4160-8331-23AE3BD73E05}" type="datetimeFigureOut">
              <a:rPr lang="en-US" smtClean="0"/>
              <a:t>02-Oct-22</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3DC58482-1FE5-4AA5-8286-862A3CAE8BFE}" type="slidenum">
              <a:rPr lang="en-US" smtClean="0"/>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ADA207C-AD21-4160-8331-23AE3BD73E05}" type="datetimeFigureOut">
              <a:rPr lang="en-US" smtClean="0"/>
              <a:t>02-Oct-22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C58482-1FE5-4AA5-8286-862A3CAE8BFE}"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ADA207C-AD21-4160-8331-23AE3BD73E05}" type="datetimeFigureOut">
              <a:rPr lang="en-US" smtClean="0"/>
              <a:t>02-Oct-22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C58482-1FE5-4AA5-8286-862A3CAE8BFE}"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ADA207C-AD21-4160-8331-23AE3BD73E05}" type="datetimeFigureOut">
              <a:rPr lang="en-US" smtClean="0"/>
              <a:t>02-Oct-22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C58482-1FE5-4AA5-8286-862A3CAE8BFE}" type="slidenum">
              <a:rPr lang="en-US" smtClean="0"/>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8ADA207C-AD21-4160-8331-23AE3BD73E05}" type="datetimeFigureOut">
              <a:rPr lang="en-US" smtClean="0"/>
              <a:t>02-Oct-22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C58482-1FE5-4AA5-8286-862A3CAE8BF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DA207C-AD21-4160-8331-23AE3BD73E05}" type="datetimeFigureOut">
              <a:rPr lang="en-US" smtClean="0"/>
              <a:t>02-Oct-22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3DC58482-1FE5-4AA5-8286-862A3CAE8BFE}" type="slidenum">
              <a:rPr lang="en-US" smtClean="0"/>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DA207C-AD21-4160-8331-23AE3BD73E05}" type="datetimeFigureOut">
              <a:rPr lang="en-US" smtClean="0"/>
              <a:t>02-Oct-22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C58482-1FE5-4AA5-8286-862A3CAE8BFE}" type="slidenum">
              <a:rPr lang="en-US" smtClean="0"/>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DA207C-AD21-4160-8331-23AE3BD73E05}" type="datetimeFigureOut">
              <a:rPr lang="en-US" smtClean="0"/>
              <a:t>02-Oct-22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C58482-1FE5-4AA5-8286-862A3CAE8BF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DA207C-AD21-4160-8331-23AE3BD73E05}" type="datetimeFigureOut">
              <a:rPr lang="en-US" smtClean="0"/>
              <a:t>02-Oct-22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3DC58482-1FE5-4AA5-8286-862A3CAE8BF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8ADA207C-AD21-4160-8331-23AE3BD73E05}" type="datetimeFigureOut">
              <a:rPr lang="en-US" smtClean="0"/>
              <a:t>02-Oct-22</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3DC58482-1FE5-4AA5-8286-862A3CAE8BF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 indent="0">
              <a:buNone/>
            </a:pPr>
            <a:r>
              <a:rPr lang="en-US" sz="3000" b="1" dirty="0" smtClean="0">
                <a:latin typeface="Times New Roman" pitchFamily="18" charset="0"/>
                <a:cs typeface="Times New Roman" pitchFamily="18" charset="0"/>
              </a:rPr>
              <a:t>DESIGN </a:t>
            </a:r>
            <a:r>
              <a:rPr lang="en-US" sz="3000" b="1" dirty="0">
                <a:latin typeface="Times New Roman" pitchFamily="18" charset="0"/>
                <a:cs typeface="Times New Roman" pitchFamily="18" charset="0"/>
              </a:rPr>
              <a:t>OF ANIMATION </a:t>
            </a:r>
            <a:r>
              <a:rPr lang="en-US" sz="3000" b="1" dirty="0" smtClean="0">
                <a:latin typeface="Times New Roman" pitchFamily="18" charset="0"/>
                <a:cs typeface="Times New Roman" pitchFamily="18" charset="0"/>
              </a:rPr>
              <a:t>SEQUENCE</a:t>
            </a:r>
          </a:p>
          <a:p>
            <a:pPr marL="45720" indent="0">
              <a:buNone/>
            </a:pPr>
            <a:endParaRPr lang="en-US" sz="3000" b="1" dirty="0">
              <a:latin typeface="Times New Roman" pitchFamily="18" charset="0"/>
              <a:cs typeface="Times New Roman" pitchFamily="18" charset="0"/>
            </a:endParaRPr>
          </a:p>
          <a:p>
            <a:pPr marL="45720" indent="0">
              <a:buNone/>
            </a:pPr>
            <a:r>
              <a:rPr lang="en-US" sz="3000" b="1" dirty="0" smtClean="0">
                <a:latin typeface="Times New Roman" pitchFamily="18" charset="0"/>
                <a:cs typeface="Times New Roman" pitchFamily="18" charset="0"/>
              </a:rPr>
              <a:t> </a:t>
            </a:r>
            <a:endParaRPr lang="en-US" sz="3000" b="1"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b="1" dirty="0">
                <a:latin typeface="Times New Roman" pitchFamily="18" charset="0"/>
                <a:cs typeface="Times New Roman" pitchFamily="18" charset="0"/>
              </a:rPr>
              <a:t>Computer Animation</a:t>
            </a:r>
            <a:br>
              <a:rPr lang="en-US" b="1"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7170" name="Picture 2" descr="C:\Users\User\Downloads\tumblr_m6h2a1xPTj1rxlmf0o1_500.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941320"/>
            <a:ext cx="5334000" cy="3611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79291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latin typeface="Times New Roman" pitchFamily="18" charset="0"/>
                <a:cs typeface="Times New Roman" pitchFamily="18" charset="0"/>
              </a:rPr>
              <a:t>Computer Animation is the process used for generating animated images using computer </a:t>
            </a:r>
            <a:r>
              <a:rPr lang="en-US" sz="2800" dirty="0" smtClean="0">
                <a:latin typeface="Times New Roman" pitchFamily="18" charset="0"/>
                <a:cs typeface="Times New Roman" pitchFamily="18" charset="0"/>
              </a:rPr>
              <a:t>graphics.</a:t>
            </a:r>
          </a:p>
          <a:p>
            <a:r>
              <a:rPr lang="en-US" sz="2800" dirty="0" smtClean="0">
                <a:latin typeface="Times New Roman" pitchFamily="18" charset="0"/>
                <a:cs typeface="Times New Roman" pitchFamily="18" charset="0"/>
              </a:rPr>
              <a:t>Computer-assisted </a:t>
            </a:r>
            <a:r>
              <a:rPr lang="en-US" sz="2800" dirty="0">
                <a:latin typeface="Times New Roman" pitchFamily="18" charset="0"/>
                <a:cs typeface="Times New Roman" pitchFamily="18" charset="0"/>
              </a:rPr>
              <a:t>animation and computer-generated animation are two categories of computer </a:t>
            </a:r>
            <a:r>
              <a:rPr lang="en-US" sz="2800" dirty="0" smtClean="0">
                <a:latin typeface="Times New Roman" pitchFamily="18" charset="0"/>
                <a:cs typeface="Times New Roman" pitchFamily="18" charset="0"/>
              </a:rPr>
              <a:t>animation</a:t>
            </a:r>
          </a:p>
          <a:p>
            <a:endParaRPr lang="en-US" sz="2800" dirty="0"/>
          </a:p>
        </p:txBody>
      </p:sp>
      <p:sp>
        <p:nvSpPr>
          <p:cNvPr id="3" name="Title 2"/>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Computer Animation</a:t>
            </a:r>
            <a:endParaRPr lang="en-US" dirty="0"/>
          </a:p>
        </p:txBody>
      </p:sp>
      <p:pic>
        <p:nvPicPr>
          <p:cNvPr id="1026" name="Picture 2" descr="C:\Users\User\Downloads\laptop-animated-busy-animation-smiley-emoticon-000418-lar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4315691"/>
            <a:ext cx="3135312"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7097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sz="2800" dirty="0">
                <a:latin typeface="Times New Roman" pitchFamily="18" charset="0"/>
                <a:cs typeface="Times New Roman" pitchFamily="18" charset="0"/>
              </a:rPr>
              <a:t>Animators have invented and used a variety of different animation techniques. Basically there are six animation technique which we would discuss one by one in this section</a:t>
            </a:r>
            <a:r>
              <a:rPr lang="en-US" sz="2800" dirty="0" smtClean="0">
                <a:latin typeface="Times New Roman" pitchFamily="18" charset="0"/>
                <a:cs typeface="Times New Roman" pitchFamily="18" charset="0"/>
              </a:rPr>
              <a:t>.</a:t>
            </a:r>
          </a:p>
          <a:p>
            <a:pPr marL="45720" indent="0">
              <a:buNone/>
            </a:pPr>
            <a:r>
              <a:rPr lang="en-US" sz="2800" b="1" dirty="0" smtClean="0">
                <a:latin typeface="Times New Roman" pitchFamily="18" charset="0"/>
                <a:cs typeface="Times New Roman" pitchFamily="18" charset="0"/>
              </a:rPr>
              <a:t>	Traditional </a:t>
            </a:r>
            <a:r>
              <a:rPr lang="en-US" sz="2800" b="1" dirty="0">
                <a:latin typeface="Times New Roman" pitchFamily="18" charset="0"/>
                <a:cs typeface="Times New Roman" pitchFamily="18" charset="0"/>
              </a:rPr>
              <a:t>Animation (frame by frame</a:t>
            </a:r>
            <a:r>
              <a:rPr lang="en-US" sz="2800" b="1" dirty="0" smtClean="0">
                <a:latin typeface="Times New Roman" pitchFamily="18" charset="0"/>
                <a:cs typeface="Times New Roman" pitchFamily="18" charset="0"/>
              </a:rPr>
              <a:t>),</a:t>
            </a:r>
            <a:endParaRPr lang="en-US" sz="2800" b="1" dirty="0">
              <a:latin typeface="Times New Roman" pitchFamily="18" charset="0"/>
              <a:cs typeface="Times New Roman" pitchFamily="18" charset="0"/>
            </a:endParaRPr>
          </a:p>
          <a:p>
            <a:pPr marL="45720" indent="0">
              <a:buNone/>
            </a:pPr>
            <a:r>
              <a:rPr lang="en-US" sz="2800" b="1" dirty="0" smtClean="0">
                <a:latin typeface="Times New Roman" pitchFamily="18" charset="0"/>
                <a:cs typeface="Times New Roman" pitchFamily="18" charset="0"/>
              </a:rPr>
              <a:t>	Key framing,</a:t>
            </a:r>
            <a:endParaRPr lang="en-US" sz="2800" b="1" dirty="0">
              <a:latin typeface="Times New Roman" pitchFamily="18" charset="0"/>
              <a:cs typeface="Times New Roman" pitchFamily="18" charset="0"/>
            </a:endParaRPr>
          </a:p>
          <a:p>
            <a:pPr marL="45720" indent="0">
              <a:buNone/>
            </a:pPr>
            <a:r>
              <a:rPr lang="en-US" sz="2800" b="1" dirty="0" smtClean="0">
                <a:latin typeface="Times New Roman" pitchFamily="18" charset="0"/>
                <a:cs typeface="Times New Roman" pitchFamily="18" charset="0"/>
              </a:rPr>
              <a:t>	Procedural,</a:t>
            </a:r>
            <a:endParaRPr lang="en-US" sz="2800" b="1" dirty="0">
              <a:latin typeface="Times New Roman" pitchFamily="18" charset="0"/>
              <a:cs typeface="Times New Roman" pitchFamily="18" charset="0"/>
            </a:endParaRPr>
          </a:p>
          <a:p>
            <a:pPr marL="45720" indent="0">
              <a:buNone/>
            </a:pPr>
            <a:r>
              <a:rPr lang="en-US" sz="2800" b="1" dirty="0" smtClean="0">
                <a:latin typeface="Times New Roman" pitchFamily="18" charset="0"/>
                <a:cs typeface="Times New Roman" pitchFamily="18" charset="0"/>
              </a:rPr>
              <a:t>	Behavioral,</a:t>
            </a:r>
            <a:endParaRPr lang="en-US" sz="2800" b="1" dirty="0">
              <a:latin typeface="Times New Roman" pitchFamily="18" charset="0"/>
              <a:cs typeface="Times New Roman" pitchFamily="18" charset="0"/>
            </a:endParaRPr>
          </a:p>
          <a:p>
            <a:pPr marL="45720" indent="0">
              <a:buNone/>
            </a:pPr>
            <a:r>
              <a:rPr lang="en-US" sz="2800" b="1" dirty="0" smtClean="0">
                <a:latin typeface="Times New Roman" pitchFamily="18" charset="0"/>
                <a:cs typeface="Times New Roman" pitchFamily="18" charset="0"/>
              </a:rPr>
              <a:t>	Performance </a:t>
            </a:r>
            <a:r>
              <a:rPr lang="en-US" sz="2800" b="1" dirty="0">
                <a:latin typeface="Times New Roman" pitchFamily="18" charset="0"/>
                <a:cs typeface="Times New Roman" pitchFamily="18" charset="0"/>
              </a:rPr>
              <a:t>Based (Motion </a:t>
            </a:r>
            <a:r>
              <a:rPr lang="en-US" sz="2800" b="1" dirty="0" smtClean="0">
                <a:latin typeface="Times New Roman" pitchFamily="18" charset="0"/>
                <a:cs typeface="Times New Roman" pitchFamily="18" charset="0"/>
              </a:rPr>
              <a:t>Capture</a:t>
            </a:r>
            <a:r>
              <a:rPr lang="en-US" sz="2800" dirty="0" smtClean="0">
                <a:latin typeface="Times New Roman" pitchFamily="18" charset="0"/>
                <a:cs typeface="Times New Roman" pitchFamily="18" charset="0"/>
              </a:rPr>
              <a:t>),</a:t>
            </a:r>
          </a:p>
          <a:p>
            <a:pPr marL="45720" indent="0">
              <a:buNone/>
            </a:pPr>
            <a:r>
              <a:rPr lang="en-US" sz="2800" b="1" dirty="0" smtClean="0">
                <a:latin typeface="Times New Roman" pitchFamily="18" charset="0"/>
                <a:cs typeface="Times New Roman" pitchFamily="18" charset="0"/>
              </a:rPr>
              <a:t>	Physically </a:t>
            </a:r>
            <a:r>
              <a:rPr lang="en-US" sz="2800" b="1" dirty="0">
                <a:latin typeface="Times New Roman" pitchFamily="18" charset="0"/>
                <a:cs typeface="Times New Roman" pitchFamily="18" charset="0"/>
              </a:rPr>
              <a:t>Based (Dynamics</a:t>
            </a:r>
            <a:r>
              <a:rPr lang="en-US" sz="2800" b="1" dirty="0" smtClean="0">
                <a:latin typeface="Times New Roman" pitchFamily="18" charset="0"/>
                <a:cs typeface="Times New Roman" pitchFamily="18" charset="0"/>
              </a:rPr>
              <a:t>).</a:t>
            </a:r>
            <a:endParaRPr lang="en-US" sz="2800" b="1" dirty="0">
              <a:latin typeface="Times New Roman" pitchFamily="18" charset="0"/>
              <a:cs typeface="Times New Roman" pitchFamily="18" charset="0"/>
            </a:endParaRPr>
          </a:p>
          <a:p>
            <a:endParaRPr lang="en-US" b="1" dirty="0"/>
          </a:p>
        </p:txBody>
      </p:sp>
      <p:sp>
        <p:nvSpPr>
          <p:cNvPr id="3" name="Title 2"/>
          <p:cNvSpPr>
            <a:spLocks noGrp="1"/>
          </p:cNvSpPr>
          <p:nvPr>
            <p:ph type="title"/>
          </p:nvPr>
        </p:nvSpPr>
        <p:spPr/>
        <p:txBody>
          <a:bodyPr/>
          <a:lstStyle/>
          <a:p>
            <a:r>
              <a:rPr lang="en-US" b="1" dirty="0" smtClean="0">
                <a:latin typeface="Times New Roman" pitchFamily="18" charset="0"/>
                <a:cs typeface="Times New Roman" pitchFamily="18" charset="0"/>
              </a:rPr>
              <a:t>Animation </a:t>
            </a:r>
            <a:r>
              <a:rPr lang="en-US" b="1" dirty="0">
                <a:latin typeface="Times New Roman" pitchFamily="18" charset="0"/>
                <a:cs typeface="Times New Roman" pitchFamily="18" charset="0"/>
              </a:rPr>
              <a:t>Techniques</a:t>
            </a:r>
            <a:br>
              <a:rPr lang="en-US" b="1"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7784165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 indent="0">
              <a:buNone/>
            </a:pPr>
            <a:r>
              <a:rPr lang="en-US" sz="2800" dirty="0">
                <a:latin typeface="Times New Roman" pitchFamily="18" charset="0"/>
                <a:cs typeface="Times New Roman" pitchFamily="18" charset="0"/>
              </a:rPr>
              <a:t>Steps for designing animation sequence</a:t>
            </a:r>
          </a:p>
          <a:p>
            <a:pPr marL="342900" indent="-342900">
              <a:buFont typeface="Arial" panose="020B0604020202020204" pitchFamily="34" charset="0"/>
              <a:buChar char="•"/>
            </a:pPr>
            <a:r>
              <a:rPr lang="en-US" sz="2800" dirty="0">
                <a:latin typeface="Times New Roman" pitchFamily="18" charset="0"/>
                <a:cs typeface="Times New Roman" pitchFamily="18" charset="0"/>
              </a:rPr>
              <a:t>Storyboard Layout</a:t>
            </a:r>
          </a:p>
          <a:p>
            <a:pPr marL="342900" indent="-342900">
              <a:buFont typeface="Arial" panose="020B0604020202020204" pitchFamily="34" charset="0"/>
              <a:buChar char="•"/>
            </a:pPr>
            <a:r>
              <a:rPr lang="en-US" sz="2800" dirty="0">
                <a:latin typeface="Times New Roman" pitchFamily="18" charset="0"/>
                <a:cs typeface="Times New Roman" pitchFamily="18" charset="0"/>
              </a:rPr>
              <a:t>Object Definitions</a:t>
            </a:r>
          </a:p>
          <a:p>
            <a:pPr marL="342900" indent="-342900">
              <a:buFont typeface="Arial" panose="020B0604020202020204" pitchFamily="34" charset="0"/>
              <a:buChar char="•"/>
            </a:pPr>
            <a:r>
              <a:rPr lang="en-US" sz="2800" dirty="0">
                <a:latin typeface="Times New Roman" pitchFamily="18" charset="0"/>
                <a:cs typeface="Times New Roman" pitchFamily="18" charset="0"/>
              </a:rPr>
              <a:t>Key frame specifications</a:t>
            </a:r>
          </a:p>
          <a:p>
            <a:pPr marL="342900" indent="-342900">
              <a:buFont typeface="Arial" panose="020B0604020202020204" pitchFamily="34" charset="0"/>
              <a:buChar char="•"/>
            </a:pPr>
            <a:r>
              <a:rPr lang="en-US" sz="2800" dirty="0">
                <a:latin typeface="Times New Roman" pitchFamily="18" charset="0"/>
                <a:cs typeface="Times New Roman" pitchFamily="18" charset="0"/>
              </a:rPr>
              <a:t>Generation of in-between frames</a:t>
            </a:r>
          </a:p>
          <a:p>
            <a:pPr marL="342900" indent="-342900">
              <a:buFont typeface="Arial" panose="020B0604020202020204" pitchFamily="34" charset="0"/>
              <a:buChar char="•"/>
            </a:pPr>
            <a:endParaRPr lang="en-US" dirty="0">
              <a:latin typeface="Times New Roman" pitchFamily="18" charset="0"/>
              <a:cs typeface="Times New Roman" pitchFamily="18" charset="0"/>
            </a:endParaRPr>
          </a:p>
          <a:p>
            <a:pPr marL="45720" indent="0">
              <a:buNone/>
            </a:pPr>
            <a:endParaRPr lang="en-US"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b="1" dirty="0">
                <a:latin typeface="Times New Roman" pitchFamily="18" charset="0"/>
                <a:cs typeface="Times New Roman" pitchFamily="18" charset="0"/>
              </a:rPr>
              <a:t>DESIGN OF ANIMATION SEQUNCE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773976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latin typeface="Times New Roman" pitchFamily="18" charset="0"/>
                <a:cs typeface="Times New Roman" pitchFamily="18" charset="0"/>
              </a:rPr>
              <a:t>A storyboard is a plan, a way of figuring out the story of the film before you put in the enormous amount of work of the animation itself. Basically, it is the story of the movie drawn in pictures, very much like a comic strip</a:t>
            </a:r>
            <a:r>
              <a:rPr lang="en-US" sz="2800" dirty="0" smtClean="0">
                <a:latin typeface="Times New Roman" pitchFamily="18" charset="0"/>
                <a:cs typeface="Times New Roman" pitchFamily="18" charset="0"/>
              </a:rPr>
              <a:t>.</a:t>
            </a:r>
          </a:p>
          <a:p>
            <a:r>
              <a:rPr lang="en-US" sz="2800" dirty="0">
                <a:latin typeface="Times New Roman" pitchFamily="18" charset="0"/>
                <a:cs typeface="Times New Roman" pitchFamily="18" charset="0"/>
              </a:rPr>
              <a:t>Depending on the type of animation to be produced, the storyboard could be consist of a set of rough sketches or it could be a list of basis ideas for motion.</a:t>
            </a:r>
          </a:p>
          <a:p>
            <a:endParaRPr lang="en-US"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latin typeface="Times New Roman" pitchFamily="18" charset="0"/>
                <a:cs typeface="Times New Roman" pitchFamily="18" charset="0"/>
              </a:rPr>
              <a:t>1.STORYBOARD </a:t>
            </a:r>
            <a:r>
              <a:rPr lang="en-US" dirty="0">
                <a:latin typeface="Times New Roman" pitchFamily="18" charset="0"/>
                <a:cs typeface="Times New Roman" pitchFamily="18" charset="0"/>
              </a:rPr>
              <a:t>LAYOUT</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1487815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 indent="0">
              <a:buNone/>
            </a:pPr>
            <a:r>
              <a:rPr lang="en-US" dirty="0" smtClean="0"/>
              <a:t> </a:t>
            </a:r>
            <a:endParaRPr lang="en-US" dirty="0"/>
          </a:p>
        </p:txBody>
      </p:sp>
      <p:sp>
        <p:nvSpPr>
          <p:cNvPr id="3" name="Title 2"/>
          <p:cNvSpPr>
            <a:spLocks noGrp="1"/>
          </p:cNvSpPr>
          <p:nvPr>
            <p:ph type="title"/>
          </p:nvPr>
        </p:nvSpPr>
        <p:spPr/>
        <p:txBody>
          <a:bodyPr/>
          <a:lstStyle/>
          <a:p>
            <a:r>
              <a:rPr lang="en-US" dirty="0">
                <a:latin typeface="Times New Roman" pitchFamily="18" charset="0"/>
                <a:cs typeface="Times New Roman" pitchFamily="18" charset="0"/>
              </a:rPr>
              <a:t>Continue……</a:t>
            </a:r>
            <a:r>
              <a:rPr lang="en-US" dirty="0" smtClean="0"/>
              <a:t> </a:t>
            </a:r>
            <a:endParaRPr lang="en-US" dirty="0"/>
          </a:p>
        </p:txBody>
      </p:sp>
      <p:pic>
        <p:nvPicPr>
          <p:cNvPr id="3074" name="Picture 2" descr="C:\Users\User\Downloads\storyboard_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28800"/>
            <a:ext cx="8077200"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2186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latin typeface="Times New Roman" pitchFamily="18" charset="0"/>
                <a:cs typeface="Times New Roman" pitchFamily="18" charset="0"/>
              </a:rPr>
              <a:t>Each object participating in the action is given object definition, such as terms of basic shapes, such as polygons or splines</a:t>
            </a:r>
            <a:r>
              <a:rPr lang="en-US" sz="2800" dirty="0"/>
              <a:t>.</a:t>
            </a:r>
          </a:p>
          <a:p>
            <a:endParaRPr lang="en-US" dirty="0"/>
          </a:p>
        </p:txBody>
      </p:sp>
      <p:sp>
        <p:nvSpPr>
          <p:cNvPr id="3" name="Title 2"/>
          <p:cNvSpPr>
            <a:spLocks noGrp="1"/>
          </p:cNvSpPr>
          <p:nvPr>
            <p:ph type="title"/>
          </p:nvPr>
        </p:nvSpPr>
        <p:spPr/>
        <p:txBody>
          <a:bodyPr/>
          <a:lstStyle/>
          <a:p>
            <a:r>
              <a:rPr lang="en-US" b="1" dirty="0" smtClean="0">
                <a:latin typeface="Times New Roman" pitchFamily="18" charset="0"/>
                <a:cs typeface="Times New Roman" pitchFamily="18" charset="0"/>
              </a:rPr>
              <a:t>2.OBJECT </a:t>
            </a:r>
            <a:r>
              <a:rPr lang="en-US" b="1" dirty="0">
                <a:latin typeface="Times New Roman" pitchFamily="18" charset="0"/>
                <a:cs typeface="Times New Roman" pitchFamily="18" charset="0"/>
              </a:rPr>
              <a:t>DEFINITIONS</a:t>
            </a:r>
            <a:endParaRPr lang="en-US" dirty="0">
              <a:latin typeface="Times New Roman" pitchFamily="18" charset="0"/>
              <a:cs typeface="Times New Roman" pitchFamily="18" charset="0"/>
            </a:endParaRPr>
          </a:p>
        </p:txBody>
      </p:sp>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200400"/>
            <a:ext cx="7433481" cy="344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14481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solidFill>
                  <a:schemeClr val="tx1"/>
                </a:solidFill>
                <a:latin typeface="Times New Roman" pitchFamily="18" charset="0"/>
                <a:cs typeface="Times New Roman" pitchFamily="18" charset="0"/>
              </a:rPr>
              <a:t>It is one of the many single photographic images in a motion picture. The individual frames are separated by frame lines. Normally, are needed for one second </a:t>
            </a:r>
            <a:r>
              <a:rPr lang="en-US" sz="2400">
                <a:solidFill>
                  <a:schemeClr val="tx1"/>
                </a:solidFill>
                <a:latin typeface="Times New Roman" pitchFamily="18" charset="0"/>
                <a:cs typeface="Times New Roman" pitchFamily="18" charset="0"/>
              </a:rPr>
              <a:t>of </a:t>
            </a:r>
            <a:r>
              <a:rPr lang="en-US" sz="2400" smtClean="0">
                <a:solidFill>
                  <a:schemeClr val="tx1"/>
                </a:solidFill>
                <a:latin typeface="Times New Roman" pitchFamily="18" charset="0"/>
                <a:cs typeface="Times New Roman" pitchFamily="18" charset="0"/>
              </a:rPr>
              <a:t>film.</a:t>
            </a:r>
            <a:endParaRPr lang="en-US" sz="2400" dirty="0">
              <a:solidFill>
                <a:schemeClr val="tx1"/>
              </a:solidFill>
              <a:latin typeface="Times New Roman" pitchFamily="18" charset="0"/>
              <a:cs typeface="Times New Roman" pitchFamily="18" charset="0"/>
            </a:endParaRPr>
          </a:p>
          <a:p>
            <a:endParaRPr lang="en-US" dirty="0">
              <a:solidFill>
                <a:schemeClr val="tx1"/>
              </a:solidFill>
            </a:endParaRPr>
          </a:p>
        </p:txBody>
      </p:sp>
      <p:sp>
        <p:nvSpPr>
          <p:cNvPr id="3" name="Title 2"/>
          <p:cNvSpPr>
            <a:spLocks noGrp="1"/>
          </p:cNvSpPr>
          <p:nvPr>
            <p:ph type="title"/>
          </p:nvPr>
        </p:nvSpPr>
        <p:spPr/>
        <p:txBody>
          <a:bodyPr/>
          <a:lstStyle/>
          <a:p>
            <a:r>
              <a:rPr lang="en-US" dirty="0" smtClean="0">
                <a:latin typeface="Times New Roman" pitchFamily="18" charset="0"/>
                <a:cs typeface="Times New Roman" pitchFamily="18" charset="0"/>
              </a:rPr>
              <a:t>Frame</a:t>
            </a: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3124200"/>
            <a:ext cx="5806984" cy="3352800"/>
          </a:xfrm>
          <a:prstGeom prst="rect">
            <a:avLst/>
          </a:prstGeom>
        </p:spPr>
      </p:pic>
    </p:spTree>
    <p:extLst>
      <p:ext uri="{BB962C8B-B14F-4D97-AF65-F5344CB8AC3E}">
        <p14:creationId xmlns:p14="http://schemas.microsoft.com/office/powerpoint/2010/main" val="39761423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2800" dirty="0">
                <a:solidFill>
                  <a:schemeClr val="tx1"/>
                </a:solidFill>
                <a:latin typeface="Times New Roman" pitchFamily="18" charset="0"/>
                <a:cs typeface="Times New Roman" pitchFamily="18" charset="0"/>
              </a:rPr>
              <a:t>A </a:t>
            </a:r>
            <a:r>
              <a:rPr lang="en-US" sz="2800" dirty="0" err="1">
                <a:solidFill>
                  <a:schemeClr val="tx1"/>
                </a:solidFill>
                <a:latin typeface="Times New Roman" pitchFamily="18" charset="0"/>
                <a:cs typeface="Times New Roman" pitchFamily="18" charset="0"/>
              </a:rPr>
              <a:t>keyframe</a:t>
            </a:r>
            <a:r>
              <a:rPr lang="en-US" sz="2800" dirty="0">
                <a:solidFill>
                  <a:schemeClr val="tx1"/>
                </a:solidFill>
                <a:latin typeface="Times New Roman" pitchFamily="18" charset="0"/>
                <a:cs typeface="Times New Roman" pitchFamily="18" charset="0"/>
              </a:rPr>
              <a:t> is a frame where we define changes in animation. Every frame is a </a:t>
            </a:r>
            <a:r>
              <a:rPr lang="en-US" sz="2800" dirty="0" err="1">
                <a:solidFill>
                  <a:schemeClr val="tx1"/>
                </a:solidFill>
                <a:latin typeface="Times New Roman" pitchFamily="18" charset="0"/>
                <a:cs typeface="Times New Roman" pitchFamily="18" charset="0"/>
              </a:rPr>
              <a:t>keyframe</a:t>
            </a:r>
            <a:r>
              <a:rPr lang="en-US" sz="2800" dirty="0">
                <a:solidFill>
                  <a:schemeClr val="tx1"/>
                </a:solidFill>
                <a:latin typeface="Times New Roman" pitchFamily="18" charset="0"/>
                <a:cs typeface="Times New Roman" pitchFamily="18" charset="0"/>
              </a:rPr>
              <a:t> when we create frame by frame animation. When someone creates a 3D animation on a computer, they usually don’t specify the exact position of any given object on every single frame. They create </a:t>
            </a:r>
            <a:r>
              <a:rPr lang="en-US" sz="2800" dirty="0" err="1">
                <a:solidFill>
                  <a:schemeClr val="tx1"/>
                </a:solidFill>
                <a:latin typeface="Times New Roman" pitchFamily="18" charset="0"/>
                <a:cs typeface="Times New Roman" pitchFamily="18" charset="0"/>
              </a:rPr>
              <a:t>keyframes</a:t>
            </a:r>
            <a:r>
              <a:rPr lang="en-US" sz="2800" dirty="0">
                <a:solidFill>
                  <a:schemeClr val="tx1"/>
                </a:solidFill>
                <a:latin typeface="Times New Roman" pitchFamily="18" charset="0"/>
                <a:cs typeface="Times New Roman" pitchFamily="18" charset="0"/>
              </a:rPr>
              <a:t>.</a:t>
            </a:r>
          </a:p>
          <a:p>
            <a:r>
              <a:rPr lang="en-US" sz="2800" dirty="0" err="1">
                <a:solidFill>
                  <a:schemeClr val="tx1"/>
                </a:solidFill>
                <a:latin typeface="Times New Roman" pitchFamily="18" charset="0"/>
                <a:cs typeface="Times New Roman" pitchFamily="18" charset="0"/>
              </a:rPr>
              <a:t>Keyframes</a:t>
            </a:r>
            <a:r>
              <a:rPr lang="en-US" sz="2800" dirty="0">
                <a:solidFill>
                  <a:schemeClr val="tx1"/>
                </a:solidFill>
                <a:latin typeface="Times New Roman" pitchFamily="18" charset="0"/>
                <a:cs typeface="Times New Roman" pitchFamily="18" charset="0"/>
              </a:rPr>
              <a:t> are important frames during which an object changes its size, direction, shape or other properties. The computer then figures out all the in-between frames and saves an extreme amount of time for the animator. The following illustrations depict the frames drawn by user and the frames generated by computer</a:t>
            </a:r>
            <a:r>
              <a:rPr lang="en-US" sz="2800" dirty="0">
                <a:solidFill>
                  <a:schemeClr val="tx1"/>
                </a:solidFill>
              </a:rPr>
              <a:t>.</a:t>
            </a:r>
          </a:p>
          <a:p>
            <a:endParaRPr lang="en-US" sz="2800" dirty="0">
              <a:solidFill>
                <a:schemeClr val="tx1"/>
              </a:solidFill>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latin typeface="Times New Roman" pitchFamily="18" charset="0"/>
                <a:cs typeface="Times New Roman" pitchFamily="18" charset="0"/>
              </a:rPr>
              <a:t>3.Key </a:t>
            </a:r>
            <a:r>
              <a:rPr lang="en-US" dirty="0">
                <a:latin typeface="Times New Roman" pitchFamily="18" charset="0"/>
                <a:cs typeface="Times New Roman" pitchFamily="18" charset="0"/>
              </a:rPr>
              <a:t>frame specifications</a:t>
            </a:r>
            <a:br>
              <a:rPr lang="en-US" dirty="0">
                <a:latin typeface="Times New Roman" pitchFamily="18" charset="0"/>
                <a:cs typeface="Times New Roman" pitchFamily="18" charset="0"/>
              </a:rPr>
            </a:br>
            <a:endParaRPr lang="en-US" dirty="0"/>
          </a:p>
        </p:txBody>
      </p:sp>
    </p:spTree>
    <p:extLst>
      <p:ext uri="{BB962C8B-B14F-4D97-AF65-F5344CB8AC3E}">
        <p14:creationId xmlns:p14="http://schemas.microsoft.com/office/powerpoint/2010/main" val="37323829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itchFamily="18" charset="0"/>
                <a:cs typeface="Times New Roman" pitchFamily="18" charset="0"/>
              </a:rPr>
              <a:t>Continue……</a:t>
            </a:r>
            <a:endParaRPr lang="en-US" dirty="0"/>
          </a:p>
        </p:txBody>
      </p:sp>
      <p:pic>
        <p:nvPicPr>
          <p:cNvPr id="4098" name="Picture 2" descr="C:\Users\User\Downloads\200px-Animexample3edi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rot="10800000" flipV="1">
            <a:off x="1676400" y="1981200"/>
            <a:ext cx="6324600" cy="4299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3838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Font typeface="Wingdings" panose="05000000000000000000" pitchFamily="2" charset="2"/>
              <a:buChar char="Ø"/>
            </a:pPr>
            <a:r>
              <a:rPr lang="en-US" sz="2800" dirty="0">
                <a:latin typeface="Times New Roman" pitchFamily="18" charset="0"/>
                <a:cs typeface="Times New Roman" pitchFamily="18" charset="0"/>
              </a:rPr>
              <a:t>It is a process of generating intermediate frames between 2 images to give appearance that the 1</a:t>
            </a:r>
            <a:r>
              <a:rPr lang="en-US" sz="2800" baseline="30000" dirty="0">
                <a:latin typeface="Times New Roman" pitchFamily="18" charset="0"/>
                <a:cs typeface="Times New Roman" pitchFamily="18" charset="0"/>
              </a:rPr>
              <a:t>st</a:t>
            </a:r>
            <a:r>
              <a:rPr lang="en-US" sz="2800" dirty="0">
                <a:latin typeface="Times New Roman" pitchFamily="18" charset="0"/>
                <a:cs typeface="Times New Roman" pitchFamily="18" charset="0"/>
              </a:rPr>
              <a:t> image evolves smoothly into the second image. In-betweens are the drawing between the key frames which help to create the illusion of motion.</a:t>
            </a:r>
          </a:p>
          <a:p>
            <a:pPr marL="342900" indent="-342900">
              <a:buFont typeface="Wingdings" panose="05000000000000000000" pitchFamily="2" charset="2"/>
              <a:buChar char="Ø"/>
            </a:pPr>
            <a:r>
              <a:rPr lang="en-US" sz="2800" dirty="0">
                <a:latin typeface="Times New Roman" pitchFamily="18" charset="0"/>
                <a:cs typeface="Times New Roman" pitchFamily="18" charset="0"/>
              </a:rPr>
              <a:t>Film requires 24 frames per second and graphics terminals are refreshed at a rate of 30 to 60 frames per second.</a:t>
            </a:r>
          </a:p>
          <a:p>
            <a:endParaRPr lang="en-US" sz="2800" dirty="0">
              <a:latin typeface="Times New Roman" pitchFamily="18" charset="0"/>
              <a:cs typeface="Times New Roman" pitchFamily="18" charset="0"/>
            </a:endParaRPr>
          </a:p>
        </p:txBody>
      </p:sp>
      <p:sp>
        <p:nvSpPr>
          <p:cNvPr id="3" name="Title 2"/>
          <p:cNvSpPr>
            <a:spLocks noGrp="1"/>
          </p:cNvSpPr>
          <p:nvPr>
            <p:ph type="title"/>
          </p:nvPr>
        </p:nvSpPr>
        <p:spPr>
          <a:xfrm>
            <a:off x="381000" y="381000"/>
            <a:ext cx="8381260" cy="1029241"/>
          </a:xfrm>
        </p:spPr>
        <p:txBody>
          <a:bodyPr/>
          <a:lstStyle/>
          <a:p>
            <a:pPr marL="342900" indent="-342900"/>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4.Generation </a:t>
            </a:r>
            <a:r>
              <a:rPr lang="en-US" dirty="0">
                <a:latin typeface="Times New Roman" pitchFamily="18" charset="0"/>
                <a:cs typeface="Times New Roman" pitchFamily="18" charset="0"/>
              </a:rPr>
              <a:t>of in-between frames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a:p>
        </p:txBody>
      </p:sp>
    </p:spTree>
    <p:extLst>
      <p:ext uri="{BB962C8B-B14F-4D97-AF65-F5344CB8AC3E}">
        <p14:creationId xmlns:p14="http://schemas.microsoft.com/office/powerpoint/2010/main" val="8579327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81000"/>
            <a:ext cx="8381260" cy="1054394"/>
          </a:xfrm>
        </p:spPr>
        <p:txBody>
          <a:bodyPr/>
          <a:lstStyle/>
          <a:p>
            <a:r>
              <a:rPr lang="en-US" dirty="0" smtClean="0">
                <a:latin typeface="Times New Roman" pitchFamily="18" charset="0"/>
                <a:cs typeface="Times New Roman" pitchFamily="18" charset="0"/>
              </a:rPr>
              <a:t>Continue……</a:t>
            </a:r>
            <a:endParaRPr lang="en-US" dirty="0">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905000"/>
            <a:ext cx="6858000" cy="4711700"/>
          </a:xfrm>
          <a:prstGeom prst="rect">
            <a:avLst/>
          </a:prstGeom>
        </p:spPr>
      </p:pic>
      <p:sp>
        <p:nvSpPr>
          <p:cNvPr id="6" name="Content Placeholder 1"/>
          <p:cNvSpPr txBox="1">
            <a:spLocks/>
          </p:cNvSpPr>
          <p:nvPr/>
        </p:nvSpPr>
        <p:spPr>
          <a:xfrm>
            <a:off x="7010400" y="1719071"/>
            <a:ext cx="1981200" cy="4407408"/>
          </a:xfrm>
          <a:prstGeom prst="rect">
            <a:avLst/>
          </a:prstGeom>
        </p:spPr>
        <p:txBody>
          <a:bodyPr vert="horz" lIns="91440" tIns="45720" rIns="91440" bIns="45720" rtlCol="0">
            <a:normAutofit/>
          </a:bodyPr>
          <a:lst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a:lstStyle>
          <a:p>
            <a:pPr marL="45720" indent="0">
              <a:buNone/>
            </a:pPr>
            <a:r>
              <a:rPr lang="en-US" sz="2800" dirty="0" smtClean="0">
                <a:solidFill>
                  <a:schemeClr val="tx1"/>
                </a:solidFill>
                <a:latin typeface="Times New Roman" pitchFamily="18" charset="0"/>
                <a:cs typeface="Times New Roman" pitchFamily="18" charset="0"/>
              </a:rPr>
              <a:t>In between frames work as </a:t>
            </a:r>
            <a:r>
              <a:rPr lang="en-US" sz="2800" dirty="0" err="1" smtClean="0">
                <a:solidFill>
                  <a:schemeClr val="tx1"/>
                </a:solidFill>
                <a:latin typeface="Times New Roman" pitchFamily="18" charset="0"/>
                <a:cs typeface="Times New Roman" pitchFamily="18" charset="0"/>
              </a:rPr>
              <a:t>intermidiate</a:t>
            </a:r>
            <a:r>
              <a:rPr lang="en-US" sz="2800" dirty="0" smtClean="0">
                <a:solidFill>
                  <a:schemeClr val="tx1"/>
                </a:solidFill>
                <a:latin typeface="Times New Roman" pitchFamily="18" charset="0"/>
                <a:cs typeface="Times New Roman" pitchFamily="18" charset="0"/>
              </a:rPr>
              <a:t> frames between 2 key frames</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84980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163</TotalTime>
  <Words>425</Words>
  <Application>Microsoft Office PowerPoint</Application>
  <PresentationFormat>On-screen Show (4:3)</PresentationFormat>
  <Paragraphs>39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Grid</vt:lpstr>
      <vt:lpstr>Computer Animation </vt:lpstr>
      <vt:lpstr>Computer Animation</vt:lpstr>
      <vt:lpstr>Animation Techniques </vt:lpstr>
      <vt:lpstr>DESIGN OF ANIMATION SEQUNCE </vt:lpstr>
      <vt:lpstr>1.STORYBOARD LAYOUT</vt:lpstr>
      <vt:lpstr>Continue…… </vt:lpstr>
      <vt:lpstr>2.OBJECT DEFINITIONS</vt:lpstr>
      <vt:lpstr>Frame</vt:lpstr>
      <vt:lpstr>3.Key frame specifications </vt:lpstr>
      <vt:lpstr>Continue……</vt:lpstr>
      <vt:lpstr> 4.Generation of in-between frames  </vt:lpstr>
      <vt:lpstr>Continue……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User</dc:creator>
  <cp:lastModifiedBy>DIU</cp:lastModifiedBy>
  <cp:revision>19</cp:revision>
  <cp:lastPrinted>2022-10-02T03:10:30Z</cp:lastPrinted>
  <dcterms:created xsi:type="dcterms:W3CDTF">2017-02-14T17:21:33Z</dcterms:created>
  <dcterms:modified xsi:type="dcterms:W3CDTF">2022-10-02T03:10:38Z</dcterms:modified>
</cp:coreProperties>
</file>