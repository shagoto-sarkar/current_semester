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5" r:id="rId11"/>
    <p:sldId id="266" r:id="rId12"/>
    <p:sldId id="262" r:id="rId13"/>
    <p:sldId id="263" r:id="rId14"/>
    <p:sldId id="267" r:id="rId15"/>
    <p:sldId id="268" r:id="rId16"/>
    <p:sldId id="269" r:id="rId17"/>
    <p:sldId id="27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359EA3-ED10-42D4-8626-595DEF53DE0D}" v="14" dt="2026-01-12T14:54:12.6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167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705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2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256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726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538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074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252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244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037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324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566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10135D4-D3A1-4556-B91B-4A12069D4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EF6C83-4504-6032-D47C-65A7E41349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348" r="9091"/>
          <a:stretch>
            <a:fillRect/>
          </a:stretch>
        </p:blipFill>
        <p:spPr>
          <a:xfrm>
            <a:off x="20" y="-1"/>
            <a:ext cx="12191980" cy="6858001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A9CCD9CD-49AE-3D3E-923B-81ECD3FBF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2015" y="-752015"/>
            <a:ext cx="6858000" cy="836203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5000">
                <a:srgbClr val="000000">
                  <a:alpha val="50000"/>
                </a:srgbClr>
              </a:gs>
              <a:gs pos="100000">
                <a:srgbClr val="000000">
                  <a:alpha val="6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44E4A5-F145-184B-5948-0344DCF8859B}"/>
              </a:ext>
            </a:extLst>
          </p:cNvPr>
          <p:cNvSpPr txBox="1"/>
          <p:nvPr/>
        </p:nvSpPr>
        <p:spPr>
          <a:xfrm>
            <a:off x="363537" y="1174860"/>
            <a:ext cx="4948692" cy="128100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0000" lnSpcReduction="2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500" b="1" dirty="0">
                <a:latin typeface="Gill Sans MT" panose="020B0502020104020203" pitchFamily="34" charset="0"/>
              </a:rPr>
              <a:t>Instrumentation and Control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6500" b="1" dirty="0">
              <a:latin typeface="Gill Sans MT" panose="020B0502020104020203" pitchFamily="34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500" b="1" dirty="0">
                <a:solidFill>
                  <a:srgbClr val="FFFFFF"/>
                </a:solidFill>
                <a:latin typeface="Gill Sans MT" panose="020B0502020104020203" pitchFamily="34" charset="0"/>
                <a:ea typeface="+mj-ea"/>
                <a:cs typeface="+mj-cs"/>
              </a:rPr>
              <a:t>CSE 325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0C874E-1527-F441-5964-DAA124295B96}"/>
              </a:ext>
            </a:extLst>
          </p:cNvPr>
          <p:cNvSpPr txBox="1"/>
          <p:nvPr/>
        </p:nvSpPr>
        <p:spPr>
          <a:xfrm>
            <a:off x="363537" y="3222171"/>
            <a:ext cx="6276749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sz="2600" dirty="0">
                <a:latin typeface="Gill Sans MT" panose="020B0502020104020203" pitchFamily="34" charset="0"/>
              </a:rPr>
              <a:t>Md </a:t>
            </a:r>
            <a:r>
              <a:rPr lang="en-US" sz="2600" dirty="0" err="1">
                <a:latin typeface="Gill Sans MT" panose="020B0502020104020203" pitchFamily="34" charset="0"/>
              </a:rPr>
              <a:t>Atikul</a:t>
            </a:r>
            <a:r>
              <a:rPr lang="en-US" sz="2600" dirty="0">
                <a:latin typeface="Gill Sans MT" panose="020B0502020104020203" pitchFamily="34" charset="0"/>
              </a:rPr>
              <a:t> Islam</a:t>
            </a:r>
          </a:p>
          <a:p>
            <a:r>
              <a:rPr lang="en-US" sz="2600" dirty="0">
                <a:latin typeface="Gill Sans MT" panose="020B0502020104020203" pitchFamily="34" charset="0"/>
              </a:rPr>
              <a:t>Lecturer(EEE)</a:t>
            </a:r>
          </a:p>
          <a:p>
            <a:r>
              <a:rPr lang="en-US" sz="2600" dirty="0">
                <a:latin typeface="Gill Sans MT" panose="020B0502020104020203" pitchFamily="34" charset="0"/>
              </a:rPr>
              <a:t>Computer Science and Engineering(CSE)</a:t>
            </a:r>
          </a:p>
          <a:p>
            <a:r>
              <a:rPr lang="en-US" sz="2600" dirty="0">
                <a:latin typeface="Gill Sans MT" panose="020B0502020104020203" pitchFamily="34" charset="0"/>
              </a:rPr>
              <a:t>Daffodil International University(DIU)</a:t>
            </a:r>
          </a:p>
        </p:txBody>
      </p:sp>
    </p:spTree>
    <p:extLst>
      <p:ext uri="{BB962C8B-B14F-4D97-AF65-F5344CB8AC3E}">
        <p14:creationId xmlns:p14="http://schemas.microsoft.com/office/powerpoint/2010/main" val="727094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D22A5F5-40FF-A1D2-0BA3-2F07F61263AE}"/>
              </a:ext>
            </a:extLst>
          </p:cNvPr>
          <p:cNvSpPr/>
          <p:nvPr/>
        </p:nvSpPr>
        <p:spPr>
          <a:xfrm>
            <a:off x="347211" y="345688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500" dirty="0"/>
              <a:t>Introduction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63C106-68AF-76C7-DF65-9194D83A7A93}"/>
              </a:ext>
            </a:extLst>
          </p:cNvPr>
          <p:cNvSpPr txBox="1"/>
          <p:nvPr/>
        </p:nvSpPr>
        <p:spPr>
          <a:xfrm>
            <a:off x="347211" y="1318583"/>
            <a:ext cx="5908623" cy="5193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50" dirty="0">
                <a:latin typeface="Gill Sans MT" panose="020B0502020104020203" pitchFamily="34" charset="0"/>
              </a:rPr>
              <a:t>Instrumentation and Control in engineering deals with </a:t>
            </a:r>
            <a:r>
              <a:rPr lang="en-US" sz="1950" dirty="0">
                <a:solidFill>
                  <a:srgbClr val="FF0000"/>
                </a:solidFill>
                <a:latin typeface="Gill Sans MT" panose="020B0502020104020203" pitchFamily="34" charset="0"/>
              </a:rPr>
              <a:t>measuring, monitoring, and regulating physical processes. </a:t>
            </a:r>
            <a:r>
              <a:rPr lang="en-US" sz="1950" dirty="0">
                <a:latin typeface="Gill Sans MT" panose="020B0502020104020203" pitchFamily="34" charset="0"/>
              </a:rPr>
              <a:t>In modern systems, </a:t>
            </a:r>
            <a:r>
              <a:rPr lang="en-US" sz="1950" dirty="0">
                <a:solidFill>
                  <a:srgbClr val="FF0000"/>
                </a:solidFill>
                <a:latin typeface="Gill Sans MT" panose="020B0502020104020203" pitchFamily="34" charset="0"/>
              </a:rPr>
              <a:t>accurate measurement and precise control </a:t>
            </a:r>
            <a:r>
              <a:rPr lang="en-US" sz="1950" dirty="0">
                <a:latin typeface="Gill Sans MT" panose="020B0502020104020203" pitchFamily="34" charset="0"/>
              </a:rPr>
              <a:t>are essential </a:t>
            </a:r>
            <a:r>
              <a:rPr lang="en-US" sz="1950" dirty="0">
                <a:solidFill>
                  <a:srgbClr val="FF0000"/>
                </a:solidFill>
                <a:latin typeface="Gill Sans MT" panose="020B0502020104020203" pitchFamily="34" charset="0"/>
              </a:rPr>
              <a:t>for automation, safety, and efficiency.</a:t>
            </a:r>
          </a:p>
          <a:p>
            <a:endParaRPr lang="en-US" sz="1950" dirty="0">
              <a:latin typeface="Gill Sans MT" panose="020B0502020104020203" pitchFamily="34" charset="0"/>
            </a:endParaRPr>
          </a:p>
          <a:p>
            <a:r>
              <a:rPr lang="en-US" sz="1950" b="1" dirty="0">
                <a:latin typeface="Gill Sans MT" panose="020B0502020104020203" pitchFamily="34" charset="0"/>
              </a:rPr>
              <a:t>Instrumentation</a:t>
            </a:r>
            <a:r>
              <a:rPr lang="en-US" sz="1950" dirty="0">
                <a:latin typeface="Gill Sans MT" panose="020B0502020104020203" pitchFamily="34" charset="0"/>
              </a:rPr>
              <a:t> refers to the </a:t>
            </a:r>
            <a:r>
              <a:rPr lang="en-US" sz="1950" dirty="0">
                <a:solidFill>
                  <a:srgbClr val="FF0000"/>
                </a:solidFill>
                <a:latin typeface="Gill Sans MT" panose="020B0502020104020203" pitchFamily="34" charset="0"/>
              </a:rPr>
              <a:t>devices and techniques </a:t>
            </a:r>
            <a:r>
              <a:rPr lang="en-US" sz="1950" dirty="0">
                <a:latin typeface="Gill Sans MT" panose="020B0502020104020203" pitchFamily="34" charset="0"/>
              </a:rPr>
              <a:t>used to </a:t>
            </a:r>
            <a:r>
              <a:rPr lang="en-US" sz="1950" dirty="0">
                <a:solidFill>
                  <a:srgbClr val="FF0000"/>
                </a:solidFill>
                <a:latin typeface="Gill Sans MT" panose="020B0502020104020203" pitchFamily="34" charset="0"/>
              </a:rPr>
              <a:t>measure variables </a:t>
            </a:r>
            <a:r>
              <a:rPr lang="en-US" sz="1950" dirty="0">
                <a:latin typeface="Gill Sans MT" panose="020B0502020104020203" pitchFamily="34" charset="0"/>
              </a:rPr>
              <a:t>such as temperature, pressure, flow, and level. These measurements provide the data needed to understand and manage processes.</a:t>
            </a:r>
          </a:p>
          <a:p>
            <a:endParaRPr lang="en-US" sz="1950" dirty="0">
              <a:latin typeface="Gill Sans MT" panose="020B0502020104020203" pitchFamily="34" charset="0"/>
            </a:endParaRPr>
          </a:p>
          <a:p>
            <a:r>
              <a:rPr lang="en-US" sz="1950" b="1" dirty="0">
                <a:latin typeface="Gill Sans MT" panose="020B0502020104020203" pitchFamily="34" charset="0"/>
              </a:rPr>
              <a:t>Control systems</a:t>
            </a:r>
            <a:r>
              <a:rPr lang="en-US" sz="1950" dirty="0">
                <a:latin typeface="Gill Sans MT" panose="020B0502020104020203" pitchFamily="34" charset="0"/>
              </a:rPr>
              <a:t> </a:t>
            </a:r>
            <a:r>
              <a:rPr lang="en-US" sz="1950" dirty="0">
                <a:solidFill>
                  <a:srgbClr val="FF0000"/>
                </a:solidFill>
                <a:latin typeface="Gill Sans MT" panose="020B0502020104020203" pitchFamily="34" charset="0"/>
              </a:rPr>
              <a:t>use this data </a:t>
            </a:r>
            <a:r>
              <a:rPr lang="en-US" sz="1950" dirty="0">
                <a:latin typeface="Gill Sans MT" panose="020B0502020104020203" pitchFamily="34" charset="0"/>
              </a:rPr>
              <a:t>to </a:t>
            </a:r>
            <a:r>
              <a:rPr lang="en-US" sz="1950" dirty="0">
                <a:solidFill>
                  <a:srgbClr val="FF0000"/>
                </a:solidFill>
                <a:latin typeface="Gill Sans MT" panose="020B0502020104020203" pitchFamily="34" charset="0"/>
              </a:rPr>
              <a:t>make decision automatically adjusting operations to maintain desired conditions.</a:t>
            </a:r>
            <a:r>
              <a:rPr lang="en-US" sz="1950" dirty="0">
                <a:latin typeface="Gill Sans MT" panose="020B0502020104020203" pitchFamily="34" charset="0"/>
              </a:rPr>
              <a:t> For example, in industrial automation, sensors measure process variables, and controllers adjust actuators to keep the system stable and optimized.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FC9DE36-B12A-E885-E872-19BE6F7D5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5833" y="1583474"/>
            <a:ext cx="5754029" cy="482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021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0F248-585D-9007-F235-5DA90EC74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3268DE-755F-4451-0E4E-B286C1C5E4F2}"/>
              </a:ext>
            </a:extLst>
          </p:cNvPr>
          <p:cNvSpPr/>
          <p:nvPr/>
        </p:nvSpPr>
        <p:spPr>
          <a:xfrm>
            <a:off x="367991" y="345688"/>
            <a:ext cx="1154098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500" dirty="0"/>
              <a:t>Introduction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EA21BC-DAF0-4361-8C30-0A7956C77868}"/>
              </a:ext>
            </a:extLst>
          </p:cNvPr>
          <p:cNvSpPr txBox="1"/>
          <p:nvPr/>
        </p:nvSpPr>
        <p:spPr>
          <a:xfrm>
            <a:off x="367991" y="1348800"/>
            <a:ext cx="5413131" cy="5809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50" dirty="0">
                <a:latin typeface="Gill Sans MT" panose="020B0502020104020203" pitchFamily="34" charset="0"/>
              </a:rPr>
              <a:t>For </a:t>
            </a:r>
            <a:r>
              <a:rPr lang="en-US" sz="1950" b="1" dirty="0">
                <a:latin typeface="Gill Sans MT" panose="020B0502020104020203" pitchFamily="34" charset="0"/>
              </a:rPr>
              <a:t>Engineering students</a:t>
            </a:r>
            <a:r>
              <a:rPr lang="en-US" sz="1950" dirty="0">
                <a:latin typeface="Gill Sans MT" panose="020B0502020104020203" pitchFamily="34" charset="0"/>
              </a:rPr>
              <a:t>, this field is highly relevant because: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sz="1950" dirty="0">
                <a:latin typeface="Gill Sans MT" panose="020B0502020104020203" pitchFamily="34" charset="0"/>
              </a:rPr>
              <a:t>It integrates </a:t>
            </a:r>
            <a:r>
              <a:rPr lang="en-US" sz="1950" b="1" dirty="0">
                <a:latin typeface="Gill Sans MT" panose="020B0502020104020203" pitchFamily="34" charset="0"/>
              </a:rPr>
              <a:t>hardware and software</a:t>
            </a:r>
            <a:r>
              <a:rPr lang="en-US" sz="1950" dirty="0">
                <a:latin typeface="Gill Sans MT" panose="020B0502020104020203" pitchFamily="34" charset="0"/>
              </a:rPr>
              <a:t> for real-time monitoring.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sz="1950" dirty="0">
                <a:latin typeface="Gill Sans MT" panose="020B0502020104020203" pitchFamily="34" charset="0"/>
              </a:rPr>
              <a:t>It involves </a:t>
            </a:r>
            <a:r>
              <a:rPr lang="en-US" sz="1950" b="1" dirty="0">
                <a:latin typeface="Gill Sans MT" panose="020B0502020104020203" pitchFamily="34" charset="0"/>
              </a:rPr>
              <a:t>data acquisition, signal processing, and control algorithms</a:t>
            </a:r>
            <a:r>
              <a:rPr lang="en-US" sz="1950" dirty="0">
                <a:latin typeface="Gill Sans MT" panose="020B0502020104020203" pitchFamily="34" charset="0"/>
              </a:rPr>
              <a:t>.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sz="1950" dirty="0">
                <a:latin typeface="Gill Sans MT" panose="020B0502020104020203" pitchFamily="34" charset="0"/>
              </a:rPr>
              <a:t>It forms the backbone of </a:t>
            </a:r>
            <a:r>
              <a:rPr lang="en-US" sz="1950" b="1" dirty="0">
                <a:latin typeface="Gill Sans MT" panose="020B0502020104020203" pitchFamily="34" charset="0"/>
              </a:rPr>
              <a:t>IoT, robotics, and smart systems</a:t>
            </a:r>
            <a:r>
              <a:rPr lang="en-US" sz="1950" dirty="0">
                <a:latin typeface="Gill Sans MT" panose="020B0502020104020203" pitchFamily="34" charset="0"/>
              </a:rPr>
              <a:t>.</a:t>
            </a:r>
          </a:p>
          <a:p>
            <a:pPr lvl="0"/>
            <a:endParaRPr lang="en-US" sz="1950" dirty="0">
              <a:latin typeface="Gill Sans MT" panose="020B0502020104020203" pitchFamily="34" charset="0"/>
            </a:endParaRPr>
          </a:p>
          <a:p>
            <a:r>
              <a:rPr lang="en-US" sz="1950" b="1" dirty="0">
                <a:solidFill>
                  <a:srgbClr val="FF0000"/>
                </a:solidFill>
                <a:latin typeface="Gill Sans MT" panose="020B0502020104020203" pitchFamily="34" charset="0"/>
              </a:rPr>
              <a:t>Why It Matters for CSE??</a:t>
            </a:r>
            <a:endParaRPr lang="en-US" sz="1950" dirty="0">
              <a:solidFill>
                <a:srgbClr val="FF0000"/>
              </a:solidFill>
              <a:latin typeface="Gill Sans MT" panose="020B0502020104020203" pitchFamily="34" charset="0"/>
            </a:endParaRP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US" sz="1950" b="1" dirty="0">
                <a:latin typeface="Gill Sans MT" panose="020B0502020104020203" pitchFamily="34" charset="0"/>
              </a:rPr>
              <a:t>Data Acquisition &amp; Processing</a:t>
            </a:r>
            <a:r>
              <a:rPr lang="en-US" sz="1950" dirty="0">
                <a:latin typeface="Gill Sans MT" panose="020B0502020104020203" pitchFamily="34" charset="0"/>
              </a:rPr>
              <a:t>: Sensors generate data that must be processed in real-time.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US" sz="1950" b="1" dirty="0">
                <a:latin typeface="Gill Sans MT" panose="020B0502020104020203" pitchFamily="34" charset="0"/>
              </a:rPr>
              <a:t>Control Algorithms</a:t>
            </a:r>
            <a:r>
              <a:rPr lang="en-US" sz="1950" dirty="0">
                <a:latin typeface="Gill Sans MT" panose="020B0502020104020203" pitchFamily="34" charset="0"/>
              </a:rPr>
              <a:t>: Implemented in software to regulate processes.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US" sz="1950" b="1" dirty="0">
                <a:latin typeface="Gill Sans MT" panose="020B0502020104020203" pitchFamily="34" charset="0"/>
              </a:rPr>
              <a:t>Integration with IoT &amp; AI</a:t>
            </a:r>
            <a:r>
              <a:rPr lang="en-US" sz="1950" dirty="0">
                <a:latin typeface="Gill Sans MT" panose="020B0502020104020203" pitchFamily="34" charset="0"/>
              </a:rPr>
              <a:t>: Instrumentation is key for smart devices and industrial automation.</a:t>
            </a:r>
          </a:p>
          <a:p>
            <a:pPr lvl="0"/>
            <a:endParaRPr lang="en-US" sz="2200" dirty="0">
              <a:latin typeface="Gill Sans MT" panose="020B0502020104020203" pitchFamily="34" charset="0"/>
            </a:endParaRP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DDA3F13-EB1B-7F02-4983-DFFA3AD80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1122" y="1541148"/>
            <a:ext cx="6127849" cy="4779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120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17F22-BACA-37F0-758D-F3408673C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77AB463-9A44-4212-ABC6-89372D4138E5}"/>
              </a:ext>
            </a:extLst>
          </p:cNvPr>
          <p:cNvSpPr/>
          <p:nvPr/>
        </p:nvSpPr>
        <p:spPr>
          <a:xfrm>
            <a:off x="367991" y="345688"/>
            <a:ext cx="1154098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500" dirty="0"/>
              <a:t>Applications of Measurement Systems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AB66FF-EF33-5F52-4C15-7DD82EC009C0}"/>
              </a:ext>
            </a:extLst>
          </p:cNvPr>
          <p:cNvSpPr txBox="1"/>
          <p:nvPr/>
        </p:nvSpPr>
        <p:spPr>
          <a:xfrm>
            <a:off x="367991" y="1557554"/>
            <a:ext cx="11421238" cy="320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Applications are generally classified into three major classes:</a:t>
            </a:r>
          </a:p>
          <a:p>
            <a:r>
              <a:rPr lang="en-US" sz="2000" dirty="0"/>
              <a:t>1. Monitoring of processes and operations</a:t>
            </a:r>
          </a:p>
          <a:p>
            <a:r>
              <a:rPr lang="en-US" sz="2000" dirty="0"/>
              <a:t>2. Control of processes and operations</a:t>
            </a:r>
          </a:p>
          <a:p>
            <a:r>
              <a:rPr lang="en-US" sz="2000" dirty="0"/>
              <a:t>3. Experimental engineering analysis</a:t>
            </a:r>
          </a:p>
          <a:p>
            <a:endParaRPr lang="en-US" sz="2000" dirty="0"/>
          </a:p>
          <a:p>
            <a:endParaRPr lang="en-US" sz="2000" b="1" dirty="0"/>
          </a:p>
          <a:p>
            <a:r>
              <a:rPr lang="en-US" sz="2200" b="1" dirty="0"/>
              <a:t>1. Monitoring of processes and operations</a:t>
            </a:r>
          </a:p>
          <a:p>
            <a:r>
              <a:rPr lang="en-US" sz="2000" dirty="0"/>
              <a:t>- measuring instrument is used to keep track of some quantity.</a:t>
            </a:r>
          </a:p>
          <a:p>
            <a:r>
              <a:rPr lang="en-US" sz="2000" dirty="0"/>
              <a:t>- e.g. thermometer, barometer, radar used by weather department</a:t>
            </a:r>
          </a:p>
          <a:p>
            <a:r>
              <a:rPr lang="en-US" sz="2000" dirty="0"/>
              <a:t>- e.g. water, gas, electric meters in home</a:t>
            </a:r>
          </a:p>
        </p:txBody>
      </p:sp>
    </p:spTree>
    <p:extLst>
      <p:ext uri="{BB962C8B-B14F-4D97-AF65-F5344CB8AC3E}">
        <p14:creationId xmlns:p14="http://schemas.microsoft.com/office/powerpoint/2010/main" val="4261270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8201B-554F-92B6-BBF8-06FA0FCF5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ECBC0F3-98D0-C5B8-A327-CACECD60A702}"/>
              </a:ext>
            </a:extLst>
          </p:cNvPr>
          <p:cNvSpPr/>
          <p:nvPr/>
        </p:nvSpPr>
        <p:spPr>
          <a:xfrm>
            <a:off x="367991" y="345688"/>
            <a:ext cx="1154098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500" dirty="0"/>
              <a:t>Applications of Measurement Systems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05B4D6-F99E-3837-5E1C-532DA52A936E}"/>
              </a:ext>
            </a:extLst>
          </p:cNvPr>
          <p:cNvSpPr txBox="1"/>
          <p:nvPr/>
        </p:nvSpPr>
        <p:spPr>
          <a:xfrm>
            <a:off x="367991" y="1557554"/>
            <a:ext cx="11421238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/>
              <a:t>2. Control of processes and operations</a:t>
            </a:r>
          </a:p>
          <a:p>
            <a:endParaRPr lang="en-US" sz="2000" dirty="0"/>
          </a:p>
          <a:p>
            <a:r>
              <a:rPr lang="en-US" sz="2000" dirty="0"/>
              <a:t>- The most important class of measurement application</a:t>
            </a:r>
          </a:p>
          <a:p>
            <a:r>
              <a:rPr lang="en-US" sz="2000" dirty="0"/>
              <a:t>(automatic control systems)</a:t>
            </a:r>
          </a:p>
          <a:p>
            <a:r>
              <a:rPr lang="en-US" sz="2000" dirty="0"/>
              <a:t>- Feedback control system: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B8C84A-8B00-F68C-01D3-F34766B86D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828" y="3327297"/>
            <a:ext cx="8904514" cy="3016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193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F7667-C40F-C3B8-D502-B647A5079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8ABADF9-209B-023B-8476-9C006A7BE5C2}"/>
              </a:ext>
            </a:extLst>
          </p:cNvPr>
          <p:cNvSpPr/>
          <p:nvPr/>
        </p:nvSpPr>
        <p:spPr>
          <a:xfrm>
            <a:off x="367991" y="345688"/>
            <a:ext cx="1154098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500" dirty="0"/>
              <a:t>Applications of Measurement Systems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5FF451-8E37-98EB-6B63-B896ACC0597D}"/>
              </a:ext>
            </a:extLst>
          </p:cNvPr>
          <p:cNvSpPr txBox="1"/>
          <p:nvPr/>
        </p:nvSpPr>
        <p:spPr>
          <a:xfrm>
            <a:off x="367991" y="1360714"/>
            <a:ext cx="1154098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3. Experimental engineering analysis</a:t>
            </a:r>
          </a:p>
          <a:p>
            <a:r>
              <a:rPr lang="en-US" dirty="0"/>
              <a:t>- Part of engineering design, development and research</a:t>
            </a:r>
          </a:p>
          <a:p>
            <a:r>
              <a:rPr lang="en-US" dirty="0"/>
              <a:t>- two basic ways of solving engineering problems: Theory and</a:t>
            </a:r>
          </a:p>
          <a:p>
            <a:r>
              <a:rPr lang="en-US" dirty="0"/>
              <a:t>Experimentation</a:t>
            </a:r>
          </a:p>
          <a:p>
            <a:pPr marL="285750" indent="-285750">
              <a:buFontTx/>
              <a:buChar char="-"/>
            </a:pPr>
            <a:r>
              <a:rPr lang="en-US" dirty="0"/>
              <a:t>Most problems require blend of theory and experiment</a:t>
            </a:r>
          </a:p>
          <a:p>
            <a:endParaRPr lang="en-US" dirty="0"/>
          </a:p>
          <a:p>
            <a:r>
              <a:rPr lang="en-US" dirty="0"/>
              <a:t>- For example,</a:t>
            </a:r>
          </a:p>
          <a:p>
            <a:r>
              <a:rPr lang="en-US" dirty="0"/>
              <a:t>• Experimental validation of theoretical prediction/simulation</a:t>
            </a:r>
          </a:p>
          <a:p>
            <a:r>
              <a:rPr lang="en-US" dirty="0"/>
              <a:t>• Formulation of empirical equations</a:t>
            </a:r>
          </a:p>
        </p:txBody>
      </p:sp>
    </p:spTree>
    <p:extLst>
      <p:ext uri="{BB962C8B-B14F-4D97-AF65-F5344CB8AC3E}">
        <p14:creationId xmlns:p14="http://schemas.microsoft.com/office/powerpoint/2010/main" val="3612285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A0D6B-F96F-9CAD-AA75-5F770229B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8D3F1A-1E51-0736-1A34-BED20E808006}"/>
              </a:ext>
            </a:extLst>
          </p:cNvPr>
          <p:cNvSpPr/>
          <p:nvPr/>
        </p:nvSpPr>
        <p:spPr>
          <a:xfrm>
            <a:off x="367991" y="345688"/>
            <a:ext cx="1154098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dirty="0">
                <a:solidFill>
                  <a:schemeClr val="bg1"/>
                </a:solidFill>
              </a:rPr>
              <a:t>Functional Elements of a Measurement System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94990E-AE78-B601-8A70-5EBDF5C58ED8}"/>
              </a:ext>
            </a:extLst>
          </p:cNvPr>
          <p:cNvSpPr txBox="1"/>
          <p:nvPr/>
        </p:nvSpPr>
        <p:spPr>
          <a:xfrm>
            <a:off x="367991" y="1360714"/>
            <a:ext cx="1043155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Generally, measurement systems contain three functional elements:</a:t>
            </a:r>
          </a:p>
          <a:p>
            <a:r>
              <a:rPr lang="en-US" dirty="0"/>
              <a:t>1. Primary sensing element</a:t>
            </a:r>
          </a:p>
          <a:p>
            <a:r>
              <a:rPr lang="en-US" dirty="0"/>
              <a:t>2. Signal conditioning element and</a:t>
            </a:r>
          </a:p>
          <a:p>
            <a:r>
              <a:rPr lang="en-US" dirty="0"/>
              <a:t>3. Data presentation element</a:t>
            </a:r>
          </a:p>
          <a:p>
            <a:endParaRPr lang="en-US" dirty="0"/>
          </a:p>
          <a:p>
            <a:r>
              <a:rPr lang="en-US" dirty="0"/>
              <a:t>Each element is made up of a distinct component or a group of components which perform the required function</a:t>
            </a:r>
          </a:p>
          <a:p>
            <a:endParaRPr lang="en-US" dirty="0"/>
          </a:p>
          <a:p>
            <a:r>
              <a:rPr lang="en-US" dirty="0"/>
              <a:t>1. </a:t>
            </a:r>
            <a:r>
              <a:rPr lang="en-US" b="1" dirty="0"/>
              <a:t>Primary sensing element</a:t>
            </a:r>
          </a:p>
          <a:p>
            <a:r>
              <a:rPr lang="en-US" dirty="0"/>
              <a:t>Variously known as detector/sensor or transducer</a:t>
            </a:r>
          </a:p>
          <a:p>
            <a:endParaRPr lang="en-US" dirty="0"/>
          </a:p>
          <a:p>
            <a:r>
              <a:rPr lang="en-US" dirty="0"/>
              <a:t>2. </a:t>
            </a:r>
            <a:r>
              <a:rPr lang="en-US" b="1" dirty="0"/>
              <a:t>Signal conditioning element</a:t>
            </a:r>
          </a:p>
          <a:p>
            <a:r>
              <a:rPr lang="en-US" dirty="0"/>
              <a:t>- sometimes, the raw signal output from the sensor is not suited to the desired performance of the system</a:t>
            </a:r>
          </a:p>
          <a:p>
            <a:r>
              <a:rPr lang="en-US" dirty="0"/>
              <a:t>- For example: filtering noise, amplifying signal and A/D conversion</a:t>
            </a:r>
          </a:p>
          <a:p>
            <a:r>
              <a:rPr lang="en-US" dirty="0"/>
              <a:t>- Many instruments do not need any signal conditioning element</a:t>
            </a:r>
          </a:p>
        </p:txBody>
      </p:sp>
    </p:spTree>
    <p:extLst>
      <p:ext uri="{BB962C8B-B14F-4D97-AF65-F5344CB8AC3E}">
        <p14:creationId xmlns:p14="http://schemas.microsoft.com/office/powerpoint/2010/main" val="171412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7A669-3037-5E7B-1998-D534BC335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5DDBC72-518B-5DDA-0491-75B513023872}"/>
              </a:ext>
            </a:extLst>
          </p:cNvPr>
          <p:cNvSpPr/>
          <p:nvPr/>
        </p:nvSpPr>
        <p:spPr>
          <a:xfrm>
            <a:off x="367991" y="345688"/>
            <a:ext cx="1154098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dirty="0">
                <a:solidFill>
                  <a:schemeClr val="bg1"/>
                </a:solidFill>
              </a:rPr>
              <a:t>Functional Elements of a Measurement System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536644-1B35-3B3F-B221-3E669D2718DE}"/>
              </a:ext>
            </a:extLst>
          </p:cNvPr>
          <p:cNvSpPr txBox="1"/>
          <p:nvPr/>
        </p:nvSpPr>
        <p:spPr>
          <a:xfrm>
            <a:off x="367991" y="1360714"/>
            <a:ext cx="632156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3. Data presentation element</a:t>
            </a:r>
          </a:p>
          <a:p>
            <a:endParaRPr lang="en-US" dirty="0"/>
          </a:p>
          <a:p>
            <a:r>
              <a:rPr lang="en-US" dirty="0"/>
              <a:t>- The quantity under measurement has to be conveyed to a personnel or to the system for monitoring, control, or analyses purposes.</a:t>
            </a:r>
          </a:p>
          <a:p>
            <a:endParaRPr lang="en-US" dirty="0"/>
          </a:p>
          <a:p>
            <a:r>
              <a:rPr lang="en-US" dirty="0"/>
              <a:t>- The data conveyed must be intelligible to the</a:t>
            </a:r>
          </a:p>
          <a:p>
            <a:r>
              <a:rPr lang="en-US" dirty="0"/>
              <a:t>personnel/system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manual monitoring: visual display (LED/LCD, pointer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recording: magnetic tape, printers, computer </a:t>
            </a:r>
            <a:r>
              <a:rPr lang="en-US" dirty="0" err="1"/>
              <a:t>etc</a:t>
            </a:r>
            <a:endParaRPr lang="en-US" dirty="0"/>
          </a:p>
          <a:p>
            <a:endParaRPr lang="en-US" dirty="0"/>
          </a:p>
          <a:p>
            <a:r>
              <a:rPr lang="en-US" dirty="0"/>
              <a:t>- control and analysis: computer, microcontroller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B4C999-D293-5391-82BC-241F041BC1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457" y="1526013"/>
            <a:ext cx="4326360" cy="5194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170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B24246-5F6F-867E-29D6-9097FE690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A32057F-F015-B1B2-4E3E-2307F8EFC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18C8EF-2810-FFBF-548F-DFB68BB1D8B4}"/>
              </a:ext>
            </a:extLst>
          </p:cNvPr>
          <p:cNvSpPr/>
          <p:nvPr/>
        </p:nvSpPr>
        <p:spPr>
          <a:xfrm>
            <a:off x="7830292" y="-1"/>
            <a:ext cx="4361688" cy="68579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600" b="1" dirty="0">
                <a:solidFill>
                  <a:schemeClr val="bg1"/>
                </a:solidFill>
                <a:latin typeface="Gill Sans MT" panose="020B0502020104020203" pitchFamily="34" charset="0"/>
                <a:ea typeface="+mj-ea"/>
                <a:cs typeface="+mj-cs"/>
              </a:rPr>
              <a:t>Functional Elements of a Measurement System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CA7E38-5F3C-F54D-C099-00993E64A3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" r="3" b="5990"/>
          <a:stretch>
            <a:fillRect/>
          </a:stretch>
        </p:blipFill>
        <p:spPr>
          <a:xfrm>
            <a:off x="20" y="1"/>
            <a:ext cx="76051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395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0DF88-A780-A1B4-0AA9-92525663A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1E60854-7F5A-7198-5592-57F2922B723A}"/>
              </a:ext>
            </a:extLst>
          </p:cNvPr>
          <p:cNvSpPr/>
          <p:nvPr/>
        </p:nvSpPr>
        <p:spPr>
          <a:xfrm>
            <a:off x="7830292" y="-1"/>
            <a:ext cx="4361688" cy="68579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600" b="1" dirty="0">
                <a:solidFill>
                  <a:schemeClr val="bg1"/>
                </a:solidFill>
                <a:latin typeface="Gill Sans MT" panose="020B0502020104020203" pitchFamily="34" charset="0"/>
                <a:ea typeface="+mj-ea"/>
                <a:cs typeface="+mj-cs"/>
              </a:rPr>
              <a:t>Functional Elements of a Measurement System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9DFF7D-6215-A7F6-4E6A-0CB42A5118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041" y="-2"/>
            <a:ext cx="73409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0155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1CA45-958F-4222-D1F5-712601316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A5DA455-DD17-6396-C5C2-6A49AEAC44F7}"/>
              </a:ext>
            </a:extLst>
          </p:cNvPr>
          <p:cNvSpPr/>
          <p:nvPr/>
        </p:nvSpPr>
        <p:spPr>
          <a:xfrm>
            <a:off x="367991" y="345688"/>
            <a:ext cx="1154098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dirty="0">
                <a:solidFill>
                  <a:schemeClr val="bg1"/>
                </a:solidFill>
              </a:rPr>
              <a:t>Important Terminologies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00221F-20D9-F8AE-6815-7D069C529052}"/>
              </a:ext>
            </a:extLst>
          </p:cNvPr>
          <p:cNvSpPr txBox="1"/>
          <p:nvPr/>
        </p:nvSpPr>
        <p:spPr>
          <a:xfrm>
            <a:off x="367991" y="1260088"/>
            <a:ext cx="1154098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Active Sensors</a:t>
            </a:r>
          </a:p>
          <a:p>
            <a:pPr>
              <a:buNone/>
            </a:pPr>
            <a:r>
              <a:rPr lang="en-US" sz="2000" dirty="0"/>
              <a:t>Active sensors </a:t>
            </a:r>
            <a:r>
              <a:rPr lang="en-US" sz="2000" b="1" dirty="0">
                <a:solidFill>
                  <a:srgbClr val="FF0000"/>
                </a:solidFill>
              </a:rPr>
              <a:t>send out their own energy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(like a signal or wave) toward an object and </a:t>
            </a:r>
            <a:r>
              <a:rPr lang="en-US" sz="2000" dirty="0">
                <a:solidFill>
                  <a:srgbClr val="FF0000"/>
                </a:solidFill>
              </a:rPr>
              <a:t>then </a:t>
            </a:r>
            <a:r>
              <a:rPr lang="en-US" sz="2000" b="1" dirty="0">
                <a:solidFill>
                  <a:srgbClr val="FF0000"/>
                </a:solidFill>
              </a:rPr>
              <a:t>measure the energy that comes back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after hitting 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They work at </a:t>
            </a:r>
            <a:r>
              <a:rPr lang="en-US" sz="2000" b="1" dirty="0"/>
              <a:t>day or night</a:t>
            </a:r>
            <a:r>
              <a:rPr lang="en-US" sz="2000" dirty="0"/>
              <a:t> </a:t>
            </a:r>
            <a:r>
              <a:rPr lang="en-US" sz="2000" b="1" dirty="0"/>
              <a:t>even in cloudy or dark conditions. </a:t>
            </a:r>
            <a:r>
              <a:rPr lang="en-US" sz="2000" dirty="0"/>
              <a:t>Common in radar and laser systems</a:t>
            </a:r>
          </a:p>
          <a:p>
            <a:pPr>
              <a:buNone/>
            </a:pPr>
            <a:r>
              <a:rPr lang="en-US" sz="2000" b="1" dirty="0"/>
              <a:t>Example:</a:t>
            </a:r>
            <a:br>
              <a:rPr lang="en-US" sz="2000" dirty="0"/>
            </a:br>
            <a:r>
              <a:rPr lang="en-US" sz="2000" dirty="0"/>
              <a:t>Radar sends radio waves to the Earth and measures the reflected waves to detect objects or land features.</a:t>
            </a:r>
            <a:br>
              <a:rPr lang="en-US" sz="2000" dirty="0"/>
            </a:br>
            <a:endParaRPr lang="en-US" sz="2000" dirty="0"/>
          </a:p>
          <a:p>
            <a:pPr>
              <a:buNone/>
            </a:pPr>
            <a:r>
              <a:rPr lang="en-US" sz="2000" b="1" dirty="0"/>
              <a:t>Passive Sensors</a:t>
            </a:r>
          </a:p>
          <a:p>
            <a:pPr>
              <a:buNone/>
            </a:pPr>
            <a:r>
              <a:rPr lang="en-US" sz="2000" dirty="0"/>
              <a:t>Passive sensors </a:t>
            </a:r>
            <a:r>
              <a:rPr lang="en-US" sz="2000" b="1" dirty="0">
                <a:solidFill>
                  <a:srgbClr val="FF0000"/>
                </a:solidFill>
              </a:rPr>
              <a:t>do not send out energy</a:t>
            </a:r>
            <a:r>
              <a:rPr lang="en-US" sz="2000" dirty="0"/>
              <a:t>. They only </a:t>
            </a:r>
            <a:r>
              <a:rPr lang="en-US" sz="2000" b="1" dirty="0">
                <a:solidFill>
                  <a:srgbClr val="FF0000"/>
                </a:solidFill>
              </a:rPr>
              <a:t>detect natural energy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coming from objects, usually </a:t>
            </a:r>
            <a:r>
              <a:rPr lang="en-US" sz="2000" b="1" dirty="0"/>
              <a:t>sunlight reflected</a:t>
            </a:r>
            <a:r>
              <a:rPr lang="en-US" sz="2000" dirty="0"/>
              <a:t> or </a:t>
            </a:r>
            <a:r>
              <a:rPr lang="en-US" sz="2000" b="1" dirty="0"/>
              <a:t>heat emitted</a:t>
            </a:r>
            <a:r>
              <a:rPr lang="en-US" sz="20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Very common in cameras and satellites</a:t>
            </a:r>
          </a:p>
          <a:p>
            <a:pPr>
              <a:buNone/>
            </a:pPr>
            <a:r>
              <a:rPr lang="en-US" sz="2000" b="1" dirty="0"/>
              <a:t>Example:</a:t>
            </a:r>
            <a:br>
              <a:rPr lang="en-US" sz="2000" dirty="0"/>
            </a:br>
            <a:r>
              <a:rPr lang="en-US" sz="2000" dirty="0"/>
              <a:t>A satellite camera that captures images using sunlight reflected from Earth.</a:t>
            </a:r>
          </a:p>
        </p:txBody>
      </p:sp>
    </p:spTree>
    <p:extLst>
      <p:ext uri="{BB962C8B-B14F-4D97-AF65-F5344CB8AC3E}">
        <p14:creationId xmlns:p14="http://schemas.microsoft.com/office/powerpoint/2010/main" val="1273550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4D160-FBC0-661A-4D14-67EAD8477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6320866-EABA-E38A-CE3B-4041FB51A61F}"/>
              </a:ext>
            </a:extLst>
          </p:cNvPr>
          <p:cNvSpPr/>
          <p:nvPr/>
        </p:nvSpPr>
        <p:spPr>
          <a:xfrm>
            <a:off x="367991" y="345688"/>
            <a:ext cx="1154098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dirty="0">
                <a:solidFill>
                  <a:schemeClr val="bg1"/>
                </a:solidFill>
              </a:rPr>
              <a:t>Important Terminologies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6DDC48-300B-33A4-D170-9262A158AD4D}"/>
              </a:ext>
            </a:extLst>
          </p:cNvPr>
          <p:cNvSpPr txBox="1"/>
          <p:nvPr/>
        </p:nvSpPr>
        <p:spPr>
          <a:xfrm>
            <a:off x="367991" y="1260088"/>
            <a:ext cx="1154098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Calibration: </a:t>
            </a:r>
            <a:r>
              <a:rPr lang="en-US" sz="2000" dirty="0"/>
              <a:t>The </a:t>
            </a:r>
            <a:r>
              <a:rPr lang="en-US" sz="2000" dirty="0">
                <a:solidFill>
                  <a:srgbClr val="FF0000"/>
                </a:solidFill>
              </a:rPr>
              <a:t>relationship</a:t>
            </a:r>
            <a:r>
              <a:rPr lang="en-US" sz="2000" dirty="0"/>
              <a:t> between </a:t>
            </a:r>
            <a:r>
              <a:rPr lang="en-US" sz="2000" dirty="0">
                <a:solidFill>
                  <a:srgbClr val="FF0000"/>
                </a:solidFill>
              </a:rPr>
              <a:t>the physical measurement variable (input)</a:t>
            </a:r>
            <a:r>
              <a:rPr lang="en-US" sz="2000" dirty="0"/>
              <a:t> and </a:t>
            </a:r>
            <a:r>
              <a:rPr lang="en-US" sz="2000" dirty="0">
                <a:solidFill>
                  <a:srgbClr val="FF0000"/>
                </a:solidFill>
              </a:rPr>
              <a:t>the signal variable (output) </a:t>
            </a:r>
            <a:r>
              <a:rPr lang="en-US" sz="2000" dirty="0"/>
              <a:t>for a specific sensor is known as the calibration of the sensor. Typically, a sensor (or an entire instrument system) is calibrated by providing a known physical input to the system and recording the output.</a:t>
            </a:r>
          </a:p>
          <a:p>
            <a:pPr>
              <a:buNone/>
            </a:pPr>
            <a:endParaRPr lang="en-US" sz="2000" dirty="0"/>
          </a:p>
          <a:p>
            <a:pPr>
              <a:buNone/>
            </a:pPr>
            <a:r>
              <a:rPr lang="en-US" sz="2000" b="1" dirty="0"/>
              <a:t>Calibration Curve: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3B410C-697E-4AE7-2608-E9EAD705F3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8229" y="2995822"/>
            <a:ext cx="4999342" cy="37125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68838B5-B273-3D88-ED09-1829184CFE2D}"/>
              </a:ext>
            </a:extLst>
          </p:cNvPr>
          <p:cNvSpPr txBox="1"/>
          <p:nvPr/>
        </p:nvSpPr>
        <p:spPr>
          <a:xfrm>
            <a:off x="8077200" y="4376707"/>
            <a:ext cx="37468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Sensitivity: </a:t>
            </a:r>
            <a:r>
              <a:rPr lang="en-US" dirty="0">
                <a:solidFill>
                  <a:srgbClr val="FF0000"/>
                </a:solidFill>
              </a:rPr>
              <a:t>Ratio</a:t>
            </a:r>
            <a:r>
              <a:rPr lang="en-US" dirty="0"/>
              <a:t> of </a:t>
            </a:r>
            <a:r>
              <a:rPr lang="en-US" dirty="0">
                <a:solidFill>
                  <a:srgbClr val="FF0000"/>
                </a:solidFill>
              </a:rPr>
              <a:t>output signal </a:t>
            </a:r>
            <a:r>
              <a:rPr lang="en-US" dirty="0"/>
              <a:t>or response of the instrument to</a:t>
            </a:r>
          </a:p>
          <a:p>
            <a:r>
              <a:rPr lang="en-US" dirty="0">
                <a:solidFill>
                  <a:srgbClr val="FF0000"/>
                </a:solidFill>
              </a:rPr>
              <a:t>a change of input or measured variable</a:t>
            </a:r>
          </a:p>
        </p:txBody>
      </p:sp>
    </p:spTree>
    <p:extLst>
      <p:ext uri="{BB962C8B-B14F-4D97-AF65-F5344CB8AC3E}">
        <p14:creationId xmlns:p14="http://schemas.microsoft.com/office/powerpoint/2010/main" val="7529884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4325E-E87E-0064-713C-73EEED090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6CFA3F5-C2C0-C615-47B5-FE6ABF2492B2}"/>
              </a:ext>
            </a:extLst>
          </p:cNvPr>
          <p:cNvSpPr/>
          <p:nvPr/>
        </p:nvSpPr>
        <p:spPr>
          <a:xfrm>
            <a:off x="367991" y="345688"/>
            <a:ext cx="1154098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dirty="0"/>
              <a:t>Types of Errors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9B5568-AE79-7245-3E8B-A6621EAFA5C5}"/>
              </a:ext>
            </a:extLst>
          </p:cNvPr>
          <p:cNvSpPr txBox="1"/>
          <p:nvPr/>
        </p:nvSpPr>
        <p:spPr>
          <a:xfrm>
            <a:off x="367990" y="1260088"/>
            <a:ext cx="11149095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Gross errors: </a:t>
            </a:r>
            <a:r>
              <a:rPr lang="en-US" sz="2000" dirty="0">
                <a:solidFill>
                  <a:srgbClr val="FF0000"/>
                </a:solidFill>
              </a:rPr>
              <a:t>largely human errors</a:t>
            </a:r>
            <a:r>
              <a:rPr lang="en-US" sz="2000" dirty="0"/>
              <a:t>, e.g. </a:t>
            </a:r>
            <a:r>
              <a:rPr lang="en-US" sz="2000" dirty="0">
                <a:solidFill>
                  <a:srgbClr val="FF0000"/>
                </a:solidFill>
              </a:rPr>
              <a:t>misreading, incorrect adjustment and improper application</a:t>
            </a:r>
            <a:r>
              <a:rPr lang="en-US" sz="2000" dirty="0"/>
              <a:t> of instruments.</a:t>
            </a:r>
          </a:p>
          <a:p>
            <a:endParaRPr lang="en-US" sz="2000" dirty="0"/>
          </a:p>
          <a:p>
            <a:r>
              <a:rPr lang="en-US" sz="2000" b="1" dirty="0"/>
              <a:t>Systematic errors (bias): </a:t>
            </a:r>
            <a:r>
              <a:rPr lang="en-US" sz="2000" dirty="0"/>
              <a:t>shortcomings of the instruments, </a:t>
            </a:r>
            <a:r>
              <a:rPr lang="en-US" sz="2000" dirty="0" err="1"/>
              <a:t>e.g.</a:t>
            </a:r>
            <a:r>
              <a:rPr lang="en-US" sz="2000" dirty="0" err="1">
                <a:solidFill>
                  <a:srgbClr val="FF0000"/>
                </a:solidFill>
              </a:rPr>
              <a:t>effects</a:t>
            </a:r>
            <a:r>
              <a:rPr lang="en-US" sz="2000" dirty="0">
                <a:solidFill>
                  <a:srgbClr val="FF0000"/>
                </a:solidFill>
              </a:rPr>
              <a:t> of environment </a:t>
            </a:r>
            <a:r>
              <a:rPr lang="en-US" sz="2000" dirty="0"/>
              <a:t>(temperature, humidity </a:t>
            </a:r>
            <a:r>
              <a:rPr lang="en-US" sz="2000" dirty="0" err="1"/>
              <a:t>etc</a:t>
            </a:r>
            <a:r>
              <a:rPr lang="en-US" sz="2000" dirty="0"/>
              <a:t>) on the instrument, </a:t>
            </a:r>
            <a:r>
              <a:rPr lang="en-US" sz="2000" dirty="0">
                <a:solidFill>
                  <a:srgbClr val="FF0000"/>
                </a:solidFill>
              </a:rPr>
              <a:t>change in instrument response due to aging.</a:t>
            </a:r>
          </a:p>
          <a:p>
            <a:r>
              <a:rPr lang="en-US" sz="2000" b="1" dirty="0"/>
              <a:t>Way to reduce:</a:t>
            </a:r>
          </a:p>
          <a:p>
            <a:r>
              <a:rPr lang="en-US" sz="2000" dirty="0"/>
              <a:t>- Use of compensation can reduce/remove some systematic error</a:t>
            </a:r>
          </a:p>
          <a:p>
            <a:r>
              <a:rPr lang="en-US" sz="2000" dirty="0"/>
              <a:t>- periodic recalibration can prevent systematic error</a:t>
            </a:r>
          </a:p>
          <a:p>
            <a:endParaRPr lang="en-US" sz="2000" dirty="0"/>
          </a:p>
          <a:p>
            <a:r>
              <a:rPr lang="en-US" sz="2000" b="1" dirty="0"/>
              <a:t>Random error (noise): </a:t>
            </a:r>
            <a:r>
              <a:rPr lang="en-US" sz="2000" dirty="0">
                <a:solidFill>
                  <a:srgbClr val="FF0000"/>
                </a:solidFill>
              </a:rPr>
              <a:t>caused by the noise introduced </a:t>
            </a:r>
            <a:r>
              <a:rPr lang="en-US" sz="2000" dirty="0"/>
              <a:t>during the measurement process and random variation of input itself</a:t>
            </a:r>
          </a:p>
          <a:p>
            <a:r>
              <a:rPr lang="en-US" sz="2000" b="1" dirty="0"/>
              <a:t>Way to reduce:</a:t>
            </a:r>
          </a:p>
          <a:p>
            <a:r>
              <a:rPr lang="en-US" sz="2000" dirty="0"/>
              <a:t>- taking a large number of readings and averaging them can reduce the effect of noise</a:t>
            </a:r>
          </a:p>
        </p:txBody>
      </p:sp>
    </p:spTree>
    <p:extLst>
      <p:ext uri="{BB962C8B-B14F-4D97-AF65-F5344CB8AC3E}">
        <p14:creationId xmlns:p14="http://schemas.microsoft.com/office/powerpoint/2010/main" val="30847584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87937-A3A3-0F08-00C1-5D35465A8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6D989D1-C696-34BB-8697-AEED6C4934DB}"/>
              </a:ext>
            </a:extLst>
          </p:cNvPr>
          <p:cNvSpPr/>
          <p:nvPr/>
        </p:nvSpPr>
        <p:spPr>
          <a:xfrm>
            <a:off x="367991" y="345688"/>
            <a:ext cx="1154098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dirty="0"/>
              <a:t>Accuracy Vs Precision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C8F577-E6F5-09B4-4A9A-E559AB5F6F2C}"/>
              </a:ext>
            </a:extLst>
          </p:cNvPr>
          <p:cNvSpPr txBox="1"/>
          <p:nvPr/>
        </p:nvSpPr>
        <p:spPr>
          <a:xfrm>
            <a:off x="367991" y="1387571"/>
            <a:ext cx="536878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Accuracy: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Closeness</a:t>
            </a:r>
            <a:r>
              <a:rPr lang="en-US" dirty="0"/>
              <a:t> with which an instrument reading </a:t>
            </a:r>
            <a:r>
              <a:rPr lang="en-US" dirty="0">
                <a:solidFill>
                  <a:srgbClr val="FF0000"/>
                </a:solidFill>
              </a:rPr>
              <a:t>approaches the true value</a:t>
            </a:r>
            <a:r>
              <a:rPr lang="en-US" dirty="0"/>
              <a:t> of the variable.</a:t>
            </a:r>
          </a:p>
          <a:p>
            <a:r>
              <a:rPr lang="en-US" dirty="0"/>
              <a:t>- It is affected by the systematic error (bias) of the instrument</a:t>
            </a:r>
          </a:p>
          <a:p>
            <a:r>
              <a:rPr lang="en-US" dirty="0"/>
              <a:t>= true value – statistical mean of the measurements</a:t>
            </a:r>
          </a:p>
          <a:p>
            <a:endParaRPr lang="en-US" dirty="0"/>
          </a:p>
          <a:p>
            <a:r>
              <a:rPr lang="en-US" dirty="0"/>
              <a:t>Precision: A measure of the reproducibility (or spread) of the measurements. It is a measure of the degree to which </a:t>
            </a:r>
            <a:r>
              <a:rPr lang="en-US" dirty="0">
                <a:solidFill>
                  <a:srgbClr val="FF0000"/>
                </a:solidFill>
              </a:rPr>
              <a:t>successive measurements differ from one another.</a:t>
            </a:r>
          </a:p>
          <a:p>
            <a:r>
              <a:rPr lang="en-US" dirty="0"/>
              <a:t>- It is affected by the random error (noise) of the instrument</a:t>
            </a:r>
          </a:p>
          <a:p>
            <a:r>
              <a:rPr lang="en-US" dirty="0"/>
              <a:t>= standard deviation (σ) of the measurement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2FF39A-8A0F-9E40-6507-AABE19A22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6014" y="1490641"/>
            <a:ext cx="6027995" cy="4144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950343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5FC5DD32A6FF4B95C9C6CEDB9E0A49" ma:contentTypeVersion="4" ma:contentTypeDescription="Create a new document." ma:contentTypeScope="" ma:versionID="d96ab2e30894948f2f16f464fafc1131">
  <xsd:schema xmlns:xsd="http://www.w3.org/2001/XMLSchema" xmlns:xs="http://www.w3.org/2001/XMLSchema" xmlns:p="http://schemas.microsoft.com/office/2006/metadata/properties" xmlns:ns3="0a944e8e-8b61-4f8d-a3d3-9a45e176b22f" targetNamespace="http://schemas.microsoft.com/office/2006/metadata/properties" ma:root="true" ma:fieldsID="70efe5433c0a8c5e2513c3d492cf7ec8" ns3:_="">
    <xsd:import namespace="0a944e8e-8b61-4f8d-a3d3-9a45e176b22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944e8e-8b61-4f8d-a3d3-9a45e176b22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8228149-112C-4C57-8542-6BA70D65C362}">
  <ds:schemaRefs>
    <ds:schemaRef ds:uri="http://schemas.microsoft.com/office/2006/metadata/properties"/>
    <ds:schemaRef ds:uri="http://www.w3.org/XML/1998/namespace"/>
    <ds:schemaRef ds:uri="http://schemas.microsoft.com/office/infopath/2007/PartnerControls"/>
    <ds:schemaRef ds:uri="http://purl.org/dc/dcmitype/"/>
    <ds:schemaRef ds:uri="http://schemas.microsoft.com/office/2006/documentManagement/types"/>
    <ds:schemaRef ds:uri="http://purl.org/dc/terms/"/>
    <ds:schemaRef ds:uri="http://purl.org/dc/elements/1.1/"/>
    <ds:schemaRef ds:uri="http://schemas.openxmlformats.org/package/2006/metadata/core-properties"/>
    <ds:schemaRef ds:uri="0a944e8e-8b61-4f8d-a3d3-9a45e176b22f"/>
  </ds:schemaRefs>
</ds:datastoreItem>
</file>

<file path=customXml/itemProps2.xml><?xml version="1.0" encoding="utf-8"?>
<ds:datastoreItem xmlns:ds="http://schemas.openxmlformats.org/officeDocument/2006/customXml" ds:itemID="{748622CA-CD05-45A6-BD57-EFFA0FFB822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71879A4-4A52-46C7-816D-B4AD6C1C2AD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a944e8e-8b61-4f8d-a3d3-9a45e176b22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2953</TotalTime>
  <Words>1014</Words>
  <Application>Microsoft Office PowerPoint</Application>
  <PresentationFormat>Widescreen</PresentationFormat>
  <Paragraphs>115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Gill Sans MT</vt:lpstr>
      <vt:lpstr>Neue Haas Grotesk Text Pro</vt:lpstr>
      <vt:lpstr>Wingdings</vt:lpstr>
      <vt:lpstr>VanillaVTI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Office</cp:lastModifiedBy>
  <cp:revision>3</cp:revision>
  <dcterms:created xsi:type="dcterms:W3CDTF">2026-01-09T15:02:13Z</dcterms:created>
  <dcterms:modified xsi:type="dcterms:W3CDTF">2026-05-16T05:12:30Z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0x010100AF5FC5DD32A6FF4B95C9C6CEDB9E0A49</vt:lpwstr>
  </property>
</Properties>
</file>