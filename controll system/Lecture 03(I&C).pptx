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embeddedFontLst>
    <p:embeddedFont>
      <p:font typeface="Gill Sans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gqA50fRfcU/zYcZJbECkl+ktx1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GillSans-bold.fntdata"/><Relationship Id="rId23" Type="http://schemas.openxmlformats.org/officeDocument/2006/relationships/font" Target="fonts/GillSans-regular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110108db3_1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f110108db3_1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f110108db3_1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110108db3_1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f110108db3_1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f110108db3_1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ctrTitle"/>
          </p:nvPr>
        </p:nvSpPr>
        <p:spPr>
          <a:xfrm>
            <a:off x="2301923" y="1122363"/>
            <a:ext cx="7588155" cy="26211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subTitle"/>
          </p:nvPr>
        </p:nvSpPr>
        <p:spPr>
          <a:xfrm>
            <a:off x="2301923" y="3843708"/>
            <a:ext cx="7588155" cy="14140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9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8"/>
          <p:cNvSpPr txBox="1"/>
          <p:nvPr>
            <p:ph type="ctrTitle"/>
          </p:nvPr>
        </p:nvSpPr>
        <p:spPr>
          <a:xfrm>
            <a:off x="2301923" y="1122363"/>
            <a:ext cx="7588155" cy="26211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" type="subTitle"/>
          </p:nvPr>
        </p:nvSpPr>
        <p:spPr>
          <a:xfrm>
            <a:off x="2301923" y="3843708"/>
            <a:ext cx="7588155" cy="14140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5" name="Google Shape;35;p18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1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1" type="body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1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/>
          <p:nvPr>
            <p:ph type="title"/>
          </p:nvPr>
        </p:nvSpPr>
        <p:spPr>
          <a:xfrm>
            <a:off x="603381" y="553616"/>
            <a:ext cx="8273140" cy="40088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2"/>
          <p:cNvSpPr txBox="1"/>
          <p:nvPr>
            <p:ph idx="1" type="body"/>
          </p:nvPr>
        </p:nvSpPr>
        <p:spPr>
          <a:xfrm>
            <a:off x="603380" y="4589463"/>
            <a:ext cx="8273140" cy="138461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7" name="Google Shape;47;p22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type="title"/>
          </p:nvPr>
        </p:nvSpPr>
        <p:spPr>
          <a:xfrm>
            <a:off x="612648" y="548640"/>
            <a:ext cx="10741152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" type="body"/>
          </p:nvPr>
        </p:nvSpPr>
        <p:spPr>
          <a:xfrm>
            <a:off x="612648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23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3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4"/>
          <p:cNvSpPr txBox="1"/>
          <p:nvPr>
            <p:ph type="title"/>
          </p:nvPr>
        </p:nvSpPr>
        <p:spPr>
          <a:xfrm>
            <a:off x="609600" y="547396"/>
            <a:ext cx="10745788" cy="1143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" type="body"/>
          </p:nvPr>
        </p:nvSpPr>
        <p:spPr>
          <a:xfrm>
            <a:off x="609600" y="1685735"/>
            <a:ext cx="5157787" cy="5598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24"/>
          <p:cNvSpPr txBox="1"/>
          <p:nvPr>
            <p:ph idx="2" type="body"/>
          </p:nvPr>
        </p:nvSpPr>
        <p:spPr>
          <a:xfrm>
            <a:off x="609600" y="2386894"/>
            <a:ext cx="5157787" cy="37650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24"/>
          <p:cNvSpPr txBox="1"/>
          <p:nvPr>
            <p:ph idx="3" type="body"/>
          </p:nvPr>
        </p:nvSpPr>
        <p:spPr>
          <a:xfrm>
            <a:off x="6172200" y="1685735"/>
            <a:ext cx="5183188" cy="5598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2" name="Google Shape;62;p24"/>
          <p:cNvSpPr txBox="1"/>
          <p:nvPr>
            <p:ph idx="4" type="body"/>
          </p:nvPr>
        </p:nvSpPr>
        <p:spPr>
          <a:xfrm>
            <a:off x="6172199" y="2386894"/>
            <a:ext cx="5183189" cy="37650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24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4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4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5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5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5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6"/>
          <p:cNvSpPr txBox="1"/>
          <p:nvPr>
            <p:ph type="title"/>
          </p:nvPr>
        </p:nvSpPr>
        <p:spPr>
          <a:xfrm>
            <a:off x="597160" y="553616"/>
            <a:ext cx="3595634" cy="17575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" type="body"/>
          </p:nvPr>
        </p:nvSpPr>
        <p:spPr>
          <a:xfrm>
            <a:off x="5134708" y="553616"/>
            <a:ext cx="6279741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3" name="Google Shape;73;p26"/>
          <p:cNvSpPr txBox="1"/>
          <p:nvPr>
            <p:ph idx="2" type="body"/>
          </p:nvPr>
        </p:nvSpPr>
        <p:spPr>
          <a:xfrm>
            <a:off x="597160" y="2311121"/>
            <a:ext cx="3595634" cy="37288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26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6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7"/>
          <p:cNvSpPr txBox="1"/>
          <p:nvPr>
            <p:ph type="title"/>
          </p:nvPr>
        </p:nvSpPr>
        <p:spPr>
          <a:xfrm>
            <a:off x="594360" y="557784"/>
            <a:ext cx="3595634" cy="221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/>
          <p:nvPr>
            <p:ph idx="2" type="pic"/>
          </p:nvPr>
        </p:nvSpPr>
        <p:spPr>
          <a:xfrm>
            <a:off x="5063319" y="657103"/>
            <a:ext cx="6483687" cy="5555904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7"/>
          <p:cNvSpPr txBox="1"/>
          <p:nvPr>
            <p:ph idx="1" type="body"/>
          </p:nvPr>
        </p:nvSpPr>
        <p:spPr>
          <a:xfrm>
            <a:off x="609601" y="2826137"/>
            <a:ext cx="3585586" cy="34346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1" name="Google Shape;81;p27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7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7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8"/>
          <p:cNvSpPr txBox="1"/>
          <p:nvPr>
            <p:ph type="title"/>
          </p:nvPr>
        </p:nvSpPr>
        <p:spPr>
          <a:xfrm>
            <a:off x="612648" y="548640"/>
            <a:ext cx="10515600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8"/>
          <p:cNvSpPr txBox="1"/>
          <p:nvPr>
            <p:ph idx="1" type="body"/>
          </p:nvPr>
        </p:nvSpPr>
        <p:spPr>
          <a:xfrm rot="5400000">
            <a:off x="3622415" y="-1328869"/>
            <a:ext cx="4496065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28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8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8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9"/>
          <p:cNvSpPr txBox="1"/>
          <p:nvPr>
            <p:ph type="title"/>
          </p:nvPr>
        </p:nvSpPr>
        <p:spPr>
          <a:xfrm rot="5400000">
            <a:off x="7859174" y="2354212"/>
            <a:ext cx="5598466" cy="2047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9"/>
          <p:cNvSpPr txBox="1"/>
          <p:nvPr>
            <p:ph idx="1" type="body"/>
          </p:nvPr>
        </p:nvSpPr>
        <p:spPr>
          <a:xfrm rot="5400000">
            <a:off x="2437312" y="-1020615"/>
            <a:ext cx="5598465" cy="8796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29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9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9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7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6.png"/><Relationship Id="rId4" Type="http://schemas.openxmlformats.org/officeDocument/2006/relationships/image" Target="../media/image9.jpg"/><Relationship Id="rId5" Type="http://schemas.openxmlformats.org/officeDocument/2006/relationships/image" Target="../media/image25.jpg"/><Relationship Id="rId6" Type="http://schemas.openxmlformats.org/officeDocument/2006/relationships/image" Target="../media/image16.png"/><Relationship Id="rId7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jpg"/><Relationship Id="rId4" Type="http://schemas.openxmlformats.org/officeDocument/2006/relationships/image" Target="../media/image16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Relationship Id="rId4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Relationship Id="rId4" Type="http://schemas.openxmlformats.org/officeDocument/2006/relationships/image" Target="../media/image2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1"/>
          <p:cNvPicPr preferRelativeResize="0"/>
          <p:nvPr/>
        </p:nvPicPr>
        <p:blipFill rotWithShape="1">
          <a:blip r:embed="rId3">
            <a:alphaModFix/>
          </a:blip>
          <a:srcRect b="0" l="0" r="9091" t="25348"/>
          <a:stretch/>
        </p:blipFill>
        <p:spPr>
          <a:xfrm>
            <a:off x="-13764105" y="1311424"/>
            <a:ext cx="1219198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"/>
          <p:cNvSpPr/>
          <p:nvPr/>
        </p:nvSpPr>
        <p:spPr>
          <a:xfrm rot="5400000">
            <a:off x="752015" y="-752015"/>
            <a:ext cx="6858000" cy="836203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5000">
                <a:srgbClr val="000000">
                  <a:alpha val="50196"/>
                </a:srgbClr>
              </a:gs>
              <a:gs pos="100000">
                <a:srgbClr val="000000">
                  <a:alpha val="6000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363537" y="1174860"/>
            <a:ext cx="4948692" cy="12810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40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Instrumentation and Control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i="0" sz="65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65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CSE 325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363537" y="3222171"/>
            <a:ext cx="6276749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Md Atikul Islam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Lecturer(EEE)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Computer Science and Engineering(CSE)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Daffodil International University(DIU)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09414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Rectifier-based AC Meters</a:t>
            </a:r>
            <a:endParaRPr/>
          </a:p>
        </p:txBody>
      </p:sp>
      <p:pic>
        <p:nvPicPr>
          <p:cNvPr id="111" name="Google Shape;11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13866" y="1632747"/>
            <a:ext cx="4553184" cy="213371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"/>
          <p:cNvSpPr txBox="1"/>
          <p:nvPr/>
        </p:nvSpPr>
        <p:spPr>
          <a:xfrm>
            <a:off x="320149" y="1328338"/>
            <a:ext cx="6096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Half-wave rectifier AC Meter:</a:t>
            </a:r>
            <a:endParaRPr/>
          </a:p>
        </p:txBody>
      </p:sp>
      <p:pic>
        <p:nvPicPr>
          <p:cNvPr descr="AC Voltmeters" id="113" name="Google Shape;11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0986" y="1998889"/>
            <a:ext cx="5715000" cy="1647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C Voltmeters" id="114" name="Google Shape;114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10008" y="3682027"/>
            <a:ext cx="5715000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1919" y="4382972"/>
            <a:ext cx="1968089" cy="1876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06443" y="4382972"/>
            <a:ext cx="2973623" cy="1935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110108db3_1_5"/>
          <p:cNvSpPr/>
          <p:nvPr/>
        </p:nvSpPr>
        <p:spPr>
          <a:xfrm>
            <a:off x="320149" y="280373"/>
            <a:ext cx="11551800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09414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Rectifier-based AC Meters</a:t>
            </a:r>
            <a:endParaRPr/>
          </a:p>
        </p:txBody>
      </p:sp>
      <p:sp>
        <p:nvSpPr>
          <p:cNvPr id="123" name="Google Shape;123;g3f110108db3_1_5"/>
          <p:cNvSpPr txBox="1"/>
          <p:nvPr/>
        </p:nvSpPr>
        <p:spPr>
          <a:xfrm>
            <a:off x="320149" y="1350110"/>
            <a:ext cx="11551800" cy="5257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80" r="-21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110108db3_1_11"/>
          <p:cNvSpPr/>
          <p:nvPr/>
        </p:nvSpPr>
        <p:spPr>
          <a:xfrm>
            <a:off x="320149" y="280373"/>
            <a:ext cx="11551800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09414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Rectifier-based AC Meters</a:t>
            </a:r>
            <a:endParaRPr/>
          </a:p>
        </p:txBody>
      </p:sp>
      <p:sp>
        <p:nvSpPr>
          <p:cNvPr id="130" name="Google Shape;130;g3f110108db3_1_11"/>
          <p:cNvSpPr txBox="1"/>
          <p:nvPr/>
        </p:nvSpPr>
        <p:spPr>
          <a:xfrm>
            <a:off x="320149" y="1350110"/>
            <a:ext cx="11551800" cy="2844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80" r="-1110" t="-107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"/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09414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Rectifier-based AC Meters</a:t>
            </a:r>
            <a:endParaRPr/>
          </a:p>
        </p:txBody>
      </p:sp>
      <p:sp>
        <p:nvSpPr>
          <p:cNvPr id="137" name="Google Shape;137;p3"/>
          <p:cNvSpPr txBox="1"/>
          <p:nvPr/>
        </p:nvSpPr>
        <p:spPr>
          <a:xfrm>
            <a:off x="320149" y="1328338"/>
            <a:ext cx="6096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Half-wave rectifier AC Meter:</a:t>
            </a:r>
            <a:endParaRPr/>
          </a:p>
        </p:txBody>
      </p:sp>
      <p:pic>
        <p:nvPicPr>
          <p:cNvPr descr="AC Voltmeters" id="138" name="Google Shape;13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0750" y="1728448"/>
            <a:ext cx="5715000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405" y="2336458"/>
            <a:ext cx="1968089" cy="1876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5750" y="2336458"/>
            <a:ext cx="2973623" cy="193577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3"/>
          <p:cNvSpPr txBox="1"/>
          <p:nvPr/>
        </p:nvSpPr>
        <p:spPr>
          <a:xfrm>
            <a:off x="478970" y="4549676"/>
            <a:ext cx="115518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Disadvantages: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1. In negative half-cycle, reverse current flows through the circuit</a:t>
            </a:r>
            <a:endParaRPr b="1" sz="2000">
              <a:solidFill>
                <a:schemeClr val="dk1"/>
              </a:solidFill>
            </a:endParaRPr>
          </a:p>
          <a:p>
            <a:pPr indent="-355600" lvl="1" marL="13716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AutoNum type="alphaLcParenR"/>
            </a:pPr>
            <a:r>
              <a:rPr b="1" lang="en-US" sz="2000">
                <a:solidFill>
                  <a:srgbClr val="FF0000"/>
                </a:solidFill>
              </a:rPr>
              <a:t>reduces average value of current </a:t>
            </a:r>
            <a:endParaRPr b="1" sz="2000">
              <a:solidFill>
                <a:srgbClr val="FF0000"/>
              </a:solidFill>
            </a:endParaRPr>
          </a:p>
          <a:p>
            <a:pPr indent="-355600" lvl="1" marL="13716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AutoNum type="alphaLcParenR"/>
            </a:pPr>
            <a:r>
              <a:rPr b="1" lang="en-US" sz="2000">
                <a:solidFill>
                  <a:srgbClr val="FF0000"/>
                </a:solidFill>
              </a:rPr>
              <a:t>meter reads lower than actual.</a:t>
            </a:r>
            <a:endParaRPr b="1" sz="2000">
              <a:solidFill>
                <a:srgbClr val="FF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2. High peak inverse voltage (PIV) rating of Diode is required</a:t>
            </a:r>
            <a:endParaRPr b="1" sz="20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"/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09414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Rectifier-based AC Meters</a:t>
            </a:r>
            <a:endParaRPr/>
          </a:p>
        </p:txBody>
      </p:sp>
      <p:sp>
        <p:nvSpPr>
          <p:cNvPr id="148" name="Google Shape;148;p4"/>
          <p:cNvSpPr txBox="1"/>
          <p:nvPr/>
        </p:nvSpPr>
        <p:spPr>
          <a:xfrm>
            <a:off x="320149" y="1349829"/>
            <a:ext cx="11551701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Solution: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149" y="1857372"/>
            <a:ext cx="4451430" cy="314325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4"/>
          <p:cNvSpPr txBox="1"/>
          <p:nvPr/>
        </p:nvSpPr>
        <p:spPr>
          <a:xfrm>
            <a:off x="5377543" y="1861457"/>
            <a:ext cx="6494307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negative half-cycle, D2 conducts. And so, no negative current flows through the meter movement. Because of this diode action, the circuit is protected from reverse current, and the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meter only sees the positive portion of the waveform. </a:t>
            </a:r>
            <a:endParaRPr/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PIV rating requirement is much less than the large peak input voltage(Vp).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"/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09414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Rectifier-based AC Meters</a:t>
            </a:r>
            <a:endParaRPr/>
          </a:p>
        </p:txBody>
      </p:sp>
      <p:sp>
        <p:nvSpPr>
          <p:cNvPr id="157" name="Google Shape;157;p5"/>
          <p:cNvSpPr txBox="1"/>
          <p:nvPr/>
        </p:nvSpPr>
        <p:spPr>
          <a:xfrm>
            <a:off x="320149" y="1299980"/>
            <a:ext cx="11551800" cy="56385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475" r="-739" t="-54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58" name="Google Shape;158;p5"/>
          <p:cNvSpPr txBox="1"/>
          <p:nvPr/>
        </p:nvSpPr>
        <p:spPr>
          <a:xfrm>
            <a:off x="7543800" y="2260908"/>
            <a:ext cx="4328049" cy="459709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269" r="0" t="-66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159" name="Google Shape;159;p5"/>
          <p:cNvCxnSpPr/>
          <p:nvPr/>
        </p:nvCxnSpPr>
        <p:spPr>
          <a:xfrm>
            <a:off x="7271657" y="2340429"/>
            <a:ext cx="0" cy="432162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60" name="Google Shape;160;p5"/>
          <p:cNvSpPr txBox="1"/>
          <p:nvPr/>
        </p:nvSpPr>
        <p:spPr>
          <a:xfrm>
            <a:off x="0" y="64578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Full-Scale Deflection(FSD)</a:t>
            </a:r>
            <a:endParaRPr/>
          </a:p>
        </p:txBody>
      </p:sp>
      <p:pic>
        <p:nvPicPr>
          <p:cNvPr id="161" name="Google Shape;16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40100" y="5708325"/>
            <a:ext cx="2293249" cy="110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09414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Rectifier-based AC Meters</a:t>
            </a:r>
            <a:endParaRPr/>
          </a:p>
        </p:txBody>
      </p:sp>
      <p:sp>
        <p:nvSpPr>
          <p:cNvPr id="168" name="Google Shape;168;p6"/>
          <p:cNvSpPr txBox="1"/>
          <p:nvPr/>
        </p:nvSpPr>
        <p:spPr>
          <a:xfrm>
            <a:off x="320149" y="1299980"/>
            <a:ext cx="11551800" cy="6030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475" r="-739" t="-50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69" name="Google Shape;169;p6"/>
          <p:cNvSpPr txBox="1"/>
          <p:nvPr/>
        </p:nvSpPr>
        <p:spPr>
          <a:xfrm>
            <a:off x="7336972" y="2222729"/>
            <a:ext cx="4534877" cy="481843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212" r="0" t="-63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170" name="Google Shape;170;p6"/>
          <p:cNvCxnSpPr/>
          <p:nvPr/>
        </p:nvCxnSpPr>
        <p:spPr>
          <a:xfrm>
            <a:off x="7217229" y="2222729"/>
            <a:ext cx="0" cy="4493757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"/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09414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Half-Wave AC Voltmeter Sensitivity</a:t>
            </a:r>
            <a:endParaRPr/>
          </a:p>
        </p:txBody>
      </p:sp>
      <p:sp>
        <p:nvSpPr>
          <p:cNvPr id="177" name="Google Shape;177;p7"/>
          <p:cNvSpPr txBox="1"/>
          <p:nvPr/>
        </p:nvSpPr>
        <p:spPr>
          <a:xfrm>
            <a:off x="320149" y="1349829"/>
            <a:ext cx="11551701" cy="564231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81" r="0" t="-54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"/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09414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Half-Wave AC Voltmeter Sensitivity</a:t>
            </a:r>
            <a:endParaRPr/>
          </a:p>
        </p:txBody>
      </p:sp>
      <p:sp>
        <p:nvSpPr>
          <p:cNvPr id="184" name="Google Shape;184;p8"/>
          <p:cNvSpPr txBox="1"/>
          <p:nvPr/>
        </p:nvSpPr>
        <p:spPr>
          <a:xfrm>
            <a:off x="320149" y="1349829"/>
            <a:ext cx="11551701" cy="515551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81" r="0" t="-59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"/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09414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Non-linearity in Lower RMS Ranges</a:t>
            </a:r>
            <a:endParaRPr/>
          </a:p>
        </p:txBody>
      </p:sp>
      <p:sp>
        <p:nvSpPr>
          <p:cNvPr id="191" name="Google Shape;191;p9"/>
          <p:cNvSpPr txBox="1"/>
          <p:nvPr/>
        </p:nvSpPr>
        <p:spPr>
          <a:xfrm>
            <a:off x="403650" y="1433379"/>
            <a:ext cx="5493000" cy="49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Diode I-V characteristics are inherently non-linear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non-linearity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most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noticeable at low currents and low RMS voltages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 small signals, the diode’s forward drop clips part of the waveform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lower end of the scale becomes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compressed and non-linear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Non-linearity can be reduced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 operating the diode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at higher current levels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3182" y="1621972"/>
            <a:ext cx="6149657" cy="4016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"/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09414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Non-linearity in Lower RMS Ranges</a:t>
            </a:r>
            <a:endParaRPr/>
          </a:p>
        </p:txBody>
      </p:sp>
      <p:sp>
        <p:nvSpPr>
          <p:cNvPr id="199" name="Google Shape;199;p10"/>
          <p:cNvSpPr txBox="1"/>
          <p:nvPr/>
        </p:nvSpPr>
        <p:spPr>
          <a:xfrm>
            <a:off x="320149" y="1404257"/>
            <a:ext cx="11551701" cy="339285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81" r="0" t="-89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200" name="Google Shape;20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84021" y="2006555"/>
            <a:ext cx="4820313" cy="23150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"/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09414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Full-wave Rectifier-based Meter</a:t>
            </a:r>
            <a:endParaRPr/>
          </a:p>
        </p:txBody>
      </p:sp>
      <p:pic>
        <p:nvPicPr>
          <p:cNvPr id="207" name="Google Shape;20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1551" y="1456835"/>
            <a:ext cx="10704019" cy="2042398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1"/>
          <p:cNvSpPr txBox="1"/>
          <p:nvPr/>
        </p:nvSpPr>
        <p:spPr>
          <a:xfrm>
            <a:off x="1023257" y="3499233"/>
            <a:ext cx="10497191" cy="32045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471" l="-639" r="0" t="-95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"/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09414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Full-wave Rectifier-based Meter</a:t>
            </a:r>
            <a:endParaRPr/>
          </a:p>
        </p:txBody>
      </p:sp>
      <p:sp>
        <p:nvSpPr>
          <p:cNvPr id="215" name="Google Shape;215;p12"/>
          <p:cNvSpPr txBox="1"/>
          <p:nvPr/>
        </p:nvSpPr>
        <p:spPr>
          <a:xfrm>
            <a:off x="320148" y="1352568"/>
            <a:ext cx="11551701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AC voltmeter uses a bridge rectifier with silicon diodes and a PPMC instrument with FSD 75 µA. If the meter coil resistance is 900 Ω and the multiplier resistor is 708 kΩ: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(a) Calculate the applied RMS voltage when the voltmeter indicates FSD.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(b) Determine the new multiplier resistance required for the voltmeter to change its range to 300 V FSD.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(c) Calculate the sensitivity of the AC voltmeter.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2"/>
          <p:cNvSpPr txBox="1"/>
          <p:nvPr/>
        </p:nvSpPr>
        <p:spPr>
          <a:xfrm>
            <a:off x="320148" y="2865682"/>
            <a:ext cx="6096000" cy="397031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00" r="0" t="-61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17" name="Google Shape;217;p12"/>
          <p:cNvSpPr txBox="1"/>
          <p:nvPr/>
        </p:nvSpPr>
        <p:spPr>
          <a:xfrm>
            <a:off x="7315201" y="4265413"/>
            <a:ext cx="6096000" cy="307584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800" r="0" t="-119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"/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09414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Full-wave Rectifier-based Meter</a:t>
            </a:r>
            <a:endParaRPr/>
          </a:p>
        </p:txBody>
      </p:sp>
      <p:sp>
        <p:nvSpPr>
          <p:cNvPr id="224" name="Google Shape;224;p13"/>
          <p:cNvSpPr txBox="1"/>
          <p:nvPr/>
        </p:nvSpPr>
        <p:spPr>
          <a:xfrm>
            <a:off x="320148" y="1352568"/>
            <a:ext cx="11551701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AC voltmeter uses a bridge rectifier with silicon diodes and a PPMC instrument with FSD 75 µA. If the meter coil resistance is 900 Ω and the multiplier resistor is 708 kΩ: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(a) Calculate the applied RMS voltage when the voltmeter indicates FSD.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(b) Determine the new multiplier resistance required for the voltmeter to change its range to 300 V FSD.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(c) Calculate the sensitivity of the AC voltmeter.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3"/>
          <p:cNvSpPr txBox="1"/>
          <p:nvPr/>
        </p:nvSpPr>
        <p:spPr>
          <a:xfrm>
            <a:off x="424544" y="3013557"/>
            <a:ext cx="6096000" cy="392678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00" r="0" t="-62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26" name="Google Shape;226;p13"/>
          <p:cNvSpPr txBox="1"/>
          <p:nvPr/>
        </p:nvSpPr>
        <p:spPr>
          <a:xfrm>
            <a:off x="6520544" y="2746177"/>
            <a:ext cx="6096000" cy="256307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613" l="-90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4"/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09414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Electronic AC Ammeter</a:t>
            </a:r>
            <a:endParaRPr/>
          </a:p>
        </p:txBody>
      </p:sp>
      <p:sp>
        <p:nvSpPr>
          <p:cNvPr id="233" name="Google Shape;233;p14"/>
          <p:cNvSpPr txBox="1"/>
          <p:nvPr/>
        </p:nvSpPr>
        <p:spPr>
          <a:xfrm>
            <a:off x="320148" y="1319910"/>
            <a:ext cx="11551701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ac voltmeter is used to measure voltage V across 60 kΩ resistor in the following circuit. What is the minimum voltage reading that should be observed?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parameters of the ac voltmeter are: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Full-wave rectification</a:t>
            </a:r>
            <a:endParaRPr/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 μA meter movement</a:t>
            </a:r>
            <a:endParaRPr/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 V range</a:t>
            </a:r>
            <a:endParaRPr/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Accuracy = ± 3% fsd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4" name="Google Shape;23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29394" y="2126296"/>
            <a:ext cx="4518120" cy="2169937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4"/>
          <p:cNvSpPr txBox="1"/>
          <p:nvPr/>
        </p:nvSpPr>
        <p:spPr>
          <a:xfrm>
            <a:off x="206828" y="3691816"/>
            <a:ext cx="11767457" cy="300825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570" r="0" t="-121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5"/>
          <p:cNvSpPr/>
          <p:nvPr/>
        </p:nvSpPr>
        <p:spPr>
          <a:xfrm>
            <a:off x="320149" y="280373"/>
            <a:ext cx="11551701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09414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Electronic AC Ammeter</a:t>
            </a:r>
            <a:endParaRPr/>
          </a:p>
        </p:txBody>
      </p:sp>
      <p:pic>
        <p:nvPicPr>
          <p:cNvPr id="242" name="Google Shape;24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3880" y="1484039"/>
            <a:ext cx="4518120" cy="2169937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5"/>
          <p:cNvSpPr txBox="1"/>
          <p:nvPr/>
        </p:nvSpPr>
        <p:spPr>
          <a:xfrm>
            <a:off x="320149" y="1194773"/>
            <a:ext cx="6809993" cy="525079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985" r="-1074" t="-6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anillaVTI">
  <a:themeElements>
    <a:clrScheme name="Vanilla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anillaVTI">
  <a:themeElements>
    <a:clrScheme name="Vanilla">
      <a:dk1>
        <a:srgbClr val="000000"/>
      </a:dk1>
      <a:lt1>
        <a:srgbClr val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2026-01-09T15:02:13Z</dcterms:created>
  <dc:creator>Office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0x010100AF5FC5DD32A6FF4B95C9C6CEDB9E0A49</vt:lpwstr>
  </property>
</Properties>
</file>