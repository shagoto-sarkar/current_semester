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19"/>
  </p:notesMasterIdLst>
  <p:sldIdLst>
    <p:sldId id="256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359EA3-ED10-42D4-8626-595DEF53DE0D}" v="17" dt="2026-01-27T02:19:43.5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6E917-14F7-40D4-A849-9866C13ADA55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BD3FCF-86E2-4FF1-A21B-1978B7060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96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D28F4-C6EE-7C20-1E40-2CD20A59C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2B3E88-FA02-3FD3-50F5-BD78B1F25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72F0B4-9732-6C3F-76C7-D3010105A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25EFC-862E-0B1B-8770-F03D20147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35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9DE56-5647-28A5-26E8-0637459C0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5EC60-2970-AD11-392B-B02FDE85F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ABA430-AA44-9F0D-A1A4-9E11CB3CE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69FD8-27A8-0ABA-ACF3-B2952F946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39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052BB-611C-E899-0107-F707B5923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94664-20FE-7658-953C-67877605B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E59FE8-725A-000E-1DE5-6301D439F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33C1F-8B91-2AA7-4312-F8123CF27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16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BFAEB-70F0-C164-777B-32D52ECE1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819BCE-3398-EB33-20C0-8351467D9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9D5088-4494-E277-2CAB-F77D6BBBE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00DA2-F548-0613-47D5-2BFB7992C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519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6FA3E-EF52-5C9A-5A77-824C0D431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7A657-0697-2CD1-F0EC-995772FD2B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B1A31-B59C-FA0B-274E-EE3D757133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47D60-F912-3986-E15C-35E10083E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35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1A72B-FEA6-AA7B-012C-394691940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699EC8-D730-199C-5431-C59934514E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E65397-9901-84E2-C417-BC7C5EF0A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D8021-259E-E6B1-475A-FD30B21EE8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326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78558-6EAE-D95D-531C-FFECECFC1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AC1FC3-90D1-5D9A-ED1F-AD8CBFD82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DE539B-93C0-7BAF-CA04-C5A058A9B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5FCD7-0F6E-3279-F1CD-C330A5CC19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30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B84C2-04E1-4FA1-0AE3-4C3B118F2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238D35-3459-7520-9D6E-F0A281056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3A97CE-BC1B-07E5-89F4-6CA50AECF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4FE6E-BDF8-7B46-C4F0-3F47AD15D0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055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770AD-2C11-96E8-514E-46991BE0A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A0BAC4-996F-DC4E-0729-570099F2B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7B78EE-9D5F-676A-5CB2-F5A82F4EA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A4C45-F5AE-D6C1-C0BF-0EF788EF8C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5339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B47F8-9897-1D7B-7EC1-9779A0325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713768-89E0-D661-3D97-AF7399696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372EAA-BE79-2D49-D95A-D79E4A4F5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B7B97-A727-398F-8FC3-9F5273F8AE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6837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2AD5B-CCC9-4883-A514-3333902F4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E15911-6391-12B1-80E8-70B1FE79C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06E7C-FDB8-7E7D-6C3A-D252BADA4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B865F-9223-9A63-1444-365A1F23E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750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00EDF-51C6-8E35-AA93-E608C7C3E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2F5110-FB45-2656-E3BE-106A3304A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006D60-CB1D-032D-FFAA-14A00A207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87E76-B320-EF8D-3E02-D663520CA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4388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F90C2-5AAC-1173-DB4B-D8968ADF3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44CEAF-E216-B34C-A724-2742FF65D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80D2D-EFE8-8A98-E1C2-92F86797F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CBA68-DD90-6166-20B8-409A393DF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34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6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05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5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26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38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74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52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44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3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2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66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10135D4-D3A1-4556-B91B-4A12069D4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EF6C83-4504-6032-D47C-65A7E41349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348" r="9091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44E4A5-F145-184B-5948-0344DCF8859B}"/>
              </a:ext>
            </a:extLst>
          </p:cNvPr>
          <p:cNvSpPr txBox="1"/>
          <p:nvPr/>
        </p:nvSpPr>
        <p:spPr>
          <a:xfrm>
            <a:off x="363537" y="1174860"/>
            <a:ext cx="4948692" cy="1281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b="1" dirty="0">
                <a:latin typeface="Gill Sans MT" panose="020B0502020104020203" pitchFamily="34" charset="0"/>
              </a:rPr>
              <a:t>Instrumentation and Control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500" b="1" dirty="0">
              <a:latin typeface="Gill Sans MT" panose="020B0502020104020203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b="1" dirty="0">
                <a:solidFill>
                  <a:srgbClr val="FFFFFF"/>
                </a:solidFill>
                <a:latin typeface="Gill Sans MT" panose="020B0502020104020203" pitchFamily="34" charset="0"/>
                <a:ea typeface="+mj-ea"/>
                <a:cs typeface="+mj-cs"/>
              </a:rPr>
              <a:t>CSE 325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0C874E-1527-F441-5964-DAA124295B96}"/>
              </a:ext>
            </a:extLst>
          </p:cNvPr>
          <p:cNvSpPr txBox="1"/>
          <p:nvPr/>
        </p:nvSpPr>
        <p:spPr>
          <a:xfrm>
            <a:off x="363537" y="3222171"/>
            <a:ext cx="627674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600" dirty="0">
                <a:latin typeface="Gill Sans MT" panose="020B0502020104020203" pitchFamily="34" charset="0"/>
              </a:rPr>
              <a:t>Md </a:t>
            </a:r>
            <a:r>
              <a:rPr lang="en-US" sz="2600" dirty="0" err="1">
                <a:latin typeface="Gill Sans MT" panose="020B0502020104020203" pitchFamily="34" charset="0"/>
              </a:rPr>
              <a:t>Atikul</a:t>
            </a:r>
            <a:r>
              <a:rPr lang="en-US" sz="2600" dirty="0">
                <a:latin typeface="Gill Sans MT" panose="020B0502020104020203" pitchFamily="34" charset="0"/>
              </a:rPr>
              <a:t> Islam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Lecturer(EEE)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Computer Science and Engineering(CSE)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Daffodil International University(DIU)</a:t>
            </a:r>
          </a:p>
        </p:txBody>
      </p:sp>
    </p:spTree>
    <p:extLst>
      <p:ext uri="{BB962C8B-B14F-4D97-AF65-F5344CB8AC3E}">
        <p14:creationId xmlns:p14="http://schemas.microsoft.com/office/powerpoint/2010/main" val="72709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0713B-598E-112C-57C2-8097D29CD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25849E-1F45-2D34-8ABF-1C1FC9B91B10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Measurement Of Power and Energy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D728B8-8819-08C2-2993-981BCFE5B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292" y="1404198"/>
            <a:ext cx="5999557" cy="36299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A31A2D-D05A-10C5-77B5-212D5598CACE}"/>
              </a:ext>
            </a:extLst>
          </p:cNvPr>
          <p:cNvSpPr txBox="1"/>
          <p:nvPr/>
        </p:nvSpPr>
        <p:spPr>
          <a:xfrm>
            <a:off x="576943" y="1464863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The fixed coils and the movable coil </a:t>
            </a:r>
            <a:r>
              <a:rPr lang="en-US" sz="2000" dirty="0">
                <a:latin typeface="+mj-lt"/>
              </a:rPr>
              <a:t>are connected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in series</a:t>
            </a:r>
            <a:r>
              <a:rPr lang="en-US" sz="2000" dirty="0">
                <a:latin typeface="+mj-lt"/>
              </a:rPr>
              <a:t>; same current flows through them (Fixed coils and Movable element)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9F4664-C363-2EF7-86F1-F76B8D00190F}"/>
                  </a:ext>
                </a:extLst>
              </p:cNvPr>
              <p:cNvSpPr txBox="1"/>
              <p:nvPr/>
            </p:nvSpPr>
            <p:spPr>
              <a:xfrm>
                <a:off x="576943" y="2541191"/>
                <a:ext cx="6096000" cy="46474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/>
                  <a:t>Deflecting torque relation</a:t>
                </a:r>
              </a:p>
              <a:p>
                <a:pPr>
                  <a:buNone/>
                </a:pPr>
                <a:r>
                  <a:rPr lang="en-US" sz="2000" b="1" dirty="0"/>
                  <a:t>We had before:</a:t>
                </a:r>
                <a:endParaRPr lang="en-US" sz="20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20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1">
                          <a:latin typeface="Cambria Math" panose="02040503050406030204" pitchFamily="18" charset="0"/>
                        </a:rPr>
                        <m:t>or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sz="2000" b="0" dirty="0"/>
              </a:p>
              <a:p>
                <a:pPr>
                  <a:buNone/>
                </a:pPr>
                <a:r>
                  <a:rPr lang="en-US" sz="2000" b="1" dirty="0"/>
                  <a:t>Explanation</a:t>
                </a:r>
              </a:p>
              <a:p>
                <a:r>
                  <a:rPr lang="en-US" sz="2000" dirty="0"/>
                  <a:t>Deflecting torque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2000" dirty="0"/>
                  <a:t> depends on: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Magnetic field produced by fixed coils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Magnetization of the moving iron</a:t>
                </a:r>
              </a:p>
              <a:p>
                <a:pPr>
                  <a:buNone/>
                </a:pPr>
                <a:r>
                  <a:rPr lang="en-US" sz="2000" dirty="0"/>
                  <a:t>Both are proportional to current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2000" dirty="0"/>
              </a:p>
              <a:p>
                <a:pPr>
                  <a:buNone/>
                </a:pPr>
                <a:r>
                  <a:rPr lang="en-US" sz="2000" dirty="0"/>
                  <a:t>So: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sz="2000" dirty="0"/>
              </a:p>
              <a:p>
                <a:pPr>
                  <a:buNone/>
                </a:pPr>
                <a:r>
                  <a:rPr lang="en-US" sz="2000" dirty="0"/>
                  <a:t>Since pointer deflection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proportional to torque: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sz="2000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ar-AE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9F4664-C363-2EF7-86F1-F76B8D001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943" y="2541191"/>
                <a:ext cx="6096000" cy="4647426"/>
              </a:xfrm>
              <a:prstGeom prst="rect">
                <a:avLst/>
              </a:prstGeom>
              <a:blipFill>
                <a:blip r:embed="rId4"/>
                <a:stretch>
                  <a:fillRect l="-1100" t="-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9CEE554-2D4F-94E7-AD2C-39922DAAFFAA}"/>
                  </a:ext>
                </a:extLst>
              </p:cNvPr>
              <p:cNvSpPr txBox="1"/>
              <p:nvPr/>
            </p:nvSpPr>
            <p:spPr>
              <a:xfrm>
                <a:off x="6096000" y="5034181"/>
                <a:ext cx="5872292" cy="2068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latin typeface="+mj-lt"/>
                  </a:rPr>
                  <a:t>For rapidly varying current (AC case)</a:t>
                </a: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For rapidly varying 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>
                    <a:latin typeface="+mj-lt"/>
                  </a:rPr>
                  <a:t>, we know that: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∝</m:t>
                      </m:r>
                      <m:d>
                        <m:dPr>
                          <m:endChr m:val="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𝑎𝑣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That final deflection depends on the </a:t>
                </a:r>
                <a:r>
                  <a:rPr lang="en-US" sz="2000" dirty="0">
                    <a:solidFill>
                      <a:srgbClr val="FF0000"/>
                    </a:solidFill>
                    <a:latin typeface="+mj-lt"/>
                  </a:rPr>
                  <a:t>average value of</a:t>
                </a:r>
                <a:r>
                  <a:rPr lang="en-US" sz="2000" b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ar-AE" sz="20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sz="2000" dirty="0">
                  <a:latin typeface="+mj-lt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9CEE554-2D4F-94E7-AD2C-39922DAAF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034181"/>
                <a:ext cx="5872292" cy="2068067"/>
              </a:xfrm>
              <a:prstGeom prst="rect">
                <a:avLst/>
              </a:prstGeom>
              <a:blipFill>
                <a:blip r:embed="rId5"/>
                <a:stretch>
                  <a:fillRect l="-1038" t="-1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958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FD742-27B2-8BA1-F8A2-BCDD36459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2F6311-5BA5-862E-35DE-4CAEF986312B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Measurement Of Power and Energy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B7F589-073F-3455-64FC-5D7B51493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943" y="1510902"/>
            <a:ext cx="5397599" cy="32657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3C3219-7759-1F7E-A9EE-5548E8C8E42C}"/>
              </a:ext>
            </a:extLst>
          </p:cNvPr>
          <p:cNvSpPr txBox="1"/>
          <p:nvPr/>
        </p:nvSpPr>
        <p:spPr>
          <a:xfrm>
            <a:off x="576943" y="1464863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The fixed coils and the movable coil </a:t>
            </a:r>
            <a:r>
              <a:rPr lang="en-US" sz="2000" dirty="0">
                <a:latin typeface="+mj-lt"/>
              </a:rPr>
              <a:t>are connected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in series</a:t>
            </a:r>
            <a:r>
              <a:rPr lang="en-US" sz="2000" dirty="0">
                <a:latin typeface="+mj-lt"/>
              </a:rPr>
              <a:t>; same current flows through them (Fixed coils and Movable element)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E4D81-4AD7-0235-F1C0-85E2BE9B8142}"/>
                  </a:ext>
                </a:extLst>
              </p:cNvPr>
              <p:cNvSpPr txBox="1"/>
              <p:nvPr/>
            </p:nvSpPr>
            <p:spPr>
              <a:xfrm>
                <a:off x="576942" y="2541191"/>
                <a:ext cx="7032171" cy="44709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ar-AE" b="1" dirty="0"/>
                  <a:t>. </a:t>
                </a:r>
                <a:r>
                  <a:rPr lang="en-US" sz="2000" b="1" dirty="0">
                    <a:latin typeface="+mj-lt"/>
                  </a:rPr>
                  <a:t>Integral form</a:t>
                </a:r>
                <a:endParaRPr lang="en-US" sz="2000" dirty="0">
                  <a:latin typeface="+mj-lt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grow m:val="on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nor/>
                        </m:rPr>
                        <a:rPr lang="ar-AE" sz="2000" b="0" i="1">
                          <a:latin typeface="+mj-lt"/>
                        </a:rPr>
                        <m:t> </m:t>
                      </m:r>
                      <m:r>
                        <a:rPr lang="ar-AE" sz="2000" b="0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b="1" dirty="0">
                    <a:latin typeface="+mj-lt"/>
                  </a:rPr>
                  <a:t>Explanation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+mj-lt"/>
                  </a:rPr>
                  <a:t>This is the </a:t>
                </a:r>
                <a:r>
                  <a:rPr lang="en-US" sz="2000" b="1" dirty="0">
                    <a:latin typeface="+mj-lt"/>
                  </a:rPr>
                  <a:t>mathematical definition of average value</a:t>
                </a:r>
                <a:endParaRPr lang="ar-AE" sz="2000" b="0" dirty="0">
                  <a:latin typeface="+mj-lt"/>
                </a:endParaRPr>
              </a:p>
              <a:p>
                <a:pPr>
                  <a:buNone/>
                </a:pPr>
                <a:endParaRPr lang="en-US" sz="200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Since: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b="0" i="1">
                              <a:latin typeface="+mj-lt"/>
                            </a:rPr>
                            <m:t>rms</m:t>
                          </m:r>
                        </m:sub>
                      </m:sSub>
                      <m:r>
                        <a:rPr lang="ar-AE" sz="2000" b="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nary>
                            <m:naryPr>
                              <m:grow m:val="on"/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ar-AE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20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ar-AE" sz="2000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rad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Therefore: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+mj-lt"/>
                  </a:rPr>
                  <a:t>Deflection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i="0">
                        <a:latin typeface="Cambria Math" panose="02040503050406030204" pitchFamily="18" charset="0"/>
                      </a:rPr>
                      <m:t>∝</m:t>
                    </m:r>
                    <m:sSubSup>
                      <m:sSubSu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 b="0" i="1">
                            <a:latin typeface="+mj-lt"/>
                          </a:rPr>
                          <m:t>rms</m:t>
                        </m:r>
                      </m:sub>
                      <m:sup>
                        <m:r>
                          <a:rPr lang="ar-AE" sz="2000" b="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sz="2000" dirty="0">
                  <a:latin typeface="+mj-lt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+mj-lt"/>
                  </a:rPr>
                  <a:t>Instrument effectively responds to </a:t>
                </a:r>
                <a:r>
                  <a:rPr lang="en-US" sz="2000" b="1" dirty="0">
                    <a:latin typeface="+mj-lt"/>
                  </a:rPr>
                  <a:t>RMS value</a:t>
                </a:r>
                <a:endParaRPr lang="en-US" sz="2000" dirty="0">
                  <a:latin typeface="+mj-lt"/>
                </a:endParaRPr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E4D81-4AD7-0235-F1C0-85E2BE9B8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942" y="2541191"/>
                <a:ext cx="7032171" cy="4470968"/>
              </a:xfrm>
              <a:prstGeom prst="rect">
                <a:avLst/>
              </a:prstGeom>
              <a:blipFill>
                <a:blip r:embed="rId4"/>
                <a:stretch>
                  <a:fillRect l="-954" t="-8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443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AE10B-8B0B-280D-E630-4462CCD70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DF6786-7307-24A6-58A3-AFC5A51EBB85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Measurement Of Power and Energy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603E3-FD5D-9206-FEA9-5F61D6229283}"/>
              </a:ext>
            </a:extLst>
          </p:cNvPr>
          <p:cNvSpPr txBox="1"/>
          <p:nvPr/>
        </p:nvSpPr>
        <p:spPr>
          <a:xfrm>
            <a:off x="320149" y="1367135"/>
            <a:ext cx="6096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When used as </a:t>
            </a:r>
            <a:r>
              <a:rPr lang="en-US" sz="2000" dirty="0">
                <a:solidFill>
                  <a:srgbClr val="FF0000"/>
                </a:solidFill>
              </a:rPr>
              <a:t>a WATTMETER</a:t>
            </a:r>
            <a:r>
              <a:rPr lang="en-US" sz="2000" dirty="0"/>
              <a:t>, the coils are connected in a different way, as </a:t>
            </a:r>
            <a:r>
              <a:rPr lang="en-US" sz="2000" dirty="0">
                <a:solidFill>
                  <a:srgbClr val="FF0000"/>
                </a:solidFill>
              </a:rPr>
              <a:t>voltage and current</a:t>
            </a:r>
            <a:r>
              <a:rPr lang="en-US" sz="2000" dirty="0"/>
              <a:t>, both, are responsible for power.</a:t>
            </a:r>
          </a:p>
          <a:p>
            <a:endParaRPr lang="en-US" sz="2000" dirty="0"/>
          </a:p>
          <a:p>
            <a:r>
              <a:rPr lang="en-US" sz="2000" b="1" dirty="0"/>
              <a:t>Fixed Coils: </a:t>
            </a:r>
            <a:r>
              <a:rPr lang="en-US" sz="2000" dirty="0"/>
              <a:t>Connected in series, effectively work as a single coil (</a:t>
            </a:r>
            <a:r>
              <a:rPr lang="en-US" sz="2000" dirty="0">
                <a:solidFill>
                  <a:srgbClr val="FF0000"/>
                </a:solidFill>
              </a:rPr>
              <a:t>Current Coil</a:t>
            </a:r>
            <a:r>
              <a:rPr lang="en-US" sz="2000" dirty="0"/>
              <a:t>)</a:t>
            </a:r>
          </a:p>
          <a:p>
            <a:endParaRPr lang="en-US" sz="2000" dirty="0"/>
          </a:p>
          <a:p>
            <a:r>
              <a:rPr lang="en-US" sz="2000" b="1" dirty="0"/>
              <a:t>Movable Coil: </a:t>
            </a:r>
            <a:r>
              <a:rPr lang="en-US" sz="2000" dirty="0"/>
              <a:t>Connected in series with a high-resistance resistor, together work as </a:t>
            </a:r>
            <a:r>
              <a:rPr lang="en-US" sz="2000" dirty="0">
                <a:solidFill>
                  <a:srgbClr val="FF0000"/>
                </a:solidFill>
              </a:rPr>
              <a:t>Potential Coil </a:t>
            </a:r>
            <a:r>
              <a:rPr lang="en-US" sz="2000" dirty="0"/>
              <a:t>(also called </a:t>
            </a:r>
            <a:r>
              <a:rPr lang="en-US" sz="2000" dirty="0">
                <a:solidFill>
                  <a:srgbClr val="FF0000"/>
                </a:solidFill>
              </a:rPr>
              <a:t>Pressure Coil</a:t>
            </a:r>
            <a:r>
              <a:rPr lang="en-US" sz="2000" dirty="0"/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A3AAB4-B529-A4DC-A9E4-97DC8605C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34" y="1537092"/>
            <a:ext cx="4883223" cy="33544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98C06F-D597-B627-AFEB-7F238E70D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0337" y="4709596"/>
            <a:ext cx="3925969" cy="107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76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CD4F3-DDF8-55FE-28C6-82A729BF1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BC8CD4-AAFA-AEFE-5898-58958822DC7C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Measurement Of Power and Energy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16981A-8527-CDB6-DEF5-2B4F65B70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34" y="1537092"/>
            <a:ext cx="4883223" cy="33544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26CDC95-9511-88ED-F2E0-1AAD251817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149" y="1218993"/>
                <a:ext cx="6396337" cy="34985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The CC is connected in series with the load/line to carry the total load/line current</a:t>
                </a:r>
                <a:b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</a:b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So,  </a:t>
                </a:r>
                <a:r>
                  <a:rPr kumimoji="0" lang="en-US" altLang="en-US" sz="20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i</a:t>
                </a:r>
                <a:r>
                  <a:rPr lang="en-US" altLang="en-US" sz="2000" baseline="-25000" dirty="0" err="1">
                    <a:latin typeface="+mj-lt"/>
                  </a:rPr>
                  <a:t>c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=</a:t>
                </a:r>
                <a:r>
                  <a:rPr kumimoji="0" lang="en-US" altLang="en-US" sz="20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i</a:t>
                </a:r>
                <a:r>
                  <a:rPr kumimoji="0" lang="en-US" altLang="en-US" sz="2000" b="0" i="0" u="none" strike="noStrike" cap="none" normalizeH="0" baseline="-2500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p</a:t>
                </a:r>
                <a:b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</a:b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The PC is connected across the load to sense the voltage in its proportion and </a:t>
                </a: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in phase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 with it</a:t>
                </a:r>
                <a:b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</a:b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So,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0" lang="en-US" altLang="en-US" sz="20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0" lang="en-US" alt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kumimoji="0" lang="en-US" altLang="en-US" sz="2000" b="0" i="1" u="none" strike="noStrike" cap="none" normalizeH="0" baseline="-2500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kumimoji="0" lang="en-US" altLang="en-US" sz="2000" b="0" i="1" u="none" strike="noStrike" cap="none" normalizeH="0" baseline="-2500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b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</a:b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R</a:t>
                </a:r>
                <a:r>
                  <a:rPr kumimoji="0" lang="en-US" altLang="en-US" sz="20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p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: Total resistance of the PC (self inductance, L, is negligible)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26CDC95-9511-88ED-F2E0-1AAD251817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149" y="1218993"/>
                <a:ext cx="6396337" cy="3498522"/>
              </a:xfrm>
              <a:prstGeom prst="rect">
                <a:avLst/>
              </a:prstGeom>
              <a:blipFill>
                <a:blip r:embed="rId4"/>
                <a:stretch>
                  <a:fillRect l="-1049" t="-174" b="-226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3235101-8746-C906-F6F6-881C0CDAF82D}"/>
              </a:ext>
            </a:extLst>
          </p:cNvPr>
          <p:cNvSpPr txBox="1"/>
          <p:nvPr/>
        </p:nvSpPr>
        <p:spPr>
          <a:xfrm>
            <a:off x="320149" y="4717515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deflection equation now becomes:</a:t>
            </a:r>
          </a:p>
          <a:p>
            <a:endParaRPr lang="en-US" sz="2000" dirty="0"/>
          </a:p>
          <a:p>
            <a:r>
              <a:rPr lang="en-US" sz="2000" dirty="0"/>
              <a:t>By definition, the average power in a circuit/consumed by a load is</a:t>
            </a:r>
          </a:p>
          <a:p>
            <a:endParaRPr lang="en-US" sz="2000" dirty="0"/>
          </a:p>
          <a:p>
            <a:r>
              <a:rPr lang="en-US" sz="2000" dirty="0"/>
              <a:t>That means,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43D3BB-6FAC-9124-0816-7516F74058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9646" y="4648610"/>
            <a:ext cx="2112708" cy="8224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323238-8AFA-7A6A-AB77-DAD4238645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5854" y="5811595"/>
            <a:ext cx="1850145" cy="6882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5DF29C-AE91-8545-5E7B-0956E38E1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2774" y="6209308"/>
            <a:ext cx="1016052" cy="36831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C4C0AFC-E166-F39D-2BA7-46B329124F8E}"/>
              </a:ext>
            </a:extLst>
          </p:cNvPr>
          <p:cNvSpPr txBox="1"/>
          <p:nvPr/>
        </p:nvSpPr>
        <p:spPr>
          <a:xfrm>
            <a:off x="7152354" y="5213409"/>
            <a:ext cx="488322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So, the electrodynamometer deflection linearly varies with the average power of the load/circuit.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137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51037-CAB3-5E6D-8906-4CF89B120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FD84E3-81DF-C00C-630E-AD94DC9BE77F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Wattmeter Connections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E0DB957-AD01-BBBB-32E8-78A664DF3BF7}"/>
                  </a:ext>
                </a:extLst>
              </p:cNvPr>
              <p:cNvSpPr txBox="1"/>
              <p:nvPr/>
            </p:nvSpPr>
            <p:spPr>
              <a:xfrm>
                <a:off x="320148" y="1343523"/>
                <a:ext cx="7669965" cy="5116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US" sz="2000" dirty="0">
                    <a:latin typeface="+mj-lt"/>
                  </a:rPr>
                  <a:t>A </a:t>
                </a:r>
                <a:r>
                  <a:rPr lang="en-US" sz="2000" b="1" dirty="0">
                    <a:latin typeface="+mj-lt"/>
                  </a:rPr>
                  <a:t>wattmeter</a:t>
                </a:r>
                <a:r>
                  <a:rPr lang="en-US" sz="2000" dirty="0">
                    <a:latin typeface="+mj-lt"/>
                  </a:rPr>
                  <a:t> measures </a:t>
                </a:r>
                <a:r>
                  <a:rPr lang="en-US" sz="2000" b="1" dirty="0">
                    <a:latin typeface="+mj-lt"/>
                  </a:rPr>
                  <a:t>true power</a:t>
                </a:r>
                <a:r>
                  <a:rPr lang="en-US" sz="2000" dirty="0">
                    <a:latin typeface="+mj-lt"/>
                  </a:rPr>
                  <a:t>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𝑉𝐼</m:t>
                      </m:r>
                      <m:func>
                        <m:func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func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2000" dirty="0">
                    <a:latin typeface="+mj-lt"/>
                  </a:rPr>
                  <a:t>In a </a:t>
                </a:r>
                <a:r>
                  <a:rPr lang="en-US" sz="2000" b="1" dirty="0">
                    <a:latin typeface="+mj-lt"/>
                  </a:rPr>
                  <a:t>dynamometer-type wattmeter</a:t>
                </a:r>
                <a:r>
                  <a:rPr lang="en-US" sz="2000" dirty="0">
                    <a:latin typeface="+mj-lt"/>
                  </a:rPr>
                  <a:t>, there are: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+mj-lt"/>
                  </a:rPr>
                  <a:t>Current coil (fixed coil)</a:t>
                </a:r>
                <a:r>
                  <a:rPr lang="en-US" sz="2000" dirty="0">
                    <a:latin typeface="+mj-lt"/>
                  </a:rPr>
                  <a:t> → carries load current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+mj-lt"/>
                  </a:rPr>
                  <a:t>Voltage (pressure) coil (moving coil)</a:t>
                </a:r>
                <a:r>
                  <a:rPr lang="en-US" sz="2000" dirty="0">
                    <a:latin typeface="+mj-lt"/>
                  </a:rPr>
                  <a:t> → connected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+mj-lt"/>
                  </a:rPr>
                  <a:t>across the supply through a high resistance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latin typeface="+mj-lt"/>
                  </a:rPr>
                  <a:t>For up-scale reading: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+mj-lt"/>
                  </a:rPr>
                  <a:t>1. The marked terminal of CC should be connected to the incoming line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+mj-lt"/>
                  </a:rPr>
                  <a:t>2. The marked terminal of PC should be connected to the line side in which the CC is connected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E0DB957-AD01-BBBB-32E8-78A664DF3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8" y="1343523"/>
                <a:ext cx="7669965" cy="5116914"/>
              </a:xfrm>
              <a:prstGeom prst="rect">
                <a:avLst/>
              </a:prstGeom>
              <a:blipFill>
                <a:blip r:embed="rId3"/>
                <a:stretch>
                  <a:fillRect l="-874" b="-1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82EE0090-7B7E-2045-C0F3-78147DD68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290" y="1435475"/>
            <a:ext cx="5359373" cy="26031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94B520C-B73B-3B60-8917-8B9FF3368033}"/>
              </a:ext>
            </a:extLst>
          </p:cNvPr>
          <p:cNvSpPr txBox="1"/>
          <p:nvPr/>
        </p:nvSpPr>
        <p:spPr>
          <a:xfrm>
            <a:off x="7687385" y="4454370"/>
            <a:ext cx="430627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For correct reading of the load power:</a:t>
            </a:r>
          </a:p>
          <a:p>
            <a:r>
              <a:rPr lang="en-US" sz="2000" dirty="0"/>
              <a:t>1.The CC should </a:t>
            </a:r>
            <a:r>
              <a:rPr lang="en-US" sz="2000" dirty="0">
                <a:solidFill>
                  <a:srgbClr val="FF0000"/>
                </a:solidFill>
              </a:rPr>
              <a:t>carry exactly the load current;</a:t>
            </a:r>
            <a:r>
              <a:rPr lang="en-US" sz="2000" dirty="0"/>
              <a:t> and</a:t>
            </a:r>
          </a:p>
          <a:p>
            <a:r>
              <a:rPr lang="en-US" sz="2000" dirty="0"/>
              <a:t>2. The PC should be </a:t>
            </a:r>
            <a:r>
              <a:rPr lang="en-US" sz="2000" dirty="0">
                <a:solidFill>
                  <a:srgbClr val="FF0000"/>
                </a:solidFill>
              </a:rPr>
              <a:t>connected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across the load terminals</a:t>
            </a:r>
          </a:p>
        </p:txBody>
      </p:sp>
    </p:spTree>
    <p:extLst>
      <p:ext uri="{BB962C8B-B14F-4D97-AF65-F5344CB8AC3E}">
        <p14:creationId xmlns:p14="http://schemas.microsoft.com/office/powerpoint/2010/main" val="1613790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BD311-99A7-6DE4-B089-0664EA42B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E671EF-3271-272A-3512-36F0A3F7F671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Wattmeter Connections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C0C257-A712-34BD-2ADF-CB939BE4B3FE}"/>
              </a:ext>
            </a:extLst>
          </p:cNvPr>
          <p:cNvSpPr txBox="1"/>
          <p:nvPr/>
        </p:nvSpPr>
        <p:spPr>
          <a:xfrm>
            <a:off x="320149" y="4387173"/>
            <a:ext cx="11952514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Practically both cannot be achieved together.</a:t>
            </a:r>
          </a:p>
          <a:p>
            <a:r>
              <a:rPr lang="en-US" sz="2000" dirty="0"/>
              <a:t>(a</a:t>
            </a:r>
            <a:r>
              <a:rPr lang="en-US" sz="2000" dirty="0">
                <a:solidFill>
                  <a:srgbClr val="FF0000"/>
                </a:solidFill>
              </a:rPr>
              <a:t>) With the PC connected to point ‘A’, </a:t>
            </a:r>
            <a:r>
              <a:rPr lang="en-US" sz="2000" dirty="0"/>
              <a:t>the </a:t>
            </a:r>
            <a:r>
              <a:rPr lang="en-US" sz="2000" dirty="0">
                <a:solidFill>
                  <a:srgbClr val="FF0000"/>
                </a:solidFill>
              </a:rPr>
              <a:t>load current </a:t>
            </a:r>
            <a:r>
              <a:rPr lang="en-US" sz="2000" dirty="0"/>
              <a:t>is properly </a:t>
            </a:r>
            <a:r>
              <a:rPr lang="en-US" sz="2000" dirty="0">
                <a:solidFill>
                  <a:srgbClr val="FF0000"/>
                </a:solidFill>
              </a:rPr>
              <a:t>metered</a:t>
            </a:r>
            <a:r>
              <a:rPr lang="en-US" sz="2000" dirty="0"/>
              <a:t>, but the voltage across the PC is </a:t>
            </a:r>
            <a:r>
              <a:rPr lang="en-US" sz="2000" dirty="0">
                <a:solidFill>
                  <a:srgbClr val="FF0000"/>
                </a:solidFill>
              </a:rPr>
              <a:t>higher by the amount </a:t>
            </a:r>
            <a:r>
              <a:rPr lang="en-US" sz="2000" dirty="0"/>
              <a:t>of the drop across the CC.</a:t>
            </a:r>
          </a:p>
          <a:p>
            <a:endParaRPr lang="en-US" sz="2000" dirty="0"/>
          </a:p>
          <a:p>
            <a:r>
              <a:rPr lang="en-US" sz="2000" dirty="0"/>
              <a:t>(b) With the PC connected to point ‘B’, </a:t>
            </a:r>
            <a:r>
              <a:rPr lang="en-US" sz="2000" dirty="0">
                <a:solidFill>
                  <a:srgbClr val="FF0000"/>
                </a:solidFill>
              </a:rPr>
              <a:t>the load voltage </a:t>
            </a:r>
            <a:r>
              <a:rPr lang="en-US" sz="2000" dirty="0"/>
              <a:t>is properly metered, but </a:t>
            </a:r>
            <a:r>
              <a:rPr lang="en-US" sz="2000" dirty="0">
                <a:solidFill>
                  <a:srgbClr val="FF0000"/>
                </a:solidFill>
              </a:rPr>
              <a:t>the current through the CC </a:t>
            </a:r>
            <a:r>
              <a:rPr lang="en-US" sz="2000" dirty="0"/>
              <a:t>is now </a:t>
            </a:r>
            <a:r>
              <a:rPr lang="en-US" sz="2000" dirty="0">
                <a:solidFill>
                  <a:srgbClr val="FF0000"/>
                </a:solidFill>
              </a:rPr>
              <a:t>greater by the amount </a:t>
            </a:r>
            <a:r>
              <a:rPr lang="en-US" sz="2000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D9AB87-EA09-C1CC-0E74-94DB3D4BC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675" y="1464237"/>
            <a:ext cx="9510648" cy="265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601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F3ABA-B034-2DE0-8107-6EF201564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336280-E46C-3D0E-8C37-13928ADC5F98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Errors Due to Wattmeter Connections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48E570-6F61-0B7A-6B6C-A5A6FB1C64C3}"/>
              </a:ext>
            </a:extLst>
          </p:cNvPr>
          <p:cNvSpPr txBox="1"/>
          <p:nvPr/>
        </p:nvSpPr>
        <p:spPr>
          <a:xfrm>
            <a:off x="320149" y="1384050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Minimizing connection error:</a:t>
            </a:r>
          </a:p>
          <a:p>
            <a:r>
              <a:rPr lang="en-US" sz="2000" dirty="0"/>
              <a:t>1. PC connects to point ‘A’ for low-current, high-voltage loads</a:t>
            </a:r>
          </a:p>
          <a:p>
            <a:r>
              <a:rPr lang="en-US" sz="2000" dirty="0"/>
              <a:t>2. PC connects to point ‘B’ for high-current, low-voltage loads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916097-C2EF-19D5-907A-2886695C199B}"/>
                  </a:ext>
                </a:extLst>
              </p:cNvPr>
              <p:cNvSpPr txBox="1"/>
              <p:nvPr/>
            </p:nvSpPr>
            <p:spPr>
              <a:xfrm>
                <a:off x="320149" y="3204543"/>
                <a:ext cx="6096000" cy="35251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latin typeface="+mj-lt"/>
                  </a:rPr>
                  <a:t>Fixed coils (Current coils)</a:t>
                </a: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There are </a:t>
                </a:r>
                <a:r>
                  <a:rPr lang="en-US" sz="2000" b="1" dirty="0">
                    <a:latin typeface="+mj-lt"/>
                  </a:rPr>
                  <a:t>two fixed coils</a:t>
                </a:r>
                <a:r>
                  <a:rPr lang="en-US" sz="2000" dirty="0">
                    <a:latin typeface="+mj-lt"/>
                  </a:rPr>
                  <a:t>, wound </a:t>
                </a:r>
                <a:r>
                  <a:rPr lang="en-US" sz="2000" b="1" dirty="0">
                    <a:latin typeface="+mj-lt"/>
                  </a:rPr>
                  <a:t>in opposite directions</a:t>
                </a:r>
                <a:r>
                  <a:rPr lang="en-US" sz="2000" dirty="0">
                    <a:latin typeface="+mj-lt"/>
                  </a:rPr>
                  <a:t>: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b="1" dirty="0">
                    <a:latin typeface="+mj-lt"/>
                  </a:rPr>
                  <a:t>Main current coil: </a:t>
                </a:r>
                <a:r>
                  <a:rPr lang="en-US" sz="2000" dirty="0">
                    <a:latin typeface="+mj-lt"/>
                  </a:rPr>
                  <a:t>Carries </a:t>
                </a:r>
                <a:r>
                  <a:rPr lang="en-US" sz="2000" b="1" dirty="0">
                    <a:latin typeface="+mj-lt"/>
                  </a:rPr>
                  <a:t>total current</a:t>
                </a:r>
                <a:r>
                  <a:rPr lang="en-US" sz="2000" dirty="0">
                    <a:latin typeface="+mj-lt"/>
                  </a:rPr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pPr>
                  <a:buFont typeface="+mj-lt"/>
                  <a:buAutoNum type="arabicPeriod"/>
                </a:pPr>
                <a:r>
                  <a:rPr lang="en-US" sz="2000" b="1" dirty="0">
                    <a:latin typeface="+mj-lt"/>
                  </a:rPr>
                  <a:t>Compensating coil: </a:t>
                </a:r>
                <a:r>
                  <a:rPr lang="en-US" sz="2000" dirty="0">
                    <a:latin typeface="+mj-lt"/>
                  </a:rPr>
                  <a:t>Carries </a:t>
                </a:r>
                <a:r>
                  <a:rPr lang="en-US" sz="2000" b="1" dirty="0">
                    <a:latin typeface="+mj-lt"/>
                  </a:rPr>
                  <a:t>only pressure-coil current</a:t>
                </a:r>
                <a:r>
                  <a:rPr lang="en-US" sz="2000" dirty="0">
                    <a:latin typeface="+mj-lt"/>
                  </a:rPr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Because they are </a:t>
                </a:r>
                <a:r>
                  <a:rPr lang="en-US" sz="2000" b="1" dirty="0">
                    <a:latin typeface="+mj-lt"/>
                  </a:rPr>
                  <a:t>oppositely wound</a:t>
                </a:r>
                <a:r>
                  <a:rPr lang="en-US" sz="2000" dirty="0">
                    <a:latin typeface="+mj-lt"/>
                  </a:rPr>
                  <a:t>, their magnetic effects oppose each other</a:t>
                </a:r>
                <a:br>
                  <a:rPr lang="en-US" sz="2000" dirty="0">
                    <a:latin typeface="+mj-lt"/>
                  </a:rPr>
                </a:br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916097-C2EF-19D5-907A-2886695C1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9" y="3204543"/>
                <a:ext cx="6096000" cy="3525196"/>
              </a:xfrm>
              <a:prstGeom prst="rect">
                <a:avLst/>
              </a:prstGeom>
              <a:blipFill>
                <a:blip r:embed="rId3"/>
                <a:stretch>
                  <a:fillRect l="-1200" t="-1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38FCD2-3CE8-9401-111A-4135ED0DC20D}"/>
                  </a:ext>
                </a:extLst>
              </p:cNvPr>
              <p:cNvSpPr txBox="1"/>
              <p:nvPr/>
            </p:nvSpPr>
            <p:spPr>
              <a:xfrm>
                <a:off x="6494307" y="4715158"/>
                <a:ext cx="5377543" cy="19626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latin typeface="+mj-lt"/>
                  </a:rPr>
                  <a:t>Moving coil (Voltage / pressure coil)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+mj-lt"/>
                  </a:rPr>
                  <a:t>Has </a:t>
                </a:r>
                <a:r>
                  <a:rPr lang="en-US" sz="2000" b="1" dirty="0">
                    <a:latin typeface="+mj-lt"/>
                  </a:rPr>
                  <a:t>high resistance</a:t>
                </a:r>
                <a:endParaRPr lang="en-US" sz="2000" dirty="0">
                  <a:latin typeface="+mj-lt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+mj-lt"/>
                  </a:rPr>
                  <a:t>Carries small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2000" dirty="0">
                  <a:latin typeface="+mj-lt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+mj-lt"/>
                  </a:rPr>
                  <a:t>To make the PC circuit as more resistive as possible, so that the current in the PC is practically </a:t>
                </a:r>
                <a:r>
                  <a:rPr lang="en-US" sz="2000" dirty="0">
                    <a:solidFill>
                      <a:srgbClr val="FF0000"/>
                    </a:solidFill>
                    <a:latin typeface="+mj-lt"/>
                  </a:rPr>
                  <a:t>in phase with the voltage.</a:t>
                </a:r>
                <a:endParaRPr lang="ar-AE" sz="2000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38FCD2-3CE8-9401-111A-4135ED0DC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307" y="4715158"/>
                <a:ext cx="5377543" cy="1962653"/>
              </a:xfrm>
              <a:prstGeom prst="rect">
                <a:avLst/>
              </a:prstGeom>
              <a:blipFill>
                <a:blip r:embed="rId4"/>
                <a:stretch>
                  <a:fillRect l="-1134" t="-1553" b="-4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9EF726C4-9B5F-6BFD-4ECC-5B89A76946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907" y="1384050"/>
            <a:ext cx="3912436" cy="333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742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DE010-11F8-33D0-D012-7155C10BC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CEEB35-7BEE-F845-79C4-9E649A8E36D2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Instrument Transformers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95D355-7FBB-B6FC-9D9A-B64801FE4BAE}"/>
              </a:ext>
            </a:extLst>
          </p:cNvPr>
          <p:cNvSpPr txBox="1"/>
          <p:nvPr/>
        </p:nvSpPr>
        <p:spPr>
          <a:xfrm>
            <a:off x="206828" y="1194773"/>
            <a:ext cx="11985172" cy="5578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Called ‘Instrument Transformer’ as they are mainly used for </a:t>
            </a:r>
            <a:r>
              <a:rPr lang="en-US" sz="2000" dirty="0">
                <a:solidFill>
                  <a:srgbClr val="FF0000"/>
                </a:solidFill>
              </a:rPr>
              <a:t>instrumentation of the measurement </a:t>
            </a:r>
            <a:r>
              <a:rPr lang="en-US" sz="2000" dirty="0"/>
              <a:t>of </a:t>
            </a:r>
            <a:r>
              <a:rPr lang="en-US" sz="2000" dirty="0">
                <a:solidFill>
                  <a:srgbClr val="FF0000"/>
                </a:solidFill>
              </a:rPr>
              <a:t>high-power system parameters</a:t>
            </a:r>
            <a:r>
              <a:rPr lang="en-US" sz="2000" dirty="0"/>
              <a:t>, e.g. voltage, current, power, energy, power factor and frequency.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Used to step down the voltage/current to be measured</a:t>
            </a:r>
            <a:r>
              <a:rPr lang="en-US" sz="2000" dirty="0"/>
              <a:t>. Actual measurements are done by other measuring instrument, like voltmeter, ammeter, wattmeter, energy meter.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Have wide applications in protection circuits of power systems, e.g. over-current, under-voltage, earth fault and various other kinds of relays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Types: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1. Current transformer (CT): </a:t>
            </a:r>
            <a:r>
              <a:rPr lang="en-US" sz="2000" dirty="0">
                <a:solidFill>
                  <a:srgbClr val="FF0000"/>
                </a:solidFill>
              </a:rPr>
              <a:t>Used to transform high current of a power line to a lower value suitable for direct connection to an AC ammeter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2. Potential Transformer (PT): </a:t>
            </a:r>
            <a:r>
              <a:rPr lang="en-US" sz="2000" dirty="0">
                <a:solidFill>
                  <a:srgbClr val="FF0000"/>
                </a:solidFill>
              </a:rPr>
              <a:t>used to transform high voltage of a power line to a lower value suitable for direct connection to an AC voltmeter</a:t>
            </a:r>
          </a:p>
        </p:txBody>
      </p:sp>
    </p:spTree>
    <p:extLst>
      <p:ext uri="{BB962C8B-B14F-4D97-AF65-F5344CB8AC3E}">
        <p14:creationId xmlns:p14="http://schemas.microsoft.com/office/powerpoint/2010/main" val="432180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AC18F-E817-F761-7A18-32FE27FAF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97EBEF-1543-CF93-86C2-A764D3B78CD5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Functions of an Instrumentation Transformer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99B86-0954-0FBA-F11C-6302BEE934B6}"/>
              </a:ext>
            </a:extLst>
          </p:cNvPr>
          <p:cNvSpPr txBox="1"/>
          <p:nvPr/>
        </p:nvSpPr>
        <p:spPr>
          <a:xfrm>
            <a:off x="320148" y="1194773"/>
            <a:ext cx="10946565" cy="5116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Performs two important functions: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1. Extend the range of AC measuring instrument, similar to the shunt or the multiplier resistors that extends the range of a DC meter.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000" dirty="0"/>
              <a:t>CT and PT provide required range extensions through their transformation ratio.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2. </a:t>
            </a:r>
            <a:r>
              <a:rPr lang="en-US" sz="2000" dirty="0">
                <a:solidFill>
                  <a:srgbClr val="FF0000"/>
                </a:solidFill>
              </a:rPr>
              <a:t>Serve to isolate the measuring instrument from high-voltage power line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-It is </a:t>
            </a:r>
            <a:r>
              <a:rPr lang="en-US" sz="2000" dirty="0">
                <a:solidFill>
                  <a:srgbClr val="FF0000"/>
                </a:solidFill>
              </a:rPr>
              <a:t>impractical </a:t>
            </a:r>
            <a:r>
              <a:rPr lang="en-US" sz="2000" dirty="0"/>
              <a:t>to bring the several-hundred kV high-voltage lines directly to an instrument panel </a:t>
            </a:r>
            <a:r>
              <a:rPr lang="en-US" sz="2000" dirty="0">
                <a:solidFill>
                  <a:srgbClr val="FF0000"/>
                </a:solidFill>
              </a:rPr>
              <a:t>because of the safety hazards involved </a:t>
            </a:r>
            <a:r>
              <a:rPr lang="en-US" sz="2000" dirty="0"/>
              <a:t>and the insulation problems of high-voltage lines running closely together in the confined space of the instrument panel.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- </a:t>
            </a:r>
            <a:r>
              <a:rPr lang="en-US" sz="2000" dirty="0">
                <a:solidFill>
                  <a:srgbClr val="FF0000"/>
                </a:solidFill>
              </a:rPr>
              <a:t>CT, PT allows low-voltage, low-current wires </a:t>
            </a:r>
            <a:r>
              <a:rPr lang="en-US" sz="2000" dirty="0"/>
              <a:t>from the transformer secondary brought to the instrument panel, thereby minimizing safety hazards and insulation problems.</a:t>
            </a:r>
          </a:p>
        </p:txBody>
      </p:sp>
    </p:spTree>
    <p:extLst>
      <p:ext uri="{BB962C8B-B14F-4D97-AF65-F5344CB8AC3E}">
        <p14:creationId xmlns:p14="http://schemas.microsoft.com/office/powerpoint/2010/main" val="868151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620F9-2607-9FB1-CB70-35B0E02FA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CF12C0-1CC7-2DAF-CA7A-86B5A070CF95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Ratios of Instrument Transformer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726F31-E917-51DD-3FFF-26DF29B164B8}"/>
              </a:ext>
            </a:extLst>
          </p:cNvPr>
          <p:cNvSpPr txBox="1"/>
          <p:nvPr/>
        </p:nvSpPr>
        <p:spPr>
          <a:xfrm>
            <a:off x="320149" y="1295792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Actual Transformation Ratio (R):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Nominal Ratio (</a:t>
            </a:r>
            <a:r>
              <a:rPr lang="en-US" dirty="0" err="1"/>
              <a:t>K</a:t>
            </a:r>
            <a:r>
              <a:rPr lang="en-US" baseline="-25000" dirty="0" err="1"/>
              <a:t>n</a:t>
            </a:r>
            <a:r>
              <a:rPr lang="en-US" dirty="0"/>
              <a:t>):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Turn Ratio (n):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1FA2B3-54C0-5B5B-7902-214A41A92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24" y="1766143"/>
            <a:ext cx="5292213" cy="13036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D31F48-4DC8-3936-F3AA-84452B544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24" y="3661592"/>
            <a:ext cx="5292212" cy="13086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5E4139-E72D-096E-E704-FCCF3CDA80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24" y="5340519"/>
            <a:ext cx="5292212" cy="131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571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7C5E5-C879-6F48-4B22-53B0F2C5A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5888A1-DB7B-1056-92C5-CB51EEE8B377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6C3D26-BA58-3291-4A72-1BEC869E51BA}"/>
              </a:ext>
            </a:extLst>
          </p:cNvPr>
          <p:cNvSpPr txBox="1"/>
          <p:nvPr/>
        </p:nvSpPr>
        <p:spPr>
          <a:xfrm>
            <a:off x="320148" y="4330858"/>
            <a:ext cx="1155170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Construction and special design consideration for CT:</a:t>
            </a:r>
          </a:p>
          <a:p>
            <a:r>
              <a:rPr lang="en-US" sz="2000" dirty="0"/>
              <a:t>1. Its construction is very different from the normal power transformer</a:t>
            </a:r>
          </a:p>
          <a:p>
            <a:r>
              <a:rPr lang="en-US" sz="2000" dirty="0"/>
              <a:t>2. In most cases, </a:t>
            </a:r>
            <a:r>
              <a:rPr lang="en-US" sz="2000" dirty="0">
                <a:solidFill>
                  <a:srgbClr val="FF0000"/>
                </a:solidFill>
              </a:rPr>
              <a:t>the primary </a:t>
            </a:r>
            <a:r>
              <a:rPr lang="en-US" sz="2000" dirty="0"/>
              <a:t>is only </a:t>
            </a:r>
            <a:r>
              <a:rPr lang="en-US" sz="2000" dirty="0">
                <a:solidFill>
                  <a:srgbClr val="FF0000"/>
                </a:solidFill>
              </a:rPr>
              <a:t>one turn or a single conductor connected in series </a:t>
            </a:r>
            <a:r>
              <a:rPr lang="en-US" sz="2000" dirty="0"/>
              <a:t>with the </a:t>
            </a:r>
            <a:r>
              <a:rPr lang="en-US" sz="2000" dirty="0">
                <a:solidFill>
                  <a:srgbClr val="FF0000"/>
                </a:solidFill>
              </a:rPr>
              <a:t>load/line </a:t>
            </a:r>
            <a:r>
              <a:rPr lang="en-US" sz="2000" dirty="0"/>
              <a:t>whose current is to be measured. The </a:t>
            </a:r>
            <a:r>
              <a:rPr lang="en-US" sz="2000" dirty="0">
                <a:solidFill>
                  <a:srgbClr val="FF0000"/>
                </a:solidFill>
              </a:rPr>
              <a:t>secondary winding has a larger number of turns </a:t>
            </a:r>
            <a:r>
              <a:rPr lang="en-US" sz="2000" dirty="0"/>
              <a:t>and is connected </a:t>
            </a:r>
            <a:r>
              <a:rPr lang="en-US" sz="2000" dirty="0">
                <a:solidFill>
                  <a:srgbClr val="FF0000"/>
                </a:solidFill>
              </a:rPr>
              <a:t>in series with the meter</a:t>
            </a:r>
            <a:r>
              <a:rPr lang="en-US" sz="2000" dirty="0"/>
              <a:t>.</a:t>
            </a:r>
          </a:p>
          <a:p>
            <a:r>
              <a:rPr lang="en-US" sz="2000" dirty="0"/>
              <a:t>3. Often the primary winding is </a:t>
            </a:r>
            <a:r>
              <a:rPr lang="en-US" sz="2000" dirty="0">
                <a:solidFill>
                  <a:srgbClr val="FF0000"/>
                </a:solidFill>
              </a:rPr>
              <a:t>a single conductor in the form of a heavy bar of copper or brass </a:t>
            </a:r>
            <a:r>
              <a:rPr lang="en-US" sz="2000" dirty="0"/>
              <a:t>running through the core of the transformer. Such </a:t>
            </a:r>
            <a:r>
              <a:rPr lang="en-US" sz="2000" dirty="0">
                <a:solidFill>
                  <a:srgbClr val="FF0000"/>
                </a:solidFill>
              </a:rPr>
              <a:t>a CT is called a bar-type CT.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ABDBEB-1E09-8A6F-C9B1-E147AE828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500" y="1301729"/>
            <a:ext cx="9460328" cy="292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062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9549F-5427-F2BB-AFB9-DCF59172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BA9CA7-A218-44B0-8337-15FB7E4BDD07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CT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C419BC-B5D7-590B-2CBB-3D3D48733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500" y="1301729"/>
            <a:ext cx="9460328" cy="29221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09B786-BD8C-214E-CB2F-09DEA3AC8D0C}"/>
              </a:ext>
            </a:extLst>
          </p:cNvPr>
          <p:cNvSpPr txBox="1"/>
          <p:nvPr/>
        </p:nvSpPr>
        <p:spPr>
          <a:xfrm>
            <a:off x="320148" y="4330857"/>
            <a:ext cx="115517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4. </a:t>
            </a:r>
            <a:r>
              <a:rPr lang="en-US" sz="2000" dirty="0"/>
              <a:t>The secondary is generally designed to deliver a current of 5 A. An 800/5-A bar-type CT would have 160 turns in the secondary coil.</a:t>
            </a:r>
          </a:p>
          <a:p>
            <a:r>
              <a:rPr lang="en-US" sz="2000" dirty="0"/>
              <a:t>5. </a:t>
            </a:r>
            <a:r>
              <a:rPr lang="en-US" sz="2000" dirty="0">
                <a:solidFill>
                  <a:srgbClr val="FF0000"/>
                </a:solidFill>
              </a:rPr>
              <a:t>Power rating of the windings is low</a:t>
            </a:r>
            <a:r>
              <a:rPr lang="en-US" sz="2000" dirty="0"/>
              <a:t>, as they </a:t>
            </a:r>
            <a:r>
              <a:rPr lang="en-US" sz="2000" dirty="0">
                <a:solidFill>
                  <a:srgbClr val="FF0000"/>
                </a:solidFill>
              </a:rPr>
              <a:t>are not meant to supply </a:t>
            </a:r>
            <a:r>
              <a:rPr lang="en-US" sz="2000" dirty="0"/>
              <a:t>any load other than the </a:t>
            </a:r>
            <a:r>
              <a:rPr lang="en-US" sz="2000" dirty="0">
                <a:solidFill>
                  <a:srgbClr val="FF0000"/>
                </a:solidFill>
              </a:rPr>
              <a:t>instrument’s losses</a:t>
            </a:r>
            <a:r>
              <a:rPr lang="en-US" sz="2000" dirty="0"/>
              <a:t>.</a:t>
            </a:r>
          </a:p>
          <a:p>
            <a:r>
              <a:rPr lang="en-US" sz="2000" dirty="0"/>
              <a:t>6. </a:t>
            </a:r>
            <a:r>
              <a:rPr lang="en-US" sz="2000" dirty="0">
                <a:solidFill>
                  <a:srgbClr val="FF0000"/>
                </a:solidFill>
              </a:rPr>
              <a:t>Very low voltages are involved with primary and secondary windings</a:t>
            </a:r>
            <a:r>
              <a:rPr lang="en-US" sz="2000" dirty="0"/>
              <a:t>. So unlike PT, high insulation is not required for CT. So, its construction is very simple.</a:t>
            </a:r>
          </a:p>
        </p:txBody>
      </p:sp>
    </p:spTree>
    <p:extLst>
      <p:ext uri="{BB962C8B-B14F-4D97-AF65-F5344CB8AC3E}">
        <p14:creationId xmlns:p14="http://schemas.microsoft.com/office/powerpoint/2010/main" val="1412178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92B8D-1ACA-087C-4313-F4B91E23B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7362D39-ECBA-FEB3-D8DB-124829D26B5B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FE3868-A47E-4825-1723-F972CB09421E}"/>
              </a:ext>
            </a:extLst>
          </p:cNvPr>
          <p:cNvSpPr txBox="1"/>
          <p:nvPr/>
        </p:nvSpPr>
        <p:spPr>
          <a:xfrm>
            <a:off x="372345" y="4023082"/>
            <a:ext cx="1144730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Construction and special design consideration for PT:</a:t>
            </a:r>
          </a:p>
          <a:p>
            <a:r>
              <a:rPr lang="en-US" sz="2000" dirty="0"/>
              <a:t>1. Construction is </a:t>
            </a:r>
            <a:r>
              <a:rPr lang="en-US" sz="2000" dirty="0">
                <a:solidFill>
                  <a:srgbClr val="FF0000"/>
                </a:solidFill>
              </a:rPr>
              <a:t>similar to the normal power transformers</a:t>
            </a:r>
          </a:p>
          <a:p>
            <a:r>
              <a:rPr lang="en-US" sz="2000" dirty="0"/>
              <a:t>2. </a:t>
            </a:r>
            <a:r>
              <a:rPr lang="en-US" sz="2000" dirty="0">
                <a:solidFill>
                  <a:srgbClr val="FF0000"/>
                </a:solidFill>
              </a:rPr>
              <a:t>Extremely accurate ratio step-down transformer</a:t>
            </a:r>
            <a:r>
              <a:rPr lang="en-US" sz="2000" dirty="0"/>
              <a:t>. Secondary is usually rated for 230 V irrespective of the primary voltage rating.</a:t>
            </a:r>
          </a:p>
          <a:p>
            <a:r>
              <a:rPr lang="en-US" sz="2000" dirty="0"/>
              <a:t>3</a:t>
            </a:r>
            <a:r>
              <a:rPr lang="en-US" sz="2000" dirty="0">
                <a:solidFill>
                  <a:srgbClr val="FF0000"/>
                </a:solidFill>
              </a:rPr>
              <a:t>. Low power winding rating, </a:t>
            </a:r>
            <a:r>
              <a:rPr lang="en-US" sz="2000" dirty="0"/>
              <a:t>as they </a:t>
            </a:r>
            <a:r>
              <a:rPr lang="en-US" sz="2000" dirty="0">
                <a:solidFill>
                  <a:srgbClr val="FF0000"/>
                </a:solidFill>
              </a:rPr>
              <a:t>are not meant to supply any load other </a:t>
            </a:r>
            <a:r>
              <a:rPr lang="en-US" sz="2000" dirty="0"/>
              <a:t>than the instrument losses.</a:t>
            </a:r>
          </a:p>
          <a:p>
            <a:r>
              <a:rPr lang="en-US" sz="2000" dirty="0"/>
              <a:t>4. For </a:t>
            </a:r>
            <a:r>
              <a:rPr lang="en-US" sz="2000" dirty="0">
                <a:solidFill>
                  <a:srgbClr val="FF0000"/>
                </a:solidFill>
              </a:rPr>
              <a:t>very high primary voltages</a:t>
            </a:r>
            <a:r>
              <a:rPr lang="en-US" sz="2000" dirty="0"/>
              <a:t>, the </a:t>
            </a:r>
            <a:r>
              <a:rPr lang="en-US" sz="2000" dirty="0">
                <a:solidFill>
                  <a:srgbClr val="FF0000"/>
                </a:solidFill>
              </a:rPr>
              <a:t>insulation between the primary and secondary windings </a:t>
            </a:r>
            <a:r>
              <a:rPr lang="en-US" sz="2000" dirty="0"/>
              <a:t>must </a:t>
            </a:r>
            <a:r>
              <a:rPr lang="en-US" sz="2000" dirty="0">
                <a:solidFill>
                  <a:srgbClr val="FF0000"/>
                </a:solidFill>
              </a:rPr>
              <a:t>be able to with-stand large potential difference</a:t>
            </a:r>
            <a:r>
              <a:rPr lang="en-US" sz="2000" dirty="0"/>
              <a:t>.</a:t>
            </a:r>
          </a:p>
        </p:txBody>
      </p:sp>
      <p:pic>
        <p:nvPicPr>
          <p:cNvPr id="1026" name="Picture 2" descr="What is a Potential Transformer (PT)? Working Principle, Diagram, &amp;  Disadvantage - Electrical and Electronics Blog">
            <a:extLst>
              <a:ext uri="{FF2B5EF4-FFF2-40B4-BE49-F238E27FC236}">
                <a16:creationId xmlns:a16="http://schemas.microsoft.com/office/drawing/2014/main" id="{A4E2E1BF-8266-B378-481A-35ACAF202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646" y="1356196"/>
            <a:ext cx="4138612" cy="2608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152526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FC5DD32A6FF4B95C9C6CEDB9E0A49" ma:contentTypeVersion="4" ma:contentTypeDescription="Create a new document." ma:contentTypeScope="" ma:versionID="d96ab2e30894948f2f16f464fafc1131">
  <xsd:schema xmlns:xsd="http://www.w3.org/2001/XMLSchema" xmlns:xs="http://www.w3.org/2001/XMLSchema" xmlns:p="http://schemas.microsoft.com/office/2006/metadata/properties" xmlns:ns3="0a944e8e-8b61-4f8d-a3d3-9a45e176b22f" targetNamespace="http://schemas.microsoft.com/office/2006/metadata/properties" ma:root="true" ma:fieldsID="70efe5433c0a8c5e2513c3d492cf7ec8" ns3:_="">
    <xsd:import namespace="0a944e8e-8b61-4f8d-a3d3-9a45e176b22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944e8e-8b61-4f8d-a3d3-9a45e176b22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228149-112C-4C57-8542-6BA70D65C362}">
  <ds:schemaRefs>
    <ds:schemaRef ds:uri="http://schemas.microsoft.com/office/2006/metadata/properties"/>
    <ds:schemaRef ds:uri="http://purl.org/dc/dcmitype/"/>
    <ds:schemaRef ds:uri="http://www.w3.org/XML/1998/namespace"/>
    <ds:schemaRef ds:uri="http://purl.org/dc/terms/"/>
    <ds:schemaRef ds:uri="http://purl.org/dc/elements/1.1/"/>
    <ds:schemaRef ds:uri="0a944e8e-8b61-4f8d-a3d3-9a45e176b2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48622CA-CD05-45A6-BD57-EFFA0FFB82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1879A4-4A52-46C7-816D-B4AD6C1C2A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944e8e-8b61-4f8d-a3d3-9a45e176b2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7909</TotalTime>
  <Words>1313</Words>
  <Application>Microsoft Office PowerPoint</Application>
  <PresentationFormat>Widescreen</PresentationFormat>
  <Paragraphs>146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Cambria Math</vt:lpstr>
      <vt:lpstr>Gill Sans MT</vt:lpstr>
      <vt:lpstr>Neue Haas Grotesk Text Pro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3</cp:revision>
  <dcterms:created xsi:type="dcterms:W3CDTF">2026-01-09T15:02:13Z</dcterms:created>
  <dcterms:modified xsi:type="dcterms:W3CDTF">2026-05-15T06:17:03Z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0x010100AF5FC5DD32A6FF4B95C9C6CEDB9E0A49</vt:lpwstr>
  </property>
</Properties>
</file>