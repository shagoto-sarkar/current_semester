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xtFqrutuhSombhW/Z6ZAJnsc4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2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" type="body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35"/>
          <p:cNvSpPr txBox="1"/>
          <p:nvPr>
            <p:ph idx="2" type="body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35"/>
          <p:cNvSpPr txBox="1"/>
          <p:nvPr>
            <p:ph idx="4" type="body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" type="body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37"/>
          <p:cNvSpPr txBox="1"/>
          <p:nvPr>
            <p:ph idx="2" type="body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3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8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/>
          <p:nvPr>
            <p:ph idx="2" type="pic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38"/>
          <p:cNvSpPr txBox="1"/>
          <p:nvPr>
            <p:ph idx="1" type="body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3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 txBox="1"/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" type="body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/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0"/>
          <p:cNvSpPr txBox="1"/>
          <p:nvPr>
            <p:ph idx="1" type="body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4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41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9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45.png"/><Relationship Id="rId5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43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9091" t="25348"/>
          <a:stretch/>
        </p:blipFill>
        <p:spPr>
          <a:xfrm>
            <a:off x="20" y="-1"/>
            <a:ext cx="1219198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196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4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Instrumentation and Control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65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CSE 325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Md Atikul Islam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Lecturer(EEE)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Computer Science and Engineering(CSE)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Daffodil International University(DIU)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Classifications of Instruments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347211" y="1421402"/>
            <a:ext cx="6674075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classification: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Mechanical instruments-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very reliable for static and stable conditions.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unable to respond rapidly to measurement of dynamic and transient conditions.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instruments-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method is more rapid than mechanical methods. They normally depends upon an electro-mechanical meter movement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Electronic instruments:-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very fast response.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cathode ray oscilloscope (CRO) is capable to follow dynamic and transient changes of the order of few nanoseconds (10</a:t>
            </a:r>
            <a:r>
              <a:rPr baseline="30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-9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s).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1286" y="1260088"/>
            <a:ext cx="4558619" cy="5487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Classifications of Instruments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47210" y="1395443"/>
            <a:ext cx="10799761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is based on the various effects of electricity: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Magnetic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deflection-type ammeters, voltmeters, watt- meters etc.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Heating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ammeters and voltmeters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Chemical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dc ampere hour meters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Electrostatic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voltmeters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Electromagnetic induction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ac ammeters, voltmeters, wattmeters.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based on the kind of current that can be measured: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current (dc) instruments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Alternating current (ac) instruments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Both direct current and alternating current instruments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dc/ac instruments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Classifications of Instruments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347210" y="1395443"/>
            <a:ext cx="11551701" cy="3270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based on the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Nature of their Operations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Indicating instruments: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Indicated by means of a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mechanical pointer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moves on a scale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digital display. e.g., ammeter, voltmeter, wattmeter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Recording instruments: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 continuously the variation of any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electrical quantity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respect to time.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Integrating instruments: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 the consumption of the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total quantity of electricity, energy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etc., during a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particular period of time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Ampere-hour meter: kilowatthour (kWh) meter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Circuit Symbol of Basic PMMC Meter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6924" y="2012853"/>
            <a:ext cx="3730675" cy="36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762000" y="2574920"/>
            <a:ext cx="6096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Full-scale deflection current through the basic meter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resistance of the basic meter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DC PMMC Ammeter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455" y="1492935"/>
            <a:ext cx="5361457" cy="301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347210" y="1492935"/>
            <a:ext cx="7399789" cy="51891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88" r="0" t="-70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Ammeter</a:t>
            </a:r>
            <a:endParaRPr/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255" y="1333451"/>
            <a:ext cx="3334572" cy="1876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347210" y="1492935"/>
            <a:ext cx="7399789" cy="14600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06" r="0" t="-25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465090" y="2385643"/>
            <a:ext cx="609600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Multirange Ammeter: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Various values of resistances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by means of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suitable switching arrangement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to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increase the number of current ranges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arrangement: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Shown In the figure.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During the changeover of switch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shunt is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momentarily removed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meter. Then, the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full current flows through the meter coil. This can damage the coil.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The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contact resistance of the switch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series with the shunt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It can be of variable nature. So, the ammeter indication may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be accurate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2254" y="3240096"/>
            <a:ext cx="5056657" cy="3595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Ammeter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261258" y="1359264"/>
            <a:ext cx="11637654" cy="57194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6" r="0" t="-6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6441" y="3232224"/>
            <a:ext cx="4175559" cy="210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Ammeter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440152" y="1447362"/>
            <a:ext cx="1136581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Ayrton Shunt/universal shunt Arrangement: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Eliminates the possibility of momentary disconnection of the shunt.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The contact resistance of the switch is external to the shunt and meter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3573" y="2958075"/>
            <a:ext cx="5942342" cy="3478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endParaRPr/>
          </a:p>
        </p:txBody>
      </p:sp>
      <p:sp>
        <p:nvSpPr>
          <p:cNvPr id="172" name="Google Shape;172;p10"/>
          <p:cNvSpPr txBox="1"/>
          <p:nvPr/>
        </p:nvSpPr>
        <p:spPr>
          <a:xfrm>
            <a:off x="347210" y="1395529"/>
            <a:ext cx="11551701" cy="1552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Ayrton shunt to provide an ammeter with current ranges of 0 -1 mA, 5 mA, 20 mA, and 50 mA, using a PMMC meter having internal resistance of 50 Ω and a full-scale current of 100 µA.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35" y="2241677"/>
            <a:ext cx="526415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 txBox="1"/>
          <p:nvPr/>
        </p:nvSpPr>
        <p:spPr>
          <a:xfrm>
            <a:off x="-100265" y="2948527"/>
            <a:ext cx="6096000" cy="3422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5814659" y="2241677"/>
            <a:ext cx="6264600" cy="1222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176" name="Google Shape;17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92686" y="3648749"/>
            <a:ext cx="3624943" cy="286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347210" y="1395529"/>
            <a:ext cx="1155170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 shows an Aryton shunt of an ammeter with a current range of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1 mA, 0-10 mA, 0-50 mA and 0-100 mA. A PMMC meter movement with an internal resistance of 100 Ω and full-scale current of 50 µA is used. Propose the value of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this design.</a:t>
            </a:r>
            <a:endParaRPr/>
          </a:p>
        </p:txBody>
      </p:sp>
      <p:pic>
        <p:nvPicPr>
          <p:cNvPr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7387" y="2318859"/>
            <a:ext cx="4066239" cy="387304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/>
          <p:nvPr/>
        </p:nvSpPr>
        <p:spPr>
          <a:xfrm>
            <a:off x="347210" y="2454300"/>
            <a:ext cx="6096000" cy="50520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38" l="-90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-1459592" y="3267264"/>
            <a:ext cx="6096000" cy="306667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87" name="Google Shape;187;p11"/>
          <p:cNvCxnSpPr/>
          <p:nvPr/>
        </p:nvCxnSpPr>
        <p:spPr>
          <a:xfrm>
            <a:off x="3037114" y="2536371"/>
            <a:ext cx="0" cy="379756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8" name="Google Shape;188;p11"/>
          <p:cNvSpPr txBox="1"/>
          <p:nvPr/>
        </p:nvSpPr>
        <p:spPr>
          <a:xfrm>
            <a:off x="2481718" y="2467302"/>
            <a:ext cx="6825342" cy="67659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1223737" y="3265190"/>
            <a:ext cx="6825342" cy="124675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1582740" y="4633235"/>
            <a:ext cx="6825342" cy="206466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3592511" y="5914771"/>
            <a:ext cx="6825342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347210" y="1395529"/>
            <a:ext cx="1155170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 shows an Aryton shunt of an ammeter with a current range of 0 – 1 mA, 10 mA, 50 mA and 100 mA. A PMMC meter movement with an internal resistance of 100 Ω and full-scale current of 50 µA is used. Propose the value of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this design.</a:t>
            </a:r>
            <a:endParaRPr/>
          </a:p>
        </p:txBody>
      </p:sp>
      <p:pic>
        <p:nvPicPr>
          <p:cNvPr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7387" y="2318859"/>
            <a:ext cx="4066239" cy="387304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/>
          <p:nvPr/>
        </p:nvSpPr>
        <p:spPr>
          <a:xfrm>
            <a:off x="-1541460" y="2474474"/>
            <a:ext cx="6825342" cy="206466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-1541460" y="4255382"/>
            <a:ext cx="682534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117270" y="2474474"/>
            <a:ext cx="686888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465615" y="2872857"/>
            <a:ext cx="6868884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2334987" y="3244334"/>
            <a:ext cx="6868884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2285847" y="3623577"/>
            <a:ext cx="6868884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Ammeter Loading Effect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456068" y="1382048"/>
            <a:ext cx="114429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internal resistance of the meter is a large portion of the load resistance of the circuit under measurement, an effect known as meter-loading occurs.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Meter loading occurs when the insertion of the meter into the circuit changes the voltage/current values so that circuit. We say that the meter is loading the circuit.</a:t>
            </a:r>
            <a:endParaRPr sz="2200"/>
          </a:p>
        </p:txBody>
      </p:sp>
      <p:sp>
        <p:nvSpPr>
          <p:cNvPr id="213" name="Google Shape;213;p13"/>
          <p:cNvSpPr txBox="1"/>
          <p:nvPr/>
        </p:nvSpPr>
        <p:spPr>
          <a:xfrm>
            <a:off x="320150" y="3633525"/>
            <a:ext cx="11357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An ammeter loading effect occurs when the meter's internal resistance alters the total resistance and current in the circuit, resulting in a reading lower than the actual current prior to the meter's connection 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DC PMMC Voltmeter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320149" y="1304168"/>
            <a:ext cx="689708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Let, I</a:t>
            </a:r>
            <a:r>
              <a:rPr baseline="-25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mA, and R</a:t>
            </a:r>
            <a:r>
              <a:rPr baseline="-25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1000 Ω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the basic meter can be connected across a maximum of 1 V only.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-To increase the range,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resistors (Rs) are connected in series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the basic meter. Sometimes these resistors are called ‘multipliers.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’.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circuit,</a:t>
            </a:r>
            <a:endParaRPr/>
          </a:p>
        </p:txBody>
      </p:sp>
      <p:pic>
        <p:nvPicPr>
          <p:cNvPr id="221" name="Google Shape;2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3453" y="1304168"/>
            <a:ext cx="4494518" cy="249385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4"/>
          <p:cNvSpPr txBox="1"/>
          <p:nvPr/>
        </p:nvSpPr>
        <p:spPr>
          <a:xfrm>
            <a:off x="2503713" y="3829583"/>
            <a:ext cx="6433458" cy="270894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137" r="0" t="-112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Voltmeter (Homework)</a:t>
            </a:r>
            <a:endParaRPr/>
          </a:p>
        </p:txBody>
      </p:sp>
      <p:pic>
        <p:nvPicPr>
          <p:cNvPr id="229" name="Google Shape;2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227" y="2633778"/>
            <a:ext cx="6516202" cy="390338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5"/>
          <p:cNvSpPr txBox="1"/>
          <p:nvPr/>
        </p:nvSpPr>
        <p:spPr>
          <a:xfrm>
            <a:off x="320149" y="1406444"/>
            <a:ext cx="1167590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 02: A 1 mA meter movement with an internal resistance of 50 Ω is to be used in a 0-1 V, 0-10 V, 0-50 V, and 0-100 V ranges in the arrangement shown above. Find the value of the required multiplier resistances.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Voltmeter 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127673" y="1194766"/>
            <a:ext cx="11551800" cy="613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75" r="0" t="-5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7370211" y="4531878"/>
            <a:ext cx="6096000" cy="1443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00" r="0" t="-16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39" name="Google Shape;23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3625" y="1756625"/>
            <a:ext cx="4727200" cy="20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Voltmeter </a:t>
            </a:r>
            <a:endParaRPr/>
          </a:p>
        </p:txBody>
      </p:sp>
      <p:pic>
        <p:nvPicPr>
          <p:cNvPr id="246" name="Google Shape;2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181" y="2049343"/>
            <a:ext cx="4504291" cy="230602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7"/>
          <p:cNvSpPr txBox="1"/>
          <p:nvPr/>
        </p:nvSpPr>
        <p:spPr>
          <a:xfrm>
            <a:off x="228600" y="1359264"/>
            <a:ext cx="116432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basic PMMC meter movement with an internal resistance of 100 Ω and a full-scale deflection of 10 mA into a multirange dc voltmeter with ranges from 0- 5 V,0- 50 Vand 0- 100 V. For figure 1,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value of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144400" y="2595420"/>
            <a:ext cx="6096000" cy="3466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00" r="0" t="-7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5615472" y="4617831"/>
            <a:ext cx="6096000" cy="20814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800" r="0" t="-14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Voltmeter </a:t>
            </a:r>
            <a:endParaRPr/>
          </a:p>
        </p:txBody>
      </p:sp>
      <p:pic>
        <p:nvPicPr>
          <p:cNvPr id="256" name="Google Shape;2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181" y="2049343"/>
            <a:ext cx="4504291" cy="230602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8"/>
          <p:cNvSpPr txBox="1"/>
          <p:nvPr/>
        </p:nvSpPr>
        <p:spPr>
          <a:xfrm>
            <a:off x="228600" y="1359264"/>
            <a:ext cx="116432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basic PMMC meter movement with an internal resistance of 100 Ω and a full-scale deflection of 10 mA into a multirange dc voltmeter with ranges from 0- 5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V, 0- 50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Vand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0- 100 V. For figure 1,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value of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320149" y="2619688"/>
            <a:ext cx="6096000" cy="20758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00" r="0" t="-14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Voltmeter Sensitivity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320149" y="1367109"/>
            <a:ext cx="11551700" cy="54945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81" r="-211" t="-6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Loading Effect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320148" y="1388907"/>
            <a:ext cx="1155170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meter impacts the circuit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measuring to some extent.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some impact is inevitable, it can be minimized through good meter design.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Voltmeters are always connected in parallel with the component under test.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perfect voltmeter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infinite resistance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so that it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draws no current from the circuit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 test. However, perfect voltmeters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only exist in the pages of textbooks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in real life</a:t>
            </a:r>
            <a:endParaRPr/>
          </a:p>
        </p:txBody>
      </p:sp>
      <p:pic>
        <p:nvPicPr>
          <p:cNvPr id="273" name="Google Shape;2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2011" y="3614366"/>
            <a:ext cx="9207973" cy="2749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Voltmeter Sensitivity</a:t>
            </a:r>
            <a:endParaRPr/>
          </a:p>
        </p:txBody>
      </p:sp>
      <p:pic>
        <p:nvPicPr>
          <p:cNvPr id="280" name="Google Shape;2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602" y="1375638"/>
            <a:ext cx="8352656" cy="548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Voltmeter Sensitivity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320149" y="1295123"/>
            <a:ext cx="11551700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212" l="-475" r="0" t="-32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88" name="Google Shape;2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0751" y="2451489"/>
            <a:ext cx="3699181" cy="311138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320149" y="2218453"/>
            <a:ext cx="6096000" cy="3669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98" l="-900" r="-1500" t="-9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Voltmeter Sensitivity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320149" y="1295123"/>
            <a:ext cx="11551700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212" l="-475" r="0" t="-32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97" name="Google Shape;2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0751" y="2218453"/>
            <a:ext cx="3699181" cy="311138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 txBox="1"/>
          <p:nvPr/>
        </p:nvSpPr>
        <p:spPr>
          <a:xfrm>
            <a:off x="412068" y="2305262"/>
            <a:ext cx="6096000" cy="458272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900" r="0" t="-6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389914" y="5416650"/>
            <a:ext cx="6096000" cy="89537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800" r="0" t="-41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2026-01-09T15:02:13Z</dcterms:created>
  <dc:creator>Office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