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11.xml"/>
  <Override ContentType="application/vnd.openxmlformats-officedocument.presentationml.comments+xml" PartName="/ppt/comments/comment2.xml"/>
  <Override ContentType="application/vnd.openxmlformats-officedocument.presentationml.comments+xml" PartName="/ppt/comments/comment10.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3.xml"/>
  <Override ContentType="application/vnd.openxmlformats-officedocument.presentationml.comments+xml" PartName="/ppt/comments/comment1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Robo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9" roundtripDataSignature="AMtx7mj6He1zyTvJ82Cd/rgoGDkzmm46w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2" name="Syada Tasmia Alv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2-08-25T17:31:31.489">
    <p:pos x="6000" y="0"/>
    <p:text>Soon after “techies” became aware of the use of cookies by Web sites,
they wrote cookie disablers and posted them on the Web.</p:text>
    <p:extLst>
      <p:ext uri="{C676402C-5697-4E1C-873F-D02D1690AC5C}">
        <p15:threadingInfo timeZoneBias="0"/>
      </p:ext>
      <p:ext uri="http://customooxmlschemas.google.com/">
        <go:slidesCustomData xmlns:go="http://customooxmlschemas.google.com/" commentPostId="AAAAe5EKHzg"/>
      </p:ext>
    </p:extLst>
  </p:cm>
  <p:cm authorId="0" idx="2" dt="2022-08-25T17:32:21.615">
    <p:pos x="6000" y="100"/>
    <p:text>Software to block pop-up ads appeared soon after the advent of such ads. People figured out how to prevent ads from appearing in their Gmail and told the world.</p:text>
    <p:extLst>
      <p:ext uri="{C676402C-5697-4E1C-873F-D02D1690AC5C}">
        <p15:threadingInfo timeZoneBias="0"/>
      </p:ext>
      <p:ext uri="http://customooxmlschemas.google.com/">
        <go:slidesCustomData xmlns:go="http://customooxmlschemas.google.com/" commentPostId="AAAAex6yufY"/>
      </p:ext>
    </p:extLst>
  </p:cm>
  <p:cm authorId="0" idx="3" dt="2022-08-25T17:32:50.227">
    <p:pos x="6000" y="200"/>
    <p:text>Companies sell software to scan for spyware; some versions are free.</p:text>
    <p:extLst>
      <p:ext uri="{C676402C-5697-4E1C-873F-D02D1690AC5C}">
        <p15:threadingInfo timeZoneBias="0"/>
      </p:ext>
      <p:ext uri="http://customooxmlschemas.google.com/">
        <go:slidesCustomData xmlns:go="http://customooxmlschemas.google.com/" commentPostId="AAAAex6yufc"/>
      </p:ext>
    </p:extLst>
  </p:cm>
  <p:cm authorId="0" idx="4" dt="2022-08-25T17:33:05.173">
    <p:pos x="6000" y="300"/>
    <p:text>We can install free add-ons to our browsers that block Web activity
trackers.</p:text>
    <p:extLst>
      <p:ext uri="{C676402C-5697-4E1C-873F-D02D1690AC5C}">
        <p15:threadingInfo timeZoneBias="0"/>
      </p:ext>
      <p:ext uri="http://customooxmlschemas.google.com/">
        <go:slidesCustomData xmlns:go="http://customooxmlschemas.google.com/" commentPostId="AAAAex6yufg"/>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2-08-25T17:37:11.115">
    <p:pos x="6000" y="0"/>
    <p:text>It is possible to intercept email and data in transit on the Internet and to pick wireless transmissions out of the air.Someone who steals a computer or hacks into one can view files on it. Most eavesdropping by private citizens is illegal. Hacking and stealing laptops are crimes. The law provides for punishment of offenders when caught and convicted, but we can also use technology to protect ourselves.</p:text>
    <p:extLst>
      <p:ext uri="{C676402C-5697-4E1C-873F-D02D1690AC5C}">
        <p15:threadingInfo timeZoneBias="0"/>
      </p:ext>
      <p:ext uri="http://customooxmlschemas.google.com/">
        <go:slidesCustomData xmlns:go="http://customooxmlschemas.google.com/" commentPostId="AAAAex6yufo"/>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2-08-25T17:53:54.987">
    <p:pos x="6000" y="0"/>
    <p:text>Encryption is a technology, often implemented in software, that transforms data into a form that is meaningless to anyone who might intercept or view it. The data could be email, business plans, credit card numbers, images, medical records, cellphone location history, and so on. Software at the recipient’s site (or on one’s own computer) decodes encrypted data so that the recipient or owner can view the messages or files.
Software routinely encrypts credit card numbers when we send them to online merchants.
People are often not even aware that they are using encryption. The software handles it automatically.</p:text>
    <p:extLst>
      <p:ext uri="{C676402C-5697-4E1C-873F-D02D1690AC5C}">
        <p15:threadingInfo timeZoneBias="0"/>
      </p:ext>
      <p:ext uri="http://customooxmlschemas.google.com/">
        <go:slidesCustomData xmlns:go="http://customooxmlschemas.google.com/" commentPostId="AAAAe5EKHzo"/>
      </p:ext>
    </p:extLs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2-08-25T17:55:31.537">
    <p:pos x="6000" y="0"/>
    <p:text>The businesses, organizations, and government agencies that collect and store personal data have an ethical responsibility (and in many cases a legal one) to protect it from misuse. Responsible data holders must anticipate risks and prepare for them. They must continually update security policies to cover new technologies and new potential threats. Employers must train those who carry around personal data about the risks and proper security measures.</p:text>
    <p:extLst>
      <p:ext uri="{C676402C-5697-4E1C-873F-D02D1690AC5C}">
        <p15:threadingInfo timeZoneBias="0"/>
      </p:ext>
      <p:ext uri="http://customooxmlschemas.google.com/">
        <go:slidesCustomData xmlns:go="http://customooxmlschemas.google.com/" commentPostId="AAAAex6yufs"/>
      </p:ext>
    </p:extLs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2-08-25T18:18:30.717">
    <p:pos x="6000" y="0"/>
    <p:text>In 1890, a crucial article called “The Right of Privacy,” by Samuel Warren and Louis Brandeis76 (later a Supreme Court Justice), argued that privacy was distinct from other rights and needed more protection.</p:text>
    <p:extLst>
      <p:ext uri="{C676402C-5697-4E1C-873F-D02D1690AC5C}">
        <p15:threadingInfo timeZoneBias="0"/>
      </p:ext>
      <p:ext uri="http://customooxmlschemas.google.com/">
        <go:slidesCustomData xmlns:go="http://customooxmlschemas.google.com/" commentPostId="AAAAex6yufw"/>
      </p:ext>
    </p:extLst>
  </p:cm>
  <p:cm authorId="0" idx="9" dt="2022-08-25T18:29:17.589">
    <p:pos x="6000" y="100"/>
    <p:text>Warren and Brandeis argue that, for example, if someone writes a letter in
which he says he had a fierce argument with his wife, the recipient of the letter cannot
publish that information. They base this claim on no property right or other right except
privacy. It is part of the right to be let alone.</p:text>
    <p:extLst>
      <p:ext uri="{C676402C-5697-4E1C-873F-D02D1690AC5C}">
        <p15:threadingInfo timeZoneBias="0"/>
      </p:ext>
      <p:ext uri="http://customooxmlschemas.google.com/">
        <go:slidesCustomData xmlns:go="http://customooxmlschemas.google.com/" commentPostId="AAAAex6yuf0"/>
      </p:ext>
    </p:extLs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2-08-25T18:46:12.451">
    <p:pos x="6000" y="0"/>
    <p:text>She gets to her point after
examining a few scenarios.
Suppose you own a copy of a magazine. Your property rights include the right to refuse to allow others to read, destroy, or even see your magazine. If someone does anything to your magazine that you did not allow, that person is violating your property rights. For example, if someone uses binoculars to see your magazine from a neighboring building,
that person is violating your right to exclude others from seeing it. It does not matter whether the magazine is an ordinary news magazine (not a sensitive privacy issue) or some other magazine you do not want people to know you read. The right violated is your property right.</p:text>
    <p:extLst>
      <p:ext uri="{C676402C-5697-4E1C-873F-D02D1690AC5C}">
        <p15:threadingInfo timeZoneBias="0"/>
      </p:ext>
      <p:ext uri="http://customooxmlschemas.google.com/">
        <go:slidesCustomData xmlns:go="http://customooxmlschemas.google.com/" commentPostId="AAAAex6yuf4"/>
      </p:ext>
    </p:extLst>
  </p:cm>
  <p:cm authorId="0" idx="11" dt="2022-08-25T18:47:53.843">
    <p:pos x="6000" y="100"/>
    <p:text>You may waive your property rights, intentionally or inadvertently. If you absent-mindedly leave the magazine on a park bench, someone could take it. If you leave it on the coffee table when you have guests at your home, someone could see it. If you read a
pornographic magazine on a bus, and someone sees you and tells other people that you read dirty magazines, that person is not violating your rights. The person might be doing
something impolite, unfriendly, or cruel, but not something that violates a right.</p:text>
    <p:extLst>
      <p:ext uri="{C676402C-5697-4E1C-873F-D02D1690AC5C}">
        <p15:threadingInfo timeZoneBias="0"/>
      </p:ext>
      <p:ext uri="http://customooxmlschemas.google.com/">
        <go:slidesCustomData xmlns:go="http://customooxmlschemas.google.com/" commentPostId="AAAAex6yuf8"/>
      </p:ext>
    </p:extLst>
  </p:cm>
  <p:cm authorId="0" idx="12" dt="2022-08-25T18:53:30.467">
    <p:pos x="6000" y="200"/>
    <p:text>If someone beats on you to get some information, the beater is violating your right to be free from physical harm done by others. If the information is the time of day, privacy
is not at issue. If the information is more personal, then they have compromised your
privacy, but the right violated is your right to be free from attack.</p:text>
    <p:extLst>
      <p:ext uri="{C676402C-5697-4E1C-873F-D02D1690AC5C}">
        <p15:threadingInfo timeZoneBias="0"/>
      </p:ext>
      <p:ext uri="http://customooxmlschemas.google.com/">
        <go:slidesCustomData xmlns:go="http://customooxmlschemas.google.com/" commentPostId="AAAAex6yugE"/>
      </p:ext>
    </p:extLs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3" dt="2022-08-25T19:25:29.303">
    <p:pos x="6000" y="0"/>
    <p:text>One day in the small farm community of Friendlyville, Joe buys five pounds of potatoes from Maria, who sells him the five pounds of potatoes.
Either Joe or Maria might prefer the transaction to remain secret. The failure of his own potato crop might embarrass Joe. Or Joe might be unpopular in Friendlyville, and
Maria fears the townspeople will be angry at her for selling to him. Either way, we are not likely to consider it a violation of the other’s rights if Maria or Joe talks about the purchase
or sale of the potatoes to other people in town. But suppose Joe asks for confidentiality as part of the transaction. Maria has three options. (1) She can agree. (2) She can say no;
she might want to tell people she sold potatoes to Joe. (3) She can agree to keep the sale
confidential if Joe pays a higher price. In the latter two cases, Joe can decide whether to buy
the potatoes. On the other hand, if Maria asks for confidentiality as part of the transaction,
Joe has three options. (1) He can agree. (2) He can say no; he might want to tell people
he bought potatoes from Maria. (3) He can agree to keep the purchase confidential if
Maria charges a lower price. In the latter two cases, Maria can decide whether to sell the
potatoes.</p:text>
    <p:extLst>
      <p:ext uri="{C676402C-5697-4E1C-873F-D02D1690AC5C}">
        <p15:threadingInfo timeZoneBias="0"/>
      </p:ext>
      <p:ext uri="http://customooxmlschemas.google.com/">
        <go:slidesCustomData xmlns:go="http://customooxmlschemas.google.com/" commentPostId="AAAAex6yugI"/>
      </p:ext>
    </p:extLs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4" dt="2022-08-25T19:31:04.429">
    <p:pos x="6000" y="0"/>
    <p:text>The second problem with assigning ownership of personal information arises from
the notion of owning facts. (Copyright protects intellectual property such as computer
programs and music, but we cannot copyright facts.) Ownership of facts would severely
impair the flow of information in society. We store information on electronic devices, but
we also store it in our minds. Can we own facts about ourselves without violating the
freedom of thought and freedom of speech of others?</p:text>
    <p:extLst>
      <p:ext uri="{C676402C-5697-4E1C-873F-D02D1690AC5C}">
        <p15:threadingInfo timeZoneBias="0"/>
      </p:ext>
      <p:ext uri="http://customooxmlschemas.google.com/">
        <go:slidesCustomData xmlns:go="http://customooxmlschemas.google.com/" commentPostId="AAAAex6yugM"/>
      </p:ext>
    </p:extLst>
  </p:cm>
  <p:cm authorId="0" idx="15" dt="2022-08-25T19:33:42.281">
    <p:pos x="6000" y="100"/>
    <p:text>Although there are difficulties with assigning ownership in individual facts, another
issue is whether we can own our “profiles,” that is, a collection of data describing our
activities, purchases, interests, and so on. We cannot own the fact that our eyes are blue,
but we do have the legal right to control some uses of our photographic image. In almost all
states, we need a person’s consent to use his or her image for commercial purposes.</p:text>
    <p:extLst>
      <p:ext uri="{C676402C-5697-4E1C-873F-D02D1690AC5C}">
        <p15:threadingInfo timeZoneBias="0"/>
      </p:ext>
      <p:ext uri="http://customooxmlschemas.google.com/">
        <go:slidesCustomData xmlns:go="http://customooxmlschemas.google.com/" commentPostId="AAAAex6yugQ"/>
      </p:ext>
    </p:extLs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6" dt="2022-08-26T20:27:27.304">
    <p:pos x="6000" y="0"/>
    <p:text>Technical tools, market mechanisms, and business policies for privacy protection are not
perfect. Is that a strong argument for regulatory laws? Regulation is not perfect either.
We must evaluate regulatory solutions by considering effectiveness, costs and benefits,
and side effects, just as we evaluate other kinds of potential solutions to problems caused
by technology. The pros and cons of regulation fill entire books.</p:text>
    <p:extLst>
      <p:ext uri="{C676402C-5697-4E1C-873F-D02D1690AC5C}">
        <p15:threadingInfo timeZoneBias="0"/>
      </p:ext>
      <p:ext uri="http://customooxmlschemas.google.com/">
        <go:slidesCustomData xmlns:go="http://customooxmlschemas.google.com/" commentPostId="AAAAexDNaek"/>
      </p:ext>
    </p:extLst>
  </p:cm>
  <p:cm authorId="0" idx="17" dt="2022-09-02T07:39:14.104">
    <p:pos x="6000" y="100"/>
    <p:text>It is extremely difficult to write reasonable regulations for complex situations. Laws and regulations often have unintended effects or interpretations. They can apply where they do not make sense or where people simply do not want them.</p:text>
    <p:extLst>
      <p:ext uri="{C676402C-5697-4E1C-873F-D02D1690AC5C}">
        <p15:threadingInfo timeZoneBias="0"/>
      </p:ext>
      <p:ext uri="http://customooxmlschemas.google.com/">
        <go:slidesCustomData xmlns:go="http://customooxmlschemas.google.com/" commentPostId="AAAAfWNZINU"/>
      </p:ext>
    </p:extLs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8" dt="2022-09-02T07:10:04.158">
    <p:pos x="6000" y="0"/>
    <p:text>The political, philosophical, and economic views of many scholars and advocates who write about privacy differ. As a result, their interpretations of various privacy problems and their approaches to solutions often differ, particularly when they are considering laws and regulation to control collection and use of personal information by businesses.</p:text>
    <p:extLst>
      <p:ext uri="{C676402C-5697-4E1C-873F-D02D1690AC5C}">
        <p15:threadingInfo timeZoneBias="0"/>
      </p:ext>
      <p:ext uri="http://customooxmlschemas.google.com/">
        <go:slidesCustomData xmlns:go="http://customooxmlschemas.google.com/" commentPostId="AAAAexDNaeo"/>
      </p:ext>
    </p:extLst>
  </p:cm>
</p:cmLst>
</file>

<file path=ppt/comments/comment1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9" dt="2022-09-02T10:57:31.951">
    <p:pos x="6000" y="0"/>
    <p:text>In 1934, Congress passed the
Communications Act. This law states that, unless authorized by the sender, no person
could intercept and divulge a message;</p:text>
    <p:extLst>
      <p:ext uri="{C676402C-5697-4E1C-873F-D02D1690AC5C}">
        <p15:threadingInfo timeZoneBias="0"/>
      </p:ext>
      <p:ext uri="http://customooxmlschemas.google.com/">
        <go:slidesCustomData xmlns:go="http://customooxmlschemas.google.com/" commentPostId="AAAAfJPOyUg"/>
      </p:ext>
    </p:extLst>
  </p:cm>
  <p:cm authorId="0" idx="20" dt="2022-09-02T11:04:13.344">
    <p:pos x="6000" y="100"/>
    <p:text>In many cases, of course, law enforcement agencies were wiretapping people suspected of crimes, but in many other
cases, they tapped people with unconventional views, members of civil rights groups, and political opponents of powerful government officials.</p:text>
    <p:extLst>
      <p:ext uri="{C676402C-5697-4E1C-873F-D02D1690AC5C}">
        <p15:threadingInfo timeZoneBias="0"/>
      </p:ext>
      <p:ext uri="http://customooxmlschemas.google.com/">
        <go:slidesCustomData xmlns:go="http://customooxmlschemas.google.com/" commentPostId="AAAAfJPOyUk"/>
      </p:ext>
    </p:extLst>
  </p:cm>
</p:cmLst>
</file>

<file path=ppt/comments/comment1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1" dt="2022-09-02T11:06:25.392">
    <p:pos x="6000" y="0"/>
    <p:text>Old laws did not explicitly cover email and cellphone conversations, and interception was
common when email and cellphones were new.</p:text>
    <p:extLst>
      <p:ext uri="{C676402C-5697-4E1C-873F-D02D1690AC5C}">
        <p15:threadingInfo timeZoneBias="0"/>
      </p:ext>
      <p:ext uri="http://customooxmlschemas.google.com/">
        <go:slidesCustomData xmlns:go="http://customooxmlschemas.google.com/" commentPostId="AAAAfJPOyUo"/>
      </p:ext>
    </p:extLst>
  </p:cm>
  <p:cm authorId="0" idx="22" dt="2022-09-02T11:20:39.632">
    <p:pos x="6000" y="100"/>
    <p:text>This was a significant
step toward protecting privacy in cyberspace from private and governmental snooping.
It requires that the government get a court order to legally intercept email.†</p:text>
    <p:extLst>
      <p:ext uri="{C676402C-5697-4E1C-873F-D02D1690AC5C}">
        <p15:threadingInfo timeZoneBias="0"/>
      </p:ext>
      <p:ext uri="http://customooxmlschemas.google.com/">
        <go:slidesCustomData xmlns:go="http://customooxmlschemas.google.com/" commentPostId="AAAAfJPOyUs"/>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12cd06712c_0_1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g112cd06712c_0_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45f17dee8c_1_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050">
                <a:solidFill>
                  <a:srgbClr val="3C4043"/>
                </a:solidFill>
                <a:highlight>
                  <a:srgbClr val="FFFFFF"/>
                </a:highlight>
                <a:latin typeface="Roboto"/>
                <a:ea typeface="Roboto"/>
                <a:cs typeface="Roboto"/>
                <a:sym typeface="Roboto"/>
              </a:rPr>
              <a:t>Several companies provide services, called anonymizers, with which people can surf the Web anonymously, leaving no record that identifies them or their computers.</a:t>
            </a:r>
            <a:endParaRPr sz="1050">
              <a:solidFill>
                <a:srgbClr val="3C4043"/>
              </a:solidFill>
              <a:highlight>
                <a:srgbClr val="FFFFFF"/>
              </a:highlight>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050">
                <a:solidFill>
                  <a:srgbClr val="3C4043"/>
                </a:solidFill>
                <a:highlight>
                  <a:srgbClr val="FFFFFF"/>
                </a:highlight>
                <a:latin typeface="Roboto"/>
                <a:ea typeface="Roboto"/>
                <a:cs typeface="Roboto"/>
                <a:sym typeface="Roboto"/>
              </a:rPr>
              <a:t>Some search engines do not store user search queries in a way that allows linking them.</a:t>
            </a:r>
            <a:endParaRPr sz="1050">
              <a:solidFill>
                <a:srgbClr val="3C4043"/>
              </a:solidFill>
              <a:highlight>
                <a:srgbClr val="FFFFFF"/>
              </a:highlight>
              <a:latin typeface="Roboto"/>
              <a:ea typeface="Roboto"/>
              <a:cs typeface="Roboto"/>
              <a:sym typeface="Roboto"/>
            </a:endParaRPr>
          </a:p>
          <a:p>
            <a:pPr indent="0" lvl="0" marL="0" rtl="0" algn="l">
              <a:lnSpc>
                <a:spcPct val="100000"/>
              </a:lnSpc>
              <a:spcBef>
                <a:spcPts val="0"/>
              </a:spcBef>
              <a:spcAft>
                <a:spcPts val="0"/>
              </a:spcAft>
              <a:buSzPts val="1400"/>
              <a:buNone/>
            </a:pPr>
            <a:r>
              <a:t/>
            </a:r>
            <a:endParaRPr/>
          </a:p>
        </p:txBody>
      </p:sp>
      <p:sp>
        <p:nvSpPr>
          <p:cNvPr id="110" name="Google Shape;110;g145f17dee8c_1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4732661473_0_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g14732661473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45f5af3cc2_0_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g145f5af3cc2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43fda08588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g143fda08588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509420cd56_0_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g1509420cd56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43fda08588_0_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g143fda08588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46873a7365_0_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If a person peacefully asks whom you live with or what your political views are, they have violated no rights. If you choose to answer and do not make a confidentiality agreement, the person is not violating your rights by repeating the information to someone else, though it could be inconsiderate to do so. However, if the person agreed not to repeat the information, but then does, it does not matter whether or not the information was sensitive; the person is violating the confidentiality agreement.</a:t>
            </a:r>
            <a:endParaRPr/>
          </a:p>
        </p:txBody>
      </p:sp>
      <p:sp>
        <p:nvSpPr>
          <p:cNvPr id="160" name="Google Shape;160;g146873a7365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44bbcddc71_0_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g144bbcddc71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46873a7365_0_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146873a7365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46873a7365_0_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g146873a7365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46873a7365_0_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g146873a7365_0_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50a390fc83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g150a390fc8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50ad467419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g150ad46741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50ad467419_0_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g150ad467419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50ad467419_0_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g150ad467419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3fbedf9817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g13fbedf9817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9" name="Shape 9"/>
        <p:cNvGrpSpPr/>
        <p:nvPr/>
      </p:nvGrpSpPr>
      <p:grpSpPr>
        <a:xfrm>
          <a:off x="0" y="0"/>
          <a:ext cx="0" cy="0"/>
          <a:chOff x="0" y="0"/>
          <a:chExt cx="0" cy="0"/>
        </a:xfrm>
      </p:grpSpPr>
      <p:sp>
        <p:nvSpPr>
          <p:cNvPr id="10" name="Google Shape;10;p2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 name="Shape 11"/>
        <p:cNvGrpSpPr/>
        <p:nvPr/>
      </p:nvGrpSpPr>
      <p:grpSpPr>
        <a:xfrm>
          <a:off x="0" y="0"/>
          <a:ext cx="0" cy="0"/>
          <a:chOff x="0" y="0"/>
          <a:chExt cx="0" cy="0"/>
        </a:xfrm>
      </p:grpSpPr>
      <p:sp>
        <p:nvSpPr>
          <p:cNvPr id="12" name="Google Shape;12;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 name="Google Shape;1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3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3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26" name="Shape 26"/>
        <p:cNvGrpSpPr/>
        <p:nvPr/>
      </p:nvGrpSpPr>
      <p:grpSpPr>
        <a:xfrm>
          <a:off x="0" y="0"/>
          <a:ext cx="0" cy="0"/>
          <a:chOff x="0" y="0"/>
          <a:chExt cx="0" cy="0"/>
        </a:xfrm>
      </p:grpSpPr>
      <p:sp>
        <p:nvSpPr>
          <p:cNvPr id="27" name="Google Shape;27;g112cd06712c_0_1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 name="Google Shape;28;g112cd06712c_0_1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 name="Google Shape;29;g112cd06712c_0_1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0" name="Google Shape;30;g112cd06712c_0_1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1" name="Google Shape;31;g112cd06712c_0_1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3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7" name="Shape 37"/>
        <p:cNvGrpSpPr/>
        <p:nvPr/>
      </p:nvGrpSpPr>
      <p:grpSpPr>
        <a:xfrm>
          <a:off x="0" y="0"/>
          <a:ext cx="0" cy="0"/>
          <a:chOff x="0" y="0"/>
          <a:chExt cx="0" cy="0"/>
        </a:xfrm>
      </p:grpSpPr>
      <p:sp>
        <p:nvSpPr>
          <p:cNvPr id="38" name="Google Shape;38;gf59b91e696_0_41"/>
          <p:cNvSpPr txBox="1"/>
          <p:nvPr>
            <p:ph type="title"/>
          </p:nvPr>
        </p:nvSpPr>
        <p:spPr>
          <a:xfrm>
            <a:off x="967739" y="-11430"/>
            <a:ext cx="7200900" cy="10698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800"/>
              <a:buNone/>
              <a:defRPr b="0" i="0" sz="4600">
                <a:solidFill>
                  <a:srgbClr val="2B7B9E"/>
                </a:solidFill>
                <a:latin typeface="Calibri"/>
                <a:ea typeface="Calibri"/>
                <a:cs typeface="Calibri"/>
                <a:sym typeface="Calibri"/>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 name="Google Shape;39;gf59b91e696_0_41"/>
          <p:cNvSpPr txBox="1"/>
          <p:nvPr>
            <p:ph idx="1" type="body"/>
          </p:nvPr>
        </p:nvSpPr>
        <p:spPr>
          <a:xfrm>
            <a:off x="628650" y="1038987"/>
            <a:ext cx="5144100" cy="31356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800"/>
              <a:buNone/>
              <a:defRPr b="0" i="0" sz="2400">
                <a:solidFill>
                  <a:srgbClr val="585858"/>
                </a:solidFill>
                <a:latin typeface="Calibri"/>
                <a:ea typeface="Calibri"/>
                <a:cs typeface="Calibri"/>
                <a:sym typeface="Calibri"/>
              </a:defRPr>
            </a:lvl1pPr>
            <a:lvl2pPr indent="-228600" lvl="1" marL="914400" algn="l">
              <a:lnSpc>
                <a:spcPct val="115000"/>
              </a:lnSpc>
              <a:spcBef>
                <a:spcPts val="0"/>
              </a:spcBef>
              <a:spcAft>
                <a:spcPts val="0"/>
              </a:spcAft>
              <a:buSzPts val="1400"/>
              <a:buNone/>
              <a:defRPr/>
            </a:lvl2pPr>
            <a:lvl3pPr indent="-228600" lvl="2" marL="1371600" algn="l">
              <a:lnSpc>
                <a:spcPct val="115000"/>
              </a:lnSpc>
              <a:spcBef>
                <a:spcPts val="0"/>
              </a:spcBef>
              <a:spcAft>
                <a:spcPts val="0"/>
              </a:spcAft>
              <a:buSzPts val="1400"/>
              <a:buNone/>
              <a:defRPr/>
            </a:lvl3pPr>
            <a:lvl4pPr indent="-228600" lvl="3" marL="1828800" algn="l">
              <a:lnSpc>
                <a:spcPct val="115000"/>
              </a:lnSpc>
              <a:spcBef>
                <a:spcPts val="0"/>
              </a:spcBef>
              <a:spcAft>
                <a:spcPts val="0"/>
              </a:spcAft>
              <a:buSzPts val="1400"/>
              <a:buNone/>
              <a:defRPr/>
            </a:lvl4pPr>
            <a:lvl5pPr indent="-228600" lvl="4" marL="2286000" algn="l">
              <a:lnSpc>
                <a:spcPct val="115000"/>
              </a:lnSpc>
              <a:spcBef>
                <a:spcPts val="0"/>
              </a:spcBef>
              <a:spcAft>
                <a:spcPts val="0"/>
              </a:spcAft>
              <a:buSzPts val="1400"/>
              <a:buNone/>
              <a:defRPr/>
            </a:lvl5pPr>
            <a:lvl6pPr indent="-228600" lvl="5" marL="2743200" algn="l">
              <a:lnSpc>
                <a:spcPct val="115000"/>
              </a:lnSpc>
              <a:spcBef>
                <a:spcPts val="0"/>
              </a:spcBef>
              <a:spcAft>
                <a:spcPts val="0"/>
              </a:spcAft>
              <a:buSzPts val="1400"/>
              <a:buNone/>
              <a:defRPr/>
            </a:lvl6pPr>
            <a:lvl7pPr indent="-228600" lvl="6" marL="3200400" algn="l">
              <a:lnSpc>
                <a:spcPct val="115000"/>
              </a:lnSpc>
              <a:spcBef>
                <a:spcPts val="0"/>
              </a:spcBef>
              <a:spcAft>
                <a:spcPts val="0"/>
              </a:spcAft>
              <a:buSzPts val="1400"/>
              <a:buNone/>
              <a:defRPr/>
            </a:lvl7pPr>
            <a:lvl8pPr indent="-228600" lvl="7" marL="3657600" algn="l">
              <a:lnSpc>
                <a:spcPct val="115000"/>
              </a:lnSpc>
              <a:spcBef>
                <a:spcPts val="0"/>
              </a:spcBef>
              <a:spcAft>
                <a:spcPts val="0"/>
              </a:spcAft>
              <a:buSzPts val="1400"/>
              <a:buNone/>
              <a:defRPr/>
            </a:lvl8pPr>
            <a:lvl9pPr indent="-228600" lvl="8" marL="4114800" algn="l">
              <a:lnSpc>
                <a:spcPct val="115000"/>
              </a:lnSpc>
              <a:spcBef>
                <a:spcPts val="0"/>
              </a:spcBef>
              <a:spcAft>
                <a:spcPts val="0"/>
              </a:spcAft>
              <a:buSzPts val="1400"/>
              <a:buNone/>
              <a:defRPr/>
            </a:lvl9pPr>
          </a:lstStyle>
          <a:p/>
        </p:txBody>
      </p:sp>
      <p:sp>
        <p:nvSpPr>
          <p:cNvPr id="40" name="Google Shape;40;gf59b91e696_0_41"/>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1" name="Google Shape;41;gf59b91e696_0_41"/>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 name="Google Shape;42;gf59b91e696_0_41"/>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800">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3" name="Shape 43"/>
        <p:cNvGrpSpPr/>
        <p:nvPr/>
      </p:nvGrpSpPr>
      <p:grpSpPr>
        <a:xfrm>
          <a:off x="0" y="0"/>
          <a:ext cx="0" cy="0"/>
          <a:chOff x="0" y="0"/>
          <a:chExt cx="0" cy="0"/>
        </a:xfrm>
      </p:grpSpPr>
      <p:sp>
        <p:nvSpPr>
          <p:cNvPr id="44" name="Google Shape;44;p3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5" name="Google Shape;45;p3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6" name="Google Shape;46;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3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9" name="Google Shape;49;p3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0" name="Google Shape;5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4" name="Google Shape;54;p3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3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6" name="Google Shape;56;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3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9" name="Google Shape;59;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3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2" name="Google Shape;62;p3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3" name="Google Shape;63;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
    <p:spTree>
      <p:nvGrpSpPr>
        <p:cNvPr id="64" name="Shape 64"/>
        <p:cNvGrpSpPr/>
        <p:nvPr/>
      </p:nvGrpSpPr>
      <p:grpSpPr>
        <a:xfrm>
          <a:off x="0" y="0"/>
          <a:ext cx="0" cy="0"/>
          <a:chOff x="0" y="0"/>
          <a:chExt cx="0" cy="0"/>
        </a:xfrm>
      </p:grpSpPr>
      <p:sp>
        <p:nvSpPr>
          <p:cNvPr id="65" name="Google Shape;65;p38"/>
          <p:cNvSpPr/>
          <p:nvPr/>
        </p:nvSpPr>
        <p:spPr>
          <a:xfrm>
            <a:off x="9" y="-962172"/>
            <a:ext cx="9233805" cy="6330149"/>
          </a:xfrm>
          <a:custGeom>
            <a:rect b="b" l="l" r="r" t="t"/>
            <a:pathLst>
              <a:path extrusionOk="0" h="72886" w="106319">
                <a:moveTo>
                  <a:pt x="98047" y="17578"/>
                </a:moveTo>
                <a:cubicBezTo>
                  <a:pt x="90726" y="25294"/>
                  <a:pt x="78229" y="26537"/>
                  <a:pt x="85120" y="17578"/>
                </a:cubicBezTo>
                <a:cubicBezTo>
                  <a:pt x="89094" y="12414"/>
                  <a:pt x="90660" y="5194"/>
                  <a:pt x="91276" y="1"/>
                </a:cubicBezTo>
                <a:lnTo>
                  <a:pt x="0" y="1"/>
                </a:lnTo>
                <a:lnTo>
                  <a:pt x="0" y="64267"/>
                </a:lnTo>
                <a:cubicBezTo>
                  <a:pt x="1853" y="61996"/>
                  <a:pt x="5128" y="58082"/>
                  <a:pt x="7238" y="50485"/>
                </a:cubicBezTo>
                <a:cubicBezTo>
                  <a:pt x="12754" y="30673"/>
                  <a:pt x="28951" y="29985"/>
                  <a:pt x="35083" y="37217"/>
                </a:cubicBezTo>
                <a:cubicBezTo>
                  <a:pt x="41980" y="45357"/>
                  <a:pt x="33105" y="66114"/>
                  <a:pt x="48531" y="72886"/>
                </a:cubicBezTo>
                <a:lnTo>
                  <a:pt x="106319" y="72886"/>
                </a:lnTo>
                <a:lnTo>
                  <a:pt x="106319" y="1"/>
                </a:lnTo>
                <a:lnTo>
                  <a:pt x="105877" y="1"/>
                </a:lnTo>
                <a:cubicBezTo>
                  <a:pt x="105106" y="4399"/>
                  <a:pt x="103086" y="12271"/>
                  <a:pt x="98047" y="17578"/>
                </a:cubicBezTo>
                <a:close/>
              </a:path>
            </a:pathLst>
          </a:custGeom>
          <a:gradFill>
            <a:gsLst>
              <a:gs pos="0">
                <a:srgbClr val="FFFEFE"/>
              </a:gs>
              <a:gs pos="65000">
                <a:srgbClr val="ECECEC"/>
              </a:gs>
              <a:gs pos="100000">
                <a:schemeClr val="accent3"/>
              </a:gs>
            </a:gsLst>
            <a:lin ang="5400700" scaled="0"/>
          </a:gradFill>
          <a:ln>
            <a:noFill/>
          </a:ln>
          <a:effectLst>
            <a:outerShdw blurRad="57150" rotWithShape="0" algn="bl" dist="19050">
              <a:srgbClr val="B7B7B7">
                <a:alpha val="6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6" name="Google Shape;66;p38"/>
          <p:cNvGrpSpPr/>
          <p:nvPr/>
        </p:nvGrpSpPr>
        <p:grpSpPr>
          <a:xfrm>
            <a:off x="3247824" y="-408375"/>
            <a:ext cx="5985963" cy="5776828"/>
            <a:chOff x="2407800" y="3054100"/>
            <a:chExt cx="1723075" cy="1662875"/>
          </a:xfrm>
        </p:grpSpPr>
        <p:sp>
          <p:nvSpPr>
            <p:cNvPr id="67" name="Google Shape;67;p38"/>
            <p:cNvSpPr/>
            <p:nvPr/>
          </p:nvSpPr>
          <p:spPr>
            <a:xfrm>
              <a:off x="2407800" y="3054100"/>
              <a:ext cx="1723075" cy="1662725"/>
            </a:xfrm>
            <a:custGeom>
              <a:rect b="b" l="l" r="r" t="t"/>
              <a:pathLst>
                <a:path extrusionOk="0" h="66509" w="68923">
                  <a:moveTo>
                    <a:pt x="68923" y="1"/>
                  </a:moveTo>
                  <a:cubicBezTo>
                    <a:pt x="68923" y="1"/>
                    <a:pt x="66682" y="14476"/>
                    <a:pt x="52039" y="20507"/>
                  </a:cubicBezTo>
                  <a:cubicBezTo>
                    <a:pt x="37396" y="26537"/>
                    <a:pt x="26877" y="21194"/>
                    <a:pt x="16543" y="24296"/>
                  </a:cubicBezTo>
                  <a:cubicBezTo>
                    <a:pt x="6204" y="27398"/>
                    <a:pt x="0" y="40839"/>
                    <a:pt x="6204" y="52900"/>
                  </a:cubicBezTo>
                  <a:cubicBezTo>
                    <a:pt x="12408" y="64961"/>
                    <a:pt x="24642" y="66509"/>
                    <a:pt x="24642" y="66509"/>
                  </a:cubicBezTo>
                  <a:lnTo>
                    <a:pt x="68923" y="66509"/>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5400000" dist="19050">
                <a:srgbClr val="999999">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8"/>
            <p:cNvSpPr/>
            <p:nvPr/>
          </p:nvSpPr>
          <p:spPr>
            <a:xfrm>
              <a:off x="2584850" y="3364300"/>
              <a:ext cx="1546025" cy="1352675"/>
            </a:xfrm>
            <a:custGeom>
              <a:rect b="b" l="l" r="r" t="t"/>
              <a:pathLst>
                <a:path extrusionOk="0" h="54107" w="61841">
                  <a:moveTo>
                    <a:pt x="61841" y="0"/>
                  </a:moveTo>
                  <a:cubicBezTo>
                    <a:pt x="61841" y="0"/>
                    <a:pt x="58566" y="8439"/>
                    <a:pt x="40815" y="11888"/>
                  </a:cubicBezTo>
                  <a:cubicBezTo>
                    <a:pt x="23070" y="15336"/>
                    <a:pt x="7943" y="12426"/>
                    <a:pt x="4118" y="27050"/>
                  </a:cubicBezTo>
                  <a:cubicBezTo>
                    <a:pt x="0" y="42781"/>
                    <a:pt x="17554" y="54107"/>
                    <a:pt x="17554" y="54107"/>
                  </a:cubicBezTo>
                  <a:lnTo>
                    <a:pt x="61841" y="54107"/>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10800000" dist="19050">
                <a:srgbClr val="B7B7B7">
                  <a:alpha val="4039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8"/>
            <p:cNvSpPr/>
            <p:nvPr/>
          </p:nvSpPr>
          <p:spPr>
            <a:xfrm>
              <a:off x="2799700" y="3644300"/>
              <a:ext cx="1331175" cy="1072525"/>
            </a:xfrm>
            <a:custGeom>
              <a:rect b="b" l="l" r="r" t="t"/>
              <a:pathLst>
                <a:path extrusionOk="0" h="42901" w="53247">
                  <a:moveTo>
                    <a:pt x="53247" y="0"/>
                  </a:moveTo>
                  <a:cubicBezTo>
                    <a:pt x="53247" y="0"/>
                    <a:pt x="49625" y="4363"/>
                    <a:pt x="32568" y="5021"/>
                  </a:cubicBezTo>
                  <a:cubicBezTo>
                    <a:pt x="15510" y="5684"/>
                    <a:pt x="3790" y="6270"/>
                    <a:pt x="1895" y="19502"/>
                  </a:cubicBezTo>
                  <a:cubicBezTo>
                    <a:pt x="1" y="32734"/>
                    <a:pt x="10687" y="42901"/>
                    <a:pt x="10687" y="42901"/>
                  </a:cubicBezTo>
                  <a:lnTo>
                    <a:pt x="53247" y="4290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10800000" dist="19050">
                <a:srgbClr val="B7B7B7">
                  <a:alpha val="4039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8"/>
            <p:cNvSpPr/>
            <p:nvPr/>
          </p:nvSpPr>
          <p:spPr>
            <a:xfrm>
              <a:off x="2799700" y="3644300"/>
              <a:ext cx="1331175" cy="1072525"/>
            </a:xfrm>
            <a:custGeom>
              <a:rect b="b" l="l" r="r" t="t"/>
              <a:pathLst>
                <a:path extrusionOk="0" fill="none" h="42901" w="53247">
                  <a:moveTo>
                    <a:pt x="53247" y="0"/>
                  </a:moveTo>
                  <a:cubicBezTo>
                    <a:pt x="53247" y="0"/>
                    <a:pt x="49625" y="4363"/>
                    <a:pt x="32568" y="5021"/>
                  </a:cubicBezTo>
                  <a:cubicBezTo>
                    <a:pt x="15510" y="5684"/>
                    <a:pt x="3790" y="6270"/>
                    <a:pt x="1895" y="19502"/>
                  </a:cubicBezTo>
                  <a:cubicBezTo>
                    <a:pt x="1" y="32734"/>
                    <a:pt x="10687" y="42901"/>
                    <a:pt x="10687" y="4290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8"/>
            <p:cNvSpPr/>
            <p:nvPr/>
          </p:nvSpPr>
          <p:spPr>
            <a:xfrm>
              <a:off x="2584850" y="3364300"/>
              <a:ext cx="1546025" cy="1352675"/>
            </a:xfrm>
            <a:custGeom>
              <a:rect b="b" l="l" r="r" t="t"/>
              <a:pathLst>
                <a:path extrusionOk="0" fill="none" h="54107" w="61841">
                  <a:moveTo>
                    <a:pt x="61841" y="0"/>
                  </a:moveTo>
                  <a:cubicBezTo>
                    <a:pt x="61841" y="0"/>
                    <a:pt x="58566" y="8439"/>
                    <a:pt x="40815" y="11888"/>
                  </a:cubicBezTo>
                  <a:cubicBezTo>
                    <a:pt x="23070" y="15336"/>
                    <a:pt x="7943" y="12426"/>
                    <a:pt x="4118" y="27050"/>
                  </a:cubicBezTo>
                  <a:cubicBezTo>
                    <a:pt x="0" y="42781"/>
                    <a:pt x="17554" y="54107"/>
                    <a:pt x="17554" y="54107"/>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8"/>
            <p:cNvSpPr/>
            <p:nvPr/>
          </p:nvSpPr>
          <p:spPr>
            <a:xfrm>
              <a:off x="2407800" y="3054100"/>
              <a:ext cx="1723075" cy="1662725"/>
            </a:xfrm>
            <a:custGeom>
              <a:rect b="b" l="l" r="r" t="t"/>
              <a:pathLst>
                <a:path extrusionOk="0" fill="none" h="66509" w="68923">
                  <a:moveTo>
                    <a:pt x="68923" y="1"/>
                  </a:moveTo>
                  <a:cubicBezTo>
                    <a:pt x="68923" y="1"/>
                    <a:pt x="66682" y="14476"/>
                    <a:pt x="52039" y="20507"/>
                  </a:cubicBezTo>
                  <a:cubicBezTo>
                    <a:pt x="37396" y="26537"/>
                    <a:pt x="26877" y="21194"/>
                    <a:pt x="16543" y="24296"/>
                  </a:cubicBezTo>
                  <a:cubicBezTo>
                    <a:pt x="6204" y="27398"/>
                    <a:pt x="0" y="40839"/>
                    <a:pt x="6204" y="52900"/>
                  </a:cubicBezTo>
                  <a:cubicBezTo>
                    <a:pt x="12408" y="64961"/>
                    <a:pt x="24642" y="66509"/>
                    <a:pt x="24642" y="66509"/>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 name="Google Shape;73;p38"/>
          <p:cNvGrpSpPr/>
          <p:nvPr/>
        </p:nvGrpSpPr>
        <p:grpSpPr>
          <a:xfrm>
            <a:off x="-17" y="-962218"/>
            <a:ext cx="7767430" cy="4298033"/>
            <a:chOff x="1472900" y="2894675"/>
            <a:chExt cx="2235875" cy="1237200"/>
          </a:xfrm>
        </p:grpSpPr>
        <p:sp>
          <p:nvSpPr>
            <p:cNvPr id="74" name="Google Shape;74;p38"/>
            <p:cNvSpPr/>
            <p:nvPr/>
          </p:nvSpPr>
          <p:spPr>
            <a:xfrm>
              <a:off x="1472900" y="2894675"/>
              <a:ext cx="2235875" cy="1237200"/>
            </a:xfrm>
            <a:custGeom>
              <a:rect b="b" l="l" r="r" t="t"/>
              <a:pathLst>
                <a:path extrusionOk="0" h="49488" w="89435">
                  <a:moveTo>
                    <a:pt x="0" y="49487"/>
                  </a:moveTo>
                  <a:cubicBezTo>
                    <a:pt x="0" y="49487"/>
                    <a:pt x="4190" y="33691"/>
                    <a:pt x="19992" y="27224"/>
                  </a:cubicBezTo>
                  <a:cubicBezTo>
                    <a:pt x="38944" y="19473"/>
                    <a:pt x="46331" y="28665"/>
                    <a:pt x="65827" y="23608"/>
                  </a:cubicBezTo>
                  <a:cubicBezTo>
                    <a:pt x="85317" y="18546"/>
                    <a:pt x="89435" y="1"/>
                    <a:pt x="89435" y="1"/>
                  </a:cubicBezTo>
                  <a:lnTo>
                    <a:pt x="6"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8820000" dist="19050">
                <a:srgbClr val="B7B7B7">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8"/>
            <p:cNvSpPr/>
            <p:nvPr/>
          </p:nvSpPr>
          <p:spPr>
            <a:xfrm>
              <a:off x="1472900" y="2894675"/>
              <a:ext cx="1990250" cy="1016650"/>
            </a:xfrm>
            <a:custGeom>
              <a:rect b="b" l="l" r="r" t="t"/>
              <a:pathLst>
                <a:path extrusionOk="0" h="40666" w="79610">
                  <a:moveTo>
                    <a:pt x="0" y="40666"/>
                  </a:moveTo>
                  <a:cubicBezTo>
                    <a:pt x="0" y="40666"/>
                    <a:pt x="2743" y="28975"/>
                    <a:pt x="17410" y="23608"/>
                  </a:cubicBezTo>
                  <a:cubicBezTo>
                    <a:pt x="31109" y="18594"/>
                    <a:pt x="41508" y="24887"/>
                    <a:pt x="59342" y="20261"/>
                  </a:cubicBezTo>
                  <a:cubicBezTo>
                    <a:pt x="77177" y="15630"/>
                    <a:pt x="79609" y="1"/>
                    <a:pt x="79609" y="1"/>
                  </a:cubicBezTo>
                  <a:lnTo>
                    <a:pt x="0"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6600000" dist="19050">
                <a:srgbClr val="B7B7B7">
                  <a:alpha val="4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8"/>
            <p:cNvSpPr/>
            <p:nvPr/>
          </p:nvSpPr>
          <p:spPr>
            <a:xfrm>
              <a:off x="1472900" y="2894675"/>
              <a:ext cx="1754175" cy="766825"/>
            </a:xfrm>
            <a:custGeom>
              <a:rect b="b" l="l" r="r" t="t"/>
              <a:pathLst>
                <a:path extrusionOk="0" h="30673" w="70167">
                  <a:moveTo>
                    <a:pt x="0" y="30673"/>
                  </a:moveTo>
                  <a:cubicBezTo>
                    <a:pt x="0" y="30673"/>
                    <a:pt x="4136" y="22228"/>
                    <a:pt x="16436" y="18953"/>
                  </a:cubicBezTo>
                  <a:cubicBezTo>
                    <a:pt x="28443" y="15761"/>
                    <a:pt x="35352" y="21194"/>
                    <a:pt x="50539" y="17255"/>
                  </a:cubicBezTo>
                  <a:cubicBezTo>
                    <a:pt x="65725" y="13311"/>
                    <a:pt x="70166" y="1"/>
                    <a:pt x="70166" y="1"/>
                  </a:cubicBezTo>
                  <a:lnTo>
                    <a:pt x="0"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2580000" dist="19050">
                <a:srgbClr val="D9D9D9">
                  <a:alpha val="4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8"/>
            <p:cNvSpPr/>
            <p:nvPr/>
          </p:nvSpPr>
          <p:spPr>
            <a:xfrm>
              <a:off x="1472900" y="2894675"/>
              <a:ext cx="1754175" cy="766825"/>
            </a:xfrm>
            <a:custGeom>
              <a:rect b="b" l="l" r="r" t="t"/>
              <a:pathLst>
                <a:path extrusionOk="0" fill="none" h="30673" w="70167">
                  <a:moveTo>
                    <a:pt x="0" y="30673"/>
                  </a:moveTo>
                  <a:cubicBezTo>
                    <a:pt x="0" y="30673"/>
                    <a:pt x="4136" y="22228"/>
                    <a:pt x="16436" y="18953"/>
                  </a:cubicBezTo>
                  <a:cubicBezTo>
                    <a:pt x="28443" y="15761"/>
                    <a:pt x="35352" y="21194"/>
                    <a:pt x="50539" y="17255"/>
                  </a:cubicBezTo>
                  <a:cubicBezTo>
                    <a:pt x="65725" y="13311"/>
                    <a:pt x="70166" y="1"/>
                    <a:pt x="70166"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8"/>
            <p:cNvSpPr/>
            <p:nvPr/>
          </p:nvSpPr>
          <p:spPr>
            <a:xfrm>
              <a:off x="1472900" y="2894675"/>
              <a:ext cx="1990250" cy="1016650"/>
            </a:xfrm>
            <a:custGeom>
              <a:rect b="b" l="l" r="r" t="t"/>
              <a:pathLst>
                <a:path extrusionOk="0" fill="none" h="40666" w="79610">
                  <a:moveTo>
                    <a:pt x="0" y="40666"/>
                  </a:moveTo>
                  <a:cubicBezTo>
                    <a:pt x="0" y="40666"/>
                    <a:pt x="2743" y="28975"/>
                    <a:pt x="17410" y="23608"/>
                  </a:cubicBezTo>
                  <a:cubicBezTo>
                    <a:pt x="31109" y="18594"/>
                    <a:pt x="41508" y="24887"/>
                    <a:pt x="59342" y="20261"/>
                  </a:cubicBezTo>
                  <a:cubicBezTo>
                    <a:pt x="77177" y="15630"/>
                    <a:pt x="79609" y="1"/>
                    <a:pt x="79609"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8"/>
            <p:cNvSpPr/>
            <p:nvPr/>
          </p:nvSpPr>
          <p:spPr>
            <a:xfrm>
              <a:off x="1472900" y="2894675"/>
              <a:ext cx="2235875" cy="1237200"/>
            </a:xfrm>
            <a:custGeom>
              <a:rect b="b" l="l" r="r" t="t"/>
              <a:pathLst>
                <a:path extrusionOk="0" fill="none" h="49488" w="89435">
                  <a:moveTo>
                    <a:pt x="0" y="49487"/>
                  </a:moveTo>
                  <a:cubicBezTo>
                    <a:pt x="0" y="49487"/>
                    <a:pt x="4190" y="33691"/>
                    <a:pt x="19992" y="27224"/>
                  </a:cubicBezTo>
                  <a:cubicBezTo>
                    <a:pt x="38944" y="19473"/>
                    <a:pt x="46331" y="28665"/>
                    <a:pt x="65827" y="23608"/>
                  </a:cubicBezTo>
                  <a:cubicBezTo>
                    <a:pt x="85317" y="18546"/>
                    <a:pt x="89435" y="1"/>
                    <a:pt x="89435"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0" name="Google Shape;80;p38"/>
          <p:cNvSpPr/>
          <p:nvPr/>
        </p:nvSpPr>
        <p:spPr>
          <a:xfrm>
            <a:off x="720000" y="995250"/>
            <a:ext cx="3706500" cy="3153000"/>
          </a:xfrm>
          <a:prstGeom prst="roundRect">
            <a:avLst>
              <a:gd fmla="val 8467" name="adj"/>
            </a:avLst>
          </a:prstGeom>
          <a:solidFill>
            <a:schemeClr val="lt2"/>
          </a:solidFill>
          <a:ln>
            <a:noFill/>
          </a:ln>
          <a:effectLst>
            <a:outerShdw blurRad="185738" rotWithShape="0" algn="bl" dir="6120000" dist="66675">
              <a:srgbClr val="999999">
                <a:alpha val="5098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8"/>
          <p:cNvSpPr txBox="1"/>
          <p:nvPr>
            <p:ph type="title"/>
          </p:nvPr>
        </p:nvSpPr>
        <p:spPr>
          <a:xfrm>
            <a:off x="1169275" y="1377288"/>
            <a:ext cx="2808000" cy="465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2" name="Google Shape;82;p38"/>
          <p:cNvSpPr txBox="1"/>
          <p:nvPr>
            <p:ph idx="1" type="subTitle"/>
          </p:nvPr>
        </p:nvSpPr>
        <p:spPr>
          <a:xfrm>
            <a:off x="1169275" y="1948813"/>
            <a:ext cx="2808000" cy="18174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Clr>
                <a:schemeClr val="dk1"/>
              </a:buClr>
              <a:buSzPts val="20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83" name="Google Shape;83;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Subtitle">
  <p:cSld name="Title-Subtitle">
    <p:spTree>
      <p:nvGrpSpPr>
        <p:cNvPr id="84" name="Shape 84"/>
        <p:cNvGrpSpPr/>
        <p:nvPr/>
      </p:nvGrpSpPr>
      <p:grpSpPr>
        <a:xfrm>
          <a:off x="0" y="0"/>
          <a:ext cx="0" cy="0"/>
          <a:chOff x="0" y="0"/>
          <a:chExt cx="0" cy="0"/>
        </a:xfrm>
      </p:grpSpPr>
      <p:sp>
        <p:nvSpPr>
          <p:cNvPr id="85" name="Google Shape;85;p39"/>
          <p:cNvSpPr txBox="1"/>
          <p:nvPr>
            <p:ph idx="1" type="body"/>
          </p:nvPr>
        </p:nvSpPr>
        <p:spPr>
          <a:xfrm>
            <a:off x="387819" y="730530"/>
            <a:ext cx="8368500" cy="173400"/>
          </a:xfrm>
          <a:prstGeom prst="rect">
            <a:avLst/>
          </a:prstGeom>
          <a:noFill/>
          <a:ln>
            <a:noFill/>
          </a:ln>
        </p:spPr>
        <p:txBody>
          <a:bodyPr anchorCtr="0" anchor="ctr" bIns="0" lIns="0" spcFirstLastPara="1" rIns="0" wrap="square" tIns="0">
            <a:normAutofit/>
          </a:bodyPr>
          <a:lstStyle>
            <a:lvl1pPr indent="-228600" lvl="0" marL="457200" marR="0" algn="l">
              <a:lnSpc>
                <a:spcPct val="115000"/>
              </a:lnSpc>
              <a:spcBef>
                <a:spcPts val="220"/>
              </a:spcBef>
              <a:spcAft>
                <a:spcPts val="0"/>
              </a:spcAft>
              <a:buClr>
                <a:srgbClr val="7F7F7F"/>
              </a:buClr>
              <a:buSzPts val="1100"/>
              <a:buFont typeface="Arial"/>
              <a:buNone/>
              <a:defRPr b="0" i="0" sz="1100" u="none" cap="none" strike="noStrike">
                <a:solidFill>
                  <a:srgbClr val="7F7F7F"/>
                </a:solidFill>
                <a:latin typeface="Roboto"/>
                <a:ea typeface="Roboto"/>
                <a:cs typeface="Roboto"/>
                <a:sym typeface="Roboto"/>
              </a:defRPr>
            </a:lvl1pPr>
            <a:lvl2pPr indent="-228600" lvl="1" marL="914400" marR="0" algn="l">
              <a:lnSpc>
                <a:spcPct val="115000"/>
              </a:lnSpc>
              <a:spcBef>
                <a:spcPts val="12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2pPr>
            <a:lvl3pPr indent="-228600" lvl="2" marL="1371600" marR="0" algn="l">
              <a:lnSpc>
                <a:spcPct val="115000"/>
              </a:lnSpc>
              <a:spcBef>
                <a:spcPts val="1200"/>
              </a:spcBef>
              <a:spcAft>
                <a:spcPts val="0"/>
              </a:spcAft>
              <a:buClr>
                <a:schemeClr val="dk1"/>
              </a:buClr>
              <a:buSzPts val="1000"/>
              <a:buFont typeface="Arial"/>
              <a:buNone/>
              <a:defRPr b="0" i="0" sz="1000" u="none" cap="none" strike="noStrike">
                <a:solidFill>
                  <a:schemeClr val="dk1"/>
                </a:solidFill>
                <a:latin typeface="Roboto"/>
                <a:ea typeface="Roboto"/>
                <a:cs typeface="Roboto"/>
                <a:sym typeface="Roboto"/>
              </a:defRPr>
            </a:lvl3pPr>
            <a:lvl4pPr indent="-228600" lvl="3" marL="18288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4pPr>
            <a:lvl5pPr indent="-228600" lvl="4" marL="22860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5pPr>
            <a:lvl6pPr indent="-228600" lvl="5" marL="27432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6pPr>
            <a:lvl7pPr indent="-228600" lvl="6" marL="32004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7pPr>
            <a:lvl8pPr indent="-228600" lvl="7" marL="36576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8pPr>
            <a:lvl9pPr indent="-228600" lvl="8" marL="4114800" marR="0" algn="l">
              <a:lnSpc>
                <a:spcPct val="115000"/>
              </a:lnSpc>
              <a:spcBef>
                <a:spcPts val="1200"/>
              </a:spcBef>
              <a:spcAft>
                <a:spcPts val="1200"/>
              </a:spcAft>
              <a:buClr>
                <a:schemeClr val="dk1"/>
              </a:buClr>
              <a:buSzPts val="900"/>
              <a:buFont typeface="Arial"/>
              <a:buNone/>
              <a:defRPr b="0" i="0" sz="900" u="none" cap="none" strike="noStrike">
                <a:solidFill>
                  <a:schemeClr val="dk1"/>
                </a:solidFill>
                <a:latin typeface="Roboto"/>
                <a:ea typeface="Roboto"/>
                <a:cs typeface="Roboto"/>
                <a:sym typeface="Roboto"/>
              </a:defRPr>
            </a:lvl9pPr>
          </a:lstStyle>
          <a:p/>
        </p:txBody>
      </p:sp>
      <p:sp>
        <p:nvSpPr>
          <p:cNvPr id="86" name="Google Shape;86;p39"/>
          <p:cNvSpPr txBox="1"/>
          <p:nvPr>
            <p:ph type="title"/>
          </p:nvPr>
        </p:nvSpPr>
        <p:spPr>
          <a:xfrm>
            <a:off x="387819" y="282611"/>
            <a:ext cx="8368500" cy="409500"/>
          </a:xfrm>
          <a:prstGeom prst="rect">
            <a:avLst/>
          </a:prstGeom>
          <a:noFill/>
          <a:ln>
            <a:noFill/>
          </a:ln>
        </p:spPr>
        <p:txBody>
          <a:bodyPr anchorCtr="0" anchor="ctr" bIns="0" lIns="0" spcFirstLastPara="1" rIns="0" wrap="square" tIns="0">
            <a:normAutofit/>
          </a:bodyPr>
          <a:lstStyle>
            <a:lvl1pPr lvl="0" marR="0" algn="l">
              <a:lnSpc>
                <a:spcPct val="100000"/>
              </a:lnSpc>
              <a:spcBef>
                <a:spcPts val="0"/>
              </a:spcBef>
              <a:spcAft>
                <a:spcPts val="0"/>
              </a:spcAft>
              <a:buClr>
                <a:srgbClr val="5B5B5B"/>
              </a:buClr>
              <a:buSzPts val="2800"/>
              <a:buFont typeface="Roboto"/>
              <a:buNone/>
              <a:defRPr b="0" i="0" sz="2800" u="none" cap="none" strike="noStrike">
                <a:solidFill>
                  <a:srgbClr val="5B5B5B"/>
                </a:solidFill>
                <a:latin typeface="Roboto"/>
                <a:ea typeface="Roboto"/>
                <a:cs typeface="Roboto"/>
                <a:sym typeface="Roboto"/>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87" name="Google Shape;87;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88" name="Shape 88"/>
        <p:cNvGrpSpPr/>
        <p:nvPr/>
      </p:nvGrpSpPr>
      <p:grpSpPr>
        <a:xfrm>
          <a:off x="0" y="0"/>
          <a:ext cx="0" cy="0"/>
          <a:chOff x="0" y="0"/>
          <a:chExt cx="0" cy="0"/>
        </a:xfrm>
      </p:grpSpPr>
      <p:pic>
        <p:nvPicPr>
          <p:cNvPr descr="0001.png" id="89" name="Google Shape;89;p40"/>
          <p:cNvPicPr preferRelativeResize="0"/>
          <p:nvPr/>
        </p:nvPicPr>
        <p:blipFill rotWithShape="1">
          <a:blip r:embed="rId2">
            <a:alphaModFix/>
          </a:blip>
          <a:srcRect b="0" l="0" r="0" t="0"/>
          <a:stretch/>
        </p:blipFill>
        <p:spPr>
          <a:xfrm>
            <a:off x="0" y="-1"/>
            <a:ext cx="9144003" cy="5143502"/>
          </a:xfrm>
          <a:prstGeom prst="rect">
            <a:avLst/>
          </a:prstGeom>
          <a:noFill/>
          <a:ln>
            <a:noFill/>
          </a:ln>
        </p:spPr>
      </p:pic>
      <p:pic>
        <p:nvPicPr>
          <p:cNvPr descr="0002.png" id="90" name="Google Shape;90;p40"/>
          <p:cNvPicPr preferRelativeResize="0"/>
          <p:nvPr/>
        </p:nvPicPr>
        <p:blipFill rotWithShape="1">
          <a:blip r:embed="rId3">
            <a:alphaModFix/>
          </a:blip>
          <a:srcRect b="5453" l="0" r="31877" t="73562"/>
          <a:stretch/>
        </p:blipFill>
        <p:spPr>
          <a:xfrm>
            <a:off x="0" y="3783725"/>
            <a:ext cx="6228185" cy="1079222"/>
          </a:xfrm>
          <a:prstGeom prst="rect">
            <a:avLst/>
          </a:prstGeom>
          <a:noFill/>
          <a:ln>
            <a:noFill/>
          </a:ln>
        </p:spPr>
      </p:pic>
      <p:pic>
        <p:nvPicPr>
          <p:cNvPr descr="0002.png" id="91" name="Google Shape;91;p40"/>
          <p:cNvPicPr preferRelativeResize="0"/>
          <p:nvPr/>
        </p:nvPicPr>
        <p:blipFill rotWithShape="1">
          <a:blip r:embed="rId3">
            <a:alphaModFix/>
          </a:blip>
          <a:srcRect b="5455" l="68112" r="0" t="0"/>
          <a:stretch/>
        </p:blipFill>
        <p:spPr>
          <a:xfrm>
            <a:off x="6228184" y="0"/>
            <a:ext cx="2915815" cy="486294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omments" Target="../comments/commen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omments" Target="../comments/comment3.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omments" Target="../comments/commen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omments" Target="../comments/commen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comments" Target="../comments/commen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comments" Target="../comments/commen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comments" Target="../comments/commen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comments" Target="../comments/commen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comments" Target="../comments/commen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comments" Target="../comments/commen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comments" Target="../comments/commen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p:nvPr/>
        </p:nvSpPr>
        <p:spPr>
          <a:xfrm>
            <a:off x="0" y="140500"/>
            <a:ext cx="9204000" cy="46302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97" name="Google Shape;97;p1"/>
          <p:cNvSpPr txBox="1"/>
          <p:nvPr/>
        </p:nvSpPr>
        <p:spPr>
          <a:xfrm>
            <a:off x="535776" y="582375"/>
            <a:ext cx="8222400" cy="1046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3200"/>
              <a:buFont typeface="Roboto"/>
              <a:buNone/>
            </a:pPr>
            <a:r>
              <a:t/>
            </a:r>
            <a:endParaRPr b="1" i="0" sz="32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    </a:t>
            </a:r>
            <a:endParaRPr b="1" i="0" sz="32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 </a:t>
            </a:r>
            <a:r>
              <a:rPr b="1" i="0" lang="en" sz="2600" u="none" cap="none" strike="noStrike">
                <a:solidFill>
                  <a:schemeClr val="lt1"/>
                </a:solidFill>
                <a:latin typeface="Roboto"/>
                <a:ea typeface="Roboto"/>
                <a:cs typeface="Roboto"/>
                <a:sym typeface="Roboto"/>
              </a:rPr>
              <a:t>A GIFT OF FIRE THIRD EDITION - SARA BAASE</a:t>
            </a:r>
            <a:endParaRPr b="1" i="0" sz="26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rPr b="1" i="0" lang="en" sz="2600" u="none" cap="none" strike="noStrike">
                <a:solidFill>
                  <a:schemeClr val="lt1"/>
                </a:solidFill>
                <a:latin typeface="Roboto"/>
                <a:ea typeface="Roboto"/>
                <a:cs typeface="Roboto"/>
                <a:sym typeface="Roboto"/>
              </a:rPr>
              <a:t>CHAPTER 2: PRIVACY</a:t>
            </a:r>
            <a:endParaRPr b="1" i="0" sz="20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t/>
            </a:r>
            <a:endParaRPr b="1" i="0" sz="32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Lecture 4</a:t>
            </a:r>
            <a:endParaRPr b="1" i="0" sz="32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"PROTECTING PRIVACY”</a:t>
            </a:r>
            <a:endParaRPr b="1" i="0" sz="3200" u="none" cap="none" strike="noStrike">
              <a:solidFill>
                <a:schemeClr val="lt1"/>
              </a:solidFill>
              <a:latin typeface="Roboto"/>
              <a:ea typeface="Roboto"/>
              <a:cs typeface="Roboto"/>
              <a:sym typeface="Roboto"/>
            </a:endParaRPr>
          </a:p>
        </p:txBody>
      </p:sp>
      <p:sp>
        <p:nvSpPr>
          <p:cNvPr id="98" name="Google Shape;98;p1"/>
          <p:cNvSpPr txBox="1"/>
          <p:nvPr/>
        </p:nvSpPr>
        <p:spPr>
          <a:xfrm>
            <a:off x="2584725" y="3146550"/>
            <a:ext cx="4143900" cy="1548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600"/>
              </a:spcBef>
              <a:spcAft>
                <a:spcPts val="0"/>
              </a:spcAft>
              <a:buClr>
                <a:schemeClr val="lt1"/>
              </a:buClr>
              <a:buSzPts val="1600"/>
              <a:buFont typeface="Noto Sans Symbols"/>
              <a:buNone/>
            </a:pPr>
            <a:r>
              <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lang="en" sz="1700">
                <a:solidFill>
                  <a:schemeClr val="lt1"/>
                </a:solidFill>
              </a:rPr>
              <a:t>Md Umaid Hasan</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b="0" i="0" lang="en" sz="1700" u="none" cap="none" strike="noStrike">
                <a:solidFill>
                  <a:schemeClr val="lt1"/>
                </a:solidFill>
                <a:latin typeface="Arial"/>
                <a:ea typeface="Arial"/>
                <a:cs typeface="Arial"/>
                <a:sym typeface="Arial"/>
              </a:rPr>
              <a:t>Lecturer, Dept.of CSE</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b="0" i="0" lang="en" sz="1700" u="none" cap="none" strike="noStrike">
                <a:solidFill>
                  <a:schemeClr val="lt1"/>
                </a:solidFill>
                <a:latin typeface="Arial"/>
                <a:ea typeface="Arial"/>
                <a:cs typeface="Arial"/>
                <a:sym typeface="Arial"/>
              </a:rPr>
              <a:t>Daffodil International University</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t/>
            </a:r>
            <a:endParaRPr b="0" i="0" sz="1400" u="none" cap="none" strike="noStrike">
              <a:solidFill>
                <a:srgbClr val="000000"/>
              </a:solidFill>
              <a:latin typeface="Arial"/>
              <a:ea typeface="Arial"/>
              <a:cs typeface="Arial"/>
              <a:sym typeface="Arial"/>
            </a:endParaRPr>
          </a:p>
        </p:txBody>
      </p:sp>
      <p:sp>
        <p:nvSpPr>
          <p:cNvPr id="99" name="Google Shape;99;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97"/>
                                        </p:tgtEl>
                                        <p:attrNameLst>
                                          <p:attrName>style.visibility</p:attrName>
                                        </p:attrNameLst>
                                      </p:cBhvr>
                                      <p:to>
                                        <p:strVal val="visible"/>
                                      </p:to>
                                    </p:set>
                                    <p:anim calcmode="lin" valueType="num">
                                      <p:cBhvr additive="base">
                                        <p:cTn dur="500"/>
                                        <p:tgtEl>
                                          <p:spTgt spid="97"/>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50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112cd06712c_0_185"/>
          <p:cNvSpPr txBox="1"/>
          <p:nvPr>
            <p:ph type="title"/>
          </p:nvPr>
        </p:nvSpPr>
        <p:spPr>
          <a:xfrm>
            <a:off x="311700" y="62600"/>
            <a:ext cx="83040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Technology and Markets:</a:t>
            </a:r>
            <a:endParaRPr b="1" sz="2600">
              <a:solidFill>
                <a:schemeClr val="lt1"/>
              </a:solidFill>
              <a:latin typeface="Malgun Gothic"/>
              <a:ea typeface="Malgun Gothic"/>
              <a:cs typeface="Malgun Gothic"/>
              <a:sym typeface="Malgun Gothic"/>
            </a:endParaRPr>
          </a:p>
        </p:txBody>
      </p:sp>
      <p:sp>
        <p:nvSpPr>
          <p:cNvPr id="105" name="Google Shape;105;g112cd06712c_0_185"/>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6" name="Google Shape;106;g112cd06712c_0_185"/>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g112cd06712c_0_185"/>
          <p:cNvSpPr txBox="1"/>
          <p:nvPr/>
        </p:nvSpPr>
        <p:spPr>
          <a:xfrm>
            <a:off x="464250" y="665200"/>
            <a:ext cx="8393700" cy="28323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1000"/>
              </a:spcBef>
              <a:spcAft>
                <a:spcPts val="0"/>
              </a:spcAft>
              <a:buClr>
                <a:srgbClr val="000000"/>
              </a:buClr>
              <a:buSzPts val="2500"/>
              <a:buFont typeface="Arial"/>
              <a:buNone/>
            </a:pPr>
            <a:r>
              <a:rPr b="1" i="0" lang="en" sz="2500" u="sng" cap="none" strike="noStrike">
                <a:solidFill>
                  <a:srgbClr val="980000"/>
                </a:solidFill>
                <a:latin typeface="Arial"/>
                <a:ea typeface="Arial"/>
                <a:cs typeface="Arial"/>
                <a:sym typeface="Arial"/>
              </a:rPr>
              <a:t>Awareness: </a:t>
            </a:r>
            <a:endParaRPr b="1" i="0" sz="2500" u="sng" cap="none" strike="noStrike">
              <a:solidFill>
                <a:srgbClr val="980000"/>
              </a:solidFill>
              <a:latin typeface="Arial"/>
              <a:ea typeface="Arial"/>
              <a:cs typeface="Arial"/>
              <a:sym typeface="Arial"/>
            </a:endParaRPr>
          </a:p>
          <a:p>
            <a:pPr indent="0" lvl="0" marL="457200" marR="0" rtl="0" algn="l">
              <a:lnSpc>
                <a:spcPct val="100000"/>
              </a:lnSpc>
              <a:spcBef>
                <a:spcPts val="100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Most people have figured out now you can’t do anything on the web without leaving a record. </a:t>
            </a:r>
            <a:endParaRPr b="0" i="0" sz="2000" u="none" cap="none" strike="noStrike">
              <a:solidFill>
                <a:srgbClr val="000000"/>
              </a:solidFill>
              <a:latin typeface="Arial"/>
              <a:ea typeface="Arial"/>
              <a:cs typeface="Arial"/>
              <a:sym typeface="Arial"/>
            </a:endParaRPr>
          </a:p>
          <a:p>
            <a:pPr indent="-361950" lvl="0" marL="914400" marR="0" rtl="0" algn="l">
              <a:lnSpc>
                <a:spcPct val="100000"/>
              </a:lnSpc>
              <a:spcBef>
                <a:spcPts val="1000"/>
              </a:spcBef>
              <a:spcAft>
                <a:spcPts val="0"/>
              </a:spcAft>
              <a:buClr>
                <a:schemeClr val="accent3"/>
              </a:buClr>
              <a:buSzPts val="2100"/>
              <a:buFont typeface="Arial"/>
              <a:buChar char="❏"/>
            </a:pPr>
            <a:r>
              <a:rPr b="0" i="0" lang="en" sz="2000" u="none" cap="none" strike="noStrike">
                <a:solidFill>
                  <a:srgbClr val="000000"/>
                </a:solidFill>
                <a:latin typeface="Arial"/>
                <a:ea typeface="Arial"/>
                <a:cs typeface="Arial"/>
                <a:sym typeface="Arial"/>
              </a:rPr>
              <a:t>We can decide to what extent we wish to use privacy-protecting tools.  </a:t>
            </a:r>
            <a:endParaRPr b="0" i="0" sz="2000" u="none" cap="none" strike="noStrike">
              <a:solidFill>
                <a:srgbClr val="000000"/>
              </a:solidFill>
              <a:latin typeface="Arial"/>
              <a:ea typeface="Arial"/>
              <a:cs typeface="Arial"/>
              <a:sym typeface="Arial"/>
            </a:endParaRPr>
          </a:p>
          <a:p>
            <a:pPr indent="-361950" lvl="0" marL="914400" marR="0" rtl="0" algn="l">
              <a:lnSpc>
                <a:spcPct val="100000"/>
              </a:lnSpc>
              <a:spcBef>
                <a:spcPts val="1000"/>
              </a:spcBef>
              <a:spcAft>
                <a:spcPts val="1000"/>
              </a:spcAft>
              <a:buClr>
                <a:schemeClr val="accent3"/>
              </a:buClr>
              <a:buSzPts val="2100"/>
              <a:buFont typeface="Arial"/>
              <a:buChar char="❏"/>
            </a:pPr>
            <a:r>
              <a:rPr b="0" i="0" lang="en" sz="2000" u="none" cap="none" strike="noStrike">
                <a:solidFill>
                  <a:srgbClr val="000000"/>
                </a:solidFill>
                <a:latin typeface="Arial"/>
                <a:ea typeface="Arial"/>
                <a:cs typeface="Arial"/>
                <a:sym typeface="Arial"/>
              </a:rPr>
              <a:t>We can be more careful about the information we give out, and the privacy policies of sites we use or visit.</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145f17dee8c_1_2"/>
          <p:cNvSpPr txBox="1"/>
          <p:nvPr>
            <p:ph type="title"/>
          </p:nvPr>
        </p:nvSpPr>
        <p:spPr>
          <a:xfrm>
            <a:off x="311700" y="62600"/>
            <a:ext cx="85608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Technology and Markets:</a:t>
            </a:r>
            <a:endParaRPr b="1">
              <a:solidFill>
                <a:schemeClr val="lt1"/>
              </a:solidFill>
              <a:latin typeface="Malgun Gothic"/>
              <a:ea typeface="Malgun Gothic"/>
              <a:cs typeface="Malgun Gothic"/>
              <a:sym typeface="Malgun Gothic"/>
            </a:endParaRPr>
          </a:p>
        </p:txBody>
      </p:sp>
      <p:sp>
        <p:nvSpPr>
          <p:cNvPr id="113" name="Google Shape;113;g145f17dee8c_1_2"/>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14" name="Google Shape;114;g145f17dee8c_1_2"/>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g145f17dee8c_1_2"/>
          <p:cNvSpPr txBox="1"/>
          <p:nvPr/>
        </p:nvSpPr>
        <p:spPr>
          <a:xfrm>
            <a:off x="622025" y="1033825"/>
            <a:ext cx="8089800" cy="2632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000"/>
              <a:buFont typeface="Arial"/>
              <a:buNone/>
            </a:pPr>
            <a:r>
              <a:rPr b="1" i="0" lang="en" sz="2000" u="sng" cap="none" strike="noStrike">
                <a:solidFill>
                  <a:srgbClr val="980000"/>
                </a:solidFill>
                <a:latin typeface="Arial"/>
                <a:ea typeface="Arial"/>
                <a:cs typeface="Arial"/>
                <a:sym typeface="Arial"/>
              </a:rPr>
              <a:t>Privacy-enhancing technologies for consumers</a:t>
            </a:r>
            <a:endParaRPr b="1" i="0" sz="2000" u="sng" cap="none" strike="noStrike">
              <a:solidFill>
                <a:srgbClr val="980000"/>
              </a:solidFill>
              <a:latin typeface="Arial"/>
              <a:ea typeface="Arial"/>
              <a:cs typeface="Arial"/>
              <a:sym typeface="Arial"/>
            </a:endParaRPr>
          </a:p>
          <a:p>
            <a:pPr indent="-349250" lvl="0" marL="457200" marR="0" rtl="0" algn="l">
              <a:lnSpc>
                <a:spcPct val="100000"/>
              </a:lnSpc>
              <a:spcBef>
                <a:spcPts val="1000"/>
              </a:spcBef>
              <a:spcAft>
                <a:spcPts val="0"/>
              </a:spcAft>
              <a:buClr>
                <a:schemeClr val="accent3"/>
              </a:buClr>
              <a:buSzPts val="1900"/>
              <a:buFont typeface="Arial"/>
              <a:buChar char="❏"/>
            </a:pPr>
            <a:r>
              <a:rPr b="0" i="0" lang="en" sz="1900" u="none" cap="none" strike="noStrike">
                <a:solidFill>
                  <a:srgbClr val="000000"/>
                </a:solidFill>
                <a:latin typeface="Arial"/>
                <a:ea typeface="Arial"/>
                <a:cs typeface="Arial"/>
                <a:sym typeface="Arial"/>
              </a:rPr>
              <a:t>New applications of technology often can solve problems that arise as side effects of technology. </a:t>
            </a:r>
            <a:endParaRPr b="0" i="0" sz="1900" u="none" cap="none" strike="noStrike">
              <a:solidFill>
                <a:srgbClr val="000000"/>
              </a:solidFill>
              <a:latin typeface="Arial"/>
              <a:ea typeface="Arial"/>
              <a:cs typeface="Arial"/>
              <a:sym typeface="Arial"/>
            </a:endParaRPr>
          </a:p>
          <a:p>
            <a:pPr indent="-349250" lvl="0" marL="457200" marR="0" rtl="0" algn="l">
              <a:lnSpc>
                <a:spcPct val="100000"/>
              </a:lnSpc>
              <a:spcBef>
                <a:spcPts val="1000"/>
              </a:spcBef>
              <a:spcAft>
                <a:spcPts val="0"/>
              </a:spcAft>
              <a:buClr>
                <a:schemeClr val="accent3"/>
              </a:buClr>
              <a:buSzPts val="1900"/>
              <a:buFont typeface="Arial"/>
              <a:buChar char="❏"/>
            </a:pPr>
            <a:r>
              <a:rPr b="0" i="0" lang="en" sz="1900" u="none" cap="none" strike="noStrike">
                <a:solidFill>
                  <a:srgbClr val="000000"/>
                </a:solidFill>
                <a:latin typeface="Arial"/>
                <a:ea typeface="Arial"/>
                <a:cs typeface="Arial"/>
                <a:sym typeface="Arial"/>
              </a:rPr>
              <a:t>Example: cookie disablers, blocking pop-up ads, scanning PCs for spyware, etc. </a:t>
            </a:r>
            <a:endParaRPr b="0" i="0" sz="1900" u="none" cap="none" strike="noStrike">
              <a:solidFill>
                <a:srgbClr val="000000"/>
              </a:solidFill>
              <a:latin typeface="Arial"/>
              <a:ea typeface="Arial"/>
              <a:cs typeface="Arial"/>
              <a:sym typeface="Arial"/>
            </a:endParaRPr>
          </a:p>
          <a:p>
            <a:pPr indent="-349250" lvl="0" marL="457200" marR="0" rtl="0" algn="l">
              <a:lnSpc>
                <a:spcPct val="100000"/>
              </a:lnSpc>
              <a:spcBef>
                <a:spcPts val="1000"/>
              </a:spcBef>
              <a:spcAft>
                <a:spcPts val="1000"/>
              </a:spcAft>
              <a:buClr>
                <a:schemeClr val="accent3"/>
              </a:buClr>
              <a:buSzPts val="1900"/>
              <a:buFont typeface="Arial"/>
              <a:buChar char="❏"/>
            </a:pPr>
            <a:r>
              <a:rPr b="0" i="0" lang="en" sz="1900" u="none" cap="none" strike="noStrike">
                <a:solidFill>
                  <a:srgbClr val="000000"/>
                </a:solidFill>
                <a:latin typeface="Arial"/>
                <a:ea typeface="Arial"/>
                <a:cs typeface="Arial"/>
                <a:sym typeface="Arial"/>
              </a:rPr>
              <a:t> Using usernames and passwords for Blogs visitors (family , friends, etc.)</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14732661473_0_13"/>
          <p:cNvSpPr txBox="1"/>
          <p:nvPr>
            <p:ph type="title"/>
          </p:nvPr>
        </p:nvSpPr>
        <p:spPr>
          <a:xfrm>
            <a:off x="311700" y="62600"/>
            <a:ext cx="76929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Technology and Markets:</a:t>
            </a:r>
            <a:endParaRPr b="1">
              <a:solidFill>
                <a:schemeClr val="lt1"/>
              </a:solidFill>
              <a:latin typeface="Malgun Gothic"/>
              <a:ea typeface="Malgun Gothic"/>
              <a:cs typeface="Malgun Gothic"/>
              <a:sym typeface="Malgun Gothic"/>
            </a:endParaRPr>
          </a:p>
        </p:txBody>
      </p:sp>
      <p:sp>
        <p:nvSpPr>
          <p:cNvPr id="121" name="Google Shape;121;g14732661473_0_13"/>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22" name="Google Shape;122;g14732661473_0_13"/>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g14732661473_0_13"/>
          <p:cNvSpPr txBox="1"/>
          <p:nvPr/>
        </p:nvSpPr>
        <p:spPr>
          <a:xfrm>
            <a:off x="311700" y="825175"/>
            <a:ext cx="8732400" cy="338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200"/>
              <a:buFont typeface="Arial"/>
              <a:buNone/>
            </a:pPr>
            <a:r>
              <a:rPr b="1" i="0" lang="en" sz="2200" u="sng" cap="none" strike="noStrike">
                <a:solidFill>
                  <a:srgbClr val="A61C00"/>
                </a:solidFill>
                <a:latin typeface="Arial"/>
                <a:ea typeface="Arial"/>
                <a:cs typeface="Arial"/>
                <a:sym typeface="Arial"/>
              </a:rPr>
              <a:t>Encryption</a:t>
            </a:r>
            <a:endParaRPr b="1" i="0" sz="2200" u="sng" cap="none" strike="noStrike">
              <a:solidFill>
                <a:srgbClr val="A61C00"/>
              </a:solidFill>
              <a:latin typeface="Arial"/>
              <a:ea typeface="Arial"/>
              <a:cs typeface="Arial"/>
              <a:sym typeface="Arial"/>
            </a:endParaRPr>
          </a:p>
          <a:p>
            <a:pPr indent="-342900" lvl="0" marL="914400" marR="0" rtl="0" algn="l">
              <a:lnSpc>
                <a:spcPct val="100000"/>
              </a:lnSpc>
              <a:spcBef>
                <a:spcPts val="100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Information sent to and from websites can be intercepted. </a:t>
            </a:r>
            <a:endParaRPr b="0" i="0" sz="1800" u="none" cap="none" strike="noStrike">
              <a:solidFill>
                <a:schemeClr val="dk2"/>
              </a:solidFill>
              <a:latin typeface="Arial"/>
              <a:ea typeface="Arial"/>
              <a:cs typeface="Arial"/>
              <a:sym typeface="Arial"/>
            </a:endParaRPr>
          </a:p>
          <a:p>
            <a:pPr indent="-342900" lvl="0" marL="914400" marR="0" rtl="0" algn="l">
              <a:lnSpc>
                <a:spcPct val="100000"/>
              </a:lnSpc>
              <a:spcBef>
                <a:spcPts val="100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 Someone who steals a computer or hacks into it can view files on it .  </a:t>
            </a:r>
            <a:endParaRPr b="0" i="0" sz="1800" u="none" cap="none" strike="noStrike">
              <a:solidFill>
                <a:schemeClr val="dk2"/>
              </a:solidFill>
              <a:latin typeface="Arial"/>
              <a:ea typeface="Arial"/>
              <a:cs typeface="Arial"/>
              <a:sym typeface="Arial"/>
            </a:endParaRPr>
          </a:p>
          <a:p>
            <a:pPr indent="-342900" lvl="0" marL="914400" marR="0" rtl="0" algn="l">
              <a:lnSpc>
                <a:spcPct val="100000"/>
              </a:lnSpc>
              <a:spcBef>
                <a:spcPts val="100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Encryption is a technology that transforms data into a form that that is meaningless to anyone who might intercept or view it.</a:t>
            </a:r>
            <a:endParaRPr b="0" i="0" sz="1800" u="none" cap="none" strike="noStrike">
              <a:solidFill>
                <a:schemeClr val="dk2"/>
              </a:solidFill>
              <a:latin typeface="Arial"/>
              <a:ea typeface="Arial"/>
              <a:cs typeface="Arial"/>
              <a:sym typeface="Arial"/>
            </a:endParaRPr>
          </a:p>
          <a:p>
            <a:pPr indent="-342900" lvl="0" marL="914400" marR="0" rtl="0" algn="l">
              <a:lnSpc>
                <a:spcPct val="100000"/>
              </a:lnSpc>
              <a:spcBef>
                <a:spcPts val="1000"/>
              </a:spcBef>
              <a:spcAft>
                <a:spcPts val="0"/>
              </a:spcAft>
              <a:buClr>
                <a:schemeClr val="dk2"/>
              </a:buClr>
              <a:buSzPts val="1800"/>
              <a:buFont typeface="Arial"/>
              <a:buChar char="❏"/>
            </a:pPr>
            <a:r>
              <a:rPr b="0" i="0" lang="en" sz="1800" u="none" cap="none" strike="noStrike">
                <a:solidFill>
                  <a:schemeClr val="dk2"/>
                </a:solidFill>
                <a:latin typeface="Arial"/>
                <a:ea typeface="Arial"/>
                <a:cs typeface="Arial"/>
                <a:sym typeface="Arial"/>
              </a:rPr>
              <a:t>Encryption generally includes a coding scheme, or cryptography algorithm, and specific sequences of characters (digits or letters).</a:t>
            </a:r>
            <a:endParaRPr b="0" i="0" sz="1800" u="none" cap="none" strike="noStrike">
              <a:solidFill>
                <a:schemeClr val="dk2"/>
              </a:solidFill>
              <a:latin typeface="Arial"/>
              <a:ea typeface="Arial"/>
              <a:cs typeface="Arial"/>
              <a:sym typeface="Arial"/>
            </a:endParaRPr>
          </a:p>
          <a:p>
            <a:pPr indent="0" lvl="0" marL="137160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14732661473_0_13"/>
          <p:cNvSpPr txBox="1"/>
          <p:nvPr/>
        </p:nvSpPr>
        <p:spPr>
          <a:xfrm>
            <a:off x="1619850" y="4481550"/>
            <a:ext cx="5904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1" lang="en" sz="1400" u="none" cap="none" strike="noStrike">
                <a:solidFill>
                  <a:srgbClr val="980000"/>
                </a:solidFill>
                <a:latin typeface="Arial"/>
                <a:ea typeface="Arial"/>
                <a:cs typeface="Arial"/>
                <a:sym typeface="Arial"/>
              </a:rPr>
              <a:t>Cryptography is the art and science of hiding data in plain sight.</a:t>
            </a:r>
            <a:endParaRPr b="1" i="1" sz="14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980000"/>
                </a:solidFill>
                <a:latin typeface="Arial"/>
                <a:ea typeface="Arial"/>
                <a:cs typeface="Arial"/>
                <a:sym typeface="Arial"/>
              </a:rPr>
              <a:t>—Larry Loen</a:t>
            </a:r>
            <a:endParaRPr b="1" i="0" sz="1400" u="none" cap="none" strike="noStrike">
              <a:solidFill>
                <a:srgbClr val="98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145f5af3cc2_0_2"/>
          <p:cNvSpPr txBox="1"/>
          <p:nvPr>
            <p:ph type="title"/>
          </p:nvPr>
        </p:nvSpPr>
        <p:spPr>
          <a:xfrm>
            <a:off x="311700" y="62600"/>
            <a:ext cx="76929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Technology and Markets:</a:t>
            </a:r>
            <a:endParaRPr b="1">
              <a:solidFill>
                <a:schemeClr val="lt1"/>
              </a:solidFill>
              <a:latin typeface="Malgun Gothic"/>
              <a:ea typeface="Malgun Gothic"/>
              <a:cs typeface="Malgun Gothic"/>
              <a:sym typeface="Malgun Gothic"/>
            </a:endParaRPr>
          </a:p>
        </p:txBody>
      </p:sp>
      <p:sp>
        <p:nvSpPr>
          <p:cNvPr id="130" name="Google Shape;130;g145f5af3cc2_0_2"/>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31" name="Google Shape;131;g145f5af3cc2_0_2"/>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g145f5af3cc2_0_2"/>
          <p:cNvSpPr txBox="1"/>
          <p:nvPr/>
        </p:nvSpPr>
        <p:spPr>
          <a:xfrm>
            <a:off x="183125" y="825175"/>
            <a:ext cx="4060200" cy="365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000"/>
              <a:buFont typeface="Arial"/>
              <a:buNone/>
            </a:pPr>
            <a:r>
              <a:rPr b="1" i="0" lang="en" sz="2000" u="sng" cap="none" strike="noStrike">
                <a:solidFill>
                  <a:srgbClr val="A61C00"/>
                </a:solidFill>
                <a:latin typeface="Arial"/>
                <a:ea typeface="Arial"/>
                <a:cs typeface="Arial"/>
                <a:sym typeface="Arial"/>
              </a:rPr>
              <a:t>Encryption</a:t>
            </a:r>
            <a:endParaRPr b="1" i="0" sz="2000" u="sng" cap="none" strike="noStrike">
              <a:solidFill>
                <a:srgbClr val="A61C00"/>
              </a:solidFill>
              <a:latin typeface="Arial"/>
              <a:ea typeface="Arial"/>
              <a:cs typeface="Arial"/>
              <a:sym typeface="Arial"/>
            </a:endParaRPr>
          </a:p>
          <a:p>
            <a:pPr indent="-336550" lvl="0" marL="914400" marR="0" rtl="0" algn="l">
              <a:lnSpc>
                <a:spcPct val="100000"/>
              </a:lnSpc>
              <a:spcBef>
                <a:spcPts val="1000"/>
              </a:spcBef>
              <a:spcAft>
                <a:spcPts val="0"/>
              </a:spcAft>
              <a:buClr>
                <a:schemeClr val="dk2"/>
              </a:buClr>
              <a:buSzPts val="1700"/>
              <a:buFont typeface="Arial"/>
              <a:buChar char="❏"/>
            </a:pPr>
            <a:r>
              <a:rPr b="0" i="0" lang="en" sz="1700" u="none" cap="none" strike="noStrike">
                <a:solidFill>
                  <a:schemeClr val="dk2"/>
                </a:solidFill>
                <a:latin typeface="Arial"/>
                <a:ea typeface="Arial"/>
                <a:cs typeface="Arial"/>
                <a:sym typeface="Arial"/>
              </a:rPr>
              <a:t>Public-key cryptography: An encryption scheme, where two related keys are used.</a:t>
            </a:r>
            <a:endParaRPr b="0" i="0" sz="1700" u="none" cap="none" strike="noStrike">
              <a:solidFill>
                <a:schemeClr val="dk2"/>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2"/>
              </a:solidFill>
              <a:latin typeface="Arial"/>
              <a:ea typeface="Arial"/>
              <a:cs typeface="Arial"/>
              <a:sym typeface="Arial"/>
            </a:endParaRPr>
          </a:p>
          <a:p>
            <a:pPr indent="-336550" lvl="0" marL="1371600" marR="0" rtl="0" algn="l">
              <a:lnSpc>
                <a:spcPct val="100000"/>
              </a:lnSpc>
              <a:spcBef>
                <a:spcPts val="1000"/>
              </a:spcBef>
              <a:spcAft>
                <a:spcPts val="0"/>
              </a:spcAft>
              <a:buClr>
                <a:schemeClr val="dk2"/>
              </a:buClr>
              <a:buSzPts val="1700"/>
              <a:buFont typeface="Arial"/>
              <a:buAutoNum type="romanUcPeriod"/>
            </a:pPr>
            <a:r>
              <a:rPr b="0" i="0" lang="en" sz="1700" u="none" cap="none" strike="noStrike">
                <a:solidFill>
                  <a:schemeClr val="dk2"/>
                </a:solidFill>
                <a:latin typeface="Arial"/>
                <a:ea typeface="Arial"/>
                <a:cs typeface="Arial"/>
                <a:sym typeface="Arial"/>
              </a:rPr>
              <a:t>A key to encrypt messages.</a:t>
            </a:r>
            <a:endParaRPr b="0" i="0" sz="1700" u="none" cap="none" strike="noStrike">
              <a:solidFill>
                <a:schemeClr val="dk2"/>
              </a:solidFill>
              <a:latin typeface="Arial"/>
              <a:ea typeface="Arial"/>
              <a:cs typeface="Arial"/>
              <a:sym typeface="Arial"/>
            </a:endParaRPr>
          </a:p>
          <a:p>
            <a:pPr indent="-336550" lvl="0" marL="1371600" marR="0" rtl="0" algn="l">
              <a:lnSpc>
                <a:spcPct val="100000"/>
              </a:lnSpc>
              <a:spcBef>
                <a:spcPts val="1000"/>
              </a:spcBef>
              <a:spcAft>
                <a:spcPts val="0"/>
              </a:spcAft>
              <a:buClr>
                <a:schemeClr val="dk2"/>
              </a:buClr>
              <a:buSzPts val="1700"/>
              <a:buFont typeface="Arial"/>
              <a:buAutoNum type="romanUcPeriod"/>
            </a:pPr>
            <a:r>
              <a:rPr b="0" i="0" lang="en" sz="1700" u="none" cap="none" strike="noStrike">
                <a:solidFill>
                  <a:schemeClr val="dk2"/>
                </a:solidFill>
                <a:latin typeface="Arial"/>
                <a:ea typeface="Arial"/>
                <a:cs typeface="Arial"/>
                <a:sym typeface="Arial"/>
              </a:rPr>
              <a:t>A key to decrypt messages.</a:t>
            </a:r>
            <a:endParaRPr b="0" i="0" sz="1700" u="none" cap="none" strike="noStrike">
              <a:solidFill>
                <a:schemeClr val="dk2"/>
              </a:solidFill>
              <a:latin typeface="Arial"/>
              <a:ea typeface="Arial"/>
              <a:cs typeface="Arial"/>
              <a:sym typeface="Arial"/>
            </a:endParaRPr>
          </a:p>
          <a:p>
            <a:pPr indent="0" lvl="0" marL="137160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3" name="Google Shape;133;g145f5af3cc2_0_2"/>
          <p:cNvPicPr preferRelativeResize="0"/>
          <p:nvPr/>
        </p:nvPicPr>
        <p:blipFill rotWithShape="1">
          <a:blip r:embed="rId4">
            <a:alphaModFix/>
          </a:blip>
          <a:srcRect b="0" l="0" r="0" t="0"/>
          <a:stretch/>
        </p:blipFill>
        <p:spPr>
          <a:xfrm>
            <a:off x="3761175" y="2289575"/>
            <a:ext cx="4566050" cy="1702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143fda08588_0_5"/>
          <p:cNvSpPr txBox="1"/>
          <p:nvPr>
            <p:ph type="title"/>
          </p:nvPr>
        </p:nvSpPr>
        <p:spPr>
          <a:xfrm>
            <a:off x="311700" y="62600"/>
            <a:ext cx="76929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Technology and Markets:</a:t>
            </a:r>
            <a:endParaRPr b="1">
              <a:solidFill>
                <a:schemeClr val="lt1"/>
              </a:solidFill>
              <a:latin typeface="Malgun Gothic"/>
              <a:ea typeface="Malgun Gothic"/>
              <a:cs typeface="Malgun Gothic"/>
              <a:sym typeface="Malgun Gothic"/>
            </a:endParaRPr>
          </a:p>
        </p:txBody>
      </p:sp>
      <p:sp>
        <p:nvSpPr>
          <p:cNvPr id="139" name="Google Shape;139;g143fda08588_0_5"/>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40" name="Google Shape;140;g143fda08588_0_5"/>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g143fda08588_0_5"/>
          <p:cNvSpPr txBox="1"/>
          <p:nvPr/>
        </p:nvSpPr>
        <p:spPr>
          <a:xfrm>
            <a:off x="367400" y="1098125"/>
            <a:ext cx="8415600" cy="3483900"/>
          </a:xfrm>
          <a:prstGeom prst="rect">
            <a:avLst/>
          </a:prstGeom>
          <a:noFill/>
          <a:ln cap="flat" cmpd="sng" w="38100">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1900"/>
              <a:buFont typeface="Arial"/>
              <a:buNone/>
            </a:pPr>
            <a:r>
              <a:rPr b="1" i="0" lang="en" sz="1900" u="sng" cap="none" strike="noStrike">
                <a:solidFill>
                  <a:srgbClr val="980000"/>
                </a:solidFill>
                <a:latin typeface="Arial"/>
                <a:ea typeface="Arial"/>
                <a:cs typeface="Arial"/>
                <a:sym typeface="Arial"/>
              </a:rPr>
              <a:t>Business tools and policies for protecting privacy</a:t>
            </a:r>
            <a:endParaRPr b="1" i="0" sz="1900" u="sng" cap="none" strike="noStrike">
              <a:solidFill>
                <a:srgbClr val="980000"/>
              </a:solidFill>
              <a:latin typeface="Arial"/>
              <a:ea typeface="Arial"/>
              <a:cs typeface="Arial"/>
              <a:sym typeface="Arial"/>
            </a:endParaRPr>
          </a:p>
          <a:p>
            <a:pPr indent="-330200" lvl="0" marL="457200" marR="0" rtl="0" algn="l">
              <a:lnSpc>
                <a:spcPct val="100000"/>
              </a:lnSpc>
              <a:spcBef>
                <a:spcPts val="1000"/>
              </a:spcBef>
              <a:spcAft>
                <a:spcPts val="0"/>
              </a:spcAft>
              <a:buClr>
                <a:schemeClr val="accent3"/>
              </a:buClr>
              <a:buSzPts val="1600"/>
              <a:buFont typeface="Arial"/>
              <a:buChar char="➢"/>
            </a:pPr>
            <a:r>
              <a:rPr b="0" i="0" lang="en" sz="1800" u="none" cap="none" strike="noStrike">
                <a:solidFill>
                  <a:srgbClr val="000000"/>
                </a:solidFill>
                <a:latin typeface="Arial"/>
                <a:ea typeface="Arial"/>
                <a:cs typeface="Arial"/>
                <a:sym typeface="Arial"/>
              </a:rPr>
              <a:t>A well-designed database for sensitive information includes several features to protect against  leaks, intruders, and unauthorized employee access.</a:t>
            </a:r>
            <a:endParaRPr b="0" i="0" sz="1800" u="none" cap="none" strike="noStrike">
              <a:solidFill>
                <a:srgbClr val="000000"/>
              </a:solidFill>
              <a:latin typeface="Arial"/>
              <a:ea typeface="Arial"/>
              <a:cs typeface="Arial"/>
              <a:sym typeface="Arial"/>
            </a:endParaRPr>
          </a:p>
          <a:p>
            <a:pPr indent="-342900" lvl="1" marL="914400" marR="0" rtl="0" algn="l">
              <a:lnSpc>
                <a:spcPct val="100000"/>
              </a:lnSpc>
              <a:spcBef>
                <a:spcPts val="1000"/>
              </a:spcBef>
              <a:spcAft>
                <a:spcPts val="0"/>
              </a:spcAft>
              <a:buClr>
                <a:schemeClr val="accent3"/>
              </a:buClr>
              <a:buSzPts val="1800"/>
              <a:buFont typeface="Arial"/>
              <a:buChar char="○"/>
            </a:pPr>
            <a:r>
              <a:rPr b="0" i="0" lang="en" sz="1800" u="none" cap="none" strike="noStrike">
                <a:solidFill>
                  <a:srgbClr val="000000"/>
                </a:solidFill>
                <a:latin typeface="Arial"/>
                <a:ea typeface="Arial"/>
                <a:cs typeface="Arial"/>
                <a:sym typeface="Arial"/>
              </a:rPr>
              <a:t>Each person with authorized access to the system should have a unique identifier and a password. </a:t>
            </a:r>
            <a:endParaRPr b="0" i="0" sz="1800" u="none" cap="none" strike="noStrike">
              <a:solidFill>
                <a:srgbClr val="000000"/>
              </a:solidFill>
              <a:latin typeface="Arial"/>
              <a:ea typeface="Arial"/>
              <a:cs typeface="Arial"/>
              <a:sym typeface="Arial"/>
            </a:endParaRPr>
          </a:p>
          <a:p>
            <a:pPr indent="-342900" lvl="1" marL="914400" marR="0" rtl="0" algn="l">
              <a:lnSpc>
                <a:spcPct val="100000"/>
              </a:lnSpc>
              <a:spcBef>
                <a:spcPts val="1000"/>
              </a:spcBef>
              <a:spcAft>
                <a:spcPts val="0"/>
              </a:spcAft>
              <a:buClr>
                <a:schemeClr val="accent3"/>
              </a:buClr>
              <a:buSzPts val="1800"/>
              <a:buFont typeface="Arial"/>
              <a:buChar char="○"/>
            </a:pPr>
            <a:r>
              <a:rPr b="0" i="0" lang="en" sz="1800" u="none" cap="none" strike="noStrike">
                <a:solidFill>
                  <a:srgbClr val="000000"/>
                </a:solidFill>
                <a:latin typeface="Arial"/>
                <a:ea typeface="Arial"/>
                <a:cs typeface="Arial"/>
                <a:sym typeface="Arial"/>
              </a:rPr>
              <a:t>A system can restrict users from performing certain operations, such as writing or deleting, on some files. User IDs can be coded so that they give access to only specific parts of a record. </a:t>
            </a:r>
            <a:endParaRPr b="0" i="0" sz="1800" u="none" cap="none" strike="noStrike">
              <a:solidFill>
                <a:srgbClr val="000000"/>
              </a:solidFill>
              <a:latin typeface="Arial"/>
              <a:ea typeface="Arial"/>
              <a:cs typeface="Arial"/>
              <a:sym typeface="Arial"/>
            </a:endParaRPr>
          </a:p>
          <a:p>
            <a:pPr indent="-342900" lvl="1" marL="914400" marR="0" rtl="0" algn="l">
              <a:lnSpc>
                <a:spcPct val="100000"/>
              </a:lnSpc>
              <a:spcBef>
                <a:spcPts val="1000"/>
              </a:spcBef>
              <a:spcAft>
                <a:spcPts val="0"/>
              </a:spcAft>
              <a:buClr>
                <a:schemeClr val="accent3"/>
              </a:buClr>
              <a:buSzPts val="1800"/>
              <a:buFont typeface="Arial"/>
              <a:buChar char="○"/>
            </a:pPr>
            <a:r>
              <a:rPr b="0" i="0" lang="en" sz="1800" u="none" cap="none" strike="noStrike">
                <a:solidFill>
                  <a:srgbClr val="000000"/>
                </a:solidFill>
                <a:latin typeface="Arial"/>
                <a:ea typeface="Arial"/>
                <a:cs typeface="Arial"/>
                <a:sym typeface="Arial"/>
              </a:rPr>
              <a:t>For example, a billing clerk in a hospital does not need access to the results of a patient’s lab tests.</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1509420cd56_0_3"/>
          <p:cNvSpPr txBox="1"/>
          <p:nvPr>
            <p:ph type="title"/>
          </p:nvPr>
        </p:nvSpPr>
        <p:spPr>
          <a:xfrm>
            <a:off x="311700" y="62600"/>
            <a:ext cx="76929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Technology and Markets:</a:t>
            </a:r>
            <a:endParaRPr b="1">
              <a:solidFill>
                <a:schemeClr val="lt1"/>
              </a:solidFill>
              <a:latin typeface="Malgun Gothic"/>
              <a:ea typeface="Malgun Gothic"/>
              <a:cs typeface="Malgun Gothic"/>
              <a:sym typeface="Malgun Gothic"/>
            </a:endParaRPr>
          </a:p>
        </p:txBody>
      </p:sp>
      <p:sp>
        <p:nvSpPr>
          <p:cNvPr id="147" name="Google Shape;147;g1509420cd56_0_3"/>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48" name="Google Shape;148;g1509420cd56_0_3"/>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g1509420cd56_0_3"/>
          <p:cNvSpPr txBox="1"/>
          <p:nvPr/>
        </p:nvSpPr>
        <p:spPr>
          <a:xfrm>
            <a:off x="308700" y="883800"/>
            <a:ext cx="8526600" cy="3909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1900"/>
              <a:buFont typeface="Arial"/>
              <a:buNone/>
            </a:pPr>
            <a:r>
              <a:rPr b="1" i="0" lang="en" sz="1900" u="sng" cap="none" strike="noStrike">
                <a:solidFill>
                  <a:srgbClr val="980000"/>
                </a:solidFill>
                <a:latin typeface="Arial"/>
                <a:ea typeface="Arial"/>
                <a:cs typeface="Arial"/>
                <a:sym typeface="Arial"/>
              </a:rPr>
              <a:t>Business tools and policies for protecting privacy</a:t>
            </a:r>
            <a:endParaRPr b="1" i="0" sz="1900" u="sng" cap="none" strike="noStrike">
              <a:solidFill>
                <a:srgbClr val="980000"/>
              </a:solidFill>
              <a:latin typeface="Arial"/>
              <a:ea typeface="Arial"/>
              <a:cs typeface="Arial"/>
              <a:sym typeface="Arial"/>
            </a:endParaRPr>
          </a:p>
          <a:p>
            <a:pPr indent="-342900" lvl="0" marL="457200" marR="0" rtl="0" algn="l">
              <a:lnSpc>
                <a:spcPct val="100000"/>
              </a:lnSpc>
              <a:spcBef>
                <a:spcPts val="1000"/>
              </a:spcBef>
              <a:spcAft>
                <a:spcPts val="0"/>
              </a:spcAft>
              <a:buClr>
                <a:schemeClr val="accent3"/>
              </a:buClr>
              <a:buSzPts val="1800"/>
              <a:buFont typeface="Arial"/>
              <a:buChar char="❏"/>
            </a:pPr>
            <a:r>
              <a:rPr b="0" i="0" lang="en" sz="1800" u="none" cap="none" strike="noStrike">
                <a:solidFill>
                  <a:srgbClr val="000000"/>
                </a:solidFill>
                <a:latin typeface="Arial"/>
                <a:ea typeface="Arial"/>
                <a:cs typeface="Arial"/>
                <a:sym typeface="Arial"/>
              </a:rPr>
              <a:t>The computer system keeps track of information about each access, including the ID of the person looking at a record and the particular information viewed or modified. This is an audit trail that can later help trace unauthorized activity.</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1000"/>
              </a:spcBef>
              <a:spcAft>
                <a:spcPts val="0"/>
              </a:spcAft>
              <a:buClr>
                <a:schemeClr val="accent3"/>
              </a:buClr>
              <a:buSzPts val="1800"/>
              <a:buFont typeface="Arial"/>
              <a:buChar char="❏"/>
            </a:pPr>
            <a:r>
              <a:rPr b="0" i="0" lang="en" sz="1800" u="none" cap="none" strike="noStrike">
                <a:solidFill>
                  <a:srgbClr val="000000"/>
                </a:solidFill>
                <a:latin typeface="Arial"/>
                <a:ea typeface="Arial"/>
                <a:cs typeface="Arial"/>
                <a:sym typeface="Arial"/>
              </a:rPr>
              <a:t>Website operators pay thousands, sometimes millions, of dollars to companies that do privacy audits. Privacy auditors check for leaks of information, review the company’s privacy policy and its compliance with that policy, evaluate warnings and explanations on its website that alert visitors when the site requests sensitive data, and so forth.</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1000"/>
              </a:spcBef>
              <a:spcAft>
                <a:spcPts val="1000"/>
              </a:spcAft>
              <a:buClr>
                <a:schemeClr val="accent3"/>
              </a:buClr>
              <a:buSzPts val="1800"/>
              <a:buFont typeface="Arial"/>
              <a:buChar char="❏"/>
            </a:pPr>
            <a:r>
              <a:rPr b="0" i="0" lang="en" sz="1800" u="none" cap="none" strike="noStrike">
                <a:solidFill>
                  <a:srgbClr val="000000"/>
                </a:solidFill>
                <a:latin typeface="Arial"/>
                <a:ea typeface="Arial"/>
                <a:cs typeface="Arial"/>
                <a:sym typeface="Arial"/>
              </a:rPr>
              <a:t>Some large companies like IBM and Microsoft, use their economic influence to improve consumer privacy on the web, by removing ads from their web sites.</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143fda08588_0_15"/>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Rights and laws:</a:t>
            </a:r>
            <a:endParaRPr>
              <a:solidFill>
                <a:schemeClr val="lt1"/>
              </a:solidFill>
              <a:latin typeface="Malgun Gothic"/>
              <a:ea typeface="Malgun Gothic"/>
              <a:cs typeface="Malgun Gothic"/>
              <a:sym typeface="Malgun Gothic"/>
            </a:endParaRPr>
          </a:p>
        </p:txBody>
      </p:sp>
      <p:sp>
        <p:nvSpPr>
          <p:cNvPr id="155" name="Google Shape;155;g143fda08588_0_15"/>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56" name="Google Shape;156;g143fda08588_0_15"/>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g143fda08588_0_15"/>
          <p:cNvSpPr txBox="1"/>
          <p:nvPr/>
        </p:nvSpPr>
        <p:spPr>
          <a:xfrm>
            <a:off x="311700" y="830225"/>
            <a:ext cx="8164800" cy="3191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1800"/>
              <a:buFont typeface="Arial"/>
              <a:buNone/>
            </a:pPr>
            <a:r>
              <a:rPr b="1" i="0" lang="en" sz="1800" u="sng" cap="none" strike="noStrike">
                <a:solidFill>
                  <a:srgbClr val="980000"/>
                </a:solidFill>
                <a:latin typeface="Arial"/>
                <a:ea typeface="Arial"/>
                <a:cs typeface="Arial"/>
                <a:sym typeface="Arial"/>
              </a:rPr>
              <a:t>Warren and Brandeis: The inviolate personality - </a:t>
            </a:r>
            <a:endParaRPr b="1" i="0" sz="1800" u="sng" cap="none" strike="noStrike">
              <a:solidFill>
                <a:srgbClr val="980000"/>
              </a:solidFill>
              <a:latin typeface="Arial"/>
              <a:ea typeface="Arial"/>
              <a:cs typeface="Arial"/>
              <a:sym typeface="Arial"/>
            </a:endParaRPr>
          </a:p>
          <a:p>
            <a:pPr indent="-342900" lvl="0" marL="457200" marR="0" rtl="0" algn="l">
              <a:lnSpc>
                <a:spcPct val="100000"/>
              </a:lnSpc>
              <a:spcBef>
                <a:spcPts val="1000"/>
              </a:spcBef>
              <a:spcAft>
                <a:spcPts val="0"/>
              </a:spcAft>
              <a:buClr>
                <a:srgbClr val="000000"/>
              </a:buClr>
              <a:buSzPts val="1800"/>
              <a:buFont typeface="Arial"/>
              <a:buChar char="❏"/>
            </a:pPr>
            <a:r>
              <a:rPr b="0" i="0" lang="en" sz="1800" u="none" cap="none" strike="noStrike">
                <a:solidFill>
                  <a:srgbClr val="000000"/>
                </a:solidFill>
                <a:latin typeface="Arial"/>
                <a:ea typeface="Arial"/>
                <a:cs typeface="Arial"/>
                <a:sym typeface="Arial"/>
              </a:rPr>
              <a:t>Warren and Brandeis criticized newspapers especially for the gossip columns.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1000"/>
              </a:spcBef>
              <a:spcAft>
                <a:spcPts val="0"/>
              </a:spcAft>
              <a:buClr>
                <a:srgbClr val="000000"/>
              </a:buClr>
              <a:buSzPts val="1800"/>
              <a:buFont typeface="Arial"/>
              <a:buChar char="❏"/>
            </a:pPr>
            <a:r>
              <a:rPr b="0" i="0" lang="en" sz="1800" u="none" cap="none" strike="noStrike">
                <a:solidFill>
                  <a:srgbClr val="000000"/>
                </a:solidFill>
                <a:latin typeface="Arial"/>
                <a:ea typeface="Arial"/>
                <a:cs typeface="Arial"/>
                <a:sym typeface="Arial"/>
              </a:rPr>
              <a:t>People have the right to prohibit publications of facts (and photos) about themselves.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1000"/>
              </a:spcBef>
              <a:spcAft>
                <a:spcPts val="0"/>
              </a:spcAft>
              <a:buClr>
                <a:srgbClr val="000000"/>
              </a:buClr>
              <a:buSzPts val="1800"/>
              <a:buFont typeface="Arial"/>
              <a:buChar char="❏"/>
            </a:pPr>
            <a:r>
              <a:rPr b="0" i="0" lang="en" sz="1800" u="none" cap="none" strike="noStrike">
                <a:solidFill>
                  <a:srgbClr val="000000"/>
                </a:solidFill>
                <a:latin typeface="Arial"/>
                <a:ea typeface="Arial"/>
                <a:cs typeface="Arial"/>
                <a:sym typeface="Arial"/>
              </a:rPr>
              <a:t>The kinds of information of most concern to them are personal appearance, statements, acts, and interpersonal relationships (marital, family, and others)</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1000"/>
              </a:spcBef>
              <a:spcAft>
                <a:spcPts val="1000"/>
              </a:spcAft>
              <a:buClr>
                <a:srgbClr val="000000"/>
              </a:buClr>
              <a:buSzPts val="1800"/>
              <a:buFont typeface="Arial"/>
              <a:buChar char="❏"/>
            </a:pPr>
            <a:r>
              <a:rPr b="0" i="0" lang="en" sz="1800" u="none" cap="none" strike="noStrike">
                <a:solidFill>
                  <a:srgbClr val="000000"/>
                </a:solidFill>
                <a:latin typeface="Arial"/>
                <a:ea typeface="Arial"/>
                <a:cs typeface="Arial"/>
                <a:sym typeface="Arial"/>
              </a:rPr>
              <a:t>Warren and Brandeis say privacy is distinct and needs its own protection.</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146873a7365_0_13"/>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Rights and laws:</a:t>
            </a:r>
            <a:endParaRPr b="1">
              <a:solidFill>
                <a:schemeClr val="lt1"/>
              </a:solidFill>
              <a:latin typeface="Malgun Gothic"/>
              <a:ea typeface="Malgun Gothic"/>
              <a:cs typeface="Malgun Gothic"/>
              <a:sym typeface="Malgun Gothic"/>
            </a:endParaRPr>
          </a:p>
        </p:txBody>
      </p:sp>
      <p:sp>
        <p:nvSpPr>
          <p:cNvPr id="163" name="Google Shape;163;g146873a7365_0_13"/>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64" name="Google Shape;164;g146873a7365_0_13"/>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146873a7365_0_13"/>
          <p:cNvSpPr txBox="1"/>
          <p:nvPr/>
        </p:nvSpPr>
        <p:spPr>
          <a:xfrm>
            <a:off x="609850" y="730725"/>
            <a:ext cx="7776300" cy="252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900"/>
              <a:buFont typeface="Arial"/>
              <a:buNone/>
            </a:pPr>
            <a:r>
              <a:rPr b="1" i="0" lang="en" sz="1900" u="none" cap="none" strike="noStrike">
                <a:solidFill>
                  <a:srgbClr val="980000"/>
                </a:solidFill>
                <a:latin typeface="Arial"/>
                <a:ea typeface="Arial"/>
                <a:cs typeface="Arial"/>
                <a:sym typeface="Arial"/>
              </a:rPr>
              <a:t>Thomson: Is there a right to privacy?</a:t>
            </a:r>
            <a:r>
              <a:rPr b="1" i="0" lang="en" sz="1800" u="none" cap="none" strike="noStrike">
                <a:solidFill>
                  <a:srgbClr val="980000"/>
                </a:solidFill>
                <a:latin typeface="Arial"/>
                <a:ea typeface="Arial"/>
                <a:cs typeface="Arial"/>
                <a:sym typeface="Arial"/>
              </a:rPr>
              <a:t> -</a:t>
            </a:r>
            <a:endParaRPr b="1" i="0" sz="1800" u="none" cap="none" strike="noStrike">
              <a:solidFill>
                <a:srgbClr val="980000"/>
              </a:solidFill>
              <a:latin typeface="Arial"/>
              <a:ea typeface="Arial"/>
              <a:cs typeface="Arial"/>
              <a:sym typeface="Arial"/>
            </a:endParaRPr>
          </a:p>
          <a:p>
            <a:pPr indent="-342900" lvl="0" marL="457200" marR="0" rtl="0" algn="l">
              <a:lnSpc>
                <a:spcPct val="100000"/>
              </a:lnSpc>
              <a:spcBef>
                <a:spcPts val="1000"/>
              </a:spcBef>
              <a:spcAft>
                <a:spcPts val="0"/>
              </a:spcAft>
              <a:buClr>
                <a:srgbClr val="000000"/>
              </a:buClr>
              <a:buSzPts val="1800"/>
              <a:buFont typeface="Arial"/>
              <a:buChar char="❏"/>
            </a:pPr>
            <a:r>
              <a:rPr b="0" i="0" lang="en" sz="1800" u="none" cap="none" strike="noStrike">
                <a:solidFill>
                  <a:srgbClr val="000000"/>
                </a:solidFill>
                <a:latin typeface="Arial"/>
                <a:ea typeface="Arial"/>
                <a:cs typeface="Arial"/>
                <a:sym typeface="Arial"/>
              </a:rPr>
              <a:t>Thomson argues the opposite point of view.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1000"/>
              </a:spcBef>
              <a:spcAft>
                <a:spcPts val="1000"/>
              </a:spcAft>
              <a:buClr>
                <a:srgbClr val="000000"/>
              </a:buClr>
              <a:buSzPts val="1800"/>
              <a:buFont typeface="Arial"/>
              <a:buChar char="❏"/>
            </a:pPr>
            <a:r>
              <a:rPr b="0" i="0" lang="en" sz="1800" u="none" cap="none" strike="noStrike">
                <a:solidFill>
                  <a:srgbClr val="000000"/>
                </a:solidFill>
                <a:latin typeface="Arial"/>
                <a:ea typeface="Arial"/>
                <a:cs typeface="Arial"/>
                <a:sym typeface="Arial"/>
              </a:rPr>
              <a:t>There is no violation of privacy without violation of some other right, such as the right to control our property or our person, the right to be free from violent attacks, the right to form contracts(and expect them to be enforced).</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144bbcddc71_0_4"/>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Rights and laws:</a:t>
            </a:r>
            <a:endParaRPr b="1">
              <a:solidFill>
                <a:schemeClr val="lt1"/>
              </a:solidFill>
              <a:latin typeface="Malgun Gothic"/>
              <a:ea typeface="Malgun Gothic"/>
              <a:cs typeface="Malgun Gothic"/>
              <a:sym typeface="Malgun Gothic"/>
            </a:endParaRPr>
          </a:p>
        </p:txBody>
      </p:sp>
      <p:sp>
        <p:nvSpPr>
          <p:cNvPr id="171" name="Google Shape;171;g144bbcddc71_0_4"/>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72" name="Google Shape;172;g144bbcddc71_0_4"/>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g144bbcddc71_0_4"/>
          <p:cNvSpPr txBox="1"/>
          <p:nvPr/>
        </p:nvSpPr>
        <p:spPr>
          <a:xfrm>
            <a:off x="835825" y="1146025"/>
            <a:ext cx="6643800" cy="289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000"/>
              <a:buFont typeface="Arial"/>
              <a:buNone/>
            </a:pPr>
            <a:r>
              <a:rPr b="1" i="0" lang="en" sz="2000" u="sng" cap="none" strike="noStrike">
                <a:solidFill>
                  <a:srgbClr val="980000"/>
                </a:solidFill>
                <a:latin typeface="Arial"/>
                <a:ea typeface="Arial"/>
                <a:cs typeface="Arial"/>
                <a:sym typeface="Arial"/>
              </a:rPr>
              <a:t>Applying the theories:</a:t>
            </a:r>
            <a:r>
              <a:rPr b="1" i="0" lang="en" sz="1700" u="sng" cap="none" strike="noStrike">
                <a:solidFill>
                  <a:srgbClr val="000000"/>
                </a:solidFill>
                <a:latin typeface="Arial"/>
                <a:ea typeface="Arial"/>
                <a:cs typeface="Arial"/>
                <a:sym typeface="Arial"/>
              </a:rPr>
              <a:t>  </a:t>
            </a:r>
            <a:endParaRPr b="1" i="0" sz="1700" u="sng" cap="none" strike="noStrike">
              <a:solidFill>
                <a:srgbClr val="000000"/>
              </a:solidFill>
              <a:latin typeface="Arial"/>
              <a:ea typeface="Arial"/>
              <a:cs typeface="Arial"/>
              <a:sym typeface="Arial"/>
            </a:endParaRPr>
          </a:p>
          <a:p>
            <a:pPr indent="-342900" lvl="0" marL="457200" marR="0" rtl="0" algn="l">
              <a:lnSpc>
                <a:spcPct val="100000"/>
              </a:lnSpc>
              <a:spcBef>
                <a:spcPts val="1000"/>
              </a:spcBef>
              <a:spcAft>
                <a:spcPts val="0"/>
              </a:spcAft>
              <a:buClr>
                <a:schemeClr val="accent3"/>
              </a:buClr>
              <a:buSzPts val="1800"/>
              <a:buFont typeface="Arial"/>
              <a:buChar char="❏"/>
            </a:pPr>
            <a:r>
              <a:rPr b="0" i="0" lang="en" sz="1700" u="none" cap="none" strike="noStrike">
                <a:solidFill>
                  <a:srgbClr val="000000"/>
                </a:solidFill>
                <a:latin typeface="Arial"/>
                <a:ea typeface="Arial"/>
                <a:cs typeface="Arial"/>
                <a:sym typeface="Arial"/>
              </a:rPr>
              <a:t>Many court decisions since Warren and Brandeis article, have taken their point of view.</a:t>
            </a:r>
            <a:endParaRPr b="0" i="0" sz="1700" u="none" cap="none" strike="noStrike">
              <a:solidFill>
                <a:srgbClr val="000000"/>
              </a:solidFill>
              <a:latin typeface="Arial"/>
              <a:ea typeface="Arial"/>
              <a:cs typeface="Arial"/>
              <a:sym typeface="Arial"/>
            </a:endParaRPr>
          </a:p>
          <a:p>
            <a:pPr indent="-342900" lvl="0" marL="457200" marR="0" rtl="0" algn="l">
              <a:lnSpc>
                <a:spcPct val="100000"/>
              </a:lnSpc>
              <a:spcBef>
                <a:spcPts val="1000"/>
              </a:spcBef>
              <a:spcAft>
                <a:spcPts val="0"/>
              </a:spcAft>
              <a:buClr>
                <a:schemeClr val="accent3"/>
              </a:buClr>
              <a:buSzPts val="1800"/>
              <a:buFont typeface="Arial"/>
              <a:buChar char="❏"/>
            </a:pPr>
            <a:r>
              <a:rPr b="0" i="0" lang="en" sz="1700" u="none" cap="none" strike="noStrike">
                <a:solidFill>
                  <a:srgbClr val="000000"/>
                </a:solidFill>
                <a:latin typeface="Arial"/>
                <a:ea typeface="Arial"/>
                <a:cs typeface="Arial"/>
                <a:sym typeface="Arial"/>
              </a:rPr>
              <a:t>  A person may win a case if someone published his/her consumer profile.  </a:t>
            </a:r>
            <a:endParaRPr b="0" i="0" sz="1700" u="none" cap="none" strike="noStrike">
              <a:solidFill>
                <a:srgbClr val="000000"/>
              </a:solidFill>
              <a:latin typeface="Arial"/>
              <a:ea typeface="Arial"/>
              <a:cs typeface="Arial"/>
              <a:sym typeface="Arial"/>
            </a:endParaRPr>
          </a:p>
          <a:p>
            <a:pPr indent="-342900" lvl="0" marL="457200" marR="0" rtl="0" algn="l">
              <a:lnSpc>
                <a:spcPct val="100000"/>
              </a:lnSpc>
              <a:spcBef>
                <a:spcPts val="1000"/>
              </a:spcBef>
              <a:spcAft>
                <a:spcPts val="0"/>
              </a:spcAft>
              <a:buClr>
                <a:schemeClr val="accent3"/>
              </a:buClr>
              <a:buSzPts val="1800"/>
              <a:buFont typeface="Arial"/>
              <a:buChar char="❏"/>
            </a:pPr>
            <a:r>
              <a:rPr b="0" i="0" lang="en" sz="1700" u="none" cap="none" strike="noStrike">
                <a:solidFill>
                  <a:srgbClr val="000000"/>
                </a:solidFill>
                <a:latin typeface="Arial"/>
                <a:ea typeface="Arial"/>
                <a:cs typeface="Arial"/>
                <a:sym typeface="Arial"/>
              </a:rPr>
              <a:t>Warren and Brandeis (and court decisions) allow disclosure of personal information to people who have an interest in it. </a:t>
            </a:r>
            <a:endParaRPr b="0" i="0" sz="1700" u="none" cap="none" strike="noStrike">
              <a:solidFill>
                <a:srgbClr val="000000"/>
              </a:solidFill>
              <a:latin typeface="Arial"/>
              <a:ea typeface="Arial"/>
              <a:cs typeface="Arial"/>
              <a:sym typeface="Arial"/>
            </a:endParaRPr>
          </a:p>
          <a:p>
            <a:pPr indent="-342900" lvl="0" marL="457200" marR="0" rtl="0" algn="l">
              <a:lnSpc>
                <a:spcPct val="100000"/>
              </a:lnSpc>
              <a:spcBef>
                <a:spcPts val="1000"/>
              </a:spcBef>
              <a:spcAft>
                <a:spcPts val="1000"/>
              </a:spcAft>
              <a:buClr>
                <a:schemeClr val="accent3"/>
              </a:buClr>
              <a:buSzPts val="1800"/>
              <a:buFont typeface="Arial"/>
              <a:buChar char="❏"/>
            </a:pPr>
            <a:r>
              <a:rPr b="0" i="0" lang="en" sz="1700" u="none" cap="none" strike="noStrike">
                <a:solidFill>
                  <a:srgbClr val="000000"/>
                </a:solidFill>
                <a:latin typeface="Arial"/>
                <a:ea typeface="Arial"/>
                <a:cs typeface="Arial"/>
                <a:sym typeface="Arial"/>
              </a:rPr>
              <a:t> An important aspect: consent</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146873a7365_0_23"/>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Rights and laws:</a:t>
            </a:r>
            <a:endParaRPr b="1">
              <a:solidFill>
                <a:schemeClr val="lt1"/>
              </a:solidFill>
              <a:latin typeface="Malgun Gothic"/>
              <a:ea typeface="Malgun Gothic"/>
              <a:cs typeface="Malgun Gothic"/>
              <a:sym typeface="Malgun Gothic"/>
            </a:endParaRPr>
          </a:p>
        </p:txBody>
      </p:sp>
      <p:sp>
        <p:nvSpPr>
          <p:cNvPr id="179" name="Google Shape;179;g146873a7365_0_23"/>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80" name="Google Shape;180;g146873a7365_0_23"/>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g146873a7365_0_23"/>
          <p:cNvSpPr txBox="1"/>
          <p:nvPr/>
        </p:nvSpPr>
        <p:spPr>
          <a:xfrm>
            <a:off x="835825" y="1146025"/>
            <a:ext cx="7302000" cy="154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100"/>
              <a:buFont typeface="Arial"/>
              <a:buNone/>
            </a:pPr>
            <a:r>
              <a:rPr b="1" i="0" lang="en" sz="2100" u="sng" cap="none" strike="noStrike">
                <a:solidFill>
                  <a:srgbClr val="980000"/>
                </a:solidFill>
                <a:latin typeface="Arial"/>
                <a:ea typeface="Arial"/>
                <a:cs typeface="Arial"/>
                <a:sym typeface="Arial"/>
              </a:rPr>
              <a:t>Transactions  </a:t>
            </a:r>
            <a:endParaRPr b="1" i="0" sz="2100" u="sng" cap="none" strike="noStrike">
              <a:solidFill>
                <a:srgbClr val="980000"/>
              </a:solidFill>
              <a:latin typeface="Arial"/>
              <a:ea typeface="Arial"/>
              <a:cs typeface="Arial"/>
              <a:sym typeface="Arial"/>
            </a:endParaRPr>
          </a:p>
          <a:p>
            <a:pPr indent="-336550" lvl="0" marL="457200" marR="0" rtl="0" algn="l">
              <a:lnSpc>
                <a:spcPct val="100000"/>
              </a:lnSpc>
              <a:spcBef>
                <a:spcPts val="1000"/>
              </a:spcBef>
              <a:spcAft>
                <a:spcPts val="0"/>
              </a:spcAft>
              <a:buClr>
                <a:srgbClr val="000000"/>
              </a:buClr>
              <a:buSzPts val="1700"/>
              <a:buFont typeface="Arial"/>
              <a:buChar char="❏"/>
            </a:pPr>
            <a:r>
              <a:rPr b="0" i="0" lang="en" sz="1700" u="none" cap="none" strike="noStrike">
                <a:solidFill>
                  <a:srgbClr val="000000"/>
                </a:solidFill>
                <a:latin typeface="Arial"/>
                <a:ea typeface="Arial"/>
                <a:cs typeface="Arial"/>
                <a:sym typeface="Arial"/>
              </a:rPr>
              <a:t>Privacy includes control of information about oneself.  </a:t>
            </a:r>
            <a:endParaRPr b="0" i="0" sz="1700" u="none" cap="none" strike="noStrike">
              <a:solidFill>
                <a:srgbClr val="000000"/>
              </a:solidFill>
              <a:latin typeface="Arial"/>
              <a:ea typeface="Arial"/>
              <a:cs typeface="Arial"/>
              <a:sym typeface="Arial"/>
            </a:endParaRPr>
          </a:p>
          <a:p>
            <a:pPr indent="-336550" lvl="0" marL="457200" marR="0" rtl="0" algn="l">
              <a:lnSpc>
                <a:spcPct val="100000"/>
              </a:lnSpc>
              <a:spcBef>
                <a:spcPts val="1000"/>
              </a:spcBef>
              <a:spcAft>
                <a:spcPts val="1000"/>
              </a:spcAft>
              <a:buClr>
                <a:srgbClr val="000000"/>
              </a:buClr>
              <a:buSzPts val="1700"/>
              <a:buFont typeface="Arial"/>
              <a:buChar char="❏"/>
            </a:pPr>
            <a:r>
              <a:rPr b="0" i="0" lang="en" sz="1700" u="none" cap="none" strike="noStrike">
                <a:solidFill>
                  <a:srgbClr val="000000"/>
                </a:solidFill>
                <a:latin typeface="Arial"/>
                <a:ea typeface="Arial"/>
                <a:cs typeface="Arial"/>
                <a:sym typeface="Arial"/>
              </a:rPr>
              <a:t>How to apply privacy notions to transactions, Which involve more than one person?</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146873a7365_0_33"/>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Rights and laws:</a:t>
            </a:r>
            <a:endParaRPr b="1">
              <a:solidFill>
                <a:schemeClr val="lt1"/>
              </a:solidFill>
              <a:latin typeface="Malgun Gothic"/>
              <a:ea typeface="Malgun Gothic"/>
              <a:cs typeface="Malgun Gothic"/>
              <a:sym typeface="Malgun Gothic"/>
            </a:endParaRPr>
          </a:p>
        </p:txBody>
      </p:sp>
      <p:sp>
        <p:nvSpPr>
          <p:cNvPr id="187" name="Google Shape;187;g146873a7365_0_33"/>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88" name="Google Shape;188;g146873a7365_0_33"/>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g146873a7365_0_33"/>
          <p:cNvSpPr txBox="1"/>
          <p:nvPr/>
        </p:nvSpPr>
        <p:spPr>
          <a:xfrm>
            <a:off x="835825" y="1146025"/>
            <a:ext cx="7302000" cy="277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100"/>
              <a:buFont typeface="Arial"/>
              <a:buNone/>
            </a:pPr>
            <a:r>
              <a:rPr b="1" i="0" lang="en" sz="2100" u="sng" cap="none" strike="noStrike">
                <a:solidFill>
                  <a:srgbClr val="980000"/>
                </a:solidFill>
                <a:latin typeface="Arial"/>
                <a:ea typeface="Arial"/>
                <a:cs typeface="Arial"/>
                <a:sym typeface="Arial"/>
              </a:rPr>
              <a:t>Ownership of personal data  </a:t>
            </a:r>
            <a:endParaRPr b="1" i="0" sz="2100" u="sng" cap="none" strike="noStrike">
              <a:solidFill>
                <a:srgbClr val="980000"/>
              </a:solidFill>
              <a:latin typeface="Arial"/>
              <a:ea typeface="Arial"/>
              <a:cs typeface="Arial"/>
              <a:sym typeface="Arial"/>
            </a:endParaRPr>
          </a:p>
          <a:p>
            <a:pPr indent="-368300" lvl="0" marL="457200" marR="0" rtl="0" algn="l">
              <a:lnSpc>
                <a:spcPct val="100000"/>
              </a:lnSpc>
              <a:spcBef>
                <a:spcPts val="1000"/>
              </a:spcBef>
              <a:spcAft>
                <a:spcPts val="0"/>
              </a:spcAft>
              <a:buClr>
                <a:schemeClr val="accent3"/>
              </a:buClr>
              <a:buSzPts val="2200"/>
              <a:buFont typeface="Arial"/>
              <a:buChar char="❏"/>
            </a:pPr>
            <a:r>
              <a:rPr b="0" i="0" lang="en" sz="1700" u="none" cap="none" strike="noStrike">
                <a:solidFill>
                  <a:srgbClr val="000000"/>
                </a:solidFill>
                <a:latin typeface="Arial"/>
                <a:ea typeface="Arial"/>
                <a:cs typeface="Arial"/>
                <a:sym typeface="Arial"/>
              </a:rPr>
              <a:t>People should be given property rights in information about themselves.  </a:t>
            </a:r>
            <a:endParaRPr b="0" i="0" sz="1700" u="none" cap="none" strike="noStrike">
              <a:solidFill>
                <a:srgbClr val="000000"/>
              </a:solidFill>
              <a:latin typeface="Arial"/>
              <a:ea typeface="Arial"/>
              <a:cs typeface="Arial"/>
              <a:sym typeface="Arial"/>
            </a:endParaRPr>
          </a:p>
          <a:p>
            <a:pPr indent="-368300" lvl="0" marL="457200" marR="0" rtl="0" algn="l">
              <a:lnSpc>
                <a:spcPct val="100000"/>
              </a:lnSpc>
              <a:spcBef>
                <a:spcPts val="0"/>
              </a:spcBef>
              <a:spcAft>
                <a:spcPts val="0"/>
              </a:spcAft>
              <a:buClr>
                <a:schemeClr val="accent3"/>
              </a:buClr>
              <a:buSzPts val="2200"/>
              <a:buFont typeface="Arial"/>
              <a:buChar char="❏"/>
            </a:pPr>
            <a:r>
              <a:rPr b="0" i="0" lang="en" sz="1700" u="none" cap="none" strike="noStrike">
                <a:solidFill>
                  <a:srgbClr val="000000"/>
                </a:solidFill>
                <a:latin typeface="Arial"/>
                <a:ea typeface="Arial"/>
                <a:cs typeface="Arial"/>
                <a:sym typeface="Arial"/>
              </a:rPr>
              <a:t>But some activities and transactions involve at least two people, each of whom would have claims to own the information about the activity. </a:t>
            </a:r>
            <a:endParaRPr b="0" i="0" sz="1700" u="none" cap="none" strike="noStrike">
              <a:solidFill>
                <a:srgbClr val="000000"/>
              </a:solidFill>
              <a:latin typeface="Arial"/>
              <a:ea typeface="Arial"/>
              <a:cs typeface="Arial"/>
              <a:sym typeface="Arial"/>
            </a:endParaRPr>
          </a:p>
          <a:p>
            <a:pPr indent="-368300" lvl="0" marL="457200" marR="0" rtl="0" algn="l">
              <a:lnSpc>
                <a:spcPct val="100000"/>
              </a:lnSpc>
              <a:spcBef>
                <a:spcPts val="0"/>
              </a:spcBef>
              <a:spcAft>
                <a:spcPts val="0"/>
              </a:spcAft>
              <a:buClr>
                <a:schemeClr val="accent3"/>
              </a:buClr>
              <a:buSzPts val="2200"/>
              <a:buFont typeface="Arial"/>
              <a:buChar char="❏"/>
            </a:pPr>
            <a:r>
              <a:rPr b="0" i="0" lang="en" sz="1700" u="none" cap="none" strike="noStrike">
                <a:solidFill>
                  <a:srgbClr val="000000"/>
                </a:solidFill>
                <a:latin typeface="Arial"/>
                <a:ea typeface="Arial"/>
                <a:cs typeface="Arial"/>
                <a:sym typeface="Arial"/>
              </a:rPr>
              <a:t> Can we own our profiles (collection of data describing our activities, purchase, interests, etc.) ? </a:t>
            </a:r>
            <a:endParaRPr b="0" i="0" sz="1700" u="none" cap="none" strike="noStrike">
              <a:solidFill>
                <a:srgbClr val="000000"/>
              </a:solidFill>
              <a:latin typeface="Arial"/>
              <a:ea typeface="Arial"/>
              <a:cs typeface="Arial"/>
              <a:sym typeface="Arial"/>
            </a:endParaRPr>
          </a:p>
          <a:p>
            <a:pPr indent="-368300" lvl="0" marL="457200" marR="0" rtl="0" algn="l">
              <a:lnSpc>
                <a:spcPct val="100000"/>
              </a:lnSpc>
              <a:spcBef>
                <a:spcPts val="0"/>
              </a:spcBef>
              <a:spcAft>
                <a:spcPts val="0"/>
              </a:spcAft>
              <a:buClr>
                <a:schemeClr val="accent3"/>
              </a:buClr>
              <a:buSzPts val="2200"/>
              <a:buFont typeface="Arial"/>
              <a:buChar char="❏"/>
            </a:pPr>
            <a:r>
              <a:rPr b="0" i="0" lang="en" sz="1700" u="none" cap="none" strike="noStrike">
                <a:solidFill>
                  <a:srgbClr val="000000"/>
                </a:solidFill>
                <a:latin typeface="Arial"/>
                <a:ea typeface="Arial"/>
                <a:cs typeface="Arial"/>
                <a:sym typeface="Arial"/>
              </a:rPr>
              <a:t> We cannot own the fact that our eyes have a certain color</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146873a7365_0_41"/>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Rights and laws:</a:t>
            </a:r>
            <a:endParaRPr b="1">
              <a:solidFill>
                <a:schemeClr val="lt1"/>
              </a:solidFill>
              <a:latin typeface="Malgun Gothic"/>
              <a:ea typeface="Malgun Gothic"/>
              <a:cs typeface="Malgun Gothic"/>
              <a:sym typeface="Malgun Gothic"/>
            </a:endParaRPr>
          </a:p>
        </p:txBody>
      </p:sp>
      <p:sp>
        <p:nvSpPr>
          <p:cNvPr id="195" name="Google Shape;195;g146873a7365_0_41"/>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96" name="Google Shape;196;g146873a7365_0_41"/>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g146873a7365_0_41"/>
          <p:cNvSpPr txBox="1"/>
          <p:nvPr/>
        </p:nvSpPr>
        <p:spPr>
          <a:xfrm>
            <a:off x="709800" y="938825"/>
            <a:ext cx="7692900" cy="359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300"/>
              <a:buFont typeface="Arial"/>
              <a:buNone/>
            </a:pPr>
            <a:r>
              <a:rPr b="1" i="0" lang="en" sz="2300" u="sng" cap="none" strike="noStrike">
                <a:solidFill>
                  <a:srgbClr val="980000"/>
                </a:solidFill>
                <a:latin typeface="Arial"/>
                <a:ea typeface="Arial"/>
                <a:cs typeface="Arial"/>
                <a:sym typeface="Arial"/>
              </a:rPr>
              <a:t>Regulation</a:t>
            </a:r>
            <a:endParaRPr b="1" i="0" sz="2300" u="sng" cap="none" strike="noStrike">
              <a:solidFill>
                <a:srgbClr val="980000"/>
              </a:solidFill>
              <a:latin typeface="Arial"/>
              <a:ea typeface="Arial"/>
              <a:cs typeface="Arial"/>
              <a:sym typeface="Arial"/>
            </a:endParaRPr>
          </a:p>
          <a:p>
            <a:pPr indent="-355600" lvl="0" marL="457200" marR="0" rtl="0" algn="l">
              <a:lnSpc>
                <a:spcPct val="100000"/>
              </a:lnSpc>
              <a:spcBef>
                <a:spcPts val="1000"/>
              </a:spcBef>
              <a:spcAft>
                <a:spcPts val="0"/>
              </a:spcAft>
              <a:buClr>
                <a:srgbClr val="000000"/>
              </a:buClr>
              <a:buSzPts val="2000"/>
              <a:buFont typeface="Arial"/>
              <a:buChar char="❏"/>
            </a:pPr>
            <a:r>
              <a:rPr b="0" i="0" lang="en" sz="2000" u="none" cap="none" strike="noStrike">
                <a:solidFill>
                  <a:srgbClr val="000000"/>
                </a:solidFill>
                <a:latin typeface="Arial"/>
                <a:ea typeface="Arial"/>
                <a:cs typeface="Arial"/>
                <a:sym typeface="Arial"/>
              </a:rPr>
              <a:t>Technical tools for privacy protection, market mechanisms, and business policies are not perfect.</a:t>
            </a:r>
            <a:endParaRPr b="0" i="0" sz="2000" u="none" cap="none" strike="noStrike">
              <a:solidFill>
                <a:srgbClr val="000000"/>
              </a:solidFill>
              <a:latin typeface="Arial"/>
              <a:ea typeface="Arial"/>
              <a:cs typeface="Arial"/>
              <a:sym typeface="Arial"/>
            </a:endParaRPr>
          </a:p>
          <a:p>
            <a:pPr indent="-355600" lvl="0" marL="457200" marR="0" rtl="0" algn="l">
              <a:lnSpc>
                <a:spcPct val="100000"/>
              </a:lnSpc>
              <a:spcBef>
                <a:spcPts val="1000"/>
              </a:spcBef>
              <a:spcAft>
                <a:spcPts val="0"/>
              </a:spcAft>
              <a:buClr>
                <a:srgbClr val="000000"/>
              </a:buClr>
              <a:buSzPts val="2000"/>
              <a:buFont typeface="Arial"/>
              <a:buChar char="❏"/>
            </a:pPr>
            <a:r>
              <a:rPr b="0" i="0" lang="en" sz="2000" u="none" cap="none" strike="noStrike">
                <a:solidFill>
                  <a:srgbClr val="000000"/>
                </a:solidFill>
                <a:latin typeface="Arial"/>
                <a:ea typeface="Arial"/>
                <a:cs typeface="Arial"/>
                <a:sym typeface="Arial"/>
              </a:rPr>
              <a:t>Regulation is not perfect either.</a:t>
            </a:r>
            <a:endParaRPr b="0" i="0" sz="2000" u="none" cap="none" strike="noStrike">
              <a:solidFill>
                <a:srgbClr val="000000"/>
              </a:solidFill>
              <a:latin typeface="Arial"/>
              <a:ea typeface="Arial"/>
              <a:cs typeface="Arial"/>
              <a:sym typeface="Arial"/>
            </a:endParaRPr>
          </a:p>
          <a:p>
            <a:pPr indent="-355600" lvl="0" marL="457200" marR="0" rtl="0" algn="l">
              <a:lnSpc>
                <a:spcPct val="100000"/>
              </a:lnSpc>
              <a:spcBef>
                <a:spcPts val="1000"/>
              </a:spcBef>
              <a:spcAft>
                <a:spcPts val="0"/>
              </a:spcAft>
              <a:buClr>
                <a:srgbClr val="000000"/>
              </a:buClr>
              <a:buSzPts val="2000"/>
              <a:buFont typeface="Arial"/>
              <a:buChar char="❏"/>
            </a:pPr>
            <a:r>
              <a:rPr b="0" i="0" lang="en" sz="2000" u="none" cap="none" strike="noStrike">
                <a:solidFill>
                  <a:srgbClr val="000000"/>
                </a:solidFill>
                <a:latin typeface="Arial"/>
                <a:ea typeface="Arial"/>
                <a:cs typeface="Arial"/>
                <a:sym typeface="Arial"/>
              </a:rPr>
              <a:t> Some Regulations may be so expensive and difficult to apply.</a:t>
            </a:r>
            <a:endParaRPr b="0" i="0" sz="2000" u="none" cap="none" strike="noStrike">
              <a:solidFill>
                <a:srgbClr val="000000"/>
              </a:solidFill>
              <a:latin typeface="Arial"/>
              <a:ea typeface="Arial"/>
              <a:cs typeface="Arial"/>
              <a:sym typeface="Arial"/>
            </a:endParaRPr>
          </a:p>
          <a:p>
            <a:pPr indent="-355600" lvl="0" marL="457200" marR="0" rtl="0" algn="l">
              <a:lnSpc>
                <a:spcPct val="100000"/>
              </a:lnSpc>
              <a:spcBef>
                <a:spcPts val="1000"/>
              </a:spcBef>
              <a:spcAft>
                <a:spcPts val="0"/>
              </a:spcAft>
              <a:buClr>
                <a:srgbClr val="000000"/>
              </a:buClr>
              <a:buSzPts val="2000"/>
              <a:buFont typeface="Arial"/>
              <a:buChar char="❏"/>
            </a:pPr>
            <a:r>
              <a:rPr b="0" i="0" lang="en" sz="2000" u="none" cap="none" strike="noStrike">
                <a:solidFill>
                  <a:srgbClr val="000000"/>
                </a:solidFill>
                <a:latin typeface="Arial"/>
                <a:ea typeface="Arial"/>
                <a:cs typeface="Arial"/>
                <a:sym typeface="Arial"/>
              </a:rPr>
              <a:t> Example: Health Insurance Portability and Accountability Act (HIPAA)- protect sensitive patient health information from being disclosed without the patient’s consent or knowledge.</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150a390fc83_0_0"/>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Rights and laws: Contrasting Viewpoints:</a:t>
            </a:r>
            <a:endParaRPr b="1">
              <a:solidFill>
                <a:schemeClr val="lt1"/>
              </a:solidFill>
              <a:latin typeface="Malgun Gothic"/>
              <a:ea typeface="Malgun Gothic"/>
              <a:cs typeface="Malgun Gothic"/>
              <a:sym typeface="Malgun Gothic"/>
            </a:endParaRPr>
          </a:p>
        </p:txBody>
      </p:sp>
      <p:sp>
        <p:nvSpPr>
          <p:cNvPr id="203" name="Google Shape;203;g150a390fc83_0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04" name="Google Shape;204;g150a390fc83_0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g150a390fc83_0_0"/>
          <p:cNvSpPr txBox="1"/>
          <p:nvPr/>
        </p:nvSpPr>
        <p:spPr>
          <a:xfrm>
            <a:off x="709800" y="938825"/>
            <a:ext cx="7692900" cy="306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000"/>
              <a:buFont typeface="Arial"/>
              <a:buNone/>
            </a:pPr>
            <a:r>
              <a:rPr b="1" i="0" lang="en" sz="2000" u="sng" cap="none" strike="noStrike">
                <a:solidFill>
                  <a:srgbClr val="980000"/>
                </a:solidFill>
                <a:latin typeface="Arial"/>
                <a:ea typeface="Arial"/>
                <a:cs typeface="Arial"/>
                <a:sym typeface="Arial"/>
              </a:rPr>
              <a:t>Free Market View </a:t>
            </a:r>
            <a:endParaRPr b="1" i="0" sz="2000" u="sng" cap="none" strike="noStrike">
              <a:solidFill>
                <a:srgbClr val="980000"/>
              </a:solidFill>
              <a:latin typeface="Arial"/>
              <a:ea typeface="Arial"/>
              <a:cs typeface="Arial"/>
              <a:sym typeface="Arial"/>
            </a:endParaRPr>
          </a:p>
          <a:p>
            <a:pPr indent="-355600" lvl="0" marL="457200" marR="0" rtl="0" algn="l">
              <a:lnSpc>
                <a:spcPct val="100000"/>
              </a:lnSpc>
              <a:spcBef>
                <a:spcPts val="1000"/>
              </a:spcBef>
              <a:spcAft>
                <a:spcPts val="0"/>
              </a:spcAft>
              <a:buClr>
                <a:schemeClr val="accent3"/>
              </a:buClr>
              <a:buSzPts val="2000"/>
              <a:buFont typeface="Arial"/>
              <a:buChar char="❏"/>
            </a:pPr>
            <a:r>
              <a:rPr b="0" i="0" lang="en" sz="2000" u="none" cap="none" strike="noStrike">
                <a:solidFill>
                  <a:srgbClr val="000000"/>
                </a:solidFill>
                <a:latin typeface="Arial"/>
                <a:ea typeface="Arial"/>
                <a:cs typeface="Arial"/>
                <a:sym typeface="Arial"/>
              </a:rPr>
              <a:t>Freedom of consumers to make voluntary agreements</a:t>
            </a:r>
            <a:endParaRPr b="0" i="0" sz="2000" u="none" cap="none" strike="noStrike">
              <a:solidFill>
                <a:srgbClr val="000000"/>
              </a:solidFill>
              <a:latin typeface="Arial"/>
              <a:ea typeface="Arial"/>
              <a:cs typeface="Arial"/>
              <a:sym typeface="Arial"/>
            </a:endParaRPr>
          </a:p>
          <a:p>
            <a:pPr indent="-355600" lvl="0" marL="457200" marR="0" rtl="0" algn="l">
              <a:lnSpc>
                <a:spcPct val="100000"/>
              </a:lnSpc>
              <a:spcBef>
                <a:spcPts val="1000"/>
              </a:spcBef>
              <a:spcAft>
                <a:spcPts val="0"/>
              </a:spcAft>
              <a:buClr>
                <a:schemeClr val="accent3"/>
              </a:buClr>
              <a:buSzPts val="2000"/>
              <a:buFont typeface="Arial"/>
              <a:buChar char="❏"/>
            </a:pPr>
            <a:r>
              <a:rPr b="0" i="0" lang="en" sz="2000" u="none" cap="none" strike="noStrike">
                <a:solidFill>
                  <a:srgbClr val="000000"/>
                </a:solidFill>
                <a:latin typeface="Arial"/>
                <a:ea typeface="Arial"/>
                <a:cs typeface="Arial"/>
                <a:sym typeface="Arial"/>
              </a:rPr>
              <a:t>Diversity of individual tastes and values </a:t>
            </a:r>
            <a:endParaRPr b="0" i="0" sz="2000" u="none" cap="none" strike="noStrike">
              <a:solidFill>
                <a:srgbClr val="000000"/>
              </a:solidFill>
              <a:latin typeface="Arial"/>
              <a:ea typeface="Arial"/>
              <a:cs typeface="Arial"/>
              <a:sym typeface="Arial"/>
            </a:endParaRPr>
          </a:p>
          <a:p>
            <a:pPr indent="-355600" lvl="0" marL="457200" marR="0" rtl="0" algn="l">
              <a:lnSpc>
                <a:spcPct val="100000"/>
              </a:lnSpc>
              <a:spcBef>
                <a:spcPts val="1000"/>
              </a:spcBef>
              <a:spcAft>
                <a:spcPts val="0"/>
              </a:spcAft>
              <a:buClr>
                <a:schemeClr val="accent3"/>
              </a:buClr>
              <a:buSzPts val="2000"/>
              <a:buFont typeface="Arial"/>
              <a:buChar char="❏"/>
            </a:pPr>
            <a:r>
              <a:rPr b="0" i="0" lang="en" sz="2000" u="none" cap="none" strike="noStrike">
                <a:solidFill>
                  <a:srgbClr val="000000"/>
                </a:solidFill>
                <a:latin typeface="Arial"/>
                <a:ea typeface="Arial"/>
                <a:cs typeface="Arial"/>
                <a:sym typeface="Arial"/>
              </a:rPr>
              <a:t>Response of the market to consumer preferences </a:t>
            </a:r>
            <a:endParaRPr b="0" i="0" sz="2000" u="none" cap="none" strike="noStrike">
              <a:solidFill>
                <a:srgbClr val="000000"/>
              </a:solidFill>
              <a:latin typeface="Arial"/>
              <a:ea typeface="Arial"/>
              <a:cs typeface="Arial"/>
              <a:sym typeface="Arial"/>
            </a:endParaRPr>
          </a:p>
          <a:p>
            <a:pPr indent="-355600" lvl="0" marL="457200" marR="0" rtl="0" algn="l">
              <a:lnSpc>
                <a:spcPct val="100000"/>
              </a:lnSpc>
              <a:spcBef>
                <a:spcPts val="1000"/>
              </a:spcBef>
              <a:spcAft>
                <a:spcPts val="0"/>
              </a:spcAft>
              <a:buClr>
                <a:schemeClr val="accent3"/>
              </a:buClr>
              <a:buSzPts val="2000"/>
              <a:buFont typeface="Arial"/>
              <a:buChar char="❏"/>
            </a:pPr>
            <a:r>
              <a:rPr b="0" i="0" lang="en" sz="2000" u="none" cap="none" strike="noStrike">
                <a:solidFill>
                  <a:srgbClr val="000000"/>
                </a:solidFill>
                <a:latin typeface="Arial"/>
                <a:ea typeface="Arial"/>
                <a:cs typeface="Arial"/>
                <a:sym typeface="Arial"/>
              </a:rPr>
              <a:t>Usefulness of contracts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100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150ad467419_0_0"/>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Rights and laws: Contrasting Viewpoints:</a:t>
            </a:r>
            <a:endParaRPr b="1">
              <a:solidFill>
                <a:schemeClr val="lt1"/>
              </a:solidFill>
              <a:latin typeface="Malgun Gothic"/>
              <a:ea typeface="Malgun Gothic"/>
              <a:cs typeface="Malgun Gothic"/>
              <a:sym typeface="Malgun Gothic"/>
            </a:endParaRPr>
          </a:p>
        </p:txBody>
      </p:sp>
      <p:sp>
        <p:nvSpPr>
          <p:cNvPr id="211" name="Google Shape;211;g150ad467419_0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12" name="Google Shape;212;g150ad467419_0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g150ad467419_0_0"/>
          <p:cNvSpPr txBox="1"/>
          <p:nvPr/>
        </p:nvSpPr>
        <p:spPr>
          <a:xfrm>
            <a:off x="366900" y="810600"/>
            <a:ext cx="8019300" cy="4332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700"/>
              </a:spcBef>
              <a:spcAft>
                <a:spcPts val="0"/>
              </a:spcAft>
              <a:buClr>
                <a:srgbClr val="000000"/>
              </a:buClr>
              <a:buSzPts val="2200"/>
              <a:buFont typeface="Arial"/>
              <a:buNone/>
            </a:pPr>
            <a:r>
              <a:rPr b="1" i="0" lang="en" sz="2200" u="sng" cap="none" strike="noStrike">
                <a:solidFill>
                  <a:srgbClr val="980000"/>
                </a:solidFill>
                <a:latin typeface="Arial"/>
                <a:ea typeface="Arial"/>
                <a:cs typeface="Arial"/>
                <a:sym typeface="Arial"/>
              </a:rPr>
              <a:t>Consumer Protection View</a:t>
            </a:r>
            <a:endParaRPr b="1" i="0" sz="2200" u="sng" cap="none" strike="noStrike">
              <a:solidFill>
                <a:srgbClr val="980000"/>
              </a:solidFill>
              <a:latin typeface="Arial"/>
              <a:ea typeface="Arial"/>
              <a:cs typeface="Arial"/>
              <a:sym typeface="Arial"/>
            </a:endParaRPr>
          </a:p>
          <a:p>
            <a:pPr indent="-387350" lvl="0" marL="457200" marR="0" rtl="0" algn="l">
              <a:lnSpc>
                <a:spcPct val="90000"/>
              </a:lnSpc>
              <a:spcBef>
                <a:spcPts val="700"/>
              </a:spcBef>
              <a:spcAft>
                <a:spcPts val="0"/>
              </a:spcAft>
              <a:buClr>
                <a:schemeClr val="accent3"/>
              </a:buClr>
              <a:buSzPts val="2500"/>
              <a:buFont typeface="Arial"/>
              <a:buChar char="❏"/>
            </a:pPr>
            <a:r>
              <a:rPr b="0" i="0" lang="en" sz="2100" u="none" cap="none" strike="noStrike">
                <a:solidFill>
                  <a:schemeClr val="dk1"/>
                </a:solidFill>
                <a:latin typeface="Arial"/>
                <a:ea typeface="Arial"/>
                <a:cs typeface="Arial"/>
                <a:sym typeface="Arial"/>
              </a:rPr>
              <a:t>Advocates of strong privacy regulation emphasize the unsettling uses of personal information</a:t>
            </a:r>
            <a:endParaRPr b="0" i="0" sz="2100" u="none" cap="none" strike="noStrike">
              <a:solidFill>
                <a:schemeClr val="dk1"/>
              </a:solidFill>
              <a:latin typeface="Arial"/>
              <a:ea typeface="Arial"/>
              <a:cs typeface="Arial"/>
              <a:sym typeface="Arial"/>
            </a:endParaRPr>
          </a:p>
          <a:p>
            <a:pPr indent="-387350" lvl="0" marL="457200" marR="0" rtl="0" algn="l">
              <a:lnSpc>
                <a:spcPct val="90000"/>
              </a:lnSpc>
              <a:spcBef>
                <a:spcPts val="1000"/>
              </a:spcBef>
              <a:spcAft>
                <a:spcPts val="0"/>
              </a:spcAft>
              <a:buClr>
                <a:schemeClr val="accent3"/>
              </a:buClr>
              <a:buSzPts val="2500"/>
              <a:buFont typeface="Arial"/>
              <a:buChar char="❏"/>
            </a:pPr>
            <a:r>
              <a:rPr b="0" i="0" lang="en" sz="2100" u="none" cap="none" strike="noStrike">
                <a:solidFill>
                  <a:schemeClr val="dk1"/>
                </a:solidFill>
                <a:latin typeface="Arial"/>
                <a:ea typeface="Arial"/>
                <a:cs typeface="Arial"/>
                <a:sym typeface="Arial"/>
              </a:rPr>
              <a:t>Costly and disruptive results of errors in databases</a:t>
            </a:r>
            <a:endParaRPr b="0" i="0" sz="2100" u="none" cap="none" strike="noStrike">
              <a:solidFill>
                <a:schemeClr val="dk1"/>
              </a:solidFill>
              <a:latin typeface="Arial"/>
              <a:ea typeface="Arial"/>
              <a:cs typeface="Arial"/>
              <a:sym typeface="Arial"/>
            </a:endParaRPr>
          </a:p>
          <a:p>
            <a:pPr indent="-387350" lvl="0" marL="457200" marR="0" rtl="0" algn="l">
              <a:lnSpc>
                <a:spcPct val="90000"/>
              </a:lnSpc>
              <a:spcBef>
                <a:spcPts val="1000"/>
              </a:spcBef>
              <a:spcAft>
                <a:spcPts val="0"/>
              </a:spcAft>
              <a:buClr>
                <a:schemeClr val="accent3"/>
              </a:buClr>
              <a:buSzPts val="2500"/>
              <a:buFont typeface="Arial"/>
              <a:buChar char="❏"/>
            </a:pPr>
            <a:r>
              <a:rPr b="0" i="0" lang="en" sz="2100" u="none" cap="none" strike="noStrike">
                <a:solidFill>
                  <a:schemeClr val="dk1"/>
                </a:solidFill>
                <a:latin typeface="Arial"/>
                <a:ea typeface="Arial"/>
                <a:cs typeface="Arial"/>
                <a:sym typeface="Arial"/>
              </a:rPr>
              <a:t>Ease with which personal information leaks out, via loss, theft, and carelessness</a:t>
            </a:r>
            <a:endParaRPr b="0" i="0" sz="2100" u="none" cap="none" strike="noStrike">
              <a:solidFill>
                <a:schemeClr val="dk1"/>
              </a:solidFill>
              <a:latin typeface="Arial"/>
              <a:ea typeface="Arial"/>
              <a:cs typeface="Arial"/>
              <a:sym typeface="Arial"/>
            </a:endParaRPr>
          </a:p>
          <a:p>
            <a:pPr indent="-387350" lvl="0" marL="457200" marR="0" rtl="0" algn="l">
              <a:lnSpc>
                <a:spcPct val="90000"/>
              </a:lnSpc>
              <a:spcBef>
                <a:spcPts val="1000"/>
              </a:spcBef>
              <a:spcAft>
                <a:spcPts val="0"/>
              </a:spcAft>
              <a:buClr>
                <a:schemeClr val="accent3"/>
              </a:buClr>
              <a:buSzPts val="2500"/>
              <a:buFont typeface="Arial"/>
              <a:buChar char="❏"/>
            </a:pPr>
            <a:r>
              <a:rPr b="0" i="0" lang="en" sz="2100" u="none" cap="none" strike="noStrike">
                <a:solidFill>
                  <a:schemeClr val="dk1"/>
                </a:solidFill>
                <a:latin typeface="Arial"/>
                <a:ea typeface="Arial"/>
                <a:cs typeface="Arial"/>
                <a:sym typeface="Arial"/>
              </a:rPr>
              <a:t>Consumers need protection from their own lack of knowledge, judgment, or interest</a:t>
            </a:r>
            <a:endParaRPr b="0" i="0" sz="210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150ad467419_0_9"/>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Communications</a:t>
            </a:r>
            <a:endParaRPr b="1">
              <a:solidFill>
                <a:schemeClr val="lt1"/>
              </a:solidFill>
              <a:latin typeface="Malgun Gothic"/>
              <a:ea typeface="Malgun Gothic"/>
              <a:cs typeface="Malgun Gothic"/>
              <a:sym typeface="Malgun Gothic"/>
            </a:endParaRPr>
          </a:p>
        </p:txBody>
      </p:sp>
      <p:sp>
        <p:nvSpPr>
          <p:cNvPr id="219" name="Google Shape;219;g150ad467419_0_9"/>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20" name="Google Shape;220;g150ad467419_0_9"/>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g150ad467419_0_9"/>
          <p:cNvSpPr txBox="1"/>
          <p:nvPr/>
        </p:nvSpPr>
        <p:spPr>
          <a:xfrm>
            <a:off x="709800" y="938825"/>
            <a:ext cx="8019300" cy="40866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700"/>
              </a:spcBef>
              <a:spcAft>
                <a:spcPts val="0"/>
              </a:spcAft>
              <a:buClr>
                <a:srgbClr val="000000"/>
              </a:buClr>
              <a:buSzPts val="2200"/>
              <a:buFont typeface="Arial"/>
              <a:buNone/>
            </a:pPr>
            <a:r>
              <a:rPr b="1" i="0" lang="en" sz="2200" u="sng" cap="none" strike="noStrike">
                <a:solidFill>
                  <a:srgbClr val="980000"/>
                </a:solidFill>
                <a:latin typeface="Arial"/>
                <a:ea typeface="Arial"/>
                <a:cs typeface="Arial"/>
                <a:sym typeface="Arial"/>
              </a:rPr>
              <a:t>Wiretapping and Email Protection:</a:t>
            </a:r>
            <a:endParaRPr b="1" i="0" sz="2200" u="sng" cap="none" strike="noStrike">
              <a:solidFill>
                <a:srgbClr val="980000"/>
              </a:solidFill>
              <a:latin typeface="Arial"/>
              <a:ea typeface="Arial"/>
              <a:cs typeface="Arial"/>
              <a:sym typeface="Arial"/>
            </a:endParaRPr>
          </a:p>
          <a:p>
            <a:pPr indent="0" lvl="0" marL="0" marR="0" rtl="0" algn="l">
              <a:lnSpc>
                <a:spcPct val="80000"/>
              </a:lnSpc>
              <a:spcBef>
                <a:spcPts val="600"/>
              </a:spcBef>
              <a:spcAft>
                <a:spcPts val="0"/>
              </a:spcAft>
              <a:buClr>
                <a:schemeClr val="dk1"/>
              </a:buClr>
              <a:buSzPts val="1100"/>
              <a:buFont typeface="Arial"/>
              <a:buNone/>
            </a:pPr>
            <a:r>
              <a:rPr b="1" i="0" lang="en" sz="2400" u="none" cap="none" strike="noStrike">
                <a:solidFill>
                  <a:schemeClr val="dk1"/>
                </a:solidFill>
                <a:latin typeface="Arial"/>
                <a:ea typeface="Arial"/>
                <a:cs typeface="Arial"/>
                <a:sym typeface="Arial"/>
              </a:rPr>
              <a:t>Telephone</a:t>
            </a:r>
            <a:endParaRPr b="1" i="0" sz="2400" u="none" cap="none" strike="noStrike">
              <a:solidFill>
                <a:schemeClr val="dk1"/>
              </a:solidFill>
              <a:latin typeface="Arial"/>
              <a:ea typeface="Arial"/>
              <a:cs typeface="Arial"/>
              <a:sym typeface="Arial"/>
            </a:endParaRPr>
          </a:p>
          <a:p>
            <a:pPr indent="-381000" lvl="0" marL="457200" marR="0" rtl="0" algn="l">
              <a:lnSpc>
                <a:spcPct val="80000"/>
              </a:lnSpc>
              <a:spcBef>
                <a:spcPts val="600"/>
              </a:spcBef>
              <a:spcAft>
                <a:spcPts val="0"/>
              </a:spcAft>
              <a:buClr>
                <a:schemeClr val="dk1"/>
              </a:buClr>
              <a:buSzPts val="2400"/>
              <a:buFont typeface="Arial"/>
              <a:buChar char="❏"/>
            </a:pPr>
            <a:r>
              <a:rPr b="0" i="0" lang="en" sz="2400" u="none" cap="none" strike="noStrike">
                <a:solidFill>
                  <a:schemeClr val="dk1"/>
                </a:solidFill>
                <a:latin typeface="Arial"/>
                <a:ea typeface="Arial"/>
                <a:cs typeface="Arial"/>
                <a:sym typeface="Arial"/>
              </a:rPr>
              <a:t>1934 Communications Act prohibited interception of messages</a:t>
            </a:r>
            <a:endParaRPr b="0" i="0" sz="2400" u="none" cap="none" strike="noStrike">
              <a:solidFill>
                <a:schemeClr val="dk1"/>
              </a:solidFill>
              <a:latin typeface="Arial"/>
              <a:ea typeface="Arial"/>
              <a:cs typeface="Arial"/>
              <a:sym typeface="Arial"/>
            </a:endParaRPr>
          </a:p>
          <a:p>
            <a:pPr indent="-381000" lvl="0" marL="457200" marR="0" rtl="0" algn="l">
              <a:lnSpc>
                <a:spcPct val="80000"/>
              </a:lnSpc>
              <a:spcBef>
                <a:spcPts val="0"/>
              </a:spcBef>
              <a:spcAft>
                <a:spcPts val="0"/>
              </a:spcAft>
              <a:buClr>
                <a:schemeClr val="dk1"/>
              </a:buClr>
              <a:buSzPts val="2400"/>
              <a:buFont typeface="Arial"/>
              <a:buChar char="❏"/>
            </a:pPr>
            <a:r>
              <a:rPr b="0" i="0" lang="en" sz="2400" u="none" cap="none" strike="noStrike">
                <a:solidFill>
                  <a:schemeClr val="dk1"/>
                </a:solidFill>
                <a:latin typeface="Arial"/>
                <a:ea typeface="Arial"/>
                <a:cs typeface="Arial"/>
                <a:sym typeface="Arial"/>
              </a:rPr>
              <a:t>1968 Omnibus Crime Control and Safe Streets Act allowed wiretapping and electronic surveillance by law-enforcement (with court order)</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700"/>
              </a:spcBef>
              <a:spcAft>
                <a:spcPts val="0"/>
              </a:spcAft>
              <a:buClr>
                <a:srgbClr val="000000"/>
              </a:buClr>
              <a:buSzPts val="1800"/>
              <a:buFont typeface="Arial"/>
              <a:buNone/>
            </a:pPr>
            <a:r>
              <a:t/>
            </a:r>
            <a:endParaRPr b="0" i="0" sz="1800" u="sng" cap="none" strike="noStrike">
              <a:solidFill>
                <a:schemeClr val="dk2"/>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150ad467419_0_18"/>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Communications</a:t>
            </a:r>
            <a:endParaRPr b="1">
              <a:solidFill>
                <a:schemeClr val="lt1"/>
              </a:solidFill>
              <a:latin typeface="Malgun Gothic"/>
              <a:ea typeface="Malgun Gothic"/>
              <a:cs typeface="Malgun Gothic"/>
              <a:sym typeface="Malgun Gothic"/>
            </a:endParaRPr>
          </a:p>
        </p:txBody>
      </p:sp>
      <p:sp>
        <p:nvSpPr>
          <p:cNvPr id="227" name="Google Shape;227;g150ad467419_0_18"/>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28" name="Google Shape;228;g150ad467419_0_18"/>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g150ad467419_0_18"/>
          <p:cNvSpPr txBox="1"/>
          <p:nvPr/>
        </p:nvSpPr>
        <p:spPr>
          <a:xfrm>
            <a:off x="709800" y="938825"/>
            <a:ext cx="8019300" cy="41970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700"/>
              </a:spcBef>
              <a:spcAft>
                <a:spcPts val="0"/>
              </a:spcAft>
              <a:buClr>
                <a:srgbClr val="000000"/>
              </a:buClr>
              <a:buSzPts val="2200"/>
              <a:buFont typeface="Arial"/>
              <a:buNone/>
            </a:pPr>
            <a:r>
              <a:rPr b="1" i="0" lang="en" sz="2200" u="sng" cap="none" strike="noStrike">
                <a:solidFill>
                  <a:srgbClr val="980000"/>
                </a:solidFill>
                <a:latin typeface="Arial"/>
                <a:ea typeface="Arial"/>
                <a:cs typeface="Arial"/>
                <a:sym typeface="Arial"/>
              </a:rPr>
              <a:t>Wiretapping and Email Protection:</a:t>
            </a:r>
            <a:endParaRPr b="1" i="0" sz="2200" u="sng" cap="none" strike="noStrike">
              <a:solidFill>
                <a:srgbClr val="980000"/>
              </a:solidFill>
              <a:latin typeface="Arial"/>
              <a:ea typeface="Arial"/>
              <a:cs typeface="Arial"/>
              <a:sym typeface="Arial"/>
            </a:endParaRPr>
          </a:p>
          <a:p>
            <a:pPr indent="0" lvl="0" marL="0" marR="0" rtl="0" algn="l">
              <a:lnSpc>
                <a:spcPct val="90000"/>
              </a:lnSpc>
              <a:spcBef>
                <a:spcPts val="700"/>
              </a:spcBef>
              <a:spcAft>
                <a:spcPts val="0"/>
              </a:spcAft>
              <a:buClr>
                <a:srgbClr val="000000"/>
              </a:buClr>
              <a:buSzPts val="2200"/>
              <a:buFont typeface="Arial"/>
              <a:buNone/>
            </a:pPr>
            <a:r>
              <a:t/>
            </a:r>
            <a:endParaRPr b="1" i="0" sz="2200" u="sng" cap="none" strike="noStrike">
              <a:solidFill>
                <a:srgbClr val="980000"/>
              </a:solidFill>
              <a:latin typeface="Arial"/>
              <a:ea typeface="Arial"/>
              <a:cs typeface="Arial"/>
              <a:sym typeface="Arial"/>
            </a:endParaRPr>
          </a:p>
          <a:p>
            <a:pPr indent="-381000" lvl="0" marL="457200" marR="0" rtl="0" algn="l">
              <a:lnSpc>
                <a:spcPct val="80000"/>
              </a:lnSpc>
              <a:spcBef>
                <a:spcPts val="600"/>
              </a:spcBef>
              <a:spcAft>
                <a:spcPts val="0"/>
              </a:spcAft>
              <a:buClr>
                <a:schemeClr val="dk1"/>
              </a:buClr>
              <a:buSzPts val="2400"/>
              <a:buFont typeface="Arial"/>
              <a:buChar char="❏"/>
            </a:pPr>
            <a:r>
              <a:rPr b="0" i="0" lang="en" sz="2400" u="none" cap="none" strike="noStrike">
                <a:solidFill>
                  <a:schemeClr val="dk1"/>
                </a:solidFill>
                <a:latin typeface="Arial"/>
                <a:ea typeface="Arial"/>
                <a:cs typeface="Arial"/>
                <a:sym typeface="Arial"/>
              </a:rPr>
              <a:t>Electronic Communications Privacy Act of 1986 (ECPA) extended the 1968 wiretapping laws to include electronic communications, restricts government access to e-mail</a:t>
            </a:r>
            <a:endParaRPr b="0" i="0" sz="2400" u="none" cap="none" strike="noStrike">
              <a:solidFill>
                <a:schemeClr val="dk1"/>
              </a:solidFill>
              <a:latin typeface="Arial"/>
              <a:ea typeface="Arial"/>
              <a:cs typeface="Arial"/>
              <a:sym typeface="Arial"/>
            </a:endParaRPr>
          </a:p>
          <a:p>
            <a:pPr indent="0" lvl="0" marL="457200" marR="0" rtl="0" algn="l">
              <a:lnSpc>
                <a:spcPct val="8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700"/>
              </a:spcBef>
              <a:spcAft>
                <a:spcPts val="0"/>
              </a:spcAft>
              <a:buClr>
                <a:srgbClr val="000000"/>
              </a:buClr>
              <a:buSzPts val="1800"/>
              <a:buFont typeface="Arial"/>
              <a:buNone/>
            </a:pPr>
            <a:r>
              <a:t/>
            </a:r>
            <a:endParaRPr b="0" i="0" sz="1800" u="sng" cap="none" strike="noStrike">
              <a:solidFill>
                <a:schemeClr val="dk2"/>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3" name="Shape 233"/>
        <p:cNvGrpSpPr/>
        <p:nvPr/>
      </p:nvGrpSpPr>
      <p:grpSpPr>
        <a:xfrm>
          <a:off x="0" y="0"/>
          <a:ext cx="0" cy="0"/>
          <a:chOff x="0" y="0"/>
          <a:chExt cx="0" cy="0"/>
        </a:xfrm>
      </p:grpSpPr>
      <p:sp>
        <p:nvSpPr>
          <p:cNvPr id="234" name="Google Shape;234;g13fbedf9817_1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35" name="Google Shape;235;g13fbedf9817_1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g13fbedf9817_1_0"/>
          <p:cNvSpPr/>
          <p:nvPr/>
        </p:nvSpPr>
        <p:spPr>
          <a:xfrm>
            <a:off x="1176600" y="1740525"/>
            <a:ext cx="6790800" cy="1535700"/>
          </a:xfrm>
          <a:prstGeom prst="roundRect">
            <a:avLst>
              <a:gd fmla="val 16667" name="adj"/>
            </a:avLst>
          </a:prstGeom>
          <a:solidFill>
            <a:schemeClr val="lt2"/>
          </a:solidFill>
          <a:ln cap="flat" cmpd="sng" w="28575">
            <a:solidFill>
              <a:schemeClr val="accent3"/>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Arial"/>
              <a:buNone/>
            </a:pPr>
            <a:r>
              <a:rPr b="1" i="0" lang="en" sz="3900" u="none" cap="none" strike="noStrike">
                <a:solidFill>
                  <a:schemeClr val="accent3"/>
                </a:solidFill>
                <a:latin typeface="Arial"/>
                <a:ea typeface="Arial"/>
                <a:cs typeface="Arial"/>
                <a:sym typeface="Arial"/>
              </a:rPr>
              <a:t>Thank You</a:t>
            </a:r>
            <a:endParaRPr b="1" i="0" sz="3900" u="none" cap="none" strike="noStrike">
              <a:solidFill>
                <a:schemeClr val="accent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