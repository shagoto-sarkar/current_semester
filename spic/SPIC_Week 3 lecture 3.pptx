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WUUlBOlv1XyifQShfg1/Ydh0H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2cd06712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112cd06712c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5f17dee8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145f17dee8c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5f5af3cc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145f5af3cc2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3fda085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143fda08588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3fda085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143fda08588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46873a73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146873a7365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4bbcddc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144bbcddc71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873a736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146873a736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6873a736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146873a7365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873a736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146873a7365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fbedf981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13fbedf981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12cd06712c_0_1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g112cd06712c_0_1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g112cd06712c_0_1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112cd06712c_0_1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112cd06712c_0_1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f59b91e696_0_41"/>
          <p:cNvSpPr txBox="1"/>
          <p:nvPr>
            <p:ph type="title"/>
          </p:nvPr>
        </p:nvSpPr>
        <p:spPr>
          <a:xfrm>
            <a:off x="967739" y="-11430"/>
            <a:ext cx="7200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600">
                <a:solidFill>
                  <a:srgbClr val="2B7B9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gf59b91e696_0_41"/>
          <p:cNvSpPr txBox="1"/>
          <p:nvPr>
            <p:ph idx="1" type="body"/>
          </p:nvPr>
        </p:nvSpPr>
        <p:spPr>
          <a:xfrm>
            <a:off x="628650" y="1038987"/>
            <a:ext cx="51441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4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f59b91e696_0_4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f59b91e696_0_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f59b91e696_0_4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" name="Google Shape;4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/>
          <p:nvPr/>
        </p:nvSpPr>
        <p:spPr>
          <a:xfrm>
            <a:off x="9" y="-962172"/>
            <a:ext cx="9233805" cy="6330149"/>
          </a:xfrm>
          <a:custGeom>
            <a:rect b="b" l="l" r="r" t="t"/>
            <a:pathLst>
              <a:path extrusionOk="0" h="72886" w="106319">
                <a:moveTo>
                  <a:pt x="98047" y="17578"/>
                </a:moveTo>
                <a:cubicBezTo>
                  <a:pt x="90726" y="25294"/>
                  <a:pt x="78229" y="26537"/>
                  <a:pt x="85120" y="17578"/>
                </a:cubicBezTo>
                <a:cubicBezTo>
                  <a:pt x="89094" y="12414"/>
                  <a:pt x="90660" y="5194"/>
                  <a:pt x="91276" y="1"/>
                </a:cubicBezTo>
                <a:lnTo>
                  <a:pt x="0" y="1"/>
                </a:lnTo>
                <a:lnTo>
                  <a:pt x="0" y="64267"/>
                </a:lnTo>
                <a:cubicBezTo>
                  <a:pt x="1853" y="61996"/>
                  <a:pt x="5128" y="58082"/>
                  <a:pt x="7238" y="50485"/>
                </a:cubicBezTo>
                <a:cubicBezTo>
                  <a:pt x="12754" y="30673"/>
                  <a:pt x="28951" y="29985"/>
                  <a:pt x="35083" y="37217"/>
                </a:cubicBezTo>
                <a:cubicBezTo>
                  <a:pt x="41980" y="45357"/>
                  <a:pt x="33105" y="66114"/>
                  <a:pt x="48531" y="72886"/>
                </a:cubicBezTo>
                <a:lnTo>
                  <a:pt x="106319" y="72886"/>
                </a:lnTo>
                <a:lnTo>
                  <a:pt x="106319" y="1"/>
                </a:lnTo>
                <a:lnTo>
                  <a:pt x="105877" y="1"/>
                </a:lnTo>
                <a:cubicBezTo>
                  <a:pt x="105106" y="4399"/>
                  <a:pt x="103086" y="12271"/>
                  <a:pt x="98047" y="17578"/>
                </a:cubicBezTo>
                <a:close/>
              </a:path>
            </a:pathLst>
          </a:custGeom>
          <a:gradFill>
            <a:gsLst>
              <a:gs pos="0">
                <a:srgbClr val="FFFEFE"/>
              </a:gs>
              <a:gs pos="65000">
                <a:srgbClr val="ECECEC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  <a:effectLst>
            <a:outerShdw blurRad="57150" rotWithShape="0" algn="bl" dist="19050">
              <a:srgbClr val="B7B7B7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38"/>
          <p:cNvGrpSpPr/>
          <p:nvPr/>
        </p:nvGrpSpPr>
        <p:grpSpPr>
          <a:xfrm>
            <a:off x="3247824" y="-408375"/>
            <a:ext cx="5985963" cy="5776828"/>
            <a:chOff x="2407800" y="3054100"/>
            <a:chExt cx="1723075" cy="1662875"/>
          </a:xfrm>
        </p:grpSpPr>
        <p:sp>
          <p:nvSpPr>
            <p:cNvPr id="67" name="Google Shape;67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  <a:lnTo>
                    <a:pt x="68923" y="66509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999999">
                  <a:alpha val="4431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  <a:lnTo>
                    <a:pt x="61841" y="54107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0784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  <a:lnTo>
                    <a:pt x="53247" y="4290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0784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fill="none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fill="none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fill="none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38"/>
          <p:cNvGrpSpPr/>
          <p:nvPr/>
        </p:nvGrpSpPr>
        <p:grpSpPr>
          <a:xfrm>
            <a:off x="-17" y="-962218"/>
            <a:ext cx="7767430" cy="4298033"/>
            <a:chOff x="1472900" y="2894675"/>
            <a:chExt cx="2235875" cy="1237200"/>
          </a:xfrm>
        </p:grpSpPr>
        <p:sp>
          <p:nvSpPr>
            <p:cNvPr id="74" name="Google Shape;74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  <a:lnTo>
                    <a:pt x="6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8820000" dist="19050">
                <a:srgbClr val="B7B7B7">
                  <a:alpha val="4431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6600000" dist="19050">
                <a:srgbClr val="B7B7B7">
                  <a:alpha val="4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2580000" dist="19050">
                <a:srgbClr val="D9D9D9">
                  <a:alpha val="4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fill="none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fill="none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fill="none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8"/>
          <p:cNvSpPr/>
          <p:nvPr/>
        </p:nvSpPr>
        <p:spPr>
          <a:xfrm>
            <a:off x="720000" y="995250"/>
            <a:ext cx="3706500" cy="3153000"/>
          </a:xfrm>
          <a:prstGeom prst="roundRect">
            <a:avLst>
              <a:gd fmla="val 8467" name="adj"/>
            </a:avLst>
          </a:prstGeom>
          <a:solidFill>
            <a:schemeClr val="lt2"/>
          </a:solidFill>
          <a:ln>
            <a:noFill/>
          </a:ln>
          <a:effectLst>
            <a:outerShdw blurRad="185738" rotWithShape="0" algn="bl" dir="6120000" dist="66675">
              <a:srgbClr val="999999">
                <a:alpha val="5137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 txBox="1"/>
          <p:nvPr>
            <p:ph type="title"/>
          </p:nvPr>
        </p:nvSpPr>
        <p:spPr>
          <a:xfrm>
            <a:off x="1169275" y="1377288"/>
            <a:ext cx="2808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38"/>
          <p:cNvSpPr txBox="1"/>
          <p:nvPr>
            <p:ph idx="1" type="subTitle"/>
          </p:nvPr>
        </p:nvSpPr>
        <p:spPr>
          <a:xfrm>
            <a:off x="1169275" y="1948813"/>
            <a:ext cx="28080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ubtitle">
  <p:cSld name="Title-Sub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/>
          <p:nvPr>
            <p:ph idx="1" type="body"/>
          </p:nvPr>
        </p:nvSpPr>
        <p:spPr>
          <a:xfrm>
            <a:off x="387819" y="730530"/>
            <a:ext cx="83685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type="title"/>
          </p:nvPr>
        </p:nvSpPr>
        <p:spPr>
          <a:xfrm>
            <a:off x="387819" y="282611"/>
            <a:ext cx="8368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001.png" id="89" name="Google Shape;8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0" name="Google Shape;90;p40"/>
          <p:cNvPicPr preferRelativeResize="0"/>
          <p:nvPr/>
        </p:nvPicPr>
        <p:blipFill rotWithShape="1">
          <a:blip r:embed="rId3">
            <a:alphaModFix/>
          </a:blip>
          <a:srcRect b="5453" l="0" r="31877" t="73562"/>
          <a:stretch/>
        </p:blipFill>
        <p:spPr>
          <a:xfrm>
            <a:off x="0" y="3783725"/>
            <a:ext cx="6228185" cy="1079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1" name="Google Shape;91;p40"/>
          <p:cNvPicPr preferRelativeResize="0"/>
          <p:nvPr/>
        </p:nvPicPr>
        <p:blipFill rotWithShape="1">
          <a:blip r:embed="rId3">
            <a:alphaModFix/>
          </a:blip>
          <a:srcRect b="5455" l="68112" r="0" t="0"/>
          <a:stretch/>
        </p:blipFill>
        <p:spPr>
          <a:xfrm>
            <a:off x="6228184" y="0"/>
            <a:ext cx="2915815" cy="486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140500"/>
            <a:ext cx="9204000" cy="46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35776" y="582375"/>
            <a:ext cx="822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GIFT OF FIRE THIRD EDITION - SARA BAASE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CHAPTER 2: PRIVACY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Lecture 3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"DIVERSE PRIVACY TOPICS ”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84725" y="3146550"/>
            <a:ext cx="41439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" sz="1700">
                <a:solidFill>
                  <a:schemeClr val="lt1"/>
                </a:solidFill>
              </a:rPr>
              <a:t>Md Umaid Hasan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Lecturer, Dept.of CSE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Daffodil International University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2cd06712c_0_185"/>
          <p:cNvSpPr txBox="1"/>
          <p:nvPr>
            <p:ph type="title"/>
          </p:nvPr>
        </p:nvSpPr>
        <p:spPr>
          <a:xfrm>
            <a:off x="311700" y="62600"/>
            <a:ext cx="8304000" cy="49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 sz="2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Marketing, Personalization and Consumer Dossiers:</a:t>
            </a:r>
            <a:endParaRPr b="1" sz="2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112cd06712c_0_18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g112cd06712c_0_18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12cd06712c_0_185"/>
          <p:cNvSpPr txBox="1"/>
          <p:nvPr/>
        </p:nvSpPr>
        <p:spPr>
          <a:xfrm>
            <a:off x="560675" y="879525"/>
            <a:ext cx="83937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Targeted and personalized marketing (business, political parties, etc)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Paying for consumer information Examples -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Targeting ads to users by scanning their emails! Like Gmail.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firms and consumer profiles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Companies (firms) that collect information about individuals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firms sell data to other companies for marketing purposes.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mining is being used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Credit records might be sold to different parties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5f17dee8c_1_2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Social Networks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145f17dee8c_1_2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g145f17dee8c_1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145f17dee8c_1_2"/>
          <p:cNvSpPr txBox="1"/>
          <p:nvPr/>
        </p:nvSpPr>
        <p:spPr>
          <a:xfrm>
            <a:off x="622025" y="1033825"/>
            <a:ext cx="8089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we do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opinions, gossip, pictures, “away from home” status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What they do 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services with unexpected privacy settings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5f5af3cc2_0_2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Location Tracking: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g145f5af3cc2_0_2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g145f5af3cc2_0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45f5af3cc2_0_2"/>
          <p:cNvSpPr txBox="1"/>
          <p:nvPr/>
        </p:nvSpPr>
        <p:spPr>
          <a:xfrm>
            <a:off x="311700" y="819500"/>
            <a:ext cx="8732400" cy="29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A61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Positioning Systems (GPS) -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computer or communication services that know exactly where a person is at a particular time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Cell phones and other devices are used for location tracking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3fda08588_0_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Stolen and Lost Data: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g143fda08588_0_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143fda08588_0_5"/>
          <p:cNvSpPr txBox="1"/>
          <p:nvPr/>
        </p:nvSpPr>
        <p:spPr>
          <a:xfrm>
            <a:off x="605550" y="1098125"/>
            <a:ext cx="7776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Hackers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theft (laptops, thumb-drives, etc.)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Requesting information under false pretenses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Bribery of employees who have access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43fda08588_0_1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What We Do Ourselves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g143fda08588_0_1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143fda08588_0_15"/>
          <p:cNvSpPr txBox="1"/>
          <p:nvPr/>
        </p:nvSpPr>
        <p:spPr>
          <a:xfrm>
            <a:off x="622025" y="1033825"/>
            <a:ext cx="7776300" cy="3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people do not know or understand enough how the web works in order to make good decisions about what to put there.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Some people do not think carefully.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People often want a lot of information about others but do not want others to have access to the same kind of information about themselves.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cell phone and email messages reside on computers outside our home or office.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no direct control over such files.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6873a7365_0_13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What We Do Ourselves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g146873a7365_0_1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g146873a7365_0_1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146873a7365_0_13"/>
          <p:cNvSpPr txBox="1"/>
          <p:nvPr/>
        </p:nvSpPr>
        <p:spPr>
          <a:xfrm>
            <a:off x="609850" y="730725"/>
            <a:ext cx="7776300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have been many incidents of exposure of emails for politicians, businessmen, etc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 information in blogs and online profiles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Pictures of ourselves and our families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sharing and storing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privacy old-fashioned?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Young people put less value on privacy than previous generations.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not understand the risks.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4bbcddc71_0_4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Public Records: Access vs. Privacy: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g144bbcddc71_0_4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g144bbcddc71_0_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44bbcddc71_0_4"/>
          <p:cNvSpPr txBox="1"/>
          <p:nvPr/>
        </p:nvSpPr>
        <p:spPr>
          <a:xfrm>
            <a:off x="835825" y="1146025"/>
            <a:ext cx="6643800" cy="2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Records -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Governments maintain “public records,”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Records available to general public (bankruptcy, property, and arrest records, salaries of government employees, etc.)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Identity theft can arise when public records are accesses.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should we control access to sensitive public records?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46873a7365_0_23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Children ( privacy and safety) 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g146873a7365_0_2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g146873a7365_0_2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146873a7365_0_23"/>
          <p:cNvSpPr txBox="1"/>
          <p:nvPr/>
        </p:nvSpPr>
        <p:spPr>
          <a:xfrm>
            <a:off x="835825" y="1146025"/>
            <a:ext cx="6643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Internet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able to make decisions on when to provide information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Vulnerable to online predators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Parental monitoring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to monitor Web usage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cams to monitor children while parents are at work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GPS tracking via cell phones or RFID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6873a7365_0_33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Children ( privacy and safety) 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g146873a7365_0_3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g146873a7365_0_3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146873a7365_0_33"/>
          <p:cNvSpPr txBox="1"/>
          <p:nvPr/>
        </p:nvSpPr>
        <p:spPr>
          <a:xfrm>
            <a:off x="835825" y="1146025"/>
            <a:ext cx="66438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what age does web monitoring become an invasion of the child’s privacy?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Should parents tell children about the tracking devices and services they are using?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Informed consent is a basic principle for adults.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what age does it apply to children?  Will intense tracking and monitoring slow the development of a child’s responsible independence?  Will parents rely more on gadgets than on talking to their children?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873a7365_0_41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National ID System: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g146873a7365_0_41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g146873a7365_0_41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146873a7365_0_41"/>
          <p:cNvSpPr txBox="1"/>
          <p:nvPr/>
        </p:nvSpPr>
        <p:spPr>
          <a:xfrm>
            <a:off x="1128350" y="963200"/>
            <a:ext cx="67575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Security Numbers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widely used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falsify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new national ID system - Pros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would require the card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harder to forge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to carry only one card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new national ID system - Cons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Threat to freedom and privacy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Increased potential for abuse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fbedf9817_1_0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g13fbedf9817_1_0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13fbedf9817_1_0"/>
          <p:cNvSpPr/>
          <p:nvPr/>
        </p:nvSpPr>
        <p:spPr>
          <a:xfrm>
            <a:off x="1176600" y="1740525"/>
            <a:ext cx="6790800" cy="153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" sz="3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3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