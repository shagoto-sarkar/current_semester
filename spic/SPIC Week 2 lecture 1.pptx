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Fsl/eo3uQYYhAFr7fbEOJ49Hf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2cd06712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112cd06712c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3fda085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143fda08588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3fda0858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143fda08588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de884e82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fde884e824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4bbcddc7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144bbcddc71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4bbcddc7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144bbcddc71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44bbcddc7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144bbcddc71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450e17a54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1450e17a54b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44bbcddc71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144bbcddc71_1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4bbcddc71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144bbcddc71_1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45f1f591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145f1f5914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5e6f2c92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145e6f2c92d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44bbcddc71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144bbcddc71_1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3fbedf981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13fbedf9817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112cd06712c_0_1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g112cd06712c_0_1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g112cd06712c_0_1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112cd06712c_0_1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112cd06712c_0_1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f59b91e696_0_41"/>
          <p:cNvSpPr txBox="1"/>
          <p:nvPr>
            <p:ph type="title"/>
          </p:nvPr>
        </p:nvSpPr>
        <p:spPr>
          <a:xfrm>
            <a:off x="967739" y="-11430"/>
            <a:ext cx="72009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600">
                <a:solidFill>
                  <a:srgbClr val="2B7B9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gf59b91e696_0_41"/>
          <p:cNvSpPr txBox="1"/>
          <p:nvPr>
            <p:ph idx="1" type="body"/>
          </p:nvPr>
        </p:nvSpPr>
        <p:spPr>
          <a:xfrm>
            <a:off x="628650" y="1038987"/>
            <a:ext cx="5144100" cy="3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4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f59b91e696_0_4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f59b91e696_0_4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gf59b91e696_0_41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" name="Google Shape;45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" name="Google Shape;4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8"/>
          <p:cNvSpPr/>
          <p:nvPr/>
        </p:nvSpPr>
        <p:spPr>
          <a:xfrm>
            <a:off x="9" y="-962172"/>
            <a:ext cx="9233805" cy="6330149"/>
          </a:xfrm>
          <a:custGeom>
            <a:rect b="b" l="l" r="r" t="t"/>
            <a:pathLst>
              <a:path extrusionOk="0" h="72886" w="106319">
                <a:moveTo>
                  <a:pt x="98047" y="17578"/>
                </a:moveTo>
                <a:cubicBezTo>
                  <a:pt x="90726" y="25294"/>
                  <a:pt x="78229" y="26537"/>
                  <a:pt x="85120" y="17578"/>
                </a:cubicBezTo>
                <a:cubicBezTo>
                  <a:pt x="89094" y="12414"/>
                  <a:pt x="90660" y="5194"/>
                  <a:pt x="91276" y="1"/>
                </a:cubicBezTo>
                <a:lnTo>
                  <a:pt x="0" y="1"/>
                </a:lnTo>
                <a:lnTo>
                  <a:pt x="0" y="64267"/>
                </a:lnTo>
                <a:cubicBezTo>
                  <a:pt x="1853" y="61996"/>
                  <a:pt x="5128" y="58082"/>
                  <a:pt x="7238" y="50485"/>
                </a:cubicBezTo>
                <a:cubicBezTo>
                  <a:pt x="12754" y="30673"/>
                  <a:pt x="28951" y="29985"/>
                  <a:pt x="35083" y="37217"/>
                </a:cubicBezTo>
                <a:cubicBezTo>
                  <a:pt x="41980" y="45357"/>
                  <a:pt x="33105" y="66114"/>
                  <a:pt x="48531" y="72886"/>
                </a:cubicBezTo>
                <a:lnTo>
                  <a:pt x="106319" y="72886"/>
                </a:lnTo>
                <a:lnTo>
                  <a:pt x="106319" y="1"/>
                </a:lnTo>
                <a:lnTo>
                  <a:pt x="105877" y="1"/>
                </a:lnTo>
                <a:cubicBezTo>
                  <a:pt x="105106" y="4399"/>
                  <a:pt x="103086" y="12271"/>
                  <a:pt x="98047" y="17578"/>
                </a:cubicBezTo>
                <a:close/>
              </a:path>
            </a:pathLst>
          </a:custGeom>
          <a:gradFill>
            <a:gsLst>
              <a:gs pos="0">
                <a:srgbClr val="FFFEFE"/>
              </a:gs>
              <a:gs pos="65000">
                <a:srgbClr val="ECECEC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  <a:effectLst>
            <a:outerShdw blurRad="57150" rotWithShape="0" algn="bl" dist="19050">
              <a:srgbClr val="B7B7B7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38"/>
          <p:cNvGrpSpPr/>
          <p:nvPr/>
        </p:nvGrpSpPr>
        <p:grpSpPr>
          <a:xfrm>
            <a:off x="3247824" y="-408375"/>
            <a:ext cx="5985963" cy="5776828"/>
            <a:chOff x="2407800" y="3054100"/>
            <a:chExt cx="1723075" cy="1662875"/>
          </a:xfrm>
        </p:grpSpPr>
        <p:sp>
          <p:nvSpPr>
            <p:cNvPr id="67" name="Google Shape;67;p38"/>
            <p:cNvSpPr/>
            <p:nvPr/>
          </p:nvSpPr>
          <p:spPr>
            <a:xfrm>
              <a:off x="2407800" y="3054100"/>
              <a:ext cx="1723075" cy="1662725"/>
            </a:xfrm>
            <a:custGeom>
              <a:rect b="b" l="l" r="r" t="t"/>
              <a:pathLst>
                <a:path extrusionOk="0" h="66509" w="68923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  <a:lnTo>
                    <a:pt x="68923" y="66509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999999">
                  <a:alpha val="4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8"/>
            <p:cNvSpPr/>
            <p:nvPr/>
          </p:nvSpPr>
          <p:spPr>
            <a:xfrm>
              <a:off x="2584850" y="3364300"/>
              <a:ext cx="1546025" cy="1352675"/>
            </a:xfrm>
            <a:custGeom>
              <a:rect b="b" l="l" r="r" t="t"/>
              <a:pathLst>
                <a:path extrusionOk="0" h="54107" w="61841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  <a:lnTo>
                    <a:pt x="61841" y="54107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10800000" dist="19050">
                <a:srgbClr val="B7B7B7">
                  <a:alpha val="4156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8"/>
            <p:cNvSpPr/>
            <p:nvPr/>
          </p:nvSpPr>
          <p:spPr>
            <a:xfrm>
              <a:off x="2799700" y="3644300"/>
              <a:ext cx="1331175" cy="1072525"/>
            </a:xfrm>
            <a:custGeom>
              <a:rect b="b" l="l" r="r" t="t"/>
              <a:pathLst>
                <a:path extrusionOk="0" h="42901" w="53247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  <a:lnTo>
                    <a:pt x="53247" y="4290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10800000" dist="19050">
                <a:srgbClr val="B7B7B7">
                  <a:alpha val="4156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8"/>
            <p:cNvSpPr/>
            <p:nvPr/>
          </p:nvSpPr>
          <p:spPr>
            <a:xfrm>
              <a:off x="2799700" y="3644300"/>
              <a:ext cx="1331175" cy="1072525"/>
            </a:xfrm>
            <a:custGeom>
              <a:rect b="b" l="l" r="r" t="t"/>
              <a:pathLst>
                <a:path extrusionOk="0" fill="none" h="42901" w="53247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8"/>
            <p:cNvSpPr/>
            <p:nvPr/>
          </p:nvSpPr>
          <p:spPr>
            <a:xfrm>
              <a:off x="2584850" y="3364300"/>
              <a:ext cx="1546025" cy="1352675"/>
            </a:xfrm>
            <a:custGeom>
              <a:rect b="b" l="l" r="r" t="t"/>
              <a:pathLst>
                <a:path extrusionOk="0" fill="none" h="54107" w="61841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>
              <a:off x="2407800" y="3054100"/>
              <a:ext cx="1723075" cy="1662725"/>
            </a:xfrm>
            <a:custGeom>
              <a:rect b="b" l="l" r="r" t="t"/>
              <a:pathLst>
                <a:path extrusionOk="0" fill="none" h="66509" w="68923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38"/>
          <p:cNvGrpSpPr/>
          <p:nvPr/>
        </p:nvGrpSpPr>
        <p:grpSpPr>
          <a:xfrm>
            <a:off x="-17" y="-962218"/>
            <a:ext cx="7767430" cy="4298033"/>
            <a:chOff x="1472900" y="2894675"/>
            <a:chExt cx="2235875" cy="1237200"/>
          </a:xfrm>
        </p:grpSpPr>
        <p:sp>
          <p:nvSpPr>
            <p:cNvPr id="74" name="Google Shape;74;p38"/>
            <p:cNvSpPr/>
            <p:nvPr/>
          </p:nvSpPr>
          <p:spPr>
            <a:xfrm>
              <a:off x="1472900" y="2894675"/>
              <a:ext cx="2235875" cy="1237200"/>
            </a:xfrm>
            <a:custGeom>
              <a:rect b="b" l="l" r="r" t="t"/>
              <a:pathLst>
                <a:path extrusionOk="0" h="49488" w="89435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  <a:lnTo>
                    <a:pt x="6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8820000" dist="19050">
                <a:srgbClr val="B7B7B7">
                  <a:alpha val="4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8"/>
            <p:cNvSpPr/>
            <p:nvPr/>
          </p:nvSpPr>
          <p:spPr>
            <a:xfrm>
              <a:off x="1472900" y="2894675"/>
              <a:ext cx="1990250" cy="1016650"/>
            </a:xfrm>
            <a:custGeom>
              <a:rect b="b" l="l" r="r" t="t"/>
              <a:pathLst>
                <a:path extrusionOk="0" h="40666" w="7961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6600000" dist="19050">
                <a:srgbClr val="B7B7B7">
                  <a:alpha val="4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8"/>
            <p:cNvSpPr/>
            <p:nvPr/>
          </p:nvSpPr>
          <p:spPr>
            <a:xfrm>
              <a:off x="1472900" y="2894675"/>
              <a:ext cx="1754175" cy="766825"/>
            </a:xfrm>
            <a:custGeom>
              <a:rect b="b" l="l" r="r" t="t"/>
              <a:pathLst>
                <a:path extrusionOk="0" h="30673" w="70167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2580000" dist="19050">
                <a:srgbClr val="D9D9D9">
                  <a:alpha val="4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8"/>
            <p:cNvSpPr/>
            <p:nvPr/>
          </p:nvSpPr>
          <p:spPr>
            <a:xfrm>
              <a:off x="1472900" y="2894675"/>
              <a:ext cx="1754175" cy="766825"/>
            </a:xfrm>
            <a:custGeom>
              <a:rect b="b" l="l" r="r" t="t"/>
              <a:pathLst>
                <a:path extrusionOk="0" fill="none" h="30673" w="70167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8"/>
            <p:cNvSpPr/>
            <p:nvPr/>
          </p:nvSpPr>
          <p:spPr>
            <a:xfrm>
              <a:off x="1472900" y="2894675"/>
              <a:ext cx="1990250" cy="1016650"/>
            </a:xfrm>
            <a:custGeom>
              <a:rect b="b" l="l" r="r" t="t"/>
              <a:pathLst>
                <a:path extrusionOk="0" fill="none" h="40666" w="7961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8"/>
            <p:cNvSpPr/>
            <p:nvPr/>
          </p:nvSpPr>
          <p:spPr>
            <a:xfrm>
              <a:off x="1472900" y="2894675"/>
              <a:ext cx="2235875" cy="1237200"/>
            </a:xfrm>
            <a:custGeom>
              <a:rect b="b" l="l" r="r" t="t"/>
              <a:pathLst>
                <a:path extrusionOk="0" fill="none" h="49488" w="89435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38"/>
          <p:cNvSpPr/>
          <p:nvPr/>
        </p:nvSpPr>
        <p:spPr>
          <a:xfrm>
            <a:off x="720000" y="995250"/>
            <a:ext cx="3706500" cy="3153000"/>
          </a:xfrm>
          <a:prstGeom prst="roundRect">
            <a:avLst>
              <a:gd fmla="val 8467" name="adj"/>
            </a:avLst>
          </a:prstGeom>
          <a:solidFill>
            <a:schemeClr val="lt2"/>
          </a:solidFill>
          <a:ln>
            <a:noFill/>
          </a:ln>
          <a:effectLst>
            <a:outerShdw blurRad="185738" rotWithShape="0" algn="bl" dir="6120000" dist="66675">
              <a:srgbClr val="999999">
                <a:alpha val="5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8"/>
          <p:cNvSpPr txBox="1"/>
          <p:nvPr>
            <p:ph type="title"/>
          </p:nvPr>
        </p:nvSpPr>
        <p:spPr>
          <a:xfrm>
            <a:off x="1169275" y="1377288"/>
            <a:ext cx="28080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38"/>
          <p:cNvSpPr txBox="1"/>
          <p:nvPr>
            <p:ph idx="1" type="subTitle"/>
          </p:nvPr>
        </p:nvSpPr>
        <p:spPr>
          <a:xfrm>
            <a:off x="1169275" y="1948813"/>
            <a:ext cx="2808000" cy="18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Subtitle">
  <p:cSld name="Title-Sub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9"/>
          <p:cNvSpPr txBox="1"/>
          <p:nvPr>
            <p:ph idx="1" type="body"/>
          </p:nvPr>
        </p:nvSpPr>
        <p:spPr>
          <a:xfrm>
            <a:off x="387819" y="730530"/>
            <a:ext cx="8368500" cy="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type="title"/>
          </p:nvPr>
        </p:nvSpPr>
        <p:spPr>
          <a:xfrm>
            <a:off x="387819" y="282611"/>
            <a:ext cx="8368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87" name="Google Shape;87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001.png" id="89" name="Google Shape;8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002.png" id="90" name="Google Shape;90;p40"/>
          <p:cNvPicPr preferRelativeResize="0"/>
          <p:nvPr/>
        </p:nvPicPr>
        <p:blipFill rotWithShape="1">
          <a:blip r:embed="rId3">
            <a:alphaModFix/>
          </a:blip>
          <a:srcRect b="5453" l="0" r="31877" t="73562"/>
          <a:stretch/>
        </p:blipFill>
        <p:spPr>
          <a:xfrm>
            <a:off x="0" y="3783725"/>
            <a:ext cx="6228185" cy="1079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002.png" id="91" name="Google Shape;91;p40"/>
          <p:cNvPicPr preferRelativeResize="0"/>
          <p:nvPr/>
        </p:nvPicPr>
        <p:blipFill rotWithShape="1">
          <a:blip r:embed="rId3">
            <a:alphaModFix/>
          </a:blip>
          <a:srcRect b="5455" l="68112" r="0" t="0"/>
          <a:stretch/>
        </p:blipFill>
        <p:spPr>
          <a:xfrm>
            <a:off x="6228184" y="0"/>
            <a:ext cx="2915815" cy="4862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140500"/>
            <a:ext cx="9204000" cy="463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35776" y="582375"/>
            <a:ext cx="822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GIFT OF FIRE THIRD EDITION - SARA BAASE</a:t>
            </a:r>
            <a:endParaRPr b="1" i="0" sz="2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CHAPTER 2: PRIVACY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Lecture 1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Privacy and Computer Technology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584725" y="3146550"/>
            <a:ext cx="41439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lang="en" sz="1700">
                <a:solidFill>
                  <a:schemeClr val="lt1"/>
                </a:solidFill>
              </a:rPr>
              <a:t>Md Umaid Hasan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Lecturer, Dept.of CSE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Daffodil International University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2cd06712c_0_185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PRIVACY AND COMPUTER TECHNOLOGY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112cd06712c_0_18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g112cd06712c_0_18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112cd06712c_0_185"/>
          <p:cNvSpPr txBox="1"/>
          <p:nvPr/>
        </p:nvSpPr>
        <p:spPr>
          <a:xfrm>
            <a:off x="622025" y="1033825"/>
            <a:ext cx="77763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Key Aspects of Privacy: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112cd06712c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738" y="1702400"/>
            <a:ext cx="5076863" cy="299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43fda08588_0_5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PRIVACY RISKS AND PRINCIPLES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g143fda08588_0_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g143fda08588_0_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143fda08588_0_5"/>
          <p:cNvSpPr txBox="1"/>
          <p:nvPr/>
        </p:nvSpPr>
        <p:spPr>
          <a:xfrm>
            <a:off x="622025" y="1033825"/>
            <a:ext cx="7776300" cy="23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Privacy threats come in several categories: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Intentional, institutional uses of personal information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Unauthorized use or release by “insiders”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Theft of information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Inadvertent leakage of information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Our own actions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3fda08588_0_15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PRIVACY AND COMPUTER TECHNOLOGY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g143fda08588_0_1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143fda08588_0_15"/>
          <p:cNvSpPr txBox="1"/>
          <p:nvPr/>
        </p:nvSpPr>
        <p:spPr>
          <a:xfrm>
            <a:off x="622025" y="1033825"/>
            <a:ext cx="7776300" cy="30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Technology, New Risks: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Government and private databases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Thousands of databases containing personal information about us.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Profiles of our personal information could be created easily.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Sophisticated tools for surveillance and data analysis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Cameras, GPS, cell phones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Vulnerability of data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Leaks of data happens, existence of data presents a risk.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fde884e824_0_96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PRIVACY RISKS AND PRINCIPLES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gfde884e824_0_96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gfde884e824_0_96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fde884e824_0_96"/>
          <p:cNvSpPr txBox="1"/>
          <p:nvPr/>
        </p:nvSpPr>
        <p:spPr>
          <a:xfrm>
            <a:off x="622025" y="1033825"/>
            <a:ext cx="7776300" cy="30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Technology, New Risks – Examples: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 query data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 engines collect many terabytes of data daily.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analyzed to target advertising and develop new services.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Who gets to see this data? Why should we care?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Smartphones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Location apps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sometimes stored and sent without user’s knowledge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4bbcddc71_0_4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PRIVACY RISKS AND PRINCIPLES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144bbcddc71_0_4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g144bbcddc71_0_4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144bbcddc71_0_4"/>
          <p:cNvSpPr txBox="1"/>
          <p:nvPr/>
        </p:nvSpPr>
        <p:spPr>
          <a:xfrm>
            <a:off x="407700" y="731100"/>
            <a:ext cx="7776300" cy="3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Technology, New Risks – Summary of Risks: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Anything we do in cyberspace is recorded.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Huge amounts of data are stored.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People are not aware of collection of data.  Software is complex.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Leaks happen.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collection of small items can provide a detailed picture.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Re-identification has become much easier due to the quantity of information and power of data search and analysis tools.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44bbcddc71_0_14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PRIVACY RISKS AND PRINCIPLES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g144bbcddc71_0_14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g144bbcddc71_0_14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144bbcddc71_0_14"/>
          <p:cNvSpPr txBox="1"/>
          <p:nvPr/>
        </p:nvSpPr>
        <p:spPr>
          <a:xfrm>
            <a:off x="407700" y="731100"/>
            <a:ext cx="7776300" cy="27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Technology, New Risks – Summary of Risks: 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information is on a public Web site, it is available to everyone.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on the Internet seems to last forever.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collected for one purpose will find other uses.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Government can request sensitive personal data held by businesses or organizations.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cannot directly protect information about ourselves. We depend upon businesses and organizations to protect it.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44bbcddc71_0_21"/>
          <p:cNvSpPr txBox="1"/>
          <p:nvPr>
            <p:ph type="title"/>
          </p:nvPr>
        </p:nvSpPr>
        <p:spPr>
          <a:xfrm>
            <a:off x="311700" y="62600"/>
            <a:ext cx="874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PRIVACY AND COMPUTER TECHNOLOGY (CONT.) 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g144bbcddc71_0_21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g144bbcddc71_0_21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144bbcddc71_0_21"/>
          <p:cNvSpPr txBox="1"/>
          <p:nvPr/>
        </p:nvSpPr>
        <p:spPr>
          <a:xfrm>
            <a:off x="622025" y="1033825"/>
            <a:ext cx="7776300" cy="3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Terminology and principles for data collection and use: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Invisible information gathering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Collection of personal information about someone without the person’s knowledge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Unauthorized software, Cookies, ISP providers •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Secondary use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of personal information for a purpose other than the one it was provided for 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mining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Searching and analyzing masses of data to find patterns and develop new information or knowledge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Computer matching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Combining and comparing information from different databases (using social security number, for example, to match records)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50e17a54b_0_4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Computer profiling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g1450e17a54b_0_4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g1450e17a54b_0_4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1450e17a54b_0_4"/>
          <p:cNvSpPr txBox="1"/>
          <p:nvPr/>
        </p:nvSpPr>
        <p:spPr>
          <a:xfrm>
            <a:off x="622025" y="1033825"/>
            <a:ext cx="7776300" cy="27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data in computer files to predict likely behaviors of people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Analyzing data in computer files to determine characteristics of people most likely to engage in certain behavior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Businesses find new consumers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Government detects fraud and crime activities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Businesses engage in profiling to determine consumer propensity toward a product or service.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Government agencies use profiling to create descriptions of possible terrorist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4bbcddc71_1_93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Principles for Data Collection and Use: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g144bbcddc71_1_93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g144bbcddc71_1_93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144bbcddc71_1_93"/>
          <p:cNvSpPr txBox="1"/>
          <p:nvPr/>
        </p:nvSpPr>
        <p:spPr>
          <a:xfrm>
            <a:off x="622025" y="1033825"/>
            <a:ext cx="77763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Informed consent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Opt-in and opt-out policies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Fair Information Principles (or Practices)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retention - Data retention is the storing of information for a specified period.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44bbcddc71_1_102"/>
          <p:cNvSpPr txBox="1"/>
          <p:nvPr>
            <p:ph type="title"/>
          </p:nvPr>
        </p:nvSpPr>
        <p:spPr>
          <a:xfrm>
            <a:off x="279575" y="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Principles for Data Collection and Use: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g144bbcddc71_1_102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g144bbcddc71_1_102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144bbcddc71_1_102"/>
          <p:cNvSpPr txBox="1"/>
          <p:nvPr/>
        </p:nvSpPr>
        <p:spPr>
          <a:xfrm>
            <a:off x="589875" y="859200"/>
            <a:ext cx="7776300" cy="4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Informed consent 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People should be informed about the data collection and use policies of a business or organization,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can then decide whether or not to interact with that business or organization.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Opt-in and opt-out policies 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Opt-in 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■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Opting in means that a user will take an affirmative action to offer their consent.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■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most common way businesses implement opt-in methods is through checkboxes. When presented with a checkbox, the user must take action to check the box, which denotes their consent.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45f1f59142_0_0"/>
          <p:cNvSpPr txBox="1"/>
          <p:nvPr>
            <p:ph type="title"/>
          </p:nvPr>
        </p:nvSpPr>
        <p:spPr>
          <a:xfrm>
            <a:off x="279575" y="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Principles for Data Collection and Use: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g145f1f59142_0_0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g145f1f59142_0_0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145f1f59142_0_0"/>
          <p:cNvSpPr txBox="1"/>
          <p:nvPr/>
        </p:nvSpPr>
        <p:spPr>
          <a:xfrm>
            <a:off x="589875" y="859200"/>
            <a:ext cx="7776300" cy="1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Opt-in policies: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■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Opting in can be used in a variety of situations, including subscribing to email and newsletter mailing lists, accepting cookie use, and agreeing to legal policies.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145f1f5914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863" y="2276925"/>
            <a:ext cx="2439813" cy="230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145f1f5914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2075" y="2684100"/>
            <a:ext cx="5106196" cy="1747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5e6f2c92d_1_1"/>
          <p:cNvSpPr txBox="1"/>
          <p:nvPr>
            <p:ph type="title"/>
          </p:nvPr>
        </p:nvSpPr>
        <p:spPr>
          <a:xfrm>
            <a:off x="279575" y="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Principles for Data Collection and Use: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g145e6f2c92d_1_1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g145e6f2c92d_1_1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145e6f2c92d_1_1"/>
          <p:cNvSpPr txBox="1"/>
          <p:nvPr/>
        </p:nvSpPr>
        <p:spPr>
          <a:xfrm>
            <a:off x="589875" y="859200"/>
            <a:ext cx="77763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Opt-out policies 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Opting out means a user takes action to withdraw their consent.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choosing to subscribe to newsletters, unticking a previously ticked checkbox, not consenting to save personal details, rejecting the use of cookies, etc. are some examples of opt-out.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145e6f2c92d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7925" y="2906400"/>
            <a:ext cx="2704976" cy="18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4bbcddc71_1_113"/>
          <p:cNvSpPr txBox="1"/>
          <p:nvPr>
            <p:ph type="title"/>
          </p:nvPr>
        </p:nvSpPr>
        <p:spPr>
          <a:xfrm>
            <a:off x="279575" y="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Principles for Data Collection and Use: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g144bbcddc71_1_113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g144bbcddc71_1_113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144bbcddc71_1_113"/>
          <p:cNvSpPr txBox="1"/>
          <p:nvPr/>
        </p:nvSpPr>
        <p:spPr>
          <a:xfrm>
            <a:off x="439850" y="655600"/>
            <a:ext cx="8325600" cy="4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Fair Information Principles (or Practices)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 people when you collect information about them, what you collect, and how you use it.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 only data needed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 a way for people to opt out from mailing lists, advertising, and other secondary uses.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 a way for people to opt out from features and services that expose personal information.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data only as long as needed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Protect security of data (from theft and from accidental leaks). Provide stronger protection for sensitive data.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Policies for responding to law enforcement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3fbedf9817_1_0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g13fbedf9817_1_0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13fbedf9817_1_0"/>
          <p:cNvSpPr/>
          <p:nvPr/>
        </p:nvSpPr>
        <p:spPr>
          <a:xfrm>
            <a:off x="1176600" y="1740525"/>
            <a:ext cx="6790800" cy="153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" sz="3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3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