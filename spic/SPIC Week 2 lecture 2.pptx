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iVD+IsveBB9gfyHxUaseOXTRxU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2cd06712c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112cd06712c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5f17dee8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g145f17dee8c_1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45f5af3cc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g145f5af3cc2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43fda0858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143fda08588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3fda0858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143fda08588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4bbcddc7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144bbcddc71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3fbedf981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13fbedf9817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112cd06712c_0_1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g112cd06712c_0_1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" name="Google Shape;29;g112cd06712c_0_1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g112cd06712c_0_1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g112cd06712c_0_1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f59b91e696_0_41"/>
          <p:cNvSpPr txBox="1"/>
          <p:nvPr>
            <p:ph type="title"/>
          </p:nvPr>
        </p:nvSpPr>
        <p:spPr>
          <a:xfrm>
            <a:off x="967739" y="-11430"/>
            <a:ext cx="72009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600">
                <a:solidFill>
                  <a:srgbClr val="2B7B9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gf59b91e696_0_41"/>
          <p:cNvSpPr txBox="1"/>
          <p:nvPr>
            <p:ph idx="1" type="body"/>
          </p:nvPr>
        </p:nvSpPr>
        <p:spPr>
          <a:xfrm>
            <a:off x="628650" y="1038987"/>
            <a:ext cx="5144100" cy="3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240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gf59b91e696_0_4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gf59b91e696_0_4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gf59b91e696_0_41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5" name="Google Shape;45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6" name="Google Shape;4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_COLUMN_TEXT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8"/>
          <p:cNvSpPr/>
          <p:nvPr/>
        </p:nvSpPr>
        <p:spPr>
          <a:xfrm>
            <a:off x="9" y="-962172"/>
            <a:ext cx="9233805" cy="6330149"/>
          </a:xfrm>
          <a:custGeom>
            <a:rect b="b" l="l" r="r" t="t"/>
            <a:pathLst>
              <a:path extrusionOk="0" h="72886" w="106319">
                <a:moveTo>
                  <a:pt x="98047" y="17578"/>
                </a:moveTo>
                <a:cubicBezTo>
                  <a:pt x="90726" y="25294"/>
                  <a:pt x="78229" y="26537"/>
                  <a:pt x="85120" y="17578"/>
                </a:cubicBezTo>
                <a:cubicBezTo>
                  <a:pt x="89094" y="12414"/>
                  <a:pt x="90660" y="5194"/>
                  <a:pt x="91276" y="1"/>
                </a:cubicBezTo>
                <a:lnTo>
                  <a:pt x="0" y="1"/>
                </a:lnTo>
                <a:lnTo>
                  <a:pt x="0" y="64267"/>
                </a:lnTo>
                <a:cubicBezTo>
                  <a:pt x="1853" y="61996"/>
                  <a:pt x="5128" y="58082"/>
                  <a:pt x="7238" y="50485"/>
                </a:cubicBezTo>
                <a:cubicBezTo>
                  <a:pt x="12754" y="30673"/>
                  <a:pt x="28951" y="29985"/>
                  <a:pt x="35083" y="37217"/>
                </a:cubicBezTo>
                <a:cubicBezTo>
                  <a:pt x="41980" y="45357"/>
                  <a:pt x="33105" y="66114"/>
                  <a:pt x="48531" y="72886"/>
                </a:cubicBezTo>
                <a:lnTo>
                  <a:pt x="106319" y="72886"/>
                </a:lnTo>
                <a:lnTo>
                  <a:pt x="106319" y="1"/>
                </a:lnTo>
                <a:lnTo>
                  <a:pt x="105877" y="1"/>
                </a:lnTo>
                <a:cubicBezTo>
                  <a:pt x="105106" y="4399"/>
                  <a:pt x="103086" y="12271"/>
                  <a:pt x="98047" y="17578"/>
                </a:cubicBezTo>
                <a:close/>
              </a:path>
            </a:pathLst>
          </a:custGeom>
          <a:gradFill>
            <a:gsLst>
              <a:gs pos="0">
                <a:srgbClr val="FFFEFE"/>
              </a:gs>
              <a:gs pos="65000">
                <a:srgbClr val="ECECEC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  <a:effectLst>
            <a:outerShdw blurRad="57150" rotWithShape="0" algn="bl" dist="19050">
              <a:srgbClr val="B7B7B7">
                <a:alpha val="6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" name="Google Shape;66;p38"/>
          <p:cNvGrpSpPr/>
          <p:nvPr/>
        </p:nvGrpSpPr>
        <p:grpSpPr>
          <a:xfrm>
            <a:off x="3247824" y="-408375"/>
            <a:ext cx="5985963" cy="5776828"/>
            <a:chOff x="2407800" y="3054100"/>
            <a:chExt cx="1723075" cy="1662875"/>
          </a:xfrm>
        </p:grpSpPr>
        <p:sp>
          <p:nvSpPr>
            <p:cNvPr id="67" name="Google Shape;67;p38"/>
            <p:cNvSpPr/>
            <p:nvPr/>
          </p:nvSpPr>
          <p:spPr>
            <a:xfrm>
              <a:off x="2407800" y="3054100"/>
              <a:ext cx="1723075" cy="1662725"/>
            </a:xfrm>
            <a:custGeom>
              <a:rect b="b" l="l" r="r" t="t"/>
              <a:pathLst>
                <a:path extrusionOk="0" h="66509" w="68923">
                  <a:moveTo>
                    <a:pt x="68923" y="1"/>
                  </a:moveTo>
                  <a:cubicBezTo>
                    <a:pt x="68923" y="1"/>
                    <a:pt x="66682" y="14476"/>
                    <a:pt x="52039" y="20507"/>
                  </a:cubicBezTo>
                  <a:cubicBezTo>
                    <a:pt x="37396" y="26537"/>
                    <a:pt x="26877" y="21194"/>
                    <a:pt x="16543" y="24296"/>
                  </a:cubicBezTo>
                  <a:cubicBezTo>
                    <a:pt x="6204" y="27398"/>
                    <a:pt x="0" y="40839"/>
                    <a:pt x="6204" y="52900"/>
                  </a:cubicBezTo>
                  <a:cubicBezTo>
                    <a:pt x="12408" y="64961"/>
                    <a:pt x="24642" y="66509"/>
                    <a:pt x="24642" y="66509"/>
                  </a:cubicBezTo>
                  <a:lnTo>
                    <a:pt x="68923" y="66509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999999">
                  <a:alpha val="4470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8"/>
            <p:cNvSpPr/>
            <p:nvPr/>
          </p:nvSpPr>
          <p:spPr>
            <a:xfrm>
              <a:off x="2584850" y="3364300"/>
              <a:ext cx="1546025" cy="1352675"/>
            </a:xfrm>
            <a:custGeom>
              <a:rect b="b" l="l" r="r" t="t"/>
              <a:pathLst>
                <a:path extrusionOk="0" h="54107" w="61841">
                  <a:moveTo>
                    <a:pt x="61841" y="0"/>
                  </a:moveTo>
                  <a:cubicBezTo>
                    <a:pt x="61841" y="0"/>
                    <a:pt x="58566" y="8439"/>
                    <a:pt x="40815" y="11888"/>
                  </a:cubicBezTo>
                  <a:cubicBezTo>
                    <a:pt x="23070" y="15336"/>
                    <a:pt x="7943" y="12426"/>
                    <a:pt x="4118" y="27050"/>
                  </a:cubicBezTo>
                  <a:cubicBezTo>
                    <a:pt x="0" y="42781"/>
                    <a:pt x="17554" y="54107"/>
                    <a:pt x="17554" y="54107"/>
                  </a:cubicBezTo>
                  <a:lnTo>
                    <a:pt x="61841" y="54107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10800000" dist="19050">
                <a:srgbClr val="B7B7B7">
                  <a:alpha val="4117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8"/>
            <p:cNvSpPr/>
            <p:nvPr/>
          </p:nvSpPr>
          <p:spPr>
            <a:xfrm>
              <a:off x="2799700" y="3644300"/>
              <a:ext cx="1331175" cy="1072525"/>
            </a:xfrm>
            <a:custGeom>
              <a:rect b="b" l="l" r="r" t="t"/>
              <a:pathLst>
                <a:path extrusionOk="0" h="42901" w="53247">
                  <a:moveTo>
                    <a:pt x="53247" y="0"/>
                  </a:moveTo>
                  <a:cubicBezTo>
                    <a:pt x="53247" y="0"/>
                    <a:pt x="49625" y="4363"/>
                    <a:pt x="32568" y="5021"/>
                  </a:cubicBezTo>
                  <a:cubicBezTo>
                    <a:pt x="15510" y="5684"/>
                    <a:pt x="3790" y="6270"/>
                    <a:pt x="1895" y="19502"/>
                  </a:cubicBezTo>
                  <a:cubicBezTo>
                    <a:pt x="1" y="32734"/>
                    <a:pt x="10687" y="42901"/>
                    <a:pt x="10687" y="42901"/>
                  </a:cubicBezTo>
                  <a:lnTo>
                    <a:pt x="53247" y="4290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10800000" dist="19050">
                <a:srgbClr val="B7B7B7">
                  <a:alpha val="4117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8"/>
            <p:cNvSpPr/>
            <p:nvPr/>
          </p:nvSpPr>
          <p:spPr>
            <a:xfrm>
              <a:off x="2799700" y="3644300"/>
              <a:ext cx="1331175" cy="1072525"/>
            </a:xfrm>
            <a:custGeom>
              <a:rect b="b" l="l" r="r" t="t"/>
              <a:pathLst>
                <a:path extrusionOk="0" fill="none" h="42901" w="53247">
                  <a:moveTo>
                    <a:pt x="53247" y="0"/>
                  </a:moveTo>
                  <a:cubicBezTo>
                    <a:pt x="53247" y="0"/>
                    <a:pt x="49625" y="4363"/>
                    <a:pt x="32568" y="5021"/>
                  </a:cubicBezTo>
                  <a:cubicBezTo>
                    <a:pt x="15510" y="5684"/>
                    <a:pt x="3790" y="6270"/>
                    <a:pt x="1895" y="19502"/>
                  </a:cubicBezTo>
                  <a:cubicBezTo>
                    <a:pt x="1" y="32734"/>
                    <a:pt x="10687" y="42901"/>
                    <a:pt x="10687" y="4290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8"/>
            <p:cNvSpPr/>
            <p:nvPr/>
          </p:nvSpPr>
          <p:spPr>
            <a:xfrm>
              <a:off x="2584850" y="3364300"/>
              <a:ext cx="1546025" cy="1352675"/>
            </a:xfrm>
            <a:custGeom>
              <a:rect b="b" l="l" r="r" t="t"/>
              <a:pathLst>
                <a:path extrusionOk="0" fill="none" h="54107" w="61841">
                  <a:moveTo>
                    <a:pt x="61841" y="0"/>
                  </a:moveTo>
                  <a:cubicBezTo>
                    <a:pt x="61841" y="0"/>
                    <a:pt x="58566" y="8439"/>
                    <a:pt x="40815" y="11888"/>
                  </a:cubicBezTo>
                  <a:cubicBezTo>
                    <a:pt x="23070" y="15336"/>
                    <a:pt x="7943" y="12426"/>
                    <a:pt x="4118" y="27050"/>
                  </a:cubicBezTo>
                  <a:cubicBezTo>
                    <a:pt x="0" y="42781"/>
                    <a:pt x="17554" y="54107"/>
                    <a:pt x="17554" y="54107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>
              <a:off x="2407800" y="3054100"/>
              <a:ext cx="1723075" cy="1662725"/>
            </a:xfrm>
            <a:custGeom>
              <a:rect b="b" l="l" r="r" t="t"/>
              <a:pathLst>
                <a:path extrusionOk="0" fill="none" h="66509" w="68923">
                  <a:moveTo>
                    <a:pt x="68923" y="1"/>
                  </a:moveTo>
                  <a:cubicBezTo>
                    <a:pt x="68923" y="1"/>
                    <a:pt x="66682" y="14476"/>
                    <a:pt x="52039" y="20507"/>
                  </a:cubicBezTo>
                  <a:cubicBezTo>
                    <a:pt x="37396" y="26537"/>
                    <a:pt x="26877" y="21194"/>
                    <a:pt x="16543" y="24296"/>
                  </a:cubicBezTo>
                  <a:cubicBezTo>
                    <a:pt x="6204" y="27398"/>
                    <a:pt x="0" y="40839"/>
                    <a:pt x="6204" y="52900"/>
                  </a:cubicBezTo>
                  <a:cubicBezTo>
                    <a:pt x="12408" y="64961"/>
                    <a:pt x="24642" y="66509"/>
                    <a:pt x="24642" y="66509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" name="Google Shape;73;p38"/>
          <p:cNvGrpSpPr/>
          <p:nvPr/>
        </p:nvGrpSpPr>
        <p:grpSpPr>
          <a:xfrm>
            <a:off x="-17" y="-962218"/>
            <a:ext cx="7767430" cy="4298033"/>
            <a:chOff x="1472900" y="2894675"/>
            <a:chExt cx="2235875" cy="1237200"/>
          </a:xfrm>
        </p:grpSpPr>
        <p:sp>
          <p:nvSpPr>
            <p:cNvPr id="74" name="Google Shape;74;p38"/>
            <p:cNvSpPr/>
            <p:nvPr/>
          </p:nvSpPr>
          <p:spPr>
            <a:xfrm>
              <a:off x="1472900" y="2894675"/>
              <a:ext cx="2235875" cy="1237200"/>
            </a:xfrm>
            <a:custGeom>
              <a:rect b="b" l="l" r="r" t="t"/>
              <a:pathLst>
                <a:path extrusionOk="0" h="49488" w="89435">
                  <a:moveTo>
                    <a:pt x="0" y="49487"/>
                  </a:moveTo>
                  <a:cubicBezTo>
                    <a:pt x="0" y="49487"/>
                    <a:pt x="4190" y="33691"/>
                    <a:pt x="19992" y="27224"/>
                  </a:cubicBezTo>
                  <a:cubicBezTo>
                    <a:pt x="38944" y="19473"/>
                    <a:pt x="46331" y="28665"/>
                    <a:pt x="65827" y="23608"/>
                  </a:cubicBezTo>
                  <a:cubicBezTo>
                    <a:pt x="85317" y="18546"/>
                    <a:pt x="89435" y="1"/>
                    <a:pt x="89435" y="1"/>
                  </a:cubicBezTo>
                  <a:lnTo>
                    <a:pt x="6" y="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8820000" dist="19050">
                <a:srgbClr val="B7B7B7">
                  <a:alpha val="4470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8"/>
            <p:cNvSpPr/>
            <p:nvPr/>
          </p:nvSpPr>
          <p:spPr>
            <a:xfrm>
              <a:off x="1472900" y="2894675"/>
              <a:ext cx="1990250" cy="1016650"/>
            </a:xfrm>
            <a:custGeom>
              <a:rect b="b" l="l" r="r" t="t"/>
              <a:pathLst>
                <a:path extrusionOk="0" h="40666" w="79610">
                  <a:moveTo>
                    <a:pt x="0" y="40666"/>
                  </a:moveTo>
                  <a:cubicBezTo>
                    <a:pt x="0" y="40666"/>
                    <a:pt x="2743" y="28975"/>
                    <a:pt x="17410" y="23608"/>
                  </a:cubicBezTo>
                  <a:cubicBezTo>
                    <a:pt x="31109" y="18594"/>
                    <a:pt x="41508" y="24887"/>
                    <a:pt x="59342" y="20261"/>
                  </a:cubicBezTo>
                  <a:cubicBezTo>
                    <a:pt x="77177" y="15630"/>
                    <a:pt x="79609" y="1"/>
                    <a:pt x="79609" y="1"/>
                  </a:cubicBez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6600000" dist="19050">
                <a:srgbClr val="B7B7B7">
                  <a:alpha val="4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8"/>
            <p:cNvSpPr/>
            <p:nvPr/>
          </p:nvSpPr>
          <p:spPr>
            <a:xfrm>
              <a:off x="1472900" y="2894675"/>
              <a:ext cx="1754175" cy="766825"/>
            </a:xfrm>
            <a:custGeom>
              <a:rect b="b" l="l" r="r" t="t"/>
              <a:pathLst>
                <a:path extrusionOk="0" h="30673" w="70167">
                  <a:moveTo>
                    <a:pt x="0" y="30673"/>
                  </a:moveTo>
                  <a:cubicBezTo>
                    <a:pt x="0" y="30673"/>
                    <a:pt x="4136" y="22228"/>
                    <a:pt x="16436" y="18953"/>
                  </a:cubicBezTo>
                  <a:cubicBezTo>
                    <a:pt x="28443" y="15761"/>
                    <a:pt x="35352" y="21194"/>
                    <a:pt x="50539" y="17255"/>
                  </a:cubicBezTo>
                  <a:cubicBezTo>
                    <a:pt x="65725" y="13311"/>
                    <a:pt x="70166" y="1"/>
                    <a:pt x="70166" y="1"/>
                  </a:cubicBez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2580000" dist="19050">
                <a:srgbClr val="D9D9D9">
                  <a:alpha val="4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8"/>
            <p:cNvSpPr/>
            <p:nvPr/>
          </p:nvSpPr>
          <p:spPr>
            <a:xfrm>
              <a:off x="1472900" y="2894675"/>
              <a:ext cx="1754175" cy="766825"/>
            </a:xfrm>
            <a:custGeom>
              <a:rect b="b" l="l" r="r" t="t"/>
              <a:pathLst>
                <a:path extrusionOk="0" fill="none" h="30673" w="70167">
                  <a:moveTo>
                    <a:pt x="0" y="30673"/>
                  </a:moveTo>
                  <a:cubicBezTo>
                    <a:pt x="0" y="30673"/>
                    <a:pt x="4136" y="22228"/>
                    <a:pt x="16436" y="18953"/>
                  </a:cubicBezTo>
                  <a:cubicBezTo>
                    <a:pt x="28443" y="15761"/>
                    <a:pt x="35352" y="21194"/>
                    <a:pt x="50539" y="17255"/>
                  </a:cubicBezTo>
                  <a:cubicBezTo>
                    <a:pt x="65725" y="13311"/>
                    <a:pt x="70166" y="1"/>
                    <a:pt x="70166" y="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8"/>
            <p:cNvSpPr/>
            <p:nvPr/>
          </p:nvSpPr>
          <p:spPr>
            <a:xfrm>
              <a:off x="1472900" y="2894675"/>
              <a:ext cx="1990250" cy="1016650"/>
            </a:xfrm>
            <a:custGeom>
              <a:rect b="b" l="l" r="r" t="t"/>
              <a:pathLst>
                <a:path extrusionOk="0" fill="none" h="40666" w="79610">
                  <a:moveTo>
                    <a:pt x="0" y="40666"/>
                  </a:moveTo>
                  <a:cubicBezTo>
                    <a:pt x="0" y="40666"/>
                    <a:pt x="2743" y="28975"/>
                    <a:pt x="17410" y="23608"/>
                  </a:cubicBezTo>
                  <a:cubicBezTo>
                    <a:pt x="31109" y="18594"/>
                    <a:pt x="41508" y="24887"/>
                    <a:pt x="59342" y="20261"/>
                  </a:cubicBezTo>
                  <a:cubicBezTo>
                    <a:pt x="77177" y="15630"/>
                    <a:pt x="79609" y="1"/>
                    <a:pt x="79609" y="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8"/>
            <p:cNvSpPr/>
            <p:nvPr/>
          </p:nvSpPr>
          <p:spPr>
            <a:xfrm>
              <a:off x="1472900" y="2894675"/>
              <a:ext cx="2235875" cy="1237200"/>
            </a:xfrm>
            <a:custGeom>
              <a:rect b="b" l="l" r="r" t="t"/>
              <a:pathLst>
                <a:path extrusionOk="0" fill="none" h="49488" w="89435">
                  <a:moveTo>
                    <a:pt x="0" y="49487"/>
                  </a:moveTo>
                  <a:cubicBezTo>
                    <a:pt x="0" y="49487"/>
                    <a:pt x="4190" y="33691"/>
                    <a:pt x="19992" y="27224"/>
                  </a:cubicBezTo>
                  <a:cubicBezTo>
                    <a:pt x="38944" y="19473"/>
                    <a:pt x="46331" y="28665"/>
                    <a:pt x="65827" y="23608"/>
                  </a:cubicBezTo>
                  <a:cubicBezTo>
                    <a:pt x="85317" y="18546"/>
                    <a:pt x="89435" y="1"/>
                    <a:pt x="89435" y="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" name="Google Shape;80;p38"/>
          <p:cNvSpPr/>
          <p:nvPr/>
        </p:nvSpPr>
        <p:spPr>
          <a:xfrm>
            <a:off x="720000" y="995250"/>
            <a:ext cx="3706500" cy="3153000"/>
          </a:xfrm>
          <a:prstGeom prst="roundRect">
            <a:avLst>
              <a:gd fmla="val 8467" name="adj"/>
            </a:avLst>
          </a:prstGeom>
          <a:solidFill>
            <a:schemeClr val="lt2"/>
          </a:solidFill>
          <a:ln>
            <a:noFill/>
          </a:ln>
          <a:effectLst>
            <a:outerShdw blurRad="185738" rotWithShape="0" algn="bl" dir="6120000" dist="66675">
              <a:srgbClr val="999999">
                <a:alpha val="5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8"/>
          <p:cNvSpPr txBox="1"/>
          <p:nvPr>
            <p:ph type="title"/>
          </p:nvPr>
        </p:nvSpPr>
        <p:spPr>
          <a:xfrm>
            <a:off x="1169275" y="1377288"/>
            <a:ext cx="28080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38"/>
          <p:cNvSpPr txBox="1"/>
          <p:nvPr>
            <p:ph idx="1" type="subTitle"/>
          </p:nvPr>
        </p:nvSpPr>
        <p:spPr>
          <a:xfrm>
            <a:off x="1169275" y="1948813"/>
            <a:ext cx="2808000" cy="18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Subtitle">
  <p:cSld name="Title-Sub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9"/>
          <p:cNvSpPr txBox="1"/>
          <p:nvPr>
            <p:ph idx="1" type="body"/>
          </p:nvPr>
        </p:nvSpPr>
        <p:spPr>
          <a:xfrm>
            <a:off x="387819" y="730530"/>
            <a:ext cx="8368500" cy="1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39"/>
          <p:cNvSpPr txBox="1"/>
          <p:nvPr>
            <p:ph type="title"/>
          </p:nvPr>
        </p:nvSpPr>
        <p:spPr>
          <a:xfrm>
            <a:off x="387819" y="282611"/>
            <a:ext cx="8368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87" name="Google Shape;87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001.png" id="89" name="Google Shape;89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9144003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002.png" id="90" name="Google Shape;90;p40"/>
          <p:cNvPicPr preferRelativeResize="0"/>
          <p:nvPr/>
        </p:nvPicPr>
        <p:blipFill rotWithShape="1">
          <a:blip r:embed="rId3">
            <a:alphaModFix/>
          </a:blip>
          <a:srcRect b="5453" l="0" r="31877" t="73562"/>
          <a:stretch/>
        </p:blipFill>
        <p:spPr>
          <a:xfrm>
            <a:off x="0" y="3783725"/>
            <a:ext cx="6228185" cy="1079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002.png" id="91" name="Google Shape;91;p40"/>
          <p:cNvPicPr preferRelativeResize="0"/>
          <p:nvPr/>
        </p:nvPicPr>
        <p:blipFill rotWithShape="1">
          <a:blip r:embed="rId3">
            <a:alphaModFix/>
          </a:blip>
          <a:srcRect b="5455" l="68112" r="0" t="0"/>
          <a:stretch/>
        </p:blipFill>
        <p:spPr>
          <a:xfrm>
            <a:off x="6228184" y="0"/>
            <a:ext cx="2915815" cy="4862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/>
          <p:nvPr/>
        </p:nvSpPr>
        <p:spPr>
          <a:xfrm>
            <a:off x="0" y="140500"/>
            <a:ext cx="9204000" cy="463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535776" y="582375"/>
            <a:ext cx="822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t/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b="1" i="0" lang="en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b="1" i="0" lang="en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" sz="2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GIFT OF FIRE THIRD EDITION - SARA BAASE</a:t>
            </a:r>
            <a:endParaRPr b="1" i="0" sz="2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b="1" i="0" lang="en" sz="2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CHAPTER 2: PRIVACY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t/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b="1" i="0" lang="en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Lecture 2</a:t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b="1" i="0" lang="en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"Big Brother is Watching You”</a:t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584725" y="3146550"/>
            <a:ext cx="41439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t/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rPr lang="en" sz="1700">
                <a:solidFill>
                  <a:schemeClr val="lt1"/>
                </a:solidFill>
              </a:rPr>
              <a:t>Md Umaid Hasan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rPr b="0" i="0" lang="en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Lecturer, Dept.of CSE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rPr b="0" i="0" lang="en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Daffodil International University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12cd06712c_0_185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"BIG BROTHER IS WATCHING YOU"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g112cd06712c_0_185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g112cd06712c_0_18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112cd06712c_0_185"/>
          <p:cNvSpPr txBox="1"/>
          <p:nvPr/>
        </p:nvSpPr>
        <p:spPr>
          <a:xfrm>
            <a:off x="504150" y="720900"/>
            <a:ext cx="8304000" cy="40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Databases: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Char char="○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Government agencies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Char char="■"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 many types of information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Char char="■"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Ask business to report about consumers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Char char="■"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Buy personal information from sellers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Char char="○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 publicized reason: data mining and computer matching to fight terrorism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Char char="○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Private information can be used to: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Char char="■"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Arrest people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Char char="■"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Jail people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Char char="■"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Seize assets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5f17dee8c_1_2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"BIG BROTHER IS WATCHING YOU"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g145f17dee8c_1_2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g145f17dee8c_1_2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145f17dee8c_1_2"/>
          <p:cNvSpPr txBox="1"/>
          <p:nvPr/>
        </p:nvSpPr>
        <p:spPr>
          <a:xfrm>
            <a:off x="622025" y="1033825"/>
            <a:ext cx="8089800" cy="23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❏"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Databases: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Millions of crime suspects are searched in government databases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Shift from presumption of innocence to presumption of guilt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Computer software characterizes suspects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■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Innocent people are sometimes subject to embarrassing searches and expensive investigations and to arrest and jail.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45f5af3cc2_0_2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"BIG BROTHER IS WATCHING YOU"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" name="Google Shape;121;g145f5af3cc2_0_2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g145f5af3cc2_0_2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145f5af3cc2_0_2"/>
          <p:cNvSpPr txBox="1"/>
          <p:nvPr/>
        </p:nvSpPr>
        <p:spPr>
          <a:xfrm>
            <a:off x="311700" y="819500"/>
            <a:ext cx="8732400" cy="43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A61C00"/>
                </a:solidFill>
                <a:latin typeface="Arial"/>
                <a:ea typeface="Arial"/>
                <a:cs typeface="Arial"/>
                <a:sym typeface="Arial"/>
              </a:rPr>
              <a:t>Small Sampling of Government Databases with Personal Information</a:t>
            </a:r>
            <a:endParaRPr b="1" i="0" sz="1900" u="none" cap="none" strike="noStrike">
              <a:solidFill>
                <a:srgbClr val="A61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❏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data does the government have about you?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 records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Medical records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Marriage and divorce records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Property ownership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Welfare records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School records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Motor vehicle records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Voter registration records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145f5af3cc2_0_2"/>
          <p:cNvSpPr txBox="1"/>
          <p:nvPr/>
        </p:nvSpPr>
        <p:spPr>
          <a:xfrm>
            <a:off x="3140575" y="1229875"/>
            <a:ext cx="49971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Books checked out of public libraries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People with permits to carry firearms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 for government grant and loan programs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Professional and trade licenses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Bankruptcy records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Arrest records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43fda08588_0_5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"BIG BROTHER IS WATCHING YOU"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g143fda08588_0_5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g143fda08588_0_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143fda08588_0_5"/>
          <p:cNvSpPr txBox="1"/>
          <p:nvPr/>
        </p:nvSpPr>
        <p:spPr>
          <a:xfrm>
            <a:off x="605550" y="1098125"/>
            <a:ext cx="7776300" cy="3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 constitution articles (laws) protect privacy.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surveillance techniques are redefining expectation of privacy.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some countries: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court order or court oversight needed to get one’s private information.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2003-2005 report found "widespread and serious misuse" of the FBIs (</a:t>
            </a: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Federal Bureau of Investigation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)national security letter authorities.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3fda08588_0_15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"BIG BROTHER IS WATCHING YOU"</a:t>
            </a:r>
            <a:endParaRPr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g143fda08588_0_15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g143fda08588_0_1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143fda08588_0_15"/>
          <p:cNvSpPr txBox="1"/>
          <p:nvPr/>
        </p:nvSpPr>
        <p:spPr>
          <a:xfrm>
            <a:off x="622025" y="1033825"/>
            <a:ext cx="7776300" cy="21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key problems arise from new technologies: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Much of our personal information is no longer safe in our homes; it resides in huge databases outside our control.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technologies allow the government to search our homes without entering them and search our persons from a distance without our knowledge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44bbcddc71_0_4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"BIG BROTHER IS WATCHING YOU"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g144bbcddc71_0_4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g144bbcddc71_0_4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144bbcddc71_0_4"/>
          <p:cNvSpPr txBox="1"/>
          <p:nvPr/>
        </p:nvSpPr>
        <p:spPr>
          <a:xfrm>
            <a:off x="835825" y="1146025"/>
            <a:ext cx="66438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Video Surveillance: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❏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 cameras in Shopping centers, malls, banks, etc.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❏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Cameras alone raise some privacy issues.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❏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being combined with face recognition systems, they raise more privacy issues.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➢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Increased security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➢"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Decreased privacy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3fbedf9817_1_0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g13fbedf9817_1_0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13fbedf9817_1_0"/>
          <p:cNvSpPr/>
          <p:nvPr/>
        </p:nvSpPr>
        <p:spPr>
          <a:xfrm>
            <a:off x="1176600" y="1740525"/>
            <a:ext cx="6790800" cy="1535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accent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" sz="3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1" i="0" sz="39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