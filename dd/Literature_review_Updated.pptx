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2" r:id="rId3"/>
    <p:sldId id="262" r:id="rId4"/>
    <p:sldId id="270" r:id="rId5"/>
    <p:sldId id="264" r:id="rId6"/>
    <p:sldId id="265" r:id="rId7"/>
    <p:sldId id="266" r:id="rId8"/>
    <p:sldId id="267" r:id="rId9"/>
    <p:sldId id="268" r:id="rId10"/>
    <p:sldId id="271" r:id="rId11"/>
    <p:sldId id="287" r:id="rId12"/>
    <p:sldId id="288" r:id="rId13"/>
    <p:sldId id="289" r:id="rId14"/>
    <p:sldId id="269" r:id="rId15"/>
    <p:sldId id="26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47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13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FFF39D"/>
                </a:solidFill>
              </a:rPr>
              <a:pPr/>
              <a:t>10/6/2025</a:t>
            </a:fld>
            <a:endParaRPr lang="en-US">
              <a:solidFill>
                <a:srgbClr val="FFF39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>
              <a:solidFill>
                <a:srgbClr val="FFF39D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03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58757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8806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191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5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276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76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3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3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22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331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FFF39D"/>
                </a:solidFill>
              </a:rPr>
              <a:pPr/>
              <a:t>10/6/2025</a:t>
            </a:fld>
            <a:endParaRPr lang="en-US">
              <a:solidFill>
                <a:srgbClr val="FFF39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>
              <a:solidFill>
                <a:srgbClr val="FFF39D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05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12846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335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486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337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07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242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715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4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8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6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Literature Review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629400" cy="1371600"/>
          </a:xfrm>
        </p:spPr>
        <p:txBody>
          <a:bodyPr>
            <a:normAutofit/>
          </a:bodyPr>
          <a:lstStyle/>
          <a:p>
            <a:r>
              <a:rPr lang="en-US" dirty="0"/>
              <a:t>Dr. </a:t>
            </a:r>
            <a:r>
              <a:rPr lang="en-US" dirty="0" err="1"/>
              <a:t>Arif</a:t>
            </a:r>
            <a:r>
              <a:rPr lang="en-US" dirty="0"/>
              <a:t> Mahmud</a:t>
            </a:r>
          </a:p>
          <a:p>
            <a:r>
              <a:rPr lang="en-US" dirty="0"/>
              <a:t>Associate Professor &amp; Associate Head</a:t>
            </a:r>
          </a:p>
          <a:p>
            <a:r>
              <a:rPr lang="en-US" dirty="0"/>
              <a:t>Department of CSE, Daffodil International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224005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 critical analysis of existing research in your field</a:t>
            </a:r>
          </a:p>
          <a:p>
            <a:pPr algn="just"/>
            <a:r>
              <a:rPr lang="en-US" dirty="0"/>
              <a:t>It highlights both the strengths and weaknesses of existing research</a:t>
            </a:r>
          </a:p>
          <a:p>
            <a:pPr algn="just"/>
            <a:r>
              <a:rPr lang="en-US" dirty="0"/>
              <a:t>Allows you to gain a critical understanding of your field</a:t>
            </a:r>
          </a:p>
          <a:p>
            <a:pPr algn="just"/>
            <a:r>
              <a:rPr lang="en-US" dirty="0"/>
              <a:t>Opportunity to think about what has been done in your field</a:t>
            </a:r>
          </a:p>
          <a:p>
            <a:pPr algn="just"/>
            <a:r>
              <a:rPr lang="en-US" dirty="0"/>
              <a:t>Opportunity to think about the similarities, patterns, trends and also differences across the existing research</a:t>
            </a:r>
          </a:p>
          <a:p>
            <a:pPr algn="just"/>
            <a:r>
              <a:rPr lang="en-US" dirty="0"/>
              <a:t>By identifying strengths and weakness, you will be able to think about what needs to be done </a:t>
            </a:r>
          </a:p>
          <a:p>
            <a:pPr algn="just"/>
            <a:r>
              <a:rPr lang="en-US" dirty="0"/>
              <a:t>Establishes the gaps or inadequacies</a:t>
            </a:r>
          </a:p>
        </p:txBody>
      </p:sp>
    </p:spTree>
    <p:extLst>
      <p:ext uri="{BB962C8B-B14F-4D97-AF65-F5344CB8AC3E}">
        <p14:creationId xmlns:p14="http://schemas.microsoft.com/office/powerpoint/2010/main" val="4228650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7467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354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to think about your own</a:t>
            </a:r>
            <a:br>
              <a:rPr lang="en-US" dirty="0"/>
            </a:br>
            <a:r>
              <a:rPr lang="en-US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Who are the key players in my field? This could be anything from academics, medics, governing bodies, schools of thought etc. (Sources!)</a:t>
            </a:r>
          </a:p>
          <a:p>
            <a:r>
              <a:rPr lang="en-US" dirty="0"/>
              <a:t>What are the main ideas/debates in my field?</a:t>
            </a:r>
          </a:p>
          <a:p>
            <a:r>
              <a:rPr lang="en-US" dirty="0"/>
              <a:t>How have these ideas changed over time?</a:t>
            </a:r>
          </a:p>
          <a:p>
            <a:r>
              <a:rPr lang="en-US" dirty="0"/>
              <a:t>What are some of the problems with these ideas/debates? Is there a problem with the methodology?</a:t>
            </a:r>
          </a:p>
          <a:p>
            <a:r>
              <a:rPr lang="en-US" dirty="0"/>
              <a:t>What are you going to do differently?</a:t>
            </a:r>
          </a:p>
        </p:txBody>
      </p:sp>
    </p:spTree>
    <p:extLst>
      <p:ext uri="{BB962C8B-B14F-4D97-AF65-F5344CB8AC3E}">
        <p14:creationId xmlns:p14="http://schemas.microsoft.com/office/powerpoint/2010/main" val="186744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players and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48600" cy="4873752"/>
          </a:xfrm>
        </p:spPr>
        <p:txBody>
          <a:bodyPr/>
          <a:lstStyle/>
          <a:p>
            <a:r>
              <a:rPr lang="en-US" dirty="0"/>
              <a:t>First stage of the literature review is to identify</a:t>
            </a:r>
          </a:p>
          <a:p>
            <a:pPr marL="0" indent="0">
              <a:buNone/>
            </a:pPr>
            <a:r>
              <a:rPr lang="en-US" dirty="0"/>
              <a:t>the key people in your field and collate all relevant sources about your topic.</a:t>
            </a:r>
          </a:p>
          <a:p>
            <a:r>
              <a:rPr lang="en-US" dirty="0"/>
              <a:t>Ask yourself:</a:t>
            </a:r>
          </a:p>
          <a:p>
            <a:pPr marL="0" indent="0">
              <a:buNone/>
            </a:pPr>
            <a:r>
              <a:rPr lang="en-US" dirty="0"/>
              <a:t>	What research and theory is there on my topic?</a:t>
            </a:r>
          </a:p>
          <a:p>
            <a:pPr marL="0" indent="0">
              <a:buNone/>
            </a:pPr>
            <a:r>
              <a:rPr lang="en-US" dirty="0"/>
              <a:t>	What are the key sources on my topic?</a:t>
            </a:r>
          </a:p>
          <a:p>
            <a:pPr marL="0" indent="0">
              <a:buNone/>
            </a:pPr>
            <a:r>
              <a:rPr lang="en-US" dirty="0"/>
              <a:t>	Who are the main researchers in this area?</a:t>
            </a:r>
          </a:p>
          <a:p>
            <a:pPr marL="0" indent="0">
              <a:buNone/>
            </a:pPr>
            <a:r>
              <a:rPr lang="en-US" dirty="0"/>
              <a:t>	How has the topic been investigated over time?</a:t>
            </a:r>
          </a:p>
        </p:txBody>
      </p:sp>
    </p:spTree>
    <p:extLst>
      <p:ext uri="{BB962C8B-B14F-4D97-AF65-F5344CB8AC3E}">
        <p14:creationId xmlns:p14="http://schemas.microsoft.com/office/powerpoint/2010/main" val="1743293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1143000"/>
          </a:xfrm>
        </p:spPr>
        <p:txBody>
          <a:bodyPr/>
          <a:lstStyle/>
          <a:p>
            <a:r>
              <a:rPr lang="en-US" dirty="0"/>
              <a:t>Getting started: Planning the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How will </a:t>
            </a:r>
            <a:r>
              <a:rPr lang="en-US" dirty="0"/>
              <a:t>you organize the information?</a:t>
            </a:r>
          </a:p>
          <a:p>
            <a:pPr marL="0" indent="0">
              <a:buNone/>
            </a:pPr>
            <a:r>
              <a:rPr lang="en-US" dirty="0"/>
              <a:t>– Chronologically?</a:t>
            </a:r>
          </a:p>
          <a:p>
            <a:pPr marL="0" indent="0">
              <a:buNone/>
            </a:pPr>
            <a:r>
              <a:rPr lang="en-US" dirty="0"/>
              <a:t>– Thematically?</a:t>
            </a:r>
          </a:p>
          <a:p>
            <a:pPr marL="0" indent="0">
              <a:buNone/>
            </a:pPr>
            <a:r>
              <a:rPr lang="en-US" dirty="0"/>
              <a:t>– By trends/approaches/techniques?</a:t>
            </a:r>
          </a:p>
          <a:p>
            <a:pPr marL="0" indent="0">
              <a:buNone/>
            </a:pPr>
            <a:r>
              <a:rPr lang="en-US" dirty="0"/>
              <a:t>– Major debates/controversies?</a:t>
            </a:r>
          </a:p>
          <a:p>
            <a:pPr marL="0" indent="0">
              <a:buNone/>
            </a:pPr>
            <a:r>
              <a:rPr lang="en-US" dirty="0"/>
              <a:t>– Probably a combination of these</a:t>
            </a:r>
          </a:p>
        </p:txBody>
      </p:sp>
    </p:spTree>
    <p:extLst>
      <p:ext uri="{BB962C8B-B14F-4D97-AF65-F5344CB8AC3E}">
        <p14:creationId xmlns:p14="http://schemas.microsoft.com/office/powerpoint/2010/main" val="278250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Illustrating trends: synthesizing</a:t>
            </a:r>
            <a:br>
              <a:rPr lang="en-US" dirty="0"/>
            </a:br>
            <a:r>
              <a:rPr lang="en-US" dirty="0"/>
              <a:t>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Avoid list-like structure by illustrating trends and patterns</a:t>
            </a:r>
          </a:p>
          <a:p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/>
              <a:t>Research into thesis titles has emphasized the use</a:t>
            </a:r>
          </a:p>
          <a:p>
            <a:pPr marL="0" indent="0">
              <a:buNone/>
            </a:pPr>
            <a:r>
              <a:rPr lang="en-US" dirty="0"/>
              <a:t>of the colon to distinguish the thematic focus</a:t>
            </a:r>
          </a:p>
          <a:p>
            <a:pPr marL="0" indent="0">
              <a:buNone/>
            </a:pPr>
            <a:r>
              <a:rPr lang="en-US" dirty="0"/>
              <a:t>from the precise focus of the work (Smith, 1999;</a:t>
            </a:r>
          </a:p>
          <a:p>
            <a:pPr marL="0" indent="0">
              <a:buNone/>
            </a:pPr>
            <a:r>
              <a:rPr lang="en-US" dirty="0"/>
              <a:t>James, 2002; Webster, 2007; </a:t>
            </a:r>
            <a:r>
              <a:rPr lang="en-US" dirty="0" err="1"/>
              <a:t>Helgesen</a:t>
            </a:r>
            <a:r>
              <a:rPr lang="en-US" dirty="0"/>
              <a:t>, 2008).</a:t>
            </a:r>
          </a:p>
        </p:txBody>
      </p:sp>
    </p:spTree>
    <p:extLst>
      <p:ext uri="{BB962C8B-B14F-4D97-AF65-F5344CB8AC3E}">
        <p14:creationId xmlns:p14="http://schemas.microsoft.com/office/powerpoint/2010/main" val="1023228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citations in the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Two types of citations:</a:t>
            </a:r>
          </a:p>
          <a:p>
            <a:pPr marL="0" indent="0" algn="just">
              <a:buNone/>
            </a:pPr>
            <a:r>
              <a:rPr lang="en-US" dirty="0"/>
              <a:t>• Integral: The author’s name appears in the sentence.</a:t>
            </a:r>
          </a:p>
          <a:p>
            <a:pPr marL="0" indent="0" algn="just">
              <a:buNone/>
            </a:pPr>
            <a:r>
              <a:rPr lang="en-US" dirty="0"/>
              <a:t>– Example (author-date system): Lillis (2001) argues that both tutors and students often lack explicit knowledge of the conventions governing the construction of academic texts.</a:t>
            </a:r>
          </a:p>
          <a:p>
            <a:pPr marL="0" indent="0" algn="just">
              <a:buNone/>
            </a:pPr>
            <a:r>
              <a:rPr lang="en-US" dirty="0"/>
              <a:t>• Non-integral: The author’s name appears outside sentence.</a:t>
            </a:r>
          </a:p>
          <a:p>
            <a:pPr marL="0" indent="0" algn="just">
              <a:buNone/>
            </a:pPr>
            <a:r>
              <a:rPr lang="en-US" dirty="0"/>
              <a:t>– Example: Both tutors and students often lack explicit knowledge of the conventions governing the construction of academic texts (Lillis, 2001).</a:t>
            </a:r>
          </a:p>
        </p:txBody>
      </p:sp>
    </p:spTree>
    <p:extLst>
      <p:ext uri="{BB962C8B-B14F-4D97-AF65-F5344CB8AC3E}">
        <p14:creationId xmlns:p14="http://schemas.microsoft.com/office/powerpoint/2010/main" val="138174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summarization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7467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5976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started: Planning the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Chronologically?</a:t>
            </a:r>
          </a:p>
          <a:p>
            <a:r>
              <a:rPr lang="en-US" dirty="0"/>
              <a:t>Thematically?</a:t>
            </a:r>
          </a:p>
          <a:p>
            <a:r>
              <a:rPr lang="en-US" dirty="0"/>
              <a:t>By trends/approaches/techniques?</a:t>
            </a:r>
          </a:p>
          <a:p>
            <a:r>
              <a:rPr lang="en-US" dirty="0"/>
              <a:t>Major debates/controversies?</a:t>
            </a:r>
          </a:p>
          <a:p>
            <a:r>
              <a:rPr lang="en-US" dirty="0"/>
              <a:t>Probably a combination of these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84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Editing and proofreading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Editing and proofreading are fundamental aspects of good academic practice.</a:t>
            </a:r>
          </a:p>
          <a:p>
            <a:endParaRPr lang="en-US" dirty="0"/>
          </a:p>
          <a:p>
            <a:r>
              <a:rPr lang="en-US" dirty="0"/>
              <a:t>Editing  is  the  process  of  continually  revising  and improving your written work. It is often an activity that forms a major part of the writing process.</a:t>
            </a:r>
          </a:p>
          <a:p>
            <a:endParaRPr lang="en-US" dirty="0"/>
          </a:p>
          <a:p>
            <a:r>
              <a:rPr lang="en-US" dirty="0"/>
              <a:t>Proofreading  is  the  final  check  before  printing  and submission. It is a process that helps remove errors and improve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734001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GB" dirty="0"/>
              <a:t>This research identifies six UTAUT 2-based papers that are as follows. First, </a:t>
            </a:r>
            <a:r>
              <a:rPr lang="en-GB" dirty="0" err="1"/>
              <a:t>Abushakra</a:t>
            </a:r>
            <a:r>
              <a:rPr lang="en-GB" dirty="0"/>
              <a:t> and </a:t>
            </a:r>
            <a:r>
              <a:rPr lang="en-GB" dirty="0" err="1"/>
              <a:t>Nikbin</a:t>
            </a:r>
            <a:r>
              <a:rPr lang="en-GB" dirty="0"/>
              <a:t> (2019) and </a:t>
            </a:r>
            <a:r>
              <a:rPr lang="en-GB" dirty="0" err="1"/>
              <a:t>Alkawsi</a:t>
            </a:r>
            <a:r>
              <a:rPr lang="en-GB" dirty="0"/>
              <a:t> </a:t>
            </a:r>
            <a:r>
              <a:rPr lang="en-US" dirty="0"/>
              <a:t>et al. (</a:t>
            </a:r>
            <a:r>
              <a:rPr lang="en-GB" dirty="0"/>
              <a:t>2018) study IoT-based applications from entrepreneur and consumer perspectives. As per </a:t>
            </a:r>
            <a:r>
              <a:rPr lang="en-GB" dirty="0" err="1"/>
              <a:t>Abushakra</a:t>
            </a:r>
            <a:r>
              <a:rPr lang="en-GB" dirty="0"/>
              <a:t> and </a:t>
            </a:r>
            <a:r>
              <a:rPr lang="en-GB" dirty="0" err="1"/>
              <a:t>Nikbin</a:t>
            </a:r>
            <a:r>
              <a:rPr lang="en-GB" dirty="0"/>
              <a:t> (2019), entrepreneurs do not embrace IoT services when the procedures are not advantageous, convenient, and simple. Alternatively, new approaches and management strategies are required to improve the adoption rates among consumers (</a:t>
            </a:r>
            <a:r>
              <a:rPr lang="en-GB" dirty="0" err="1"/>
              <a:t>Alkawsi</a:t>
            </a:r>
            <a:r>
              <a:rPr lang="en-US" dirty="0"/>
              <a:t> et al., </a:t>
            </a:r>
            <a:r>
              <a:rPr lang="en-GB" dirty="0"/>
              <a:t>2018). In both cases, knowledge of the system has a high influence on the adoption intention.</a:t>
            </a:r>
            <a:endParaRPr lang="en-US" dirty="0"/>
          </a:p>
          <a:p>
            <a:pPr algn="just"/>
            <a:r>
              <a:rPr lang="en-GB" dirty="0"/>
              <a:t>Furthermore, different age groups have different priorities, beliefs, and expectations for IoT-based systems. For example, those between 20 to 30 years of age bear more faith in non-profit and profitable companies, whereas the elder groups are discerned to have faith only in public organizations (</a:t>
            </a:r>
            <a:r>
              <a:rPr lang="en-GB" dirty="0" err="1"/>
              <a:t>Radenković</a:t>
            </a:r>
            <a:r>
              <a:rPr lang="en-US" dirty="0"/>
              <a:t> et al., </a:t>
            </a:r>
            <a:r>
              <a:rPr lang="en-GB" dirty="0"/>
              <a:t>2020). Similarly, personality-related issues with age have a significant impact on the adoption of RFID in healthcare (Chong</a:t>
            </a:r>
            <a:r>
              <a:rPr lang="en-US" dirty="0"/>
              <a:t> et al., </a:t>
            </a:r>
            <a:r>
              <a:rPr lang="en-GB" dirty="0"/>
              <a:t>2015). For this reason, different types of services are recommended in these studies, keeping the age groups and individual characteristics in mind.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47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Greenhalgh</a:t>
            </a:r>
            <a:r>
              <a:rPr lang="en-US" dirty="0"/>
              <a:t>, T. (2006) How to Read a Paper: The basics of </a:t>
            </a:r>
            <a:r>
              <a:rPr lang="en-US" dirty="0" err="1"/>
              <a:t>evidencebased</a:t>
            </a:r>
            <a:r>
              <a:rPr lang="en-US" dirty="0"/>
              <a:t> medicine Third edition. Oxford: Blackwell and BMJ</a:t>
            </a:r>
          </a:p>
          <a:p>
            <a:r>
              <a:rPr lang="en-US" dirty="0"/>
              <a:t>Hart, C. (1998) Doing a Literature Review. London: SAGE</a:t>
            </a:r>
          </a:p>
          <a:p>
            <a:r>
              <a:rPr lang="en-US" dirty="0"/>
              <a:t>Ridley, D. (2008) The Literature Review: A Step-by-Step Guide for Students. London: SAGE</a:t>
            </a:r>
          </a:p>
          <a:p>
            <a:r>
              <a:rPr lang="en-US" dirty="0" err="1"/>
              <a:t>Yudkin</a:t>
            </a:r>
            <a:r>
              <a:rPr lang="en-US" dirty="0"/>
              <a:t>, B. (2006) Critical Reading: Making sense of research papers in life sciences and medicine. London: Routledge</a:t>
            </a:r>
          </a:p>
        </p:txBody>
      </p:sp>
    </p:spTree>
    <p:extLst>
      <p:ext uri="{BB962C8B-B14F-4D97-AF65-F5344CB8AC3E}">
        <p14:creationId xmlns:p14="http://schemas.microsoft.com/office/powerpoint/2010/main" val="893594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b="1" dirty="0"/>
              <a:t>Thank You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743200"/>
            <a:ext cx="3810000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44258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835</Words>
  <Application>Microsoft Office PowerPoint</Application>
  <PresentationFormat>On-screen Show (4:3)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Century Schoolbook</vt:lpstr>
      <vt:lpstr>Times New Roman</vt:lpstr>
      <vt:lpstr>Wingdings</vt:lpstr>
      <vt:lpstr>Wingdings 2</vt:lpstr>
      <vt:lpstr>Oriel</vt:lpstr>
      <vt:lpstr>1_Oriel</vt:lpstr>
      <vt:lpstr>Literature Review </vt:lpstr>
      <vt:lpstr>Literature Review</vt:lpstr>
      <vt:lpstr>Literature Review</vt:lpstr>
      <vt:lpstr>Starting to think about your own literature review</vt:lpstr>
      <vt:lpstr>Key players and sources</vt:lpstr>
      <vt:lpstr>Getting started: Planning the review</vt:lpstr>
      <vt:lpstr>Illustrating trends: synthesizing literature</vt:lpstr>
      <vt:lpstr>Use of citations in the literature review</vt:lpstr>
      <vt:lpstr>Review summarization</vt:lpstr>
      <vt:lpstr>Getting started: Planning the review</vt:lpstr>
      <vt:lpstr>Editing and proofreading </vt:lpstr>
      <vt:lpstr>Example</vt:lpstr>
      <vt:lpstr>Further reading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design project</dc:title>
  <dc:creator>Arif Mahmud</dc:creator>
  <cp:lastModifiedBy>asad tapos</cp:lastModifiedBy>
  <cp:revision>35</cp:revision>
  <dcterms:created xsi:type="dcterms:W3CDTF">2006-08-16T00:00:00Z</dcterms:created>
  <dcterms:modified xsi:type="dcterms:W3CDTF">2025-10-06T06:01:00Z</dcterms:modified>
</cp:coreProperties>
</file>