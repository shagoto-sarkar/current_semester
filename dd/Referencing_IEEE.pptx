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71" r:id="rId3"/>
    <p:sldId id="258" r:id="rId4"/>
    <p:sldId id="259" r:id="rId5"/>
    <p:sldId id="261" r:id="rId6"/>
    <p:sldId id="262" r:id="rId7"/>
    <p:sldId id="263" r:id="rId8"/>
    <p:sldId id="264" r:id="rId9"/>
    <p:sldId id="265" r:id="rId10"/>
    <p:sldId id="266" r:id="rId11"/>
    <p:sldId id="268" r:id="rId12"/>
    <p:sldId id="267"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solidFill>
                <a:srgbClr val="575F6D"/>
              </a:solidFill>
            </a:endParaRPr>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955605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solidFill>
                <a:srgbClr val="575F6D"/>
              </a:solidFill>
            </a:endParaRPr>
          </a:p>
        </p:txBody>
      </p:sp>
    </p:spTree>
    <p:extLst>
      <p:ext uri="{BB962C8B-B14F-4D97-AF65-F5344CB8AC3E}">
        <p14:creationId xmlns:p14="http://schemas.microsoft.com/office/powerpoint/2010/main" val="284939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solidFill>
                  <a:srgbClr val="FFF39D"/>
                </a:solidFill>
              </a:rPr>
              <a:pPr/>
              <a:t>2/3/2025</a:t>
            </a:fld>
            <a:endParaRPr lang="en-US">
              <a:solidFill>
                <a:srgbClr val="FFF39D"/>
              </a:solidFill>
            </a:endParaRPr>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solidFill>
                <a:srgbClr val="FFF39D"/>
              </a:solidFill>
            </a:endParaRP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6073579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6" name="Footer Placeholder 5"/>
          <p:cNvSpPr>
            <a:spLocks noGrp="1"/>
          </p:cNvSpPr>
          <p:nvPr>
            <p:ph type="ftr" sz="quarter" idx="11"/>
          </p:nvPr>
        </p:nvSpPr>
        <p:spPr/>
        <p:txBody>
          <a:bodyPr/>
          <a:lstStyle/>
          <a:p>
            <a:endParaRPr lang="en-US">
              <a:solidFill>
                <a:srgbClr val="575F6D"/>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1594965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8" name="Footer Placeholder 7"/>
          <p:cNvSpPr>
            <a:spLocks noGrp="1"/>
          </p:cNvSpPr>
          <p:nvPr>
            <p:ph type="ftr" sz="quarter" idx="11"/>
          </p:nvPr>
        </p:nvSpPr>
        <p:spPr/>
        <p:txBody>
          <a:bodyPr/>
          <a:lstStyle/>
          <a:p>
            <a:endParaRPr lang="en-US">
              <a:solidFill>
                <a:srgbClr val="575F6D"/>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19624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solidFill>
                <a:srgbClr val="575F6D"/>
              </a:solidFill>
            </a:endParaRPr>
          </a:p>
        </p:txBody>
      </p:sp>
    </p:spTree>
    <p:extLst>
      <p:ext uri="{BB962C8B-B14F-4D97-AF65-F5344CB8AC3E}">
        <p14:creationId xmlns:p14="http://schemas.microsoft.com/office/powerpoint/2010/main" val="2178803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3" name="Footer Placeholder 2"/>
          <p:cNvSpPr>
            <a:spLocks noGrp="1"/>
          </p:cNvSpPr>
          <p:nvPr>
            <p:ph type="ftr" sz="quarter" idx="11"/>
          </p:nvPr>
        </p:nvSpPr>
        <p:spPr/>
        <p:txBody>
          <a:bodyPr/>
          <a:lstStyle/>
          <a:p>
            <a:endParaRPr lang="en-US">
              <a:solidFill>
                <a:srgbClr val="575F6D"/>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250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solidFill>
                <a:srgbClr val="575F6D"/>
              </a:solidFill>
            </a:endParaRPr>
          </a:p>
        </p:txBody>
      </p:sp>
    </p:spTree>
    <p:extLst>
      <p:ext uri="{BB962C8B-B14F-4D97-AF65-F5344CB8AC3E}">
        <p14:creationId xmlns:p14="http://schemas.microsoft.com/office/powerpoint/2010/main" val="34562974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17" name="Date Placeholder 16"/>
          <p:cNvSpPr>
            <a:spLocks noGrp="1"/>
          </p:cNvSpPr>
          <p:nvPr>
            <p:ph type="dt" sz="half" idx="10"/>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solidFill>
                <a:srgbClr val="575F6D"/>
              </a:solidFill>
            </a:endParaRPr>
          </a:p>
        </p:txBody>
      </p:sp>
    </p:spTree>
    <p:extLst>
      <p:ext uri="{BB962C8B-B14F-4D97-AF65-F5344CB8AC3E}">
        <p14:creationId xmlns:p14="http://schemas.microsoft.com/office/powerpoint/2010/main" val="3220304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5" name="Footer Placeholder 4"/>
          <p:cNvSpPr>
            <a:spLocks noGrp="1"/>
          </p:cNvSpPr>
          <p:nvPr>
            <p:ph type="ftr" sz="quarter" idx="11"/>
          </p:nvPr>
        </p:nvSpPr>
        <p:spPr/>
        <p:txBody>
          <a:bodyPr/>
          <a:lstStyle/>
          <a:p>
            <a:endParaRPr lang="en-US">
              <a:solidFill>
                <a:srgbClr val="575F6D"/>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74896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5" name="Footer Placeholder 4"/>
          <p:cNvSpPr>
            <a:spLocks noGrp="1"/>
          </p:cNvSpPr>
          <p:nvPr>
            <p:ph type="ftr" sz="quarter" idx="11"/>
          </p:nvPr>
        </p:nvSpPr>
        <p:spPr/>
        <p:txBody>
          <a:bodyPr/>
          <a:lstStyle/>
          <a:p>
            <a:endParaRPr lang="en-US">
              <a:solidFill>
                <a:srgbClr val="575F6D"/>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7517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solidFill>
                <a:srgbClr val="575F6D"/>
              </a:solidFill>
            </a:endParaRPr>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338971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solidFill>
                <a:srgbClr val="575F6D"/>
              </a:solidFill>
            </a:endParaRPr>
          </a:p>
        </p:txBody>
      </p:sp>
    </p:spTree>
    <p:extLst>
      <p:ext uri="{BB962C8B-B14F-4D97-AF65-F5344CB8AC3E}">
        <p14:creationId xmlns:p14="http://schemas.microsoft.com/office/powerpoint/2010/main" val="3779415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solidFill>
                  <a:srgbClr val="FFF39D"/>
                </a:solidFill>
              </a:rPr>
              <a:pPr/>
              <a:t>2/3/2025</a:t>
            </a:fld>
            <a:endParaRPr lang="en-US">
              <a:solidFill>
                <a:srgbClr val="FFF39D"/>
              </a:solidFill>
            </a:endParaRPr>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solidFill>
                <a:srgbClr val="FFF39D"/>
              </a:solidFill>
            </a:endParaRPr>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3599139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6" name="Footer Placeholder 5"/>
          <p:cNvSpPr>
            <a:spLocks noGrp="1"/>
          </p:cNvSpPr>
          <p:nvPr>
            <p:ph type="ftr" sz="quarter" idx="11"/>
          </p:nvPr>
        </p:nvSpPr>
        <p:spPr/>
        <p:txBody>
          <a:bodyPr/>
          <a:lstStyle/>
          <a:p>
            <a:endParaRPr lang="en-US">
              <a:solidFill>
                <a:srgbClr val="575F6D"/>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61712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8" name="Footer Placeholder 7"/>
          <p:cNvSpPr>
            <a:spLocks noGrp="1"/>
          </p:cNvSpPr>
          <p:nvPr>
            <p:ph type="ftr" sz="quarter" idx="11"/>
          </p:nvPr>
        </p:nvSpPr>
        <p:spPr/>
        <p:txBody>
          <a:bodyPr/>
          <a:lstStyle/>
          <a:p>
            <a:endParaRPr lang="en-US">
              <a:solidFill>
                <a:srgbClr val="575F6D"/>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780629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solidFill>
                <a:srgbClr val="575F6D"/>
              </a:solidFill>
            </a:endParaRPr>
          </a:p>
        </p:txBody>
      </p:sp>
    </p:spTree>
    <p:extLst>
      <p:ext uri="{BB962C8B-B14F-4D97-AF65-F5344CB8AC3E}">
        <p14:creationId xmlns:p14="http://schemas.microsoft.com/office/powerpoint/2010/main" val="24250348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3" name="Footer Placeholder 2"/>
          <p:cNvSpPr>
            <a:spLocks noGrp="1"/>
          </p:cNvSpPr>
          <p:nvPr>
            <p:ph type="ftr" sz="quarter" idx="11"/>
          </p:nvPr>
        </p:nvSpPr>
        <p:spPr/>
        <p:txBody>
          <a:bodyPr/>
          <a:lstStyle/>
          <a:p>
            <a:endParaRPr lang="en-US">
              <a:solidFill>
                <a:srgbClr val="575F6D"/>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95225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solidFill>
                <a:srgbClr val="575F6D"/>
              </a:solidFill>
            </a:endParaRPr>
          </a:p>
        </p:txBody>
      </p:sp>
    </p:spTree>
    <p:extLst>
      <p:ext uri="{BB962C8B-B14F-4D97-AF65-F5344CB8AC3E}">
        <p14:creationId xmlns:p14="http://schemas.microsoft.com/office/powerpoint/2010/main" val="96957150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17" name="Date Placeholder 16"/>
          <p:cNvSpPr>
            <a:spLocks noGrp="1"/>
          </p:cNvSpPr>
          <p:nvPr>
            <p:ph type="dt" sz="half" idx="10"/>
          </p:nvPr>
        </p:nvSpPr>
        <p:spPr/>
        <p:txBody>
          <a:bodyPr rtlCol="0"/>
          <a:lstStyle/>
          <a:p>
            <a:fld id="{1D8BD707-D9CF-40AE-B4C6-C98DA3205C09}" type="datetimeFigureOut">
              <a:rPr lang="en-US" smtClean="0">
                <a:solidFill>
                  <a:srgbClr val="575F6D"/>
                </a:solidFill>
              </a:rPr>
              <a:pPr/>
              <a:t>2/3/2025</a:t>
            </a:fld>
            <a:endParaRPr lang="en-US">
              <a:solidFill>
                <a:srgbClr val="575F6D"/>
              </a:solidFill>
            </a:endParaRPr>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solidFill>
                <a:srgbClr val="575F6D"/>
              </a:solidFill>
            </a:endParaRPr>
          </a:p>
        </p:txBody>
      </p:sp>
    </p:spTree>
    <p:extLst>
      <p:ext uri="{BB962C8B-B14F-4D97-AF65-F5344CB8AC3E}">
        <p14:creationId xmlns:p14="http://schemas.microsoft.com/office/powerpoint/2010/main" val="7587641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5" name="Footer Placeholder 4"/>
          <p:cNvSpPr>
            <a:spLocks noGrp="1"/>
          </p:cNvSpPr>
          <p:nvPr>
            <p:ph type="ftr" sz="quarter" idx="11"/>
          </p:nvPr>
        </p:nvSpPr>
        <p:spPr/>
        <p:txBody>
          <a:bodyPr/>
          <a:lstStyle/>
          <a:p>
            <a:endParaRPr lang="en-US">
              <a:solidFill>
                <a:srgbClr val="575F6D"/>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73353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575F6D"/>
                </a:solidFill>
              </a:rPr>
              <a:pPr/>
              <a:t>2/3/2025</a:t>
            </a:fld>
            <a:endParaRPr lang="en-US">
              <a:solidFill>
                <a:srgbClr val="575F6D"/>
              </a:solidFill>
            </a:endParaRPr>
          </a:p>
        </p:txBody>
      </p:sp>
      <p:sp>
        <p:nvSpPr>
          <p:cNvPr id="5" name="Footer Placeholder 4"/>
          <p:cNvSpPr>
            <a:spLocks noGrp="1"/>
          </p:cNvSpPr>
          <p:nvPr>
            <p:ph type="ftr" sz="quarter" idx="11"/>
          </p:nvPr>
        </p:nvSpPr>
        <p:spPr/>
        <p:txBody>
          <a:bodyPr/>
          <a:lstStyle/>
          <a:p>
            <a:endParaRPr lang="en-US">
              <a:solidFill>
                <a:srgbClr val="575F6D"/>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915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solidFill>
                  <a:srgbClr val="575F6D"/>
                </a:solidFill>
              </a:rPr>
              <a:pPr/>
              <a:t>2/3/2025</a:t>
            </a:fld>
            <a:endParaRPr lang="en-US">
              <a:solidFill>
                <a:srgbClr val="575F6D"/>
              </a:solidFill>
            </a:endParaRPr>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solidFill>
                <a:srgbClr val="575F6D"/>
              </a:solidFill>
            </a:endParaRP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219374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solidFill>
                  <a:srgbClr val="575F6D"/>
                </a:solidFill>
              </a:rPr>
              <a:pPr/>
              <a:t>2/3/2025</a:t>
            </a:fld>
            <a:endParaRPr lang="en-US">
              <a:solidFill>
                <a:srgbClr val="575F6D"/>
              </a:solidFill>
            </a:endParaRPr>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solidFill>
                <a:srgbClr val="575F6D"/>
              </a:solidFill>
            </a:endParaRP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solidFill>
                <a:prstClr val="white"/>
              </a:solidFill>
            </a:endParaRPr>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080009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Thesis writing guidelines</a:t>
            </a:r>
            <a:endParaRPr lang="en-US" dirty="0"/>
          </a:p>
        </p:txBody>
      </p:sp>
      <p:sp>
        <p:nvSpPr>
          <p:cNvPr id="3" name="Subtitle 2"/>
          <p:cNvSpPr>
            <a:spLocks noGrp="1"/>
          </p:cNvSpPr>
          <p:nvPr>
            <p:ph type="subTitle" idx="1"/>
          </p:nvPr>
        </p:nvSpPr>
        <p:spPr>
          <a:xfrm>
            <a:off x="2286000" y="5003322"/>
            <a:ext cx="6629400" cy="1371600"/>
          </a:xfrm>
        </p:spPr>
        <p:txBody>
          <a:bodyPr>
            <a:normAutofit/>
          </a:bodyPr>
          <a:lstStyle/>
          <a:p>
            <a:r>
              <a:rPr lang="en-US" dirty="0" smtClean="0"/>
              <a:t>Dr. </a:t>
            </a:r>
            <a:r>
              <a:rPr lang="en-US" dirty="0" err="1" smtClean="0"/>
              <a:t>Arif</a:t>
            </a:r>
            <a:r>
              <a:rPr lang="en-US" dirty="0" smtClean="0"/>
              <a:t> Mahmud</a:t>
            </a:r>
          </a:p>
          <a:p>
            <a:r>
              <a:rPr lang="en-US" dirty="0" smtClean="0"/>
              <a:t>Associate Professor &amp; </a:t>
            </a:r>
            <a:r>
              <a:rPr lang="en-US" dirty="0" smtClean="0"/>
              <a:t>Associate Head</a:t>
            </a:r>
            <a:endParaRPr lang="en-US" dirty="0" smtClean="0"/>
          </a:p>
          <a:p>
            <a:r>
              <a:rPr lang="en-US" dirty="0" smtClean="0"/>
              <a:t>Department of CSE, Daffodil International University</a:t>
            </a:r>
            <a:endParaRPr lang="en-US" dirty="0"/>
          </a:p>
        </p:txBody>
      </p:sp>
    </p:spTree>
    <p:extLst>
      <p:ext uri="{BB962C8B-B14F-4D97-AF65-F5344CB8AC3E}">
        <p14:creationId xmlns:p14="http://schemas.microsoft.com/office/powerpoint/2010/main" val="224005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IEEE Referencing Style Sheet</a:t>
            </a:r>
          </a:p>
        </p:txBody>
      </p:sp>
      <p:sp>
        <p:nvSpPr>
          <p:cNvPr id="3" name="Content Placeholder 2"/>
          <p:cNvSpPr>
            <a:spLocks noGrp="1"/>
          </p:cNvSpPr>
          <p:nvPr>
            <p:ph sz="quarter" idx="1"/>
          </p:nvPr>
        </p:nvSpPr>
        <p:spPr/>
        <p:txBody>
          <a:bodyPr>
            <a:normAutofit fontScale="92500" lnSpcReduction="10000"/>
          </a:bodyPr>
          <a:lstStyle/>
          <a:p>
            <a:pPr algn="just"/>
            <a:r>
              <a:rPr lang="en-US" dirty="0"/>
              <a:t>Citations</a:t>
            </a:r>
          </a:p>
          <a:p>
            <a:pPr algn="just"/>
            <a:r>
              <a:rPr lang="en-US" dirty="0"/>
              <a:t>When writing a piece of academic work, you must acknowledge any sources which you have used. You do this by including a brief in-text ‘citation’ within the main body of your writing, next to the material you have used</a:t>
            </a:r>
            <a:r>
              <a:rPr lang="en-US" dirty="0" smtClean="0"/>
              <a:t>.</a:t>
            </a:r>
          </a:p>
          <a:p>
            <a:pPr algn="just"/>
            <a:r>
              <a:rPr lang="en-US" dirty="0"/>
              <a:t>References</a:t>
            </a:r>
          </a:p>
          <a:p>
            <a:pPr algn="just"/>
            <a:r>
              <a:rPr lang="en-US" dirty="0"/>
              <a:t>At the end of your work, list full details of all of the sources which you have cited in your text in a section headed References, in numeric order. References listed must follow IEEE formatting guidelines (see reference examples overleaf). Your reference list should allow anyone reading your work to identify and find the material to which you have referred.</a:t>
            </a:r>
          </a:p>
        </p:txBody>
      </p:sp>
    </p:spTree>
    <p:extLst>
      <p:ext uri="{BB962C8B-B14F-4D97-AF65-F5344CB8AC3E}">
        <p14:creationId xmlns:p14="http://schemas.microsoft.com/office/powerpoint/2010/main" val="1955240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Citations</a:t>
            </a:r>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t>Here are some examples of IEEE style citation:</a:t>
            </a:r>
          </a:p>
          <a:p>
            <a:r>
              <a:rPr lang="en-US" dirty="0"/>
              <a:t>“... as shown by Brown [4], as previously stated.”</a:t>
            </a:r>
          </a:p>
          <a:p>
            <a:r>
              <a:rPr lang="en-US" dirty="0"/>
              <a:t>"The theory was first put forward in 1987 [1]."</a:t>
            </a:r>
          </a:p>
          <a:p>
            <a:r>
              <a:rPr lang="en-US" dirty="0"/>
              <a:t>“For example, see [7].”</a:t>
            </a:r>
          </a:p>
          <a:p>
            <a:r>
              <a:rPr lang="en-US" dirty="0"/>
              <a:t>"Several recent studies [3, 4, 15, 16] have suggested that..."</a:t>
            </a:r>
          </a:p>
          <a:p>
            <a:r>
              <a:rPr lang="en-US" dirty="0"/>
              <a:t>The example above may also be formatted as:</a:t>
            </a:r>
          </a:p>
          <a:p>
            <a:pPr marL="0" indent="0">
              <a:buNone/>
            </a:pPr>
            <a:r>
              <a:rPr lang="en-US" dirty="0"/>
              <a:t>“Several recent studies [3], [4], [15], [16] have suggested that…”</a:t>
            </a:r>
          </a:p>
          <a:p>
            <a:pPr marL="0" indent="0">
              <a:buNone/>
            </a:pPr>
            <a:r>
              <a:rPr lang="en-US" dirty="0"/>
              <a:t>Page numbers are required within citations where material is directly quoted or you refer to a specific part of the source, such as a detail difficult to find. Give page numbers within the square brackets, for example [1, p. 3].</a:t>
            </a:r>
          </a:p>
        </p:txBody>
      </p:sp>
    </p:spTree>
    <p:extLst>
      <p:ext uri="{BB962C8B-B14F-4D97-AF65-F5344CB8AC3E}">
        <p14:creationId xmlns:p14="http://schemas.microsoft.com/office/powerpoint/2010/main" val="2255823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Citations/references with multiple authors</a:t>
            </a:r>
          </a:p>
        </p:txBody>
      </p:sp>
      <p:sp>
        <p:nvSpPr>
          <p:cNvPr id="3" name="Content Placeholder 2"/>
          <p:cNvSpPr>
            <a:spLocks noGrp="1"/>
          </p:cNvSpPr>
          <p:nvPr>
            <p:ph sz="quarter" idx="1"/>
          </p:nvPr>
        </p:nvSpPr>
        <p:spPr/>
        <p:txBody>
          <a:bodyPr/>
          <a:lstStyle/>
          <a:p>
            <a:r>
              <a:rPr lang="en-US" dirty="0"/>
              <a:t>If you choose to mention the author(s) of a source whilst citing it in the text of your work, if there are three or more you can abbreviate them using ‘et al.’ e.g. During their research, Fan, et al. [4] discuss lasers in detail. However, in general you do not need to mention the authors by name, just use the numeric citation in square brackets. In your full reference list at the end however, you always give the authors’ names. In the reference list you can only abbreviate these using ‘et al.’ if there are six or more authors.</a:t>
            </a:r>
          </a:p>
        </p:txBody>
      </p:sp>
    </p:spTree>
    <p:extLst>
      <p:ext uri="{BB962C8B-B14F-4D97-AF65-F5344CB8AC3E}">
        <p14:creationId xmlns:p14="http://schemas.microsoft.com/office/powerpoint/2010/main" val="632451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examples</a:t>
            </a:r>
          </a:p>
        </p:txBody>
      </p:sp>
      <p:sp>
        <p:nvSpPr>
          <p:cNvPr id="3" name="Content Placeholder 2"/>
          <p:cNvSpPr>
            <a:spLocks noGrp="1"/>
          </p:cNvSpPr>
          <p:nvPr>
            <p:ph sz="quarter" idx="1"/>
          </p:nvPr>
        </p:nvSpPr>
        <p:spPr/>
        <p:txBody>
          <a:bodyPr>
            <a:normAutofit fontScale="62500" lnSpcReduction="20000"/>
          </a:bodyPr>
          <a:lstStyle/>
          <a:p>
            <a:r>
              <a:rPr lang="en-US" sz="3600" b="1" dirty="0">
                <a:solidFill>
                  <a:srgbClr val="000000"/>
                </a:solidFill>
              </a:rPr>
              <a:t>Book </a:t>
            </a:r>
            <a:endParaRPr lang="en-US" sz="3600" dirty="0">
              <a:solidFill>
                <a:srgbClr val="000000"/>
              </a:solidFill>
            </a:endParaRPr>
          </a:p>
          <a:p>
            <a:r>
              <a:rPr lang="en-US" dirty="0">
                <a:solidFill>
                  <a:srgbClr val="000000"/>
                </a:solidFill>
              </a:rPr>
              <a:t>[Ref number] Author’s initials. Author’s Surname, </a:t>
            </a:r>
            <a:r>
              <a:rPr lang="en-US" i="1" dirty="0">
                <a:solidFill>
                  <a:srgbClr val="000000"/>
                </a:solidFill>
              </a:rPr>
              <a:t>Book Title</a:t>
            </a:r>
            <a:r>
              <a:rPr lang="en-US" dirty="0">
                <a:solidFill>
                  <a:srgbClr val="000000"/>
                </a:solidFill>
              </a:rPr>
              <a:t>, edition (if not first). Place of publication: Publisher, Year. </a:t>
            </a:r>
          </a:p>
          <a:p>
            <a:r>
              <a:rPr lang="en-US" dirty="0">
                <a:solidFill>
                  <a:srgbClr val="000000"/>
                </a:solidFill>
              </a:rPr>
              <a:t>[1] I.A. Glover and P.M. Grant, </a:t>
            </a:r>
            <a:r>
              <a:rPr lang="en-US" i="1" dirty="0">
                <a:solidFill>
                  <a:srgbClr val="000000"/>
                </a:solidFill>
              </a:rPr>
              <a:t>Digital Communications</a:t>
            </a:r>
            <a:r>
              <a:rPr lang="en-US" dirty="0">
                <a:solidFill>
                  <a:srgbClr val="000000"/>
                </a:solidFill>
              </a:rPr>
              <a:t>, 3rd ed. Harlow: Prentice Hall, 2009. </a:t>
            </a:r>
          </a:p>
          <a:p>
            <a:r>
              <a:rPr lang="en-US" sz="3600" b="1" dirty="0">
                <a:solidFill>
                  <a:srgbClr val="000000"/>
                </a:solidFill>
              </a:rPr>
              <a:t>Book chapter </a:t>
            </a:r>
            <a:endParaRPr lang="en-US" sz="3600" dirty="0">
              <a:solidFill>
                <a:srgbClr val="000000"/>
              </a:solidFill>
            </a:endParaRPr>
          </a:p>
          <a:p>
            <a:r>
              <a:rPr lang="en-US" dirty="0">
                <a:solidFill>
                  <a:srgbClr val="000000"/>
                </a:solidFill>
              </a:rPr>
              <a:t>[Ref number] Author’s initials. Author’s Surname, “Title of chapter in book,” in </a:t>
            </a:r>
            <a:r>
              <a:rPr lang="en-US" i="1" dirty="0">
                <a:solidFill>
                  <a:srgbClr val="000000"/>
                </a:solidFill>
              </a:rPr>
              <a:t>Book Title, </a:t>
            </a:r>
            <a:r>
              <a:rPr lang="en-US" dirty="0">
                <a:solidFill>
                  <a:srgbClr val="000000"/>
                </a:solidFill>
              </a:rPr>
              <a:t>edition (if not first), Editor’s initials. Editor’s Surname, Ed. Place of publication: Publisher, Year, page numbers. </a:t>
            </a:r>
          </a:p>
          <a:p>
            <a:r>
              <a:rPr lang="en-US" dirty="0">
                <a:solidFill>
                  <a:srgbClr val="000000"/>
                </a:solidFill>
              </a:rPr>
              <a:t>[2] C. W. Li and G. J. Wang, "MEMS manufacturing techniques for tissue scaffolding devices," in </a:t>
            </a:r>
            <a:r>
              <a:rPr lang="en-US" i="1" dirty="0" err="1">
                <a:solidFill>
                  <a:srgbClr val="000000"/>
                </a:solidFill>
              </a:rPr>
              <a:t>Mems</a:t>
            </a:r>
            <a:r>
              <a:rPr lang="en-US" i="1" dirty="0">
                <a:solidFill>
                  <a:srgbClr val="000000"/>
                </a:solidFill>
              </a:rPr>
              <a:t> for Biomedical Applications</a:t>
            </a:r>
            <a:r>
              <a:rPr lang="en-US" dirty="0">
                <a:solidFill>
                  <a:srgbClr val="000000"/>
                </a:solidFill>
              </a:rPr>
              <a:t>, S. </a:t>
            </a:r>
            <a:r>
              <a:rPr lang="en-US" dirty="0" err="1">
                <a:solidFill>
                  <a:srgbClr val="000000"/>
                </a:solidFill>
              </a:rPr>
              <a:t>Bhansali</a:t>
            </a:r>
            <a:r>
              <a:rPr lang="en-US" dirty="0">
                <a:solidFill>
                  <a:srgbClr val="000000"/>
                </a:solidFill>
              </a:rPr>
              <a:t> and A. </a:t>
            </a:r>
            <a:r>
              <a:rPr lang="en-US" dirty="0" err="1">
                <a:solidFill>
                  <a:srgbClr val="000000"/>
                </a:solidFill>
              </a:rPr>
              <a:t>Vasudev</a:t>
            </a:r>
            <a:r>
              <a:rPr lang="en-US" dirty="0">
                <a:solidFill>
                  <a:srgbClr val="000000"/>
                </a:solidFill>
              </a:rPr>
              <a:t>, Eds. Cambridge: </a:t>
            </a:r>
            <a:r>
              <a:rPr lang="en-US" dirty="0" err="1">
                <a:solidFill>
                  <a:srgbClr val="000000"/>
                </a:solidFill>
              </a:rPr>
              <a:t>Woodhead</a:t>
            </a:r>
            <a:r>
              <a:rPr lang="en-US" dirty="0">
                <a:solidFill>
                  <a:srgbClr val="000000"/>
                </a:solidFill>
              </a:rPr>
              <a:t>, 2012, pp. 192-217. </a:t>
            </a:r>
          </a:p>
          <a:p>
            <a:r>
              <a:rPr lang="en-US" sz="3600" b="1" dirty="0">
                <a:solidFill>
                  <a:srgbClr val="000000"/>
                </a:solidFill>
              </a:rPr>
              <a:t>Electronic Book </a:t>
            </a:r>
            <a:endParaRPr lang="en-US" sz="3600" dirty="0">
              <a:solidFill>
                <a:srgbClr val="000000"/>
              </a:solidFill>
            </a:endParaRPr>
          </a:p>
          <a:p>
            <a:r>
              <a:rPr lang="en-US" dirty="0">
                <a:solidFill>
                  <a:srgbClr val="000000"/>
                </a:solidFill>
              </a:rPr>
              <a:t>[Ref number] Author’s initials. Author’s Surname. (Year, Month Day). </a:t>
            </a:r>
            <a:r>
              <a:rPr lang="en-US" i="1" dirty="0">
                <a:solidFill>
                  <a:srgbClr val="000000"/>
                </a:solidFill>
              </a:rPr>
              <a:t>Book Title </a:t>
            </a:r>
            <a:r>
              <a:rPr lang="en-US" dirty="0">
                <a:solidFill>
                  <a:srgbClr val="000000"/>
                </a:solidFill>
              </a:rPr>
              <a:t>(edition) [Type of medium]. Available: URL </a:t>
            </a:r>
          </a:p>
          <a:p>
            <a:r>
              <a:rPr lang="en-US" dirty="0">
                <a:solidFill>
                  <a:srgbClr val="000000"/>
                </a:solidFill>
              </a:rPr>
              <a:t>[3] W. </a:t>
            </a:r>
            <a:r>
              <a:rPr lang="en-US" dirty="0" err="1">
                <a:solidFill>
                  <a:srgbClr val="000000"/>
                </a:solidFill>
              </a:rPr>
              <a:t>Zeng</a:t>
            </a:r>
            <a:r>
              <a:rPr lang="en-US" dirty="0">
                <a:solidFill>
                  <a:srgbClr val="000000"/>
                </a:solidFill>
              </a:rPr>
              <a:t>, H. Yu, C. Lin. (2013, Dec 19). </a:t>
            </a:r>
            <a:r>
              <a:rPr lang="en-US" i="1" dirty="0">
                <a:solidFill>
                  <a:srgbClr val="000000"/>
                </a:solidFill>
              </a:rPr>
              <a:t>Multimedia Security Technologies for Digital Rights Management </a:t>
            </a:r>
            <a:r>
              <a:rPr lang="en-US" dirty="0">
                <a:solidFill>
                  <a:srgbClr val="000000"/>
                </a:solidFill>
              </a:rPr>
              <a:t>[Online]. Available: http://goo.gl/xQ6doi </a:t>
            </a:r>
          </a:p>
          <a:p>
            <a:r>
              <a:rPr lang="en-US" dirty="0">
                <a:solidFill>
                  <a:srgbClr val="000000"/>
                </a:solidFill>
              </a:rPr>
              <a:t>Note: If the e-book is a direct equivalent of a print book e.g. in PDF format, you can reference it as a normal print book</a:t>
            </a:r>
            <a:r>
              <a:rPr lang="en-US" dirty="0">
                <a:solidFill>
                  <a:srgbClr val="000000"/>
                </a:solidFill>
                <a:latin typeface="Arial"/>
              </a:rPr>
              <a:t>. </a:t>
            </a:r>
            <a:endParaRPr lang="en-US" dirty="0"/>
          </a:p>
        </p:txBody>
      </p:sp>
    </p:spTree>
    <p:extLst>
      <p:ext uri="{BB962C8B-B14F-4D97-AF65-F5344CB8AC3E}">
        <p14:creationId xmlns:p14="http://schemas.microsoft.com/office/powerpoint/2010/main" val="243121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examples</a:t>
            </a:r>
          </a:p>
        </p:txBody>
      </p:sp>
      <p:sp>
        <p:nvSpPr>
          <p:cNvPr id="3" name="Content Placeholder 2"/>
          <p:cNvSpPr>
            <a:spLocks noGrp="1"/>
          </p:cNvSpPr>
          <p:nvPr>
            <p:ph sz="quarter" idx="1"/>
          </p:nvPr>
        </p:nvSpPr>
        <p:spPr/>
        <p:txBody>
          <a:bodyPr>
            <a:normAutofit fontScale="70000" lnSpcReduction="20000"/>
          </a:bodyPr>
          <a:lstStyle/>
          <a:p>
            <a:r>
              <a:rPr lang="en-US" b="1" dirty="0"/>
              <a:t>Journal article </a:t>
            </a:r>
            <a:endParaRPr lang="en-US" dirty="0"/>
          </a:p>
          <a:p>
            <a:r>
              <a:rPr lang="en-US" dirty="0"/>
              <a:t>[Ref number] Author’s initials. Author’s Surname, “Title of article,” </a:t>
            </a:r>
            <a:r>
              <a:rPr lang="en-US" i="1" dirty="0"/>
              <a:t>Title of journal abbreviated in Italics, </a:t>
            </a:r>
            <a:r>
              <a:rPr lang="en-US" dirty="0"/>
              <a:t>vol. number, issue </a:t>
            </a:r>
          </a:p>
          <a:p>
            <a:r>
              <a:rPr lang="en-US" dirty="0"/>
              <a:t>number</a:t>
            </a:r>
            <a:r>
              <a:rPr lang="en-US" i="1" dirty="0"/>
              <a:t>, </a:t>
            </a:r>
            <a:r>
              <a:rPr lang="en-US" dirty="0"/>
              <a:t>page numbers, Abbreviated Month Year. </a:t>
            </a:r>
          </a:p>
          <a:p>
            <a:r>
              <a:rPr lang="en-US" dirty="0"/>
              <a:t>[4] F. Yan, Y. </a:t>
            </a:r>
            <a:r>
              <a:rPr lang="en-US" dirty="0" err="1"/>
              <a:t>Gu</a:t>
            </a:r>
            <a:r>
              <a:rPr lang="en-US" dirty="0"/>
              <a:t>, Y. Wang, C. M. Wang, X. Y. Hu, H. X. </a:t>
            </a:r>
            <a:r>
              <a:rPr lang="en-US" dirty="0" err="1"/>
              <a:t>Peng</a:t>
            </a:r>
            <a:r>
              <a:rPr lang="en-US" dirty="0"/>
              <a:t>, et al., "Study on the interaction mechanism between laser and rock during perforation," </a:t>
            </a:r>
            <a:r>
              <a:rPr lang="en-US" i="1" dirty="0"/>
              <a:t>Optics and Laser Technology, </a:t>
            </a:r>
            <a:r>
              <a:rPr lang="en-US" dirty="0"/>
              <a:t>vol. 54, pp. 303-308, Dec 2013. </a:t>
            </a:r>
          </a:p>
          <a:p>
            <a:r>
              <a:rPr lang="en-US" dirty="0"/>
              <a:t>Note: the above example article is from a journal which does not use issue numbers, so they are not included in the reference. </a:t>
            </a:r>
          </a:p>
          <a:p>
            <a:r>
              <a:rPr lang="en-US" b="1" dirty="0"/>
              <a:t>E-Journal article </a:t>
            </a:r>
            <a:endParaRPr lang="en-US" dirty="0"/>
          </a:p>
          <a:p>
            <a:r>
              <a:rPr lang="en-US" dirty="0"/>
              <a:t>PDF versions of journal articles are direct copies of the print edition, so you can cite them as print journals. </a:t>
            </a:r>
          </a:p>
          <a:p>
            <a:r>
              <a:rPr lang="en-US" dirty="0"/>
              <a:t>[Ref number] Author’s initials. Author’s Surname. (Year, Month). “Title of article.” </a:t>
            </a:r>
            <a:r>
              <a:rPr lang="en-US" i="1" dirty="0"/>
              <a:t>Journal Title </a:t>
            </a:r>
            <a:r>
              <a:rPr lang="en-US" dirty="0"/>
              <a:t>[type of medium]. volume number, issue number, page numbers if given. Available: URL </a:t>
            </a:r>
          </a:p>
          <a:p>
            <a:r>
              <a:rPr lang="en-US" dirty="0"/>
              <a:t>[5] M. </a:t>
            </a:r>
            <a:r>
              <a:rPr lang="en-US" dirty="0" err="1"/>
              <a:t>Semilof</a:t>
            </a:r>
            <a:r>
              <a:rPr lang="en-US" dirty="0"/>
              <a:t>. (1996, July). “Driving commerce to the web-corporate intranets and the internet: lines blur”. </a:t>
            </a:r>
            <a:r>
              <a:rPr lang="en-US" i="1" dirty="0"/>
              <a:t>Communication Week </a:t>
            </a:r>
            <a:r>
              <a:rPr lang="en-US" dirty="0"/>
              <a:t>[Online]. vol. 6, issue 19. Available: http://www.techweb.com/se/directlinkcgi?CWK19960715S0005 </a:t>
            </a:r>
          </a:p>
        </p:txBody>
      </p:sp>
    </p:spTree>
    <p:extLst>
      <p:ext uri="{BB962C8B-B14F-4D97-AF65-F5344CB8AC3E}">
        <p14:creationId xmlns:p14="http://schemas.microsoft.com/office/powerpoint/2010/main" val="1621742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examples</a:t>
            </a:r>
          </a:p>
        </p:txBody>
      </p:sp>
      <p:sp>
        <p:nvSpPr>
          <p:cNvPr id="3" name="Content Placeholder 2"/>
          <p:cNvSpPr>
            <a:spLocks noGrp="1"/>
          </p:cNvSpPr>
          <p:nvPr>
            <p:ph sz="quarter" idx="1"/>
          </p:nvPr>
        </p:nvSpPr>
        <p:spPr/>
        <p:txBody>
          <a:bodyPr>
            <a:normAutofit fontScale="55000" lnSpcReduction="20000"/>
          </a:bodyPr>
          <a:lstStyle/>
          <a:p>
            <a:r>
              <a:rPr lang="en-US" b="1" dirty="0"/>
              <a:t>Conference papers </a:t>
            </a:r>
            <a:endParaRPr lang="en-US" dirty="0"/>
          </a:p>
          <a:p>
            <a:r>
              <a:rPr lang="en-US" dirty="0"/>
              <a:t>[Ref number] Author’s initials. Author’s Surname, “Title of paper,” in </a:t>
            </a:r>
            <a:r>
              <a:rPr lang="en-US" i="1" dirty="0"/>
              <a:t>Name of Conference, </a:t>
            </a:r>
            <a:r>
              <a:rPr lang="en-US" dirty="0"/>
              <a:t>Location, Year, pp. xxx. </a:t>
            </a:r>
          </a:p>
          <a:p>
            <a:r>
              <a:rPr lang="en-US" dirty="0"/>
              <a:t>[6] S. Adachi, T. </a:t>
            </a:r>
            <a:r>
              <a:rPr lang="en-US" dirty="0" err="1"/>
              <a:t>Horio</a:t>
            </a:r>
            <a:r>
              <a:rPr lang="en-US" dirty="0"/>
              <a:t>, T. Suzuki. "Intense vacuum-ultraviolet single-order harmonic pulse by a deep-ultraviolet driving laser," in </a:t>
            </a:r>
            <a:r>
              <a:rPr lang="en-US" i="1" dirty="0"/>
              <a:t>Conf. Lasers and Electro-Optics</a:t>
            </a:r>
            <a:r>
              <a:rPr lang="en-US" dirty="0"/>
              <a:t>, San Jose, CA, 2012, pp.2118-2120. </a:t>
            </a:r>
          </a:p>
          <a:p>
            <a:r>
              <a:rPr lang="en-US" dirty="0"/>
              <a:t>Standard abbreviations may be applied to the title of the conference. For a table of abbreviations go to: http://www.ieee.org/documents/ieeecitationref.pdf </a:t>
            </a:r>
          </a:p>
          <a:p>
            <a:r>
              <a:rPr lang="en-US" b="1" dirty="0"/>
              <a:t>Reports </a:t>
            </a:r>
            <a:endParaRPr lang="en-US" dirty="0"/>
          </a:p>
          <a:p>
            <a:r>
              <a:rPr lang="en-US" dirty="0"/>
              <a:t>The general form for citing technical reports is to place the name and location of the company or institution after the author and title </a:t>
            </a:r>
          </a:p>
          <a:p>
            <a:r>
              <a:rPr lang="en-US" dirty="0"/>
              <a:t>and to give the report number and date at the end of the reference. If the report has a volume number add it after the year. </a:t>
            </a:r>
          </a:p>
          <a:p>
            <a:r>
              <a:rPr lang="en-US" dirty="0"/>
              <a:t>[Ref number] Author’s initials. Author’s Surname, “Title of report,” Abbreviated Name of Company., City of Company., State, Report number, year. </a:t>
            </a:r>
          </a:p>
          <a:p>
            <a:r>
              <a:rPr lang="en-US" dirty="0"/>
              <a:t>[7] P. </a:t>
            </a:r>
            <a:r>
              <a:rPr lang="en-US" dirty="0" err="1"/>
              <a:t>Diament</a:t>
            </a:r>
            <a:r>
              <a:rPr lang="en-US" dirty="0"/>
              <a:t> and W. L. </a:t>
            </a:r>
            <a:r>
              <a:rPr lang="en-US" dirty="0" err="1"/>
              <a:t>Luptakin</a:t>
            </a:r>
            <a:r>
              <a:rPr lang="en-US" dirty="0"/>
              <a:t>, “V-line surface-wave radiation and scanning,” Dept. Elect. Eng., Colombia Univ., New York, </a:t>
            </a:r>
            <a:r>
              <a:rPr lang="en-US" dirty="0" err="1"/>
              <a:t>Sci</a:t>
            </a:r>
            <a:r>
              <a:rPr lang="en-US" dirty="0"/>
              <a:t> Rep. 85, 1991. </a:t>
            </a:r>
          </a:p>
          <a:p>
            <a:r>
              <a:rPr lang="en-US" b="1" dirty="0"/>
              <a:t>Patents </a:t>
            </a:r>
            <a:endParaRPr lang="en-US" dirty="0"/>
          </a:p>
          <a:p>
            <a:r>
              <a:rPr lang="en-US" dirty="0"/>
              <a:t>[Ref number] Author’s initials. Author’s Surname, “Title of patent,” Country where patent is registered. Patent number, Abbrev of Month Day Year. </a:t>
            </a:r>
          </a:p>
          <a:p>
            <a:r>
              <a:rPr lang="en-US" dirty="0"/>
              <a:t>[8] J. P. Wilkinson, “Nonlinear resonant circuit devices,” U.S. Patent 3 624 125, July 16 1990. </a:t>
            </a:r>
          </a:p>
        </p:txBody>
      </p:sp>
    </p:spTree>
    <p:extLst>
      <p:ext uri="{BB962C8B-B14F-4D97-AF65-F5344CB8AC3E}">
        <p14:creationId xmlns:p14="http://schemas.microsoft.com/office/powerpoint/2010/main" val="2798956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examples</a:t>
            </a:r>
          </a:p>
        </p:txBody>
      </p:sp>
      <p:sp>
        <p:nvSpPr>
          <p:cNvPr id="3" name="Content Placeholder 2"/>
          <p:cNvSpPr>
            <a:spLocks noGrp="1"/>
          </p:cNvSpPr>
          <p:nvPr>
            <p:ph sz="quarter" idx="1"/>
          </p:nvPr>
        </p:nvSpPr>
        <p:spPr/>
        <p:txBody>
          <a:bodyPr>
            <a:normAutofit lnSpcReduction="10000"/>
          </a:bodyPr>
          <a:lstStyle/>
          <a:p>
            <a:r>
              <a:rPr lang="en-US" b="1" dirty="0"/>
              <a:t>Standards </a:t>
            </a:r>
            <a:endParaRPr lang="en-US" dirty="0"/>
          </a:p>
          <a:p>
            <a:r>
              <a:rPr lang="en-US" dirty="0"/>
              <a:t>[Reference number] </a:t>
            </a:r>
            <a:r>
              <a:rPr lang="en-US" i="1" dirty="0"/>
              <a:t>Title of Standard</a:t>
            </a:r>
            <a:r>
              <a:rPr lang="en-US" dirty="0"/>
              <a:t>, Standard number, date. </a:t>
            </a:r>
          </a:p>
          <a:p>
            <a:r>
              <a:rPr lang="en-US" dirty="0"/>
              <a:t>[9] </a:t>
            </a:r>
            <a:r>
              <a:rPr lang="en-US" i="1" dirty="0"/>
              <a:t>Shunt power capacitors</a:t>
            </a:r>
            <a:r>
              <a:rPr lang="en-US" dirty="0"/>
              <a:t>, IEEE standard 18-2012, 2013. </a:t>
            </a:r>
          </a:p>
          <a:p>
            <a:r>
              <a:rPr lang="en-US" b="1" dirty="0"/>
              <a:t>Theses/Dissertations </a:t>
            </a:r>
            <a:endParaRPr lang="en-US" dirty="0"/>
          </a:p>
          <a:p>
            <a:r>
              <a:rPr lang="en-US" dirty="0"/>
              <a:t>[Ref number] Author’s initials. Author’s Surname, “Title of thesis,” Designation type, Abbrev. Dept., Abbrev. Univ., City of Univ., State, Year. </a:t>
            </a:r>
          </a:p>
          <a:p>
            <a:r>
              <a:rPr lang="en-US" dirty="0"/>
              <a:t>[10] J. O. Williams, “Narrow-band </a:t>
            </a:r>
            <a:r>
              <a:rPr lang="en-US" dirty="0" err="1"/>
              <a:t>analyser</a:t>
            </a:r>
            <a:r>
              <a:rPr lang="en-US" dirty="0"/>
              <a:t>,” Ph.D. dissertation, Dept. Elect. Eng., Harvard Univ., Cambridge, MA, 1993. </a:t>
            </a:r>
          </a:p>
        </p:txBody>
      </p:sp>
    </p:spTree>
    <p:extLst>
      <p:ext uri="{BB962C8B-B14F-4D97-AF65-F5344CB8AC3E}">
        <p14:creationId xmlns:p14="http://schemas.microsoft.com/office/powerpoint/2010/main" val="389180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examples</a:t>
            </a:r>
          </a:p>
        </p:txBody>
      </p:sp>
      <p:sp>
        <p:nvSpPr>
          <p:cNvPr id="3" name="Content Placeholder 2"/>
          <p:cNvSpPr>
            <a:spLocks noGrp="1"/>
          </p:cNvSpPr>
          <p:nvPr>
            <p:ph sz="quarter" idx="1"/>
          </p:nvPr>
        </p:nvSpPr>
        <p:spPr/>
        <p:txBody>
          <a:bodyPr>
            <a:normAutofit fontScale="70000" lnSpcReduction="20000"/>
          </a:bodyPr>
          <a:lstStyle/>
          <a:p>
            <a:r>
              <a:rPr lang="en-US" b="1" dirty="0"/>
              <a:t>Datasheets </a:t>
            </a:r>
            <a:endParaRPr lang="en-US" dirty="0"/>
          </a:p>
          <a:p>
            <a:r>
              <a:rPr lang="en-US" dirty="0"/>
              <a:t>[Ref number] Author’s initials. Authors Surname, “Title of Datasheet,” Part datasheet, Publication date [Latest revision date]. </a:t>
            </a:r>
          </a:p>
          <a:p>
            <a:r>
              <a:rPr lang="en-US" dirty="0"/>
              <a:t>[11] Texas Instruments, “High speed CMOS logic analog multiplexers/</a:t>
            </a:r>
            <a:r>
              <a:rPr lang="en-US" dirty="0" err="1"/>
              <a:t>demultiplexers</a:t>
            </a:r>
            <a:r>
              <a:rPr lang="en-US" dirty="0"/>
              <a:t>,” 74HC4051 datasheet, Nov. 1997 </a:t>
            </a:r>
          </a:p>
          <a:p>
            <a:r>
              <a:rPr lang="en-US" dirty="0"/>
              <a:t>[Revised Sept. 2002]. </a:t>
            </a:r>
          </a:p>
          <a:p>
            <a:r>
              <a:rPr lang="en-US" b="1" dirty="0"/>
              <a:t>Online Documents </a:t>
            </a:r>
            <a:endParaRPr lang="en-US" dirty="0"/>
          </a:p>
          <a:p>
            <a:r>
              <a:rPr lang="en-US" dirty="0"/>
              <a:t>If you are using documents such as a report, conference paper, standard, patent or thesis online and it also exists as an identical print equivalent i.e. with the same format and pagination, it can be usually be referenced as the print version. </a:t>
            </a:r>
          </a:p>
          <a:p>
            <a:r>
              <a:rPr lang="en-US" dirty="0"/>
              <a:t>If it is e-only, you can make the standard reference template an electronic version by adding the material type in square brackets e.g. [Online] after the document title. If there is no specific document title you can place this after the document number (e.g. patent number). </a:t>
            </a:r>
          </a:p>
          <a:p>
            <a:r>
              <a:rPr lang="en-US" dirty="0"/>
              <a:t>At the end of the reference add: Available: URL. See below for an example of an online patent: </a:t>
            </a:r>
          </a:p>
          <a:p>
            <a:r>
              <a:rPr lang="en-US" dirty="0"/>
              <a:t>[12] M.R. Brooks, “Musical toothbrush with adjustable neck and mirror,” U.S Patent </a:t>
            </a:r>
            <a:r>
              <a:rPr lang="en-US" i="1" dirty="0"/>
              <a:t>326189 </a:t>
            </a:r>
            <a:r>
              <a:rPr lang="en-US" dirty="0"/>
              <a:t>[Online], May 19 1992. Available: http://goo.gl/VU1WEk </a:t>
            </a:r>
          </a:p>
        </p:txBody>
      </p:sp>
    </p:spTree>
    <p:extLst>
      <p:ext uri="{BB962C8B-B14F-4D97-AF65-F5344CB8AC3E}">
        <p14:creationId xmlns:p14="http://schemas.microsoft.com/office/powerpoint/2010/main" val="3940636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examples</a:t>
            </a:r>
          </a:p>
        </p:txBody>
      </p:sp>
      <p:sp>
        <p:nvSpPr>
          <p:cNvPr id="3" name="Content Placeholder 2"/>
          <p:cNvSpPr>
            <a:spLocks noGrp="1"/>
          </p:cNvSpPr>
          <p:nvPr>
            <p:ph sz="quarter" idx="1"/>
          </p:nvPr>
        </p:nvSpPr>
        <p:spPr/>
        <p:txBody>
          <a:bodyPr/>
          <a:lstStyle/>
          <a:p>
            <a:pPr lvl="0">
              <a:buClr>
                <a:srgbClr val="FE8637"/>
              </a:buClr>
            </a:pPr>
            <a:r>
              <a:rPr lang="en-US" sz="1800" b="1" dirty="0">
                <a:solidFill>
                  <a:prstClr val="black"/>
                </a:solidFill>
              </a:rPr>
              <a:t>Websites </a:t>
            </a:r>
            <a:endParaRPr lang="en-US" sz="1800" dirty="0">
              <a:solidFill>
                <a:prstClr val="black"/>
              </a:solidFill>
            </a:endParaRPr>
          </a:p>
          <a:p>
            <a:pPr lvl="0">
              <a:buClr>
                <a:srgbClr val="FE8637"/>
              </a:buClr>
            </a:pPr>
            <a:r>
              <a:rPr lang="en-US" sz="1800" dirty="0">
                <a:solidFill>
                  <a:prstClr val="black"/>
                </a:solidFill>
              </a:rPr>
              <a:t>Note: Include as much of the key information as you can find for a given website. If a web page has no personal author, you can use a corporate author. Failing that, you can use either Anon. (for anonymous) or it is permissible to use the title of the site. </a:t>
            </a:r>
          </a:p>
          <a:p>
            <a:pPr lvl="0">
              <a:buClr>
                <a:srgbClr val="FE8637"/>
              </a:buClr>
            </a:pPr>
            <a:r>
              <a:rPr lang="en-US" sz="1800" dirty="0">
                <a:solidFill>
                  <a:prstClr val="black"/>
                </a:solidFill>
              </a:rPr>
              <a:t>[Ref number] Author’s initials. Authors Surname. (Year, Month. Day). </a:t>
            </a:r>
            <a:r>
              <a:rPr lang="en-US" sz="1800" i="1" dirty="0">
                <a:solidFill>
                  <a:prstClr val="black"/>
                </a:solidFill>
              </a:rPr>
              <a:t>Title of web page </a:t>
            </a:r>
            <a:r>
              <a:rPr lang="en-US" sz="1800" dirty="0">
                <a:solidFill>
                  <a:prstClr val="black"/>
                </a:solidFill>
              </a:rPr>
              <a:t>[Online]. Available: URL </a:t>
            </a:r>
          </a:p>
          <a:p>
            <a:pPr lvl="0">
              <a:buClr>
                <a:srgbClr val="FE8637"/>
              </a:buClr>
            </a:pPr>
            <a:r>
              <a:rPr lang="en-US" sz="1800" dirty="0">
                <a:solidFill>
                  <a:prstClr val="black"/>
                </a:solidFill>
              </a:rPr>
              <a:t>[13] BBC News. (2013, Nov. 11). </a:t>
            </a:r>
            <a:r>
              <a:rPr lang="en-US" sz="1800" i="1" dirty="0">
                <a:solidFill>
                  <a:prstClr val="black"/>
                </a:solidFill>
              </a:rPr>
              <a:t>Microwave signals turned into electrical power </a:t>
            </a:r>
            <a:r>
              <a:rPr lang="en-US" sz="1800" dirty="0">
                <a:solidFill>
                  <a:prstClr val="black"/>
                </a:solidFill>
              </a:rPr>
              <a:t>[Online]. Available: http://www.bbc.co.uk/news/technology-24897584 </a:t>
            </a:r>
          </a:p>
          <a:p>
            <a:pPr lvl="0">
              <a:buClr>
                <a:srgbClr val="FE8637"/>
              </a:buClr>
            </a:pPr>
            <a:r>
              <a:rPr lang="en-US" sz="1800" dirty="0">
                <a:solidFill>
                  <a:prstClr val="black"/>
                </a:solidFill>
              </a:rPr>
              <a:t>[14] M. Holland. (2002). </a:t>
            </a:r>
            <a:r>
              <a:rPr lang="en-US" sz="1800" i="1" dirty="0">
                <a:solidFill>
                  <a:prstClr val="black"/>
                </a:solidFill>
              </a:rPr>
              <a:t>Guide to citing internet sources </a:t>
            </a:r>
            <a:r>
              <a:rPr lang="en-US" sz="1800" dirty="0">
                <a:solidFill>
                  <a:prstClr val="black"/>
                </a:solidFill>
              </a:rPr>
              <a:t>[Online]. Available: http://www.bournemouth.ac.uk/library/using/guide_to_citing_internet_sourc.html </a:t>
            </a:r>
          </a:p>
          <a:p>
            <a:endParaRPr lang="en-US" dirty="0"/>
          </a:p>
        </p:txBody>
      </p:sp>
    </p:spTree>
    <p:extLst>
      <p:ext uri="{BB962C8B-B14F-4D97-AF65-F5344CB8AC3E}">
        <p14:creationId xmlns:p14="http://schemas.microsoft.com/office/powerpoint/2010/main" val="1088463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examples</a:t>
            </a:r>
          </a:p>
        </p:txBody>
      </p:sp>
      <p:sp>
        <p:nvSpPr>
          <p:cNvPr id="3" name="Content Placeholder 2"/>
          <p:cNvSpPr>
            <a:spLocks noGrp="1"/>
          </p:cNvSpPr>
          <p:nvPr>
            <p:ph sz="quarter" idx="1"/>
          </p:nvPr>
        </p:nvSpPr>
        <p:spPr/>
        <p:txBody>
          <a:bodyPr/>
          <a:lstStyle/>
          <a:p>
            <a:r>
              <a:rPr lang="en-US" dirty="0"/>
              <a:t>This referencing style sheet is to be used in conjunction with the Library’s general </a:t>
            </a:r>
            <a:endParaRPr lang="en-US" dirty="0" smtClean="0"/>
          </a:p>
          <a:p>
            <a:r>
              <a:rPr lang="en-US" dirty="0" smtClean="0"/>
              <a:t>IEEE </a:t>
            </a:r>
            <a:r>
              <a:rPr lang="en-US" dirty="0"/>
              <a:t>style is used mainly in Electronic and Electrical Engineering and Computer Science. This style sheet gives general guidelines based on the IEEE’s citation and referencing guide: https://www.ieee.org/documents/ieeecitationref.pdf</a:t>
            </a:r>
          </a:p>
        </p:txBody>
      </p:sp>
    </p:spTree>
    <p:extLst>
      <p:ext uri="{BB962C8B-B14F-4D97-AF65-F5344CB8AC3E}">
        <p14:creationId xmlns:p14="http://schemas.microsoft.com/office/powerpoint/2010/main" val="3007739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End</a:t>
            </a:r>
            <a:endParaRPr lang="en-US" dirty="0"/>
          </a:p>
        </p:txBody>
      </p:sp>
      <p:sp>
        <p:nvSpPr>
          <p:cNvPr id="3" name="Content Placeholder 2"/>
          <p:cNvSpPr>
            <a:spLocks noGrp="1"/>
          </p:cNvSpPr>
          <p:nvPr>
            <p:ph sz="quarter" idx="1"/>
          </p:nvPr>
        </p:nvSpPr>
        <p:spPr/>
        <p:txBody>
          <a:bodyPr/>
          <a:lstStyle/>
          <a:p>
            <a:pPr marL="0" indent="0" algn="ctr">
              <a:buNone/>
            </a:pPr>
            <a:r>
              <a:rPr lang="en-US" sz="6000" b="1" dirty="0" smtClean="0"/>
              <a:t>Thank You</a:t>
            </a:r>
          </a:p>
          <a:p>
            <a:endParaRPr lang="en-US" dirty="0"/>
          </a:p>
          <a:p>
            <a:endParaRPr lang="en-US" dirty="0" smtClean="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743200"/>
            <a:ext cx="3810000" cy="387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22737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1_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1657</Words>
  <Application>Microsoft Office PowerPoint</Application>
  <PresentationFormat>On-screen Show (4:3)</PresentationFormat>
  <Paragraphs>82</Paragraphs>
  <Slides>12</Slides>
  <Notes>0</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Oriel</vt:lpstr>
      <vt:lpstr>1_Oriel</vt:lpstr>
      <vt:lpstr>Thesis writing guidelines</vt:lpstr>
      <vt:lpstr>IEEE Referencing Style Sheet</vt:lpstr>
      <vt:lpstr>Citations</vt:lpstr>
      <vt:lpstr>Citations/references with multiple authors</vt:lpstr>
      <vt:lpstr>Reference examples</vt:lpstr>
      <vt:lpstr>Reference examples</vt:lpstr>
      <vt:lpstr>Reference examples</vt:lpstr>
      <vt:lpstr>Reference examples</vt:lpstr>
      <vt:lpstr>Reference examples</vt:lpstr>
      <vt:lpstr>Reference examples</vt:lpstr>
      <vt:lpstr>Reference examples</vt:lpstr>
      <vt:lpstr>The End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design project</dc:title>
  <dc:creator>Arif Mahmud</dc:creator>
  <cp:lastModifiedBy>Arif Mahmud</cp:lastModifiedBy>
  <cp:revision>8</cp:revision>
  <dcterms:created xsi:type="dcterms:W3CDTF">2006-08-16T00:00:00Z</dcterms:created>
  <dcterms:modified xsi:type="dcterms:W3CDTF">2025-03-02T11:41:18Z</dcterms:modified>
</cp:coreProperties>
</file>