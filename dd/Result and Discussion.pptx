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70" r:id="rId3"/>
    <p:sldId id="262" r:id="rId4"/>
    <p:sldId id="263" r:id="rId5"/>
    <p:sldId id="264" r:id="rId6"/>
    <p:sldId id="266" r:id="rId7"/>
    <p:sldId id="267" r:id="rId8"/>
    <p:sldId id="265" r:id="rId9"/>
    <p:sldId id="269" r:id="rId10"/>
    <p:sldId id="26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30/1/2025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347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30/1/2025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132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FFF39D"/>
                </a:solidFill>
              </a:rPr>
              <a:pPr/>
              <a:t>30/1/2025</a:t>
            </a:fld>
            <a:endParaRPr lang="en-US">
              <a:solidFill>
                <a:srgbClr val="FFF39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>
              <a:solidFill>
                <a:srgbClr val="FFF39D"/>
              </a:solidFill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8032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30/1/2025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58757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30/1/2025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8806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30/1/2025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191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30/1/2025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59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30/1/2025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276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30/1/2025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766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30/1/2025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39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30/1/2025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73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30/1/2025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227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30/1/2025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331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FFF39D"/>
                </a:solidFill>
              </a:rPr>
              <a:pPr/>
              <a:t>30/1/2025</a:t>
            </a:fld>
            <a:endParaRPr lang="en-US">
              <a:solidFill>
                <a:srgbClr val="FFF39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>
              <a:solidFill>
                <a:srgbClr val="FFF39D"/>
              </a:solidFill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805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30/1/2025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012846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30/1/2025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3357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30/1/2025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64865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30/1/2025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337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30/1/2025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071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30/1/2025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2426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30/1/2025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715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30/1/2025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245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30/1/2025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8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30/1/2025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66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Thesis writing guidelines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629400" cy="1371600"/>
          </a:xfrm>
        </p:spPr>
        <p:txBody>
          <a:bodyPr>
            <a:normAutofit/>
          </a:bodyPr>
          <a:lstStyle/>
          <a:p>
            <a:r>
              <a:rPr lang="en-US" dirty="0" smtClean="0"/>
              <a:t>Dr. </a:t>
            </a:r>
            <a:r>
              <a:rPr lang="en-US" dirty="0" err="1" smtClean="0"/>
              <a:t>Arif</a:t>
            </a:r>
            <a:r>
              <a:rPr lang="en-US" dirty="0" smtClean="0"/>
              <a:t> Mahmud</a:t>
            </a:r>
          </a:p>
          <a:p>
            <a:r>
              <a:rPr lang="en-US" dirty="0" smtClean="0"/>
              <a:t>Associate Professor &amp; </a:t>
            </a:r>
            <a:r>
              <a:rPr lang="en-US" dirty="0" smtClean="0"/>
              <a:t>Associate Head</a:t>
            </a:r>
            <a:endParaRPr lang="en-US" dirty="0" smtClean="0"/>
          </a:p>
          <a:p>
            <a:r>
              <a:rPr lang="en-US" dirty="0" smtClean="0"/>
              <a:t>Department of CSE, Daffodil International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051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vs. discussion vs.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In the results section, the data are presented simply and objectively. No speculation or interpretation is given.</a:t>
            </a:r>
          </a:p>
          <a:p>
            <a:pPr algn="just"/>
            <a:r>
              <a:rPr lang="en-US" dirty="0"/>
              <a:t>In the discussion section, the meaning of the results is interpreted and put into context (e.g., compared with other findings in the literature), and its importance is assigned.</a:t>
            </a:r>
          </a:p>
          <a:p>
            <a:pPr algn="just"/>
            <a:r>
              <a:rPr lang="en-US" dirty="0"/>
              <a:t>In the conclusion section, the results and the main </a:t>
            </a:r>
            <a:r>
              <a:rPr lang="en-US" dirty="0" smtClean="0"/>
              <a:t>conclusion </a:t>
            </a:r>
            <a:r>
              <a:rPr lang="en-US" dirty="0"/>
              <a:t>are </a:t>
            </a:r>
            <a:r>
              <a:rPr lang="en-US" dirty="0" smtClean="0"/>
              <a:t>summarized and ensure that objectives are fulfilled.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408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r>
              <a:rPr lang="en-US" dirty="0"/>
              <a:t>discussion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143000"/>
            <a:ext cx="7391399" cy="533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5717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 in brief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Summary: A brief recap of your key results</a:t>
            </a:r>
          </a:p>
          <a:p>
            <a:r>
              <a:rPr lang="en-US" dirty="0"/>
              <a:t>Interpretations: What do your results mean?</a:t>
            </a:r>
          </a:p>
          <a:p>
            <a:r>
              <a:rPr lang="en-US" dirty="0"/>
              <a:t>Implications: Why do your results matter?</a:t>
            </a:r>
          </a:p>
          <a:p>
            <a:r>
              <a:rPr lang="en-US" dirty="0"/>
              <a:t>Limitations: What can’t your results tell us?</a:t>
            </a:r>
          </a:p>
          <a:p>
            <a:r>
              <a:rPr lang="en-US" dirty="0"/>
              <a:t>Recommendations: Avenues for further studies or analyses</a:t>
            </a:r>
          </a:p>
        </p:txBody>
      </p:sp>
    </p:spTree>
    <p:extLst>
      <p:ext uri="{BB962C8B-B14F-4D97-AF65-F5344CB8AC3E}">
        <p14:creationId xmlns:p14="http://schemas.microsoft.com/office/powerpoint/2010/main" val="2743734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Step 1: Restate your research problem and research </a:t>
            </a:r>
            <a:r>
              <a:rPr lang="en-US" dirty="0" smtClean="0"/>
              <a:t>questions</a:t>
            </a:r>
          </a:p>
          <a:p>
            <a:r>
              <a:rPr lang="en-US" dirty="0"/>
              <a:t>Step 2: </a:t>
            </a:r>
            <a:r>
              <a:rPr lang="en-US" dirty="0" smtClean="0"/>
              <a:t>Summarize </a:t>
            </a:r>
            <a:r>
              <a:rPr lang="en-US" dirty="0"/>
              <a:t>your key </a:t>
            </a:r>
            <a:r>
              <a:rPr lang="en-US" dirty="0" smtClean="0"/>
              <a:t>findings</a:t>
            </a:r>
          </a:p>
          <a:p>
            <a:pPr marL="0" indent="0" fontAlgn="base">
              <a:buNone/>
            </a:pPr>
            <a:r>
              <a:rPr lang="en-US" dirty="0" smtClean="0"/>
              <a:t>	The </a:t>
            </a:r>
            <a:r>
              <a:rPr lang="en-US" dirty="0"/>
              <a:t>data suggest that…</a:t>
            </a:r>
          </a:p>
          <a:p>
            <a:pPr marL="0" indent="0" fontAlgn="base">
              <a:buNone/>
            </a:pPr>
            <a:r>
              <a:rPr lang="en-US" dirty="0" smtClean="0"/>
              <a:t>	The </a:t>
            </a:r>
            <a:r>
              <a:rPr lang="en-US" dirty="0"/>
              <a:t>data support/oppose the theory that…</a:t>
            </a:r>
          </a:p>
          <a:p>
            <a:pPr marL="0" indent="0" fontAlgn="base">
              <a:buNone/>
            </a:pPr>
            <a:r>
              <a:rPr lang="en-US" dirty="0" smtClean="0"/>
              <a:t>	The </a:t>
            </a:r>
            <a:r>
              <a:rPr lang="en-US" dirty="0"/>
              <a:t>analysis </a:t>
            </a:r>
            <a:r>
              <a:rPr lang="en-US" dirty="0" smtClean="0"/>
              <a:t>identifies…</a:t>
            </a:r>
          </a:p>
          <a:p>
            <a:pPr marL="0" indent="0" fontAlgn="base">
              <a:buNone/>
            </a:pPr>
            <a:r>
              <a:rPr lang="en-US" dirty="0" smtClean="0"/>
              <a:t>Step </a:t>
            </a:r>
            <a:r>
              <a:rPr lang="en-US" dirty="0"/>
              <a:t>3: Interpret your results</a:t>
            </a:r>
          </a:p>
          <a:p>
            <a:pPr marL="0" indent="0">
              <a:buNone/>
            </a:pPr>
            <a:r>
              <a:rPr lang="en-US" dirty="0" smtClean="0"/>
              <a:t>	How </a:t>
            </a:r>
            <a:r>
              <a:rPr lang="en-US" dirty="0"/>
              <a:t>do your results relate with those of previous studies?</a:t>
            </a:r>
          </a:p>
          <a:p>
            <a:pPr marL="0" indent="0">
              <a:buNone/>
            </a:pPr>
            <a:r>
              <a:rPr lang="en-US" dirty="0" smtClean="0"/>
              <a:t>	If </a:t>
            </a:r>
            <a:r>
              <a:rPr lang="en-US" dirty="0"/>
              <a:t>you get results that differ from those of previous studies, why may this be the case?</a:t>
            </a:r>
          </a:p>
          <a:p>
            <a:pPr marL="0" indent="0">
              <a:buNone/>
            </a:pPr>
            <a:r>
              <a:rPr lang="en-US" dirty="0" smtClean="0"/>
              <a:t>	What </a:t>
            </a:r>
            <a:r>
              <a:rPr lang="en-US" dirty="0"/>
              <a:t>do your results contribute to your field of research?</a:t>
            </a:r>
          </a:p>
          <a:p>
            <a:pPr marL="0" indent="0">
              <a:buNone/>
            </a:pPr>
            <a:r>
              <a:rPr lang="en-US" dirty="0" smtClean="0"/>
              <a:t>	What </a:t>
            </a:r>
            <a:r>
              <a:rPr lang="en-US" dirty="0"/>
              <a:t>other explanations could there be for your findings?</a:t>
            </a:r>
          </a:p>
        </p:txBody>
      </p:sp>
    </p:spTree>
    <p:extLst>
      <p:ext uri="{BB962C8B-B14F-4D97-AF65-F5344CB8AC3E}">
        <p14:creationId xmlns:p14="http://schemas.microsoft.com/office/powerpoint/2010/main" val="3587647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96200" cy="487375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Step 4: Acknowledge the limitations of your </a:t>
            </a:r>
            <a:r>
              <a:rPr lang="en-US" dirty="0" smtClean="0"/>
              <a:t>study</a:t>
            </a:r>
          </a:p>
          <a:p>
            <a:r>
              <a:rPr lang="en-US" dirty="0"/>
              <a:t>Step 5: Make recommendations for implementation and future </a:t>
            </a:r>
            <a:r>
              <a:rPr lang="en-US" dirty="0" smtClean="0"/>
              <a:t>research</a:t>
            </a:r>
          </a:p>
          <a:p>
            <a:r>
              <a:rPr lang="en-US" dirty="0"/>
              <a:t>Step 6:Deliberate the </a:t>
            </a:r>
            <a:r>
              <a:rPr lang="en-US" dirty="0" smtClean="0"/>
              <a:t>implications</a:t>
            </a:r>
          </a:p>
          <a:p>
            <a:pPr marL="0" indent="0">
              <a:buNone/>
            </a:pPr>
            <a:r>
              <a:rPr lang="en-US" dirty="0" smtClean="0"/>
              <a:t>	1</a:t>
            </a:r>
            <a:r>
              <a:rPr lang="en-US" dirty="0"/>
              <a:t>) Do your findings support or refute the extant research? What new contributions do they add to the existing knowledge?</a:t>
            </a:r>
          </a:p>
          <a:p>
            <a:pPr marL="0" indent="0">
              <a:buNone/>
            </a:pPr>
            <a:r>
              <a:rPr lang="en-US" dirty="0" smtClean="0"/>
              <a:t>	2</a:t>
            </a:r>
            <a:r>
              <a:rPr lang="en-US" dirty="0"/>
              <a:t>) Are there any substantial differences between your results and those of other studies? Suppose they are. What would be the reason?</a:t>
            </a:r>
          </a:p>
          <a:p>
            <a:pPr marL="0" indent="0">
              <a:buNone/>
            </a:pPr>
            <a:r>
              <a:rPr lang="en-US" dirty="0" smtClean="0"/>
              <a:t>	3</a:t>
            </a:r>
            <a:r>
              <a:rPr lang="en-US" dirty="0"/>
              <a:t>) Do your findings uphold or refute the extant theories?</a:t>
            </a:r>
          </a:p>
          <a:p>
            <a:pPr marL="0" indent="0">
              <a:buNone/>
            </a:pPr>
            <a:r>
              <a:rPr lang="en-US" dirty="0" smtClean="0"/>
              <a:t>	4</a:t>
            </a:r>
            <a:r>
              <a:rPr lang="en-US" dirty="0"/>
              <a:t>) What would you say about the practical implications of your results?</a:t>
            </a:r>
          </a:p>
          <a:p>
            <a:endParaRPr lang="en-US" dirty="0"/>
          </a:p>
          <a:p>
            <a:r>
              <a:rPr lang="en-US" dirty="0" smtClean="0"/>
              <a:t>Step 7: </a:t>
            </a:r>
            <a:r>
              <a:rPr lang="en-US" dirty="0"/>
              <a:t>Provide a concluding summary: </a:t>
            </a:r>
            <a:r>
              <a:rPr lang="en-US" dirty="0" smtClean="0"/>
              <a:t>confirm that this </a:t>
            </a:r>
            <a:r>
              <a:rPr lang="en-US" dirty="0"/>
              <a:t>section flows well from and has a strong connection to the opening section of the chapter.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228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 avoid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Don’t introduce new results: You should only discuss the data that you have already reported in your results section.</a:t>
            </a:r>
          </a:p>
          <a:p>
            <a:pPr algn="just"/>
            <a:r>
              <a:rPr lang="en-US" dirty="0"/>
              <a:t>Don’t make inflated claims: Avoid </a:t>
            </a:r>
            <a:r>
              <a:rPr lang="en-US" dirty="0" smtClean="0"/>
              <a:t>over interpretation </a:t>
            </a:r>
            <a:r>
              <a:rPr lang="en-US" dirty="0"/>
              <a:t>and speculation that isn’t directly supported by your data.</a:t>
            </a:r>
          </a:p>
          <a:p>
            <a:pPr algn="just"/>
            <a:r>
              <a:rPr lang="en-US" dirty="0"/>
              <a:t>Don’t undermine your research: The discussion of limitations should aim to strengthen your credibility, not emphasize weaknesses or failures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Tables and figures (these are usually included in the results section)</a:t>
            </a:r>
          </a:p>
        </p:txBody>
      </p:sp>
    </p:spTree>
    <p:extLst>
      <p:ext uri="{BB962C8B-B14F-4D97-AF65-F5344CB8AC3E}">
        <p14:creationId xmlns:p14="http://schemas.microsoft.com/office/powerpoint/2010/main" val="1039434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Creswell, J. W. (2014). Research Design: Qualitative, Quantitative and Mixed Methods Approaches (4th ed.). Thousand Oaks, California: Sage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Kothari, C.R. (2004). Research Methodology: Methods and Techniques (2nd ed.). Delhi: New Age International Publishers</a:t>
            </a:r>
            <a:r>
              <a:rPr lang="en-US" dirty="0" smtClean="0"/>
              <a:t>.</a:t>
            </a:r>
          </a:p>
          <a:p>
            <a:pPr algn="just"/>
            <a:r>
              <a:rPr lang="en-US" dirty="0" err="1"/>
              <a:t>Bryman</a:t>
            </a:r>
            <a:r>
              <a:rPr lang="en-US" dirty="0"/>
              <a:t>, A., &amp; Bell, E. (2007). Business research methods (2nd ed.). New York: Oxford University Press</a:t>
            </a:r>
            <a:r>
              <a:rPr lang="en-US" dirty="0" smtClean="0"/>
              <a:t>.</a:t>
            </a:r>
          </a:p>
          <a:p>
            <a:pPr algn="just"/>
            <a:r>
              <a:rPr lang="en-US" dirty="0" err="1"/>
              <a:t>Sekaran</a:t>
            </a:r>
            <a:r>
              <a:rPr lang="en-US" dirty="0"/>
              <a:t>, U. (2003). Research methods for business: A skill-building approach (4th ed.). New York: John Wiley &amp; Sons.</a:t>
            </a:r>
          </a:p>
        </p:txBody>
      </p:sp>
    </p:spTree>
    <p:extLst>
      <p:ext uri="{BB962C8B-B14F-4D97-AF65-F5344CB8AC3E}">
        <p14:creationId xmlns:p14="http://schemas.microsoft.com/office/powerpoint/2010/main" val="2422649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End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6000" b="1" dirty="0" smtClean="0"/>
              <a:t>Thank You</a:t>
            </a:r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743200"/>
            <a:ext cx="3810000" cy="387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44258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1704</TotalTime>
  <Words>376</Words>
  <Application>Microsoft Office PowerPoint</Application>
  <PresentationFormat>On-screen Show (4:3)</PresentationFormat>
  <Paragraphs>48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Oriel</vt:lpstr>
      <vt:lpstr>1_Oriel</vt:lpstr>
      <vt:lpstr>Thesis writing guidelines</vt:lpstr>
      <vt:lpstr>Results vs. discussion vs. conclusion</vt:lpstr>
      <vt:lpstr>discussion</vt:lpstr>
      <vt:lpstr>Discussion in brief</vt:lpstr>
      <vt:lpstr>Steps</vt:lpstr>
      <vt:lpstr>Steps</vt:lpstr>
      <vt:lpstr>To avoid</vt:lpstr>
      <vt:lpstr>Further Resources</vt:lpstr>
      <vt:lpstr>The End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design project</dc:title>
  <dc:creator>Arif Mahmud</dc:creator>
  <cp:lastModifiedBy>Arif Mahmud</cp:lastModifiedBy>
  <cp:revision>43</cp:revision>
  <dcterms:created xsi:type="dcterms:W3CDTF">2006-08-16T00:00:00Z</dcterms:created>
  <dcterms:modified xsi:type="dcterms:W3CDTF">2025-01-30T12:54:51Z</dcterms:modified>
</cp:coreProperties>
</file>