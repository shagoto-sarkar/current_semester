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sldIdLst>
    <p:sldId id="272" r:id="rId3"/>
    <p:sldId id="267" r:id="rId4"/>
    <p:sldId id="264" r:id="rId5"/>
    <p:sldId id="265" r:id="rId6"/>
    <p:sldId id="266" r:id="rId7"/>
    <p:sldId id="262" r:id="rId8"/>
    <p:sldId id="268" r:id="rId9"/>
    <p:sldId id="269" r:id="rId10"/>
    <p:sldId id="263" r:id="rId11"/>
    <p:sldId id="270" r:id="rId12"/>
    <p:sldId id="271" r:id="rId13"/>
    <p:sldId id="261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10/6/2025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>
              <a:solidFill>
                <a:srgbClr val="575F6D"/>
              </a:solidFill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3477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10/6/2025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>
              <a:solidFill>
                <a:srgbClr val="575F6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9132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FFF39D"/>
                </a:solidFill>
              </a:rPr>
              <a:pPr/>
              <a:t>10/6/2025</a:t>
            </a:fld>
            <a:endParaRPr lang="en-US">
              <a:solidFill>
                <a:srgbClr val="FFF39D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>
              <a:solidFill>
                <a:srgbClr val="FFF39D"/>
              </a:solidFill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8032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10/6/2025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575F6D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858757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10/6/2025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575F6D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8806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10/6/2025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>
              <a:solidFill>
                <a:srgbClr val="575F6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8191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10/6/2025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575F6D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059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10/6/2025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>
              <a:solidFill>
                <a:srgbClr val="575F6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32762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10/6/2025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>
              <a:solidFill>
                <a:srgbClr val="575F6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7766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10/6/2025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575F6D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739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10/6/2025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575F6D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737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10/6/2025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>
              <a:solidFill>
                <a:srgbClr val="575F6D"/>
              </a:solidFill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4227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10/6/2025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>
              <a:solidFill>
                <a:srgbClr val="575F6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33313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FFF39D"/>
                </a:solidFill>
              </a:rPr>
              <a:pPr/>
              <a:t>10/6/2025</a:t>
            </a:fld>
            <a:endParaRPr lang="en-US">
              <a:solidFill>
                <a:srgbClr val="FFF39D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>
              <a:solidFill>
                <a:srgbClr val="FFF39D"/>
              </a:solidFill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8055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10/6/2025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575F6D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0128463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10/6/2025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575F6D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3357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10/6/2025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>
              <a:solidFill>
                <a:srgbClr val="575F6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64865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10/6/2025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575F6D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5337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10/6/2025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>
              <a:solidFill>
                <a:srgbClr val="575F6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00712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10/6/2025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>
              <a:solidFill>
                <a:srgbClr val="575F6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02426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10/6/2025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575F6D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3715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10/6/2025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575F6D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245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10/6/2025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rgbClr val="575F6D"/>
              </a:solidFill>
            </a:endParaRPr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48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>
                <a:solidFill>
                  <a:srgbClr val="575F6D"/>
                </a:solidFill>
              </a:rPr>
              <a:pPr/>
              <a:t>10/6/2025</a:t>
            </a:fld>
            <a:endParaRPr lang="en-US">
              <a:solidFill>
                <a:srgbClr val="575F6D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rgbClr val="575F6D"/>
              </a:solidFill>
            </a:endParaRPr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662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scholarcommons.usf.edu/cgi/viewcontent.cgi?article=1002&amp;context=oa_textbooks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629400" cy="1371600"/>
          </a:xfrm>
        </p:spPr>
        <p:txBody>
          <a:bodyPr>
            <a:normAutofit/>
          </a:bodyPr>
          <a:lstStyle/>
          <a:p>
            <a:r>
              <a:rPr lang="en-US" dirty="0"/>
              <a:t>Dr. </a:t>
            </a:r>
            <a:r>
              <a:rPr lang="en-US" dirty="0" err="1"/>
              <a:t>Arif</a:t>
            </a:r>
            <a:r>
              <a:rPr lang="en-US" dirty="0"/>
              <a:t> Mahmud</a:t>
            </a:r>
          </a:p>
          <a:p>
            <a:r>
              <a:rPr lang="en-US" dirty="0"/>
              <a:t>Associate Professor &amp; Associate Head</a:t>
            </a:r>
          </a:p>
          <a:p>
            <a:r>
              <a:rPr lang="en-US" dirty="0"/>
              <a:t>Department of CSE, Daffodil International University</a:t>
            </a:r>
          </a:p>
        </p:txBody>
      </p:sp>
    </p:spTree>
    <p:extLst>
      <p:ext uri="{BB962C8B-B14F-4D97-AF65-F5344CB8AC3E}">
        <p14:creationId xmlns:p14="http://schemas.microsoft.com/office/powerpoint/2010/main" val="2240051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err="1"/>
              <a:t>Schwardt</a:t>
            </a:r>
            <a:r>
              <a:rPr lang="en-US" dirty="0"/>
              <a:t> (2007:195) defines research methodology as a theory of how an inquiry should proceed. It involves analysis of the assumptions, principles and procedures in a particular approach to inquiry. According to Creswell and </a:t>
            </a:r>
            <a:r>
              <a:rPr lang="en-US" dirty="0" err="1"/>
              <a:t>Tashakkori</a:t>
            </a:r>
            <a:r>
              <a:rPr lang="en-US" dirty="0"/>
              <a:t> (2007), and </a:t>
            </a:r>
            <a:r>
              <a:rPr lang="en-US" dirty="0" err="1"/>
              <a:t>Teddlie</a:t>
            </a:r>
            <a:r>
              <a:rPr lang="en-US" dirty="0"/>
              <a:t> and </a:t>
            </a:r>
            <a:r>
              <a:rPr lang="en-US" dirty="0" err="1"/>
              <a:t>Tashakkori</a:t>
            </a:r>
            <a:r>
              <a:rPr lang="en-US" dirty="0"/>
              <a:t> (2007), methodologies explicate and define the kinds of problems that are worth investigating; what constitutes a researchable problem; testable hypotheses; how to frame a problem in such a way that it can be investigated using particular designs and procedures; and how to select and develop appropriate means of collecting data. </a:t>
            </a:r>
          </a:p>
        </p:txBody>
      </p:sp>
    </p:spTree>
    <p:extLst>
      <p:ext uri="{BB962C8B-B14F-4D97-AF65-F5344CB8AC3E}">
        <p14:creationId xmlns:p14="http://schemas.microsoft.com/office/powerpoint/2010/main" val="2332448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dirty="0"/>
              <a:t>It is the part of the proposal or research paper that describes the methods used to collect the data</a:t>
            </a:r>
          </a:p>
          <a:p>
            <a:pPr algn="just"/>
            <a:r>
              <a:rPr lang="en-US" dirty="0"/>
              <a:t>It follows the introduction and literature review</a:t>
            </a:r>
          </a:p>
          <a:p>
            <a:pPr algn="just"/>
            <a:r>
              <a:rPr lang="en-US" dirty="0"/>
              <a:t>It allows the reader to understand how the data were analyzed, and to judge for himself if the methods were justified</a:t>
            </a:r>
          </a:p>
          <a:p>
            <a:pPr algn="just"/>
            <a:r>
              <a:rPr lang="en-US" dirty="0"/>
              <a:t>It should be detailed enough for a good researcher to be able to replicate the study from reading the method section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164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sections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Participants: Who was in the study</a:t>
            </a:r>
          </a:p>
          <a:p>
            <a:r>
              <a:rPr lang="en-US" dirty="0"/>
              <a:t>Procedure: What happened in the study</a:t>
            </a:r>
          </a:p>
          <a:p>
            <a:r>
              <a:rPr lang="en-US" dirty="0"/>
              <a:t>Measures/Materials: What measures were used—like surveys Or what materials—like special lab equipment</a:t>
            </a:r>
          </a:p>
          <a:p>
            <a:r>
              <a:rPr lang="en-US" dirty="0"/>
              <a:t>Analysis section: Describes the statistical analysis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9183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15962"/>
          </a:xfrm>
        </p:spPr>
        <p:txBody>
          <a:bodyPr/>
          <a:lstStyle/>
          <a:p>
            <a:r>
              <a:rPr lang="en-US" dirty="0"/>
              <a:t>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066800"/>
            <a:ext cx="7467600" cy="5407152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066800"/>
            <a:ext cx="6400800" cy="531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10829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Approach</a:t>
            </a:r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295400"/>
            <a:ext cx="7848600" cy="5178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7409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include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dirty="0"/>
              <a:t>An outline of the research methods chosen (qualitative, quantitative, or mixed methods)</a:t>
            </a:r>
          </a:p>
          <a:p>
            <a:pPr algn="just"/>
            <a:r>
              <a:rPr lang="en-US" dirty="0"/>
              <a:t>Background and rationale for the methods chosen, explaining why one method was chosen over another</a:t>
            </a:r>
          </a:p>
          <a:p>
            <a:pPr algn="just"/>
            <a:r>
              <a:rPr lang="en-US" dirty="0"/>
              <a:t>Methods used for data collection and data analysis</a:t>
            </a:r>
          </a:p>
          <a:p>
            <a:pPr algn="just"/>
            <a:r>
              <a:rPr lang="en-US" dirty="0"/>
              <a:t>Materials and equipment used—keep this brief</a:t>
            </a:r>
          </a:p>
          <a:p>
            <a:pPr algn="just"/>
            <a:r>
              <a:rPr lang="en-US" dirty="0"/>
              <a:t>Difficulties encountered during data collection and analysis. </a:t>
            </a:r>
          </a:p>
          <a:p>
            <a:pPr algn="just"/>
            <a:r>
              <a:rPr lang="en-US" dirty="0"/>
              <a:t>A brief evaluation of your research explaining whether your results were conclusive and whether your choice of methodology was effective in practice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14096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avoid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dirty="0"/>
              <a:t>Irrelevant details, for example, an extensive review of methodologies (this belongs in the literature review section) or information that does not contribute to the readers’ understanding of your chosen methods</a:t>
            </a:r>
          </a:p>
          <a:p>
            <a:pPr algn="just"/>
            <a:r>
              <a:rPr lang="en-US" dirty="0"/>
              <a:t>A description of basic procedures</a:t>
            </a:r>
          </a:p>
          <a:p>
            <a:pPr algn="just"/>
            <a:r>
              <a:rPr lang="en-US" dirty="0"/>
              <a:t>Excessive details about materials and equipment used. If an extremely long and detailed list is necessary, add it as an appendix</a:t>
            </a:r>
          </a:p>
          <a:p>
            <a:pPr algn="just"/>
            <a:r>
              <a:rPr lang="en-US" dirty="0"/>
              <a:t>Raw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86078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600200"/>
            <a:ext cx="7160565" cy="4873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825171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Checklist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7620000" cy="5254752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en-US" sz="3300" b="1" dirty="0"/>
              <a:t>Introduce your methodological approach</a:t>
            </a:r>
            <a:r>
              <a:rPr lang="en-US" sz="3300" dirty="0"/>
              <a:t>, for example, quantitative, qualitative, or mixed methods.</a:t>
            </a:r>
          </a:p>
          <a:p>
            <a:pPr algn="just"/>
            <a:r>
              <a:rPr lang="en-US" sz="3300" b="1" dirty="0"/>
              <a:t>Explain why your chosen approach is relevant</a:t>
            </a:r>
            <a:r>
              <a:rPr lang="en-US" sz="3300" dirty="0"/>
              <a:t> to the overall research design and how it links with your </a:t>
            </a:r>
            <a:r>
              <a:rPr lang="en-US" sz="3300" b="1" dirty="0"/>
              <a:t>thesis question.</a:t>
            </a:r>
            <a:endParaRPr lang="en-US" sz="3300" dirty="0"/>
          </a:p>
          <a:p>
            <a:pPr algn="just"/>
            <a:r>
              <a:rPr lang="en-US" sz="3300" b="1" dirty="0"/>
              <a:t>Justify your chosen method</a:t>
            </a:r>
            <a:r>
              <a:rPr lang="en-US" sz="3300" dirty="0"/>
              <a:t> and why it is more appropriate than others.</a:t>
            </a:r>
          </a:p>
          <a:p>
            <a:pPr algn="just"/>
            <a:r>
              <a:rPr lang="en-US" sz="3300" b="1" dirty="0"/>
              <a:t>Provide background information</a:t>
            </a:r>
            <a:r>
              <a:rPr lang="en-US" sz="3300" dirty="0"/>
              <a:t> on methods that may be </a:t>
            </a:r>
            <a:r>
              <a:rPr lang="en-US" sz="3300" i="1" dirty="0"/>
              <a:t>unfamiliar</a:t>
            </a:r>
            <a:r>
              <a:rPr lang="en-US" sz="3300" dirty="0"/>
              <a:t> to readers of your thesis.</a:t>
            </a:r>
          </a:p>
          <a:p>
            <a:pPr algn="just"/>
            <a:r>
              <a:rPr lang="en-US" sz="3300" b="1" dirty="0"/>
              <a:t>Introduce the tools that you will use for data collection</a:t>
            </a:r>
            <a:r>
              <a:rPr lang="en-US" sz="3300" dirty="0"/>
              <a:t>, and explain how you plan to use them (e.g., surveys, interviews, experiments, or existing data).</a:t>
            </a:r>
          </a:p>
          <a:p>
            <a:pPr algn="just"/>
            <a:r>
              <a:rPr lang="en-US" sz="3300" b="1" dirty="0"/>
              <a:t>Explain how you will analyze your results.</a:t>
            </a:r>
            <a:r>
              <a:rPr lang="en-US" sz="3300" dirty="0"/>
              <a:t> The type of analysis used depends on the methods you chose. For example, exploring theoretical perspectives to support your explanation of observed behaviors in a qualitative study or using statistical analyses in a quantitative study.</a:t>
            </a:r>
          </a:p>
          <a:p>
            <a:pPr algn="just"/>
            <a:r>
              <a:rPr lang="en-US" sz="3300" b="1" dirty="0"/>
              <a:t>Mention any research limitations.</a:t>
            </a:r>
            <a:r>
              <a:rPr lang="en-US" sz="3300" dirty="0"/>
              <a:t> Discussing the limitations justifies your choice of methodology despite the risks. It also explains under which conditions the results should be interpreted and shows that you have taken a holistic approach to your study.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614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Further reading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Sekaran</a:t>
            </a:r>
            <a:r>
              <a:rPr lang="en-US" dirty="0"/>
              <a:t>, U. (2003). Research methods for business: A skill-building approach (4th ed.). New York: John Wiley &amp; Sons.</a:t>
            </a:r>
          </a:p>
          <a:p>
            <a:r>
              <a:rPr lang="en-US" dirty="0" err="1"/>
              <a:t>Bhattacherjee</a:t>
            </a:r>
            <a:r>
              <a:rPr lang="en-US" dirty="0"/>
              <a:t>, A. (2012). Social science research: Principles, methods, and practices (2nd ed.). University of South Florida: Creative Commons Attribution. Retrieved from </a:t>
            </a:r>
            <a:r>
              <a:rPr lang="en-US" dirty="0">
                <a:hlinkClick r:id="rId2"/>
              </a:rPr>
              <a:t>https://scholarcommons.usf.edu/cgi/viewcontent.cgi?article=1002&amp;context=oa_textbooks</a:t>
            </a:r>
            <a:endParaRPr lang="en-US" dirty="0"/>
          </a:p>
          <a:p>
            <a:r>
              <a:rPr lang="en-US" dirty="0" err="1"/>
              <a:t>Bryman</a:t>
            </a:r>
            <a:r>
              <a:rPr lang="en-US" dirty="0"/>
              <a:t>, A. (2012). Social Research Methods (4th ed.), New York: Oxford University Press.</a:t>
            </a:r>
          </a:p>
          <a:p>
            <a:r>
              <a:rPr lang="en-US" dirty="0"/>
              <a:t>Creswell, J. W. (2014). Research Design: Qualitative, Quantitative and Mixed Methods Approaches (4th ed.). Thousand Oaks, California: Sage.</a:t>
            </a:r>
          </a:p>
        </p:txBody>
      </p:sp>
    </p:spTree>
    <p:extLst>
      <p:ext uri="{BB962C8B-B14F-4D97-AF65-F5344CB8AC3E}">
        <p14:creationId xmlns:p14="http://schemas.microsoft.com/office/powerpoint/2010/main" val="20807383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6000" b="1" dirty="0"/>
              <a:t>Thank You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2743200"/>
            <a:ext cx="3810000" cy="3876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5442581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1861</TotalTime>
  <Words>710</Words>
  <Application>Microsoft Office PowerPoint</Application>
  <PresentationFormat>On-screen Show (4:3)</PresentationFormat>
  <Paragraphs>46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Century Schoolbook</vt:lpstr>
      <vt:lpstr>Wingdings</vt:lpstr>
      <vt:lpstr>Wingdings 2</vt:lpstr>
      <vt:lpstr>Oriel</vt:lpstr>
      <vt:lpstr>1_Oriel</vt:lpstr>
      <vt:lpstr>Methodology</vt:lpstr>
      <vt:lpstr>Definition</vt:lpstr>
      <vt:lpstr>Methodology</vt:lpstr>
      <vt:lpstr>Methodology sections</vt:lpstr>
      <vt:lpstr>Process</vt:lpstr>
      <vt:lpstr>Approach</vt:lpstr>
      <vt:lpstr>To include</vt:lpstr>
      <vt:lpstr>To avoid</vt:lpstr>
      <vt:lpstr>Summary</vt:lpstr>
      <vt:lpstr>Checklist </vt:lpstr>
      <vt:lpstr>Further reading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year design project</dc:title>
  <dc:creator>Arif Mahmud</dc:creator>
  <cp:lastModifiedBy>asad tapos</cp:lastModifiedBy>
  <cp:revision>54</cp:revision>
  <dcterms:created xsi:type="dcterms:W3CDTF">2006-08-16T00:00:00Z</dcterms:created>
  <dcterms:modified xsi:type="dcterms:W3CDTF">2025-10-06T06:03:15Z</dcterms:modified>
</cp:coreProperties>
</file>